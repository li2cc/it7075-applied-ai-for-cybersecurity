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0BE0BDA-2DA3-4F64-B636-C8D05B831E2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B65A7D-D903-4BDA-B226-E73D30FC30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3AEE01-60AC-4260-BB10-EE3E3A15D3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D8FC235-3830-45DF-B0D4-45DA81E459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3977EA4-BE84-49E8-A1CC-0AF1973BAB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779ACA9-DF6E-46E7-B09C-E92DB88434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85C45CD-0BAC-4E26-86A3-0087476BED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28CB9A2-A75F-49A8-A973-1CCBC13059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86AEBA4-5987-47A7-B812-472EB9AF89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1099428-1A57-4329-9101-D4800873CD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E2DD9C9-6B29-4E9D-8091-FDF1E4973C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EC0061B-1205-4E24-B18C-0D8A50CDCB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88AE5D-6485-4682-A4B1-75E38D2ECC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3FD806-7C94-4CF2-8666-336BA0664F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6AEA0D-B2EB-43C6-8174-3BA05081C0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D0435D0-B7DA-4284-B3E5-A7B20306FA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F3EFA5-8B8B-4F69-9D94-D0F41F0DB2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7D5BF16-E5FA-410E-9D79-CB2D24AB8C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D9597D-9768-41A9-8D62-16C8F4F0C2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EFAC4C4-AA2B-4A01-8FAF-FDD9E981D2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BE4BB6-73C6-4696-8AC7-25BA4E2B5E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D431D5-CE6C-4DB9-8104-912B7764F5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65058B2-5C1D-43C9-B2D7-0E27C44F4B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2468880"/>
            <a:ext cx="12191040" cy="72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731520" y="2651760"/>
            <a:ext cx="106977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1f2328"/>
                </a:solidFill>
                <a:latin typeface="Calibri"/>
              </a:rPr>
              <a:t>Module 8 — Cybersecurity Orchestration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555a60"/>
                </a:solidFill>
                <a:latin typeface="Calibri"/>
              </a:rPr>
              <a:t>Automating an authorized penetration test: Chains → RAG → Agents + MCP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731520" y="457200"/>
            <a:ext cx="10697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c8102e"/>
                </a:solidFill>
                <a:latin typeface="Calibri"/>
              </a:rPr>
              <a:t>IT7075C · Applied AI for Cybersecurity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4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4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4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822960" y="2468880"/>
            <a:ext cx="105148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Part 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Module Overview &amp; Concept Recap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What we build in this module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822960" y="155448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An orchestrated, AUTHORIZED penetration-testing workflow: recon → triage → CVE lookup → report.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822960" y="2392560"/>
            <a:ext cx="61257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Built three ways, each better than the last: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1188720" y="3231000"/>
            <a:ext cx="5760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555a60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555a60"/>
                </a:solidFill>
                <a:latin typeface="Calibri"/>
              </a:rPr>
              <a:t>Stage 1 — a fixed Chain (LLM answers from memory)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1188720" y="4069080"/>
            <a:ext cx="5760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555a60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555a60"/>
                </a:solidFill>
                <a:latin typeface="Calibri"/>
              </a:rPr>
              <a:t>Stage 2 — RAG (ground the analysis in a real knowledge base)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1188720" y="4907160"/>
            <a:ext cx="5760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555a60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555a60"/>
                </a:solidFill>
                <a:latin typeface="Calibri"/>
              </a:rPr>
              <a:t>Stage 3 — an Agent that orchestrates MCP tools and decides what to call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640080" y="365760"/>
            <a:ext cx="109720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Recap — the building blocks (RAG, LangChain, LangGraph, MCP)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2"/>
          <p:cNvSpPr/>
          <p:nvPr/>
        </p:nvSpPr>
        <p:spPr>
          <a:xfrm>
            <a:off x="640080" y="136980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1982520"/>
            <a:ext cx="101494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RAG : retrieve trusted facts so the model stops guessing — grounding, citations.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22960" y="3003480"/>
            <a:ext cx="10606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LangChain : compose prompts + tools into a repeatable pipeline.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22960" y="3657600"/>
            <a:ext cx="10149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LangGraph : stateful, tool-using agents — branch, call tools, keep state.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22960" y="4376160"/>
            <a:ext cx="99208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MCP : a standard plug so any client/agent can discover and call your tools.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822960" y="5486400"/>
            <a:ext cx="9920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1f2328"/>
                </a:solidFill>
                <a:latin typeface="Calibri"/>
              </a:rPr>
              <a:t>This module is the payoff: we orchestrate all four on a real security task.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"/>
                            </p:stCondLst>
                            <p:childTnLst>
                              <p:par>
                                <p:cTn id="56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0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Scope &amp; legality come first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1554480"/>
            <a:ext cx="10880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600" spc="-1" strike="noStrike">
                <a:solidFill>
                  <a:srgbClr val="1f2328"/>
                </a:solidFill>
                <a:latin typeface="Calibri"/>
              </a:rPr>
              <a:t>Only scan or test systems you are explicitly authorized to touch.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822960" y="260604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In this module: simulated hosts, the Nmap Project's scanme.nmap.org, and your own isolated VM.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822960" y="36576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Guardrails we enforce in code: scope allowlists, human-in-the-loop approval, logging.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822960" y="470916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Dual-use reality: the defender's tools are the attacker's tools — behave accordingly.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" dur="indefinite" restart="never" nodeType="tmRoot">
          <p:childTnLst>
            <p:seq>
              <p:cTn id="89" dur="indefinite" nodeType="mainSeq"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"/>
                            </p:stCondLst>
                            <p:childTnLst>
                              <p:par>
                                <p:cTn id="9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822960" y="2468880"/>
            <a:ext cx="1051488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Part 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A Simple Orchestration Pipeline (Simulated)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nodeType="clickEffect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4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9" dur="4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" dur="4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The notebook: part2_orchestration_simulated.ipynb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822960" y="155448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Safe and offline: a SIMULATED nmap over fictional lab hosts — reproducible, no packets sent.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822960" y="260604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Same three stages you'll see again on real data next part.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822960" y="36576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Backed by recon_server_simulated.py (an MCP server) and cve_knowledge_base.md.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1" dur="indefinite" restart="never" nodeType="tmRoot">
          <p:childTnLst>
            <p:seq>
              <p:cTn id="122" dur="indefinite" nodeType="mainSeq"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4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" dur="4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" dur="4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3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4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00"/>
                            </p:stCondLst>
                            <p:childTnLst>
                              <p:par>
                                <p:cTn id="13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4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8" dur="4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" dur="4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800"/>
                            </p:stCondLst>
                            <p:childTnLst>
                              <p:par>
                                <p:cTn id="141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4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3" dur="4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4" dur="4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200"/>
                            </p:stCondLst>
                            <p:childTnLst>
                              <p:par>
                                <p:cTn id="14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8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9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Stage 1 — a Chain, and its limitation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822960" y="155448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Pipeline: recon → parse services → analyze → report, as a fixed chain.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822960" y="260604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The 'analyst' answers from the model's memory only.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822960" y="36576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Limitation: it sounds authoritative but hallucinates CVEs and versions — not trustworthy.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0" dur="indefinite" restart="never" nodeType="tmRoot">
          <p:childTnLst>
            <p:seq>
              <p:cTn id="151" dur="indefinite" nodeType="mainSeq"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6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4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0" dur="4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4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6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4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2" dur="4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3" dur="4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8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Stage 2 — RAG grounds the analysis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822960" y="155448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Retrieve real entries from cve_knowledge_base.md for the detected services.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822960" y="260604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Feed retrieved facts to the analyst → grounded, cited, far fewer hallucinations.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822960" y="365760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Compare Stage 1 vs Stage 2 side by side in the notebook.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0" dur="indefinite" restart="never" nodeType="tmRoot">
          <p:childTnLst>
            <p:seq>
              <p:cTn id="181" dur="indefinite" nodeType="mainSeq">
                <p:childTnLst>
                  <p:par>
                    <p:cTn id="182" nodeType="clickEffect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4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6" dur="4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7" dur="4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nodeType="afterEffect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2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nodeType="afterEffect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8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nodeType="afterEffect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4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4" dur="4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5" dur="4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nodeType="afterEffect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4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0" dur="4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" dur="4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Stage 3 — an Agent orchestrates MCP tools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0" name="Picture 3" descr="progression.png"/>
          <p:cNvPicPr/>
          <p:nvPr/>
        </p:nvPicPr>
        <p:blipFill>
          <a:blip r:embed="rId1"/>
          <a:stretch/>
        </p:blipFill>
        <p:spPr>
          <a:xfrm>
            <a:off x="6858000" y="1828800"/>
            <a:ext cx="4754160" cy="1431360"/>
          </a:xfrm>
          <a:prstGeom prst="rect">
            <a:avLst/>
          </a:prstGeom>
          <a:ln w="0">
            <a:noFill/>
          </a:ln>
        </p:spPr>
      </p:pic>
      <p:sp>
        <p:nvSpPr>
          <p:cNvPr id="101" name="TextBox 4"/>
          <p:cNvSpPr/>
          <p:nvPr/>
        </p:nvSpPr>
        <p:spPr>
          <a:xfrm>
            <a:off x="822960" y="155448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recon_server_simulated.py exposes tools: port_scan(), lookup_cve(), list_targets().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822960" y="242316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An agent DECIDES which tool to call next instead of following a fixed script.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822960" y="329184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Offline deterministic loop shown first; live LangGraph+MCP agent when a key is set.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8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9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400"/>
                            </p:stCondLst>
                            <p:childTnLst>
                              <p:par>
                                <p:cTn id="221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4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3" dur="4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4" dur="4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4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9" dur="4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0" dur="4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400"/>
                            </p:stCondLst>
                            <p:childTnLst>
                              <p:par>
                                <p:cTn id="23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4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5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4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8" dur="4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9" dur="4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4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4" dur="4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5" dur="4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What the LLM is good and bad at here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822960" y="155448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Good: summarizing scans, drafting reports, mapping findings to remediation language.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822960" y="260604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Bad: inventing CVE numbers, version facts, and exploit details from memory.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822960" y="36576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Design rule: let tools + RAG supply facts; let the LLM do language, not lookup.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6" dur="indefinite" restart="never" nodeType="tmRoot">
          <p:childTnLst>
            <p:seq>
              <p:cTn id="247" dur="indefinite" nodeType="mainSeq"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4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2" dur="4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3" dur="4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400"/>
                            </p:stCondLst>
                            <p:childTnLst>
                              <p:par>
                                <p:cTn id="25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7" dur="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" dur="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4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3" dur="4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4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4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9" dur="4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0" dur="4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4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5" dur="4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6" dur="4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Hands-on (Part 2)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822960" y="155448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Open code/part2_orchestration_simulated.ipynb and run top to bottom.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822960" y="260604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Watch the Stage 1 → 2 → 3 quality improve on the same target.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822960" y="365760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Optional: set OPENAI_API_KEY to run the live agent over the MCP server.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7" dur="indefinite" restart="never" nodeType="tmRoot">
          <p:childTnLst>
            <p:seq>
              <p:cTn id="278" dur="indefinite" nodeType="mainSeq">
                <p:childTnLst>
                  <p:par>
                    <p:cTn id="279" nodeType="clickEffect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4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3" dur="4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4" dur="4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nodeType="afterEffect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4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9" dur="4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0" dur="4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nodeType="afterEffect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4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5" dur="4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6" dur="4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nodeType="afterEffect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4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1" dur="4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" dur="4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nodeType="afterEffect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4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7" dur="4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" dur="4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822960" y="2468880"/>
            <a:ext cx="105148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Part 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One Level Further: Real Targets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9" dur="indefinite" restart="never" nodeType="tmRoot">
          <p:childTnLst>
            <p:seq>
              <p:cTn id="310" dur="indefinite" nodeType="mainSeq">
                <p:childTnLst>
                  <p:par>
                    <p:cTn id="311" nodeType="clickEffect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4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5" dur="4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6" dur="4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The notebook: part3_web_pentest_real.ipynb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822960" y="155448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Same three stages — now on REAL, authorized targets (default: scanme.nmap.org).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822960" y="260604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Recon is non-intrusive: one HTTP GET per call, with an offline cached fallback.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822960" y="36576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Backed by recon_server_web.py and web_security_kb.md (OWASP guidance).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7" dur="indefinite" restart="never" nodeType="tmRoot">
          <p:childTnLst>
            <p:seq>
              <p:cTn id="318" dur="indefinite" nodeType="mainSeq"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4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3" dur="4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4" dur="4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400"/>
                            </p:stCondLst>
                            <p:childTnLst>
                              <p:par>
                                <p:cTn id="32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4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8" dur="4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9" dur="4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4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4" dur="4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5" dur="4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4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0" dur="4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1" dur="4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400"/>
                            </p:stCondLst>
                            <p:childTnLst>
                              <p:par>
                                <p:cTn id="34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4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5" dur="4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6" dur="4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Same stages, real data — what changes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822960" y="155448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Stage 1 chain now describes a real site — and still hallucinates without grounding.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822960" y="260604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Stage 2 RAG grounds findings in OWASP categories and concrete remediation.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822960" y="36576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Stage 3 agent chooses tools (headers → guidance) to assemble a grounded report.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7" dur="indefinite" restart="never" nodeType="tmRoot">
          <p:childTnLst>
            <p:seq>
              <p:cTn id="348" dur="indefinite" nodeType="mainSeq">
                <p:childTnLst>
                  <p:par>
                    <p:cTn id="349" nodeType="clickEffect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3" dur="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4" dur="4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nodeType="afterEffect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4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9" dur="4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0" dur="4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nodeType="afterEffect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4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5" dur="4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6" dur="4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nodeType="afterEffect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4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1" dur="4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2" dur="4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nodeType="afterEffect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4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7" dur="4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8" dur="4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Allowlisting is a control, not a suggestion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8" name="Picture 3" descr="gate.png"/>
          <p:cNvPicPr/>
          <p:nvPr/>
        </p:nvPicPr>
        <p:blipFill>
          <a:blip r:embed="rId1"/>
          <a:stretch/>
        </p:blipFill>
        <p:spPr>
          <a:xfrm>
            <a:off x="6858000" y="1828800"/>
            <a:ext cx="4754160" cy="2537640"/>
          </a:xfrm>
          <a:prstGeom prst="rect">
            <a:avLst/>
          </a:prstGeom>
          <a:ln w="0">
            <a:noFill/>
          </a:ln>
        </p:spPr>
      </p:pic>
      <p:sp>
        <p:nvSpPr>
          <p:cNvPr id="129" name="TextBox 4"/>
          <p:cNvSpPr/>
          <p:nvPr/>
        </p:nvSpPr>
        <p:spPr>
          <a:xfrm>
            <a:off x="822960" y="155448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ALLOWED_HOSTS is enforced in the server before any request is made.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822960" y="242316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Off-scope target → the tool returns a refusal, not a scan.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822960" y="329184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This is how you make automation safe to hand to an agent.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9" dur="indefinite" restart="never" nodeType="tmRoot">
          <p:childTnLst>
            <p:seq>
              <p:cTn id="380" dur="indefinite" nodeType="mainSeq"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4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5" dur="4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6" dur="4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400"/>
                            </p:stCondLst>
                            <p:childTnLst>
                              <p:par>
                                <p:cTn id="38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4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0" dur="4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1" dur="4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4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6" dur="4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7" dur="4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4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2" dur="4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3" dur="4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4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6" dur="4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7" dur="4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4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2" dur="4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3" dur="4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Logging &amp; auditability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822960" y="155448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Every tool call and its result should be logged for review.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822960" y="260604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Auditability lets a human verify what the agent did — and reproduce it.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822960" y="365760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Keep server stderr/logs; never silently swallow a failed or refused call.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4" dur="indefinite" restart="never" nodeType="tmRoot">
          <p:childTnLst>
            <p:seq>
              <p:cTn id="415" dur="indefinite" nodeType="mainSeq">
                <p:childTnLst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4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0" dur="4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1" dur="4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2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4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4" dur="4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5" dur="4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4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8" dur="4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9" dur="4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0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4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2" dur="4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3" dur="4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4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6" dur="4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7" dur="4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Hands-on (Part 3)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822960" y="155448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Run code/part3_web_pentest_real.ipynb against an allowed host.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822960" y="260604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Try an off-scope host and observe the allowlist refusal.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822960" y="36576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Inspect the grounded report, the agent generated report, and compare them to Stage 1's ungrounded draft.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8" dur="indefinite" restart="never" nodeType="tmRoot">
          <p:childTnLst>
            <p:seq>
              <p:cTn id="439" dur="indefinite" nodeType="mainSeq">
                <p:childTnLst>
                  <p:par>
                    <p:cTn id="440" fill="hold">
                      <p:stCondLst>
                        <p:cond delay="0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4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4" dur="4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5" dur="4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400"/>
                            </p:stCondLst>
                            <p:childTnLst>
                              <p:par>
                                <p:cTn id="447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4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9" dur="4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0" dur="4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recon_server_web.py — the Stage-3 tools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822960" y="155448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fetch_headers() — retrieve HTTP response headers.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822960" y="256032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check_security_headers() — flag missing HSTS, CSP, X-Frame-Options, etc.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822960" y="356616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get_robots() — read robots.txt.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822960" y="45720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lookup_guidance() — OWASP remediation from web_security_kb.md; resource kb://websec.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7"/>
          <p:cNvSpPr/>
          <p:nvPr/>
        </p:nvSpPr>
        <p:spPr>
          <a:xfrm>
            <a:off x="822960" y="557784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Authorization-guarded: calls are refused for hosts outside the allowlist.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3" dur="indefinite" restart="never" nodeType="tmRoot">
          <p:childTnLst>
            <p:seq>
              <p:cTn id="464" dur="indefinite" nodeType="mainSeq"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4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9" dur="4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0" dur="4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>
                            <p:stCondLst>
                              <p:cond delay="400"/>
                            </p:stCondLst>
                            <p:childTnLst>
                              <p:par>
                                <p:cTn id="47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4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4" dur="4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5" dur="4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4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0" dur="4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1" dur="4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4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6" dur="4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7" dur="4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4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2" dur="4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3" dur="4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4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8" dur="4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9" dur="4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4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4" dur="4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5" dur="4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822960" y="2468880"/>
            <a:ext cx="105148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Part 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Final Project: Orchestrated Pen-Test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6" dur="indefinite" restart="never" nodeType="tmRoot">
          <p:childTnLst>
            <p:seq>
              <p:cTn id="507" dur="indefinite" nodeType="mainSeq">
                <p:childTnLst>
                  <p:par>
                    <p:cTn id="508" nodeType="clickEffect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4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2" dur="4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3" dur="4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The task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822960" y="155448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Orchestrate a pen-test of your OWN isolated Metasploitable 2 VM (host-only network).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822960" y="260604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Start from the simulated pipeline; run it on your REAL scan data.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822960" y="36576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Expand the CVE RAG, add tools beyond nmap, and maximize vulnerability coverage.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4" dur="indefinite" restart="never" nodeType="tmRoot">
          <p:childTnLst>
            <p:seq>
              <p:cTn id="515" dur="indefinite" nodeType="mainSeq">
                <p:childTnLst>
                  <p:par>
                    <p:cTn id="516" nodeType="clickEffect" fill="hold">
                      <p:stCondLst>
                        <p:cond delay="0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4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0" dur="4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1" dur="4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nodeType="afterEffect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4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6" dur="4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7" dur="4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nodeType="afterEffect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4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2" dur="4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3" dur="4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nodeType="afterEffect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4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8" dur="4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9" dur="4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nodeType="afterEffect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4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4" dur="4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5" dur="4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The scaffold: assignments/project/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822960" y="155448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Final_Project_PenTest.ipynb — the student notebook with graded TODOs.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822960" y="260604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Final_Project_Requirements.md — full instructions and the rubric.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822960" y="365760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project_cve_kb.md — your editable knowledge base to expand.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822960" y="470916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solutions/ — instructor Sample Solution notebook + Sample Report (what an A looks like).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6" dur="indefinite" restart="never" nodeType="tmRoot">
          <p:childTnLst>
            <p:seq>
              <p:cTn id="547" dur="indefinite" nodeType="mainSeq">
                <p:childTnLst>
                  <p:par>
                    <p:cTn id="548" nodeType="clickEffect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4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2" dur="4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3" dur="4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nodeType="afterEffect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4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8" dur="4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9" dur="4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nodeType="afterEffect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4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4" dur="4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5" dur="4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nodeType="afterEffect" fill="hold">
                      <p:stCondLst>
                        <p:cond delay="indefinite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id="56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4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0" dur="4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1" dur="4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nodeType="afterEffect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4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6" dur="4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7" dur="4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nodeType="afterEffect" fill="hold">
                      <p:stCondLst>
                        <p:cond delay="indefinite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4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2" dur="4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3" dur="4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Deliverables &amp; rubric highlights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3"/>
          <p:cNvSpPr/>
          <p:nvPr/>
        </p:nvSpPr>
        <p:spPr>
          <a:xfrm>
            <a:off x="822960" y="155448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Completed, runnable notebook with your real scan output.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4"/>
          <p:cNvSpPr/>
          <p:nvPr/>
        </p:nvSpPr>
        <p:spPr>
          <a:xfrm>
            <a:off x="822960" y="256032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Expanded RAG (before/after) — accurate CVEs for Metasploitable services.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822960" y="356616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≥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2 real tools integrated (MCP-wrapped for full credit) + a second knowledge base.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822960" y="457200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Comprehensive report: methodology + an evidence-based chains-vs-RAG-vs-agent comparison.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822960" y="557784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Bonus: a live LangGraph + MCP agent making ≥ 2 autonomous tool calls.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4" dur="indefinite" restart="never" nodeType="tmRoot">
          <p:childTnLst>
            <p:seq>
              <p:cTn id="585" dur="indefinite" nodeType="mainSeq">
                <p:childTnLst>
                  <p:par>
                    <p:cTn id="586" nodeType="clickEffect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4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0" dur="4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1" dur="4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nodeType="afterEffect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4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6" dur="4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7" dur="4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nodeType="afterEffect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4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2" dur="4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3" dur="4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nodeType="afterEffect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4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8" dur="4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9" dur="4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0" nodeType="afterEffect" fill="hold">
                      <p:stCondLst>
                        <p:cond delay="indefinite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4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4" dur="4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5" dur="4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nodeType="afterEffect" fill="hold">
                      <p:stCondLst>
                        <p:cond delay="indefinite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4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0" dur="4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1" dur="4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2" nodeType="afterEffect" fill="hold">
                      <p:stCondLst>
                        <p:cond delay="indefinite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4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6" dur="4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7" dur="4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Reuse the pattern you already have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1" name="Picture 3" descr="progression.png"/>
          <p:cNvPicPr/>
          <p:nvPr/>
        </p:nvPicPr>
        <p:blipFill>
          <a:blip r:embed="rId1"/>
          <a:stretch/>
        </p:blipFill>
        <p:spPr>
          <a:xfrm>
            <a:off x="6858000" y="1828800"/>
            <a:ext cx="4754160" cy="1431360"/>
          </a:xfrm>
          <a:prstGeom prst="rect">
            <a:avLst/>
          </a:prstGeom>
          <a:ln w="0">
            <a:noFill/>
          </a:ln>
        </p:spPr>
      </p:pic>
      <p:sp>
        <p:nvSpPr>
          <p:cNvPr id="172" name="TextBox 4"/>
          <p:cNvSpPr/>
          <p:nvPr/>
        </p:nvSpPr>
        <p:spPr>
          <a:xfrm>
            <a:off x="822960" y="155448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Simulated (Part 2) → Web/real (Part 3) → your own orchestration (project).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822960" y="242316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Model new tools on recon_server_simulated.py's @mcp.tool() functions.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6"/>
          <p:cNvSpPr/>
          <p:nvPr/>
        </p:nvSpPr>
        <p:spPr>
          <a:xfrm>
            <a:off x="822960" y="3291840"/>
            <a:ext cx="61257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1900" spc="-1" strike="noStrike">
                <a:solidFill>
                  <a:srgbClr val="1f2328"/>
                </a:solidFill>
                <a:latin typeface="Calibri"/>
              </a:rPr>
              <a:t>Ground every finding — no ungrounded CVE claims in the report.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8" dur="indefinite" restart="never" nodeType="tmRoot">
          <p:childTnLst>
            <p:seq>
              <p:cTn id="629" dur="indefinite" nodeType="mainSeq">
                <p:childTnLst>
                  <p:par>
                    <p:cTn id="630" nodeType="clickEffect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4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4" dur="4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5" dur="4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nodeType="afterEffect" fill="hold">
                      <p:stCondLst>
                        <p:cond delay="indefinite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4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0" dur="4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1" dur="4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nodeType="afterEffect" fill="hold">
                      <p:stCondLst>
                        <p:cond delay="indefinite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4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6" dur="4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7" dur="4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nodeType="afterEffect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4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2" dur="4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3" dur="4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4" nodeType="afterEffect" fill="hold">
                      <p:stCondLst>
                        <p:cond delay="indefinite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4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8" dur="4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9" dur="4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nodeType="afterEffect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4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4" dur="4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5" dur="4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Ethics &amp; scope — the rules again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822960" y="155448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Everything stays in your isolated lab; report only on your authorized VM.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822960" y="260604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Never scan, test, or collect data from systems outside the approved scope.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5"/>
          <p:cNvSpPr/>
          <p:nvPr/>
        </p:nvSpPr>
        <p:spPr>
          <a:xfrm>
            <a:off x="822960" y="365760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Keep API keys and secrets out of any shared or public repository.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6" dur="indefinite" restart="never" nodeType="tmRoot">
          <p:childTnLst>
            <p:seq>
              <p:cTn id="667" dur="indefinite" nodeType="mainSeq">
                <p:childTnLst>
                  <p:par>
                    <p:cTn id="668" nodeType="clickEffect" fill="hold">
                      <p:stCondLst>
                        <p:cond delay="0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4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2" dur="4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3" dur="4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4" nodeType="afterEffect" fill="hold">
                      <p:stCondLst>
                        <p:cond delay="indefinite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4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8" dur="4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9" dur="4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nodeType="afterEffect" fill="hold">
                      <p:stCondLst>
                        <p:cond delay="indefinite"/>
                      </p:stCondLst>
                      <p:childTnLst>
                        <p:par>
                          <p:cTn id="681" fill="hold">
                            <p:stCondLst>
                              <p:cond delay="0"/>
                            </p:stCondLst>
                            <p:childTnLst>
                              <p:par>
                                <p:cTn id="68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4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4" dur="4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5" dur="4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6" nodeType="afterEffect" fill="hold">
                      <p:stCondLst>
                        <p:cond delay="indefinite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id="68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0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1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nodeType="afterEffect" fill="hold">
                      <p:stCondLst>
                        <p:cond delay="indefinite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4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6" dur="4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7" dur="4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1"/>
          <p:cNvSpPr/>
          <p:nvPr/>
        </p:nvSpPr>
        <p:spPr>
          <a:xfrm>
            <a:off x="640080" y="365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f2328"/>
                </a:solidFill>
                <a:latin typeface="Calibri"/>
              </a:rPr>
              <a:t>Recap &amp; what's next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2"/>
          <p:cNvSpPr/>
          <p:nvPr/>
        </p:nvSpPr>
        <p:spPr>
          <a:xfrm>
            <a:off x="640080" y="1170360"/>
            <a:ext cx="10972080" cy="374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822960" y="155448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You orchestrated RAG + agents + MCP on a real security task, with guardrails.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822960" y="2606040"/>
            <a:ext cx="10880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Next module (9): Vibe Coding — build, break, and harden an AI-generated web app.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822960" y="3657600"/>
            <a:ext cx="1088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•  </a:t>
            </a:r>
            <a:r>
              <a:rPr b="0" lang="en-US" sz="2400" spc="-1" strike="noStrike">
                <a:solidFill>
                  <a:srgbClr val="1f2328"/>
                </a:solidFill>
                <a:latin typeface="Calibri"/>
              </a:rPr>
              <a:t>Questions? Post in the Module 8 discussion forum.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8" dur="indefinite" restart="never" nodeType="tmRoot">
          <p:childTnLst>
            <p:seq>
              <p:cTn id="699" dur="indefinite" nodeType="mainSeq">
                <p:childTnLst>
                  <p:par>
                    <p:cTn id="700" nodeType="clickEffect" fill="hold">
                      <p:stCondLst>
                        <p:cond delay="0"/>
                      </p:stCondLst>
                      <p:childTnLst>
                        <p:par>
                          <p:cTn id="701" fill="hold">
                            <p:stCondLst>
                              <p:cond delay="0"/>
                            </p:stCondLst>
                            <p:childTnLst>
                              <p:par>
                                <p:cTn id="70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4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4" dur="4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5" dur="4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6" nodeType="afterEffect" fill="hold">
                      <p:stCondLst>
                        <p:cond delay="indefinite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4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0" dur="4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1" dur="4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nodeType="afterEffect" fill="hold">
                      <p:stCondLst>
                        <p:cond delay="indefinite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6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7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8" nodeType="afterEffect" fill="hold">
                      <p:stCondLst>
                        <p:cond delay="indefinite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id="72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4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2" dur="4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3" dur="4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4" nodeType="afterEffect" fill="hold">
                      <p:stCondLst>
                        <p:cond delay="indefinite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id="72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4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8" dur="4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9" dur="4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2026-07-03T09:28:19Z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