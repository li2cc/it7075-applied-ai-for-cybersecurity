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8" r:id="rId29"/>
    <p:sldId id="260" r:id="rId6"/>
    <p:sldId id="261" r:id="rId7"/>
    <p:sldId id="262" r:id="rId8"/>
    <p:sldId id="263" r:id="rId9"/>
    <p:sldId id="264" r:id="rId10"/>
    <p:sldId id="265" r:id="rId11"/>
    <p:sldId id="279" r:id="rId30"/>
    <p:sldId id="280" r:id="rId31"/>
    <p:sldId id="281" r:id="rId32"/>
    <p:sldId id="266" r:id="rId12"/>
    <p:sldId id="267" r:id="rId13"/>
    <p:sldId id="268" r:id="rId14"/>
    <p:sldId id="269" r:id="rId15"/>
    <p:sldId id="282" r:id="rId33"/>
    <p:sldId id="270" r:id="rId16"/>
    <p:sldId id="283" r:id="rId34"/>
    <p:sldId id="271" r:id="rId17"/>
    <p:sldId id="272" r:id="rId18"/>
    <p:sldId id="273" r:id="rId19"/>
    <p:sldId id="284" r:id="rId35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202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2202B"/>
                </a:solidFill>
                <a:latin typeface="Calibri"/>
              </a:rPr>
              <a:t>VRAM needed for a 7B model  (GB)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weights</c:v>
                </c:pt>
              </c:strCache>
            </c:strRef>
          </c:tx>
          <c:spPr>
            <a:solidFill>
              <a:srgbClr val="8A5A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FP16 (2 bytes/param)</c:v>
                  </c:pt>
                  <c:pt idx="1">
                    <c:v>4-bit (0.5 bytes/param)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KV cache + activations</c:v>
                </c:pt>
              </c:strCache>
            </c:strRef>
          </c:tx>
          <c:spPr>
            <a:solidFill>
              <a:srgbClr val="BE8B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FP16 (2 bytes/param)</c:v>
                  </c:pt>
                  <c:pt idx="1">
                    <c:v>4-bit (0.5 bytes/param)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b"/>
        <c:majorGridlines>
          <c:spPr>
            <a:ln w="12700" cap="flat">
              <a:solidFill>
                <a:srgbClr val="E9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C738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280160"/>
            <a:ext cx="5120640" cy="5120640"/>
          </a:xfrm>
          <a:prstGeom prst="ellipse">
            <a:avLst/>
          </a:prstGeom>
          <a:solidFill>
            <a:srgbClr val="8A5A22">
              <a:alpha val="22000"/>
            </a:srgbClr>
          </a:solidFill>
          <a:ln w="12700">
            <a:solidFill>
              <a:srgbClr val="8A5A2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274320"/>
            <a:ext cx="3108960" cy="3108960"/>
          </a:xfrm>
          <a:prstGeom prst="ellipse">
            <a:avLst/>
          </a:prstGeom>
          <a:solidFill>
            <a:srgbClr val="12202B"/>
          </a:solidFill>
          <a:ln w="12700">
            <a:solidFill>
              <a:srgbClr val="8A5A22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21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IT7075 · APPLIED AI FOR CYBERSECURITY · MODULE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on Local &amp; Cloud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idea, three places to run it — a hosted API, a GPU you rent for</a:t>
            </a:r>
            <a:endParaRPr lang="en-US" sz="16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session, and a GPU you keep for the term.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005840" cy="32004"/>
          </a:xfrm>
          <a:prstGeom prst="rect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· two hands-on labs · one fair comparison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0" y="502920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Textbook: Santos — hosting &amp; running LLMs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E8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vocabulary, the three places a model can run, and the reframe that makes the choice obvious: who controls the GPU?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BE8B44"/>
          </a:solidFill>
          <a:ln w="12700">
            <a:solidFill>
              <a:srgbClr val="BE8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the Landscape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and a Rented GPU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GPU You Keep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Ethics &amp; Recap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CONCEPTS &amp; THE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vocabulary, fast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words. The rest of the module leans on all of them.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— THE UNIT OF EVERYTHING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975104"/>
            <a:ext cx="398678" cy="365760"/>
          </a:xfrm>
          <a:prstGeom prst="roundRect">
            <a:avLst>
              <a:gd name="adj" fmla="val 12500"/>
            </a:avLst>
          </a:prstGeom>
          <a:solidFill>
            <a:srgbClr val="F2E8D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75104"/>
            <a:ext cx="398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3622" y="1975104"/>
            <a:ext cx="757123" cy="365760"/>
          </a:xfrm>
          <a:prstGeom prst="roundRect">
            <a:avLst>
              <a:gd name="adj" fmla="val 12500"/>
            </a:avLst>
          </a:prstGeom>
          <a:solidFill>
            <a:srgbClr val="E3ECF1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3622" y="1975104"/>
            <a:ext cx="757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05610" y="1975104"/>
            <a:ext cx="577901" cy="365760"/>
          </a:xfrm>
          <a:prstGeom prst="roundRect">
            <a:avLst>
              <a:gd name="adj" fmla="val 12500"/>
            </a:avLst>
          </a:prstGeom>
          <a:solidFill>
            <a:srgbClr val="F2E8D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5610" y="1975104"/>
            <a:ext cx="577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38374" y="1975104"/>
            <a:ext cx="846734" cy="365760"/>
          </a:xfrm>
          <a:prstGeom prst="roundRect">
            <a:avLst>
              <a:gd name="adj" fmla="val 12500"/>
            </a:avLst>
          </a:prstGeom>
          <a:solidFill>
            <a:srgbClr val="E3ECF1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8374" y="1975104"/>
            <a:ext cx="846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39973" y="1975104"/>
            <a:ext cx="667512" cy="365760"/>
          </a:xfrm>
          <a:prstGeom prst="roundRect">
            <a:avLst>
              <a:gd name="adj" fmla="val 12500"/>
            </a:avLst>
          </a:prstGeom>
          <a:solidFill>
            <a:srgbClr val="F2E8D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9973" y="1975104"/>
            <a:ext cx="66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2349" y="1975104"/>
            <a:ext cx="577901" cy="365760"/>
          </a:xfrm>
          <a:prstGeom prst="roundRect">
            <a:avLst>
              <a:gd name="adj" fmla="val 12500"/>
            </a:avLst>
          </a:prstGeom>
          <a:solidFill>
            <a:srgbClr val="E3ECF1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2349" y="1975104"/>
            <a:ext cx="577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95114" y="1975104"/>
            <a:ext cx="398678" cy="365760"/>
          </a:xfrm>
          <a:prstGeom prst="roundRect">
            <a:avLst>
              <a:gd name="adj" fmla="val 12500"/>
            </a:avLst>
          </a:prstGeom>
          <a:solidFill>
            <a:srgbClr val="F2E8D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5114" y="1975104"/>
            <a:ext cx="398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48656" y="1975104"/>
            <a:ext cx="577901" cy="365760"/>
          </a:xfrm>
          <a:prstGeom prst="roundRect">
            <a:avLst>
              <a:gd name="adj" fmla="val 12500"/>
            </a:avLst>
          </a:prstGeom>
          <a:solidFill>
            <a:srgbClr val="E3ECF1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975104"/>
            <a:ext cx="5779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.113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81421" y="1975104"/>
            <a:ext cx="488290" cy="365760"/>
          </a:xfrm>
          <a:prstGeom prst="roundRect">
            <a:avLst>
              <a:gd name="adj" fmla="val 12500"/>
            </a:avLst>
          </a:prstGeom>
          <a:solidFill>
            <a:srgbClr val="F2E8DA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81421" y="1975104"/>
            <a:ext cx="488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3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.45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23774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tokens, 6 words — an IP address costs more than you would guess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6400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800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means, and why you 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chunks of text a model reads and writes. APIs bill per token, so tokens are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text it can consider at once — its entire short-term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learned numbers. "7B" is seven billion of them. This determines the memory it 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Storing those numbers in fewer bits so a big model fits a small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the model to generate output. This is the part that uses the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7315200" y="1783080"/>
            <a:ext cx="4233672" cy="2011680"/>
          </a:xfrm>
          <a:prstGeom prst="roundRect">
            <a:avLst>
              <a:gd name="adj" fmla="val 3182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71232" y="1965960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relationship to memorise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571232" y="2441448"/>
            <a:ext cx="3721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determine memory.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reduces bytes per parameter.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consumes memory on top.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Part 2 is that sentence with numbers in it.</a:t>
            </a:r>
            <a:endParaRPr lang="en-US" sz="11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3950208"/>
          <a:ext cx="4233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542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capable general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Noticeably better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a single consumer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CONCEPTS &amp; THE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run an LLM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2 and 3 are the same skill applied in two places. Learn it once.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83864" cy="2286000"/>
          </a:xfrm>
          <a:prstGeom prst="roundRect">
            <a:avLst>
              <a:gd name="adj" fmla="val 2800"/>
            </a:avLst>
          </a:prstGeom>
          <a:solidFill>
            <a:srgbClr val="F1F5F8"/>
          </a:solidFill>
          <a:ln w="19050">
            <a:solidFill>
              <a:srgbClr val="8A5A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56816"/>
            <a:ext cx="365760" cy="365760"/>
          </a:xfrm>
          <a:prstGeom prst="ellipse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35024" y="1938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5024" y="22311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Anthropic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542032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else's model on someone else's GPU. Most capable, least setup.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321868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 </a:t>
            </a:r>
            <a:pPr indent="0" marL="0">
              <a:buNone/>
            </a:pPr>
            <a:r>
              <a:rPr lang="en-US" sz="9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77824" y="347472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  </a:t>
            </a:r>
            <a:pPr indent="0" marL="0">
              <a:buNone/>
            </a:pPr>
            <a:r>
              <a:rPr lang="en-US" sz="9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leaves you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7824" y="3730752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  </a:t>
            </a:r>
            <a:pPr indent="0" marL="0">
              <a:buNone/>
            </a:pPr>
            <a:r>
              <a:rPr lang="en-US" sz="9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52544" y="1783080"/>
            <a:ext cx="3483864" cy="2286000"/>
          </a:xfrm>
          <a:prstGeom prst="roundRect">
            <a:avLst>
              <a:gd name="adj" fmla="val 2800"/>
            </a:avLst>
          </a:prstGeom>
          <a:solidFill>
            <a:srgbClr val="F2E8DA"/>
          </a:solidFill>
          <a:ln w="19050">
            <a:solidFill>
              <a:srgbClr val="BE8B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956816"/>
            <a:ext cx="365760" cy="365760"/>
          </a:xfrm>
          <a:prstGeom prst="ellipse">
            <a:avLst/>
          </a:prstGeom>
          <a:solidFill>
            <a:srgbClr val="BE8B44"/>
          </a:solidFill>
          <a:ln w="12700">
            <a:solidFill>
              <a:srgbClr val="BE8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47488" y="1938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8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GPU you rent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2311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T4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90288" y="2542032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self-host an open model on a remote GPU, for one session.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90288" y="321868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 </a:t>
            </a:r>
            <a:pPr indent="0" marL="0">
              <a:buNone/>
            </a:pPr>
            <a:r>
              <a:rPr lang="en-US" sz="9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90288" y="347472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  </a:t>
            </a:r>
            <a:pPr indent="0" marL="0">
              <a:buNone/>
            </a:pPr>
            <a:r>
              <a:rPr lang="en-US" sz="9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 the machine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90288" y="3730752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  </a:t>
            </a:r>
            <a:pPr indent="0" marL="0">
              <a:buNone/>
            </a:pPr>
            <a:r>
              <a:rPr lang="en-US" sz="9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each session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65008" y="1783080"/>
            <a:ext cx="3483864" cy="2286000"/>
          </a:xfrm>
          <a:prstGeom prst="roundRect">
            <a:avLst>
              <a:gd name="adj" fmla="val 2800"/>
            </a:avLst>
          </a:prstGeom>
          <a:solidFill>
            <a:srgbClr val="F2E8DA"/>
          </a:solidFill>
          <a:ln w="19050">
            <a:solidFill>
              <a:srgbClr val="1220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1956816"/>
            <a:ext cx="365760" cy="365760"/>
          </a:xfrm>
          <a:prstGeom prst="ellipse">
            <a:avLst/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59952" y="1938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GPU you keep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59952" y="22311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NAIRR VM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02752" y="2542032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open model, the same way — on hardware that is yours all term.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02752" y="321868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 </a:t>
            </a:r>
            <a:pPr indent="0" marL="0">
              <a:buNone/>
            </a:pPr>
            <a:r>
              <a:rPr lang="en-US" sz="9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02752" y="347472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  </a:t>
            </a:r>
            <a:pPr indent="0" marL="0">
              <a:buNone/>
            </a:pPr>
            <a:r>
              <a:rPr lang="en-US" sz="9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 the machine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02752" y="3730752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  </a:t>
            </a:r>
            <a:pPr indent="0" marL="0">
              <a:buNone/>
            </a:pPr>
            <a:r>
              <a:rPr lang="en-US" sz="9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all term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52544" y="4224528"/>
            <a:ext cx="7196328" cy="384048"/>
          </a:xfrm>
          <a:prstGeom prst="roundRect">
            <a:avLst>
              <a:gd name="adj" fmla="val 11905"/>
            </a:avLst>
          </a:prstGeom>
          <a:solidFill>
            <a:srgbClr val="F2E8DA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52544" y="4224528"/>
            <a:ext cx="7196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2 and 3 are the SAME skill — self-hosting an open model on a remote GPU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4791456"/>
            <a:ext cx="10908792" cy="1060704"/>
          </a:xfrm>
          <a:prstGeom prst="roundRect">
            <a:avLst>
              <a:gd name="adj" fmla="val 5172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4882896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matters for how you study this module: 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that loads a model on a Colab T4 is the same notebook that loads it on your VM. Open it over Remote-SSH, pick the VM's kernel, and the cells do not change. You are not learning two techniques — you are learning one and choosing where to point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CONCEPTS &amp; THE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reframe: who controls the GPU?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"Local vs cloud" is the wrong axis. It puts your VM on the wrong side of the line.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08792" cy="1170432"/>
          </a:xfrm>
          <a:prstGeom prst="roundRect">
            <a:avLst>
              <a:gd name="adj" fmla="val 4688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77824" y="1847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SPLIT — AND WHY IT MISLEADS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10312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"Local means my laptop. Cloud means someone else's computer."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43230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that test your NAIRR VM is "cloud" — and therefore not private. That conclusion is wrong.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QUESTIONS THAT ACTUALLY DECIDE 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394960" cy="2468880"/>
          </a:xfrm>
          <a:prstGeom prst="roundRect">
            <a:avLst>
              <a:gd name="adj" fmla="val 2593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29584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leaves your control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48828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401421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(OpenAI, Anthropic)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" y="4279392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service — your prompt is sent to a third party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" y="4846320"/>
            <a:ext cx="4882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synthetic data and course labs. Not fine for real logs, PII, or anything under a client agreement.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5285232" cy="2468880"/>
          </a:xfrm>
          <a:prstGeom prst="roundRect">
            <a:avLst>
              <a:gd name="adj" fmla="val 2593"/>
            </a:avLst>
          </a:prstGeom>
          <a:solidFill>
            <a:srgbClr val="E1EFE7"/>
          </a:solidFill>
          <a:ln w="15875">
            <a:solidFill>
              <a:srgbClr val="1F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3529584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on a machine you control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19672" y="3931920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6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4536" y="401421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T4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74536" y="427939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but yours for the session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06840" y="3931920"/>
            <a:ext cx="22860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6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61704" y="401421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NAIRR VM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061704" y="427939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and yours all term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19672" y="4846320"/>
            <a:ext cx="4773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remote hardware. Both are private. "Remote" and "exposed" are not the same property, and conflating them is the mistake this slide exists to prevent.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CONCEPTS &amp; THE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on five axes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row. Each row is one trade-off — and no column is green all the way down.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108960"/>
                <a:gridCol w="3054096"/>
                <a:gridCol w="305409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 T4 (rented)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NAIRR VM (kept)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4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token — every experiment has a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to you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to you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goes to a third party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on the machine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on the machine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— remembers nothing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4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Resets every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Persists all term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— frontier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Good: 7–8B on a T4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Good: 14B+ on an A100 slice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224528"/>
            <a:ext cx="6858000" cy="1627632"/>
          </a:xfrm>
          <a:prstGeom prst="roundRect">
            <a:avLst>
              <a:gd name="adj" fmla="val 3371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4315968"/>
            <a:ext cx="64190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shape, not the cells.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column is green all the way down. The API is the only one green on capability — and the only one that is not green on privacy. The VM comes closest to sweeping, and it still concedes capability. There is no correct answer here; there is a correct answer for a particular constraint, and part of what the lab report assesses is whether you identified which constraint your task actually had.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80960" y="4224528"/>
            <a:ext cx="3867912" cy="1627632"/>
          </a:xfrm>
          <a:prstGeom prst="roundRect">
            <a:avLst>
              <a:gd name="adj" fmla="val 3933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6992" y="4407408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just use the API for everything?"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936992" y="4882896"/>
            <a:ext cx="3355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until the data is sensitive, or the bill is yours. Those are the two rows that stop you, and in professional work they stop you often.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CONCEPTS &amp; THE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module's files and reading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notebooks, two labs, one chapter. Here is what each is for.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943600" cy="2423160"/>
          </a:xfrm>
          <a:prstGeom prst="roundRect">
            <a:avLst>
              <a:gd name="adj" fmla="val 2642"/>
            </a:avLst>
          </a:prstGeom>
          <a:solidFill>
            <a:srgbClr val="231A12"/>
          </a:solidFill>
          <a:ln w="12700">
            <a:solidFill>
              <a:srgbClr val="231A12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for this module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4681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host_LLM_GPU.ipynb    transformers + 4-bit; runs on Colab OR your VM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llm_compare.ipynb     Ollama on the VM; two models, one prompt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assignments/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lab_a_three_ways/     the main lab, plus a sample solution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lab_b_private_ai/     the NAIRR deep dive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forum.md              the discussion topic 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what a good post does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70832"/>
          <a:ext cx="5943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primer 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the vocabulary slide unfamiliar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host_LLM_GPU.ipynb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 to get a model running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Santos chapter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 the reasoning behind the choices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858000" y="1783080"/>
            <a:ext cx="4690872" cy="2011680"/>
          </a:xfrm>
          <a:prstGeom prst="roundRect">
            <a:avLst>
              <a:gd name="adj" fmla="val 3182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14032" y="1965960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— Santos, Agentic AI for Cybersecurity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114032" y="2441448"/>
            <a:ext cx="41788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on hosting and running LLMs. Read it alongside host_LLM_GPU.ipynb rather than before — the chapter explains why the notebook does what it does, and the pairing works better than either alone.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3950208"/>
            <a:ext cx="4690872" cy="1280160"/>
          </a:xfrm>
          <a:prstGeom prst="roundRect">
            <a:avLst>
              <a:gd name="adj" fmla="val 4286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77456" y="404164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notebook, two targets: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host_LLM_GPU.ipynb is written so the cells do not change between Colab and your VM. Only the kernel you select changes.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0" y="5358384"/>
            <a:ext cx="4690872" cy="493776"/>
          </a:xfrm>
          <a:prstGeom prst="roundRect">
            <a:avLst>
              <a:gd name="adj" fmla="val 11111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77456" y="54498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versions move fast.  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what you use; record it in the report.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E8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and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Rented GPU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 as the capability baseline, the quantization arithmetic that makes free-GPU hosting possible, and Way 2 on a Colab T4.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the Landscape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BE8B44"/>
          </a:solidFill>
          <a:ln w="12700">
            <a:solidFill>
              <a:srgbClr val="BE8B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and a Rented GPU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GPU You Keep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Ethics &amp; Recap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API AND A RENTED GPU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 1 — the cloud API, as your baseline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already done this. Today it becomes the yardstick, not the destination.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502920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5875">
            <a:solidFill>
              <a:srgbClr val="8A5A2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59536" y="1938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50976" y="2267712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1F5F8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500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615184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alert, the log, the code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267712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1F5F8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23500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55264" y="2615184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billed per token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19672" y="1810512"/>
            <a:ext cx="5029200" cy="1737360"/>
          </a:xfrm>
          <a:prstGeom prst="roundRect">
            <a:avLst>
              <a:gd name="adj" fmla="val 3684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739128" y="19385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ELSE'S INFRASTRUCTURE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0" y="2267712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27264" y="23500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frontier model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27264" y="261518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GPU, under their terms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52160" y="1737360"/>
            <a:ext cx="0" cy="1883664"/>
          </a:xfrm>
          <a:prstGeom prst="line">
            <a:avLst/>
          </a:prstGeom>
          <a:noFill/>
          <a:ln w="25400">
            <a:solidFill>
              <a:srgbClr val="A4243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358384" y="2487168"/>
            <a:ext cx="2359152" cy="0"/>
          </a:xfrm>
          <a:prstGeom prst="line">
            <a:avLst/>
          </a:prstGeom>
          <a:noFill/>
          <a:ln w="22225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193792" y="217627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crosses this 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17536" y="3017520"/>
            <a:ext cx="-2359152" cy="0"/>
          </a:xfrm>
          <a:prstGeom prst="line">
            <a:avLst/>
          </a:prstGeom>
          <a:noFill/>
          <a:ln w="15875">
            <a:solidFill>
              <a:srgbClr val="5C7383"/>
            </a:solidFill>
            <a:prstDash val="solid"/>
            <a:tailEnd type="triangle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85616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050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the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capability, least 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token — a sloppy loop is an expensive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close did the self-hosted model get?" needs a reference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install, no GPU, no driver versions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prompt lands on third-party infrastructure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prompt, three runners — keep the prompt you use 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lines of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persists between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ceiling, not the recommendation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40080" y="5394960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9536" y="548640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key in .env or Colab Secrets.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 cell, and not in a screenshot in your lab report. I have seen keys leak both ways.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API AND A RENTED GPU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Fitting a big model on a small GPU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7B model at full precision does not fit a T4 — and the failure is confusing when it arrives.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783080"/>
          <a:ext cx="67665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53328" y="2121408"/>
            <a:ext cx="0" cy="1481328"/>
          </a:xfrm>
          <a:prstGeom prst="line">
            <a:avLst/>
          </a:prstGeom>
          <a:noFill/>
          <a:ln w="28575">
            <a:solidFill>
              <a:srgbClr val="A4243B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6144768" y="2121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= 16 GB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4206240"/>
            <a:ext cx="6766560" cy="786384"/>
          </a:xfrm>
          <a:prstGeom prst="roundRect">
            <a:avLst>
              <a:gd name="adj" fmla="val 6977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4297680"/>
            <a:ext cx="6327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bar crosses the line.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GB needed, 16 GB available. You get a CUDA out-of-memory error about four tokens into generation — which is a confusing place to fail, because loading appeared to succeed.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783080"/>
          <a:ext cx="395935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13075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589520" y="3675888"/>
            <a:ext cx="3959352" cy="1316736"/>
          </a:xfrm>
          <a:prstGeom prst="roundRect">
            <a:avLst>
              <a:gd name="adj" fmla="val 4167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08976" y="3767328"/>
            <a:ext cx="3520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multiplication, not the examples: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(B) × bytes-per-param = GB of weights. Then add 2–3 GB. That tells you whether a model fits any GPU you are ever handed.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138928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507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cost you pay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bitsandbytes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transformers — roughly one config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couple of percent on hard benchmarks; invisible on these 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GGUF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Ollama and llama.cpp — baked into the file you pull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trade: small accuracy hit, four-fold memory 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API AND A RENTED GPU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 2 — host the model on a Colab T4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notebook runs on your VM. Only the kernel changes.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492240" cy="3246120"/>
          </a:xfrm>
          <a:prstGeom prst="roundRect">
            <a:avLst>
              <a:gd name="adj" fmla="val 1972"/>
            </a:avLst>
          </a:prstGeom>
          <a:solidFill>
            <a:srgbClr val="231A12"/>
          </a:solidFill>
          <a:ln w="12700">
            <a:solidFill>
              <a:srgbClr val="231A12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6016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host_LLM_GPU.ipynb  —  Runtime ▸ Change runtime type ▸ T4 GPU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601675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transformers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AutoModelForCausalLM, AutoTokenizer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transformers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BitsAndBytesConfig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"Qwen/Qwen2.5-7B-Instruct"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Apache-2.0, not gated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qcfg =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BitsAndBytesConfig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load_in_4bit=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bnb_4bit_compute_dtype=torch.float16,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bnb_4bit_quant_type=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"nf4"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= AutoTokenizer.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from_pretrained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(MODEL)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AutoModelForCausalLM.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from_pretrained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MODEL, quantization_config=qcfg, device_map=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"auto"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(prompt, max_new_tokens=256):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msgs = [{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prompt}]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ids = tok.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apply_chat_template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(msgs, return_tensors=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"pt"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"cuda"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out = model.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(ids, max_new_tokens=max_new_tokens)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(out[0][ids.shape[-1]:], skip_special_tokens=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783080"/>
          <a:ext cx="427939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591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Qwen2.5-7B-Instruct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 and ungated — nobody gets stuck on an access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load_in_4bit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GB instead of 14 — it fits with headroom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quantization type tuned for normally-distributed weights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device_map="auto"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Puts the layers on the GPU without you enumerating them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269480" y="4114800"/>
            <a:ext cx="4279392" cy="914400"/>
          </a:xfrm>
          <a:prstGeom prst="roundRect">
            <a:avLst>
              <a:gd name="adj" fmla="val 6000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88936" y="4206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front doors on the same VM: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call, a ! shell cell, or a terminal. Same machine underneath.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5175504"/>
            <a:ext cx="10908792" cy="676656"/>
          </a:xfrm>
          <a:prstGeom prst="roundRect">
            <a:avLst>
              <a:gd name="adj" fmla="val 8108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5266944"/>
            <a:ext cx="10469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it on your VM without changing a cell: 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same notebook over VS Code Remote-SSH and select the VM's kernel. That is the whole difference between Way 2 and Way 3 at the code level — which is the point I made in Part 1, now made concrete.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API AND A RENTED GPU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the Hugging Face Hub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model that fits your hardware and your task is a hireable skill.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528316" cy="1572768"/>
          </a:xfrm>
          <a:prstGeom prst="roundRect">
            <a:avLst>
              <a:gd name="adj" fmla="val 4070"/>
            </a:avLst>
          </a:prstGeom>
          <a:solidFill>
            <a:srgbClr val="F1F5F8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011680"/>
            <a:ext cx="347472" cy="347472"/>
          </a:xfrm>
          <a:prstGeom prst="ellipse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16870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9536" y="2450592"/>
            <a:ext cx="2089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▸ Text Generation. Sort by trending or downloads to see what people actually run.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33572" y="1828800"/>
            <a:ext cx="2528316" cy="1572768"/>
          </a:xfrm>
          <a:prstGeom prst="roundRect">
            <a:avLst>
              <a:gd name="adj" fmla="val 4070"/>
            </a:avLst>
          </a:prstGeom>
          <a:solidFill>
            <a:srgbClr val="F1F5F8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4740" y="2011680"/>
            <a:ext cx="347472" cy="347472"/>
          </a:xfrm>
          <a:prstGeom prst="ellipse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474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73652" y="2011680"/>
            <a:ext cx="16870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card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53028" y="2450592"/>
            <a:ext cx="2089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things: parameter count, licence, and whether access is gated.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7064" y="1828800"/>
            <a:ext cx="2528316" cy="1572768"/>
          </a:xfrm>
          <a:prstGeom prst="roundRect">
            <a:avLst>
              <a:gd name="adj" fmla="val 4070"/>
            </a:avLst>
          </a:prstGeom>
          <a:solidFill>
            <a:srgbClr val="F1F5F8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2011680"/>
            <a:ext cx="347472" cy="347472"/>
          </a:xfrm>
          <a:prstGeom prst="ellipse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67144" y="2011680"/>
            <a:ext cx="16870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it fits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6520" y="2450592"/>
            <a:ext cx="2089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bytes-per-param + 2–3 GB. Do this before you download anything.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20556" y="1828800"/>
            <a:ext cx="2528316" cy="1572768"/>
          </a:xfrm>
          <a:prstGeom prst="roundRect">
            <a:avLst>
              <a:gd name="adj" fmla="val 4070"/>
            </a:avLst>
          </a:prstGeom>
          <a:solidFill>
            <a:srgbClr val="F1F5F8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21724" y="2011680"/>
            <a:ext cx="347472" cy="347472"/>
          </a:xfrm>
          <a:prstGeom prst="ellipse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21724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60636" y="2011680"/>
            <a:ext cx="16870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task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40012" y="2450592"/>
            <a:ext cx="2089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open model is fine for triage and extraction. Save frontier models for hard reasoning.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02736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926080"/>
                <a:gridCol w="34107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model 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like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decides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7B, 14B, 70B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it fits your GPU at 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are inconsistent — check the card, not the 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Apache-2.0, MIT, custom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you may use or redistribute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"Open weights" is not the same as "open licence"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request-access button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you can download it today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can take days — fine for a project, fatal in a lab 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vs Instruct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-Instruct suffix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it follows instructions or just continues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base model will not answer your question; it will extend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E8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GPU You Keep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Self-hosting on your NAIRR VM with Ollama — a private, persistent model server you reach safely over an SSH tunnel.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the Landscape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and a Rented GPU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BE8B44"/>
          </a:solidFill>
          <a:ln w="12700">
            <a:solidFill>
              <a:srgbClr val="BE8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GPU You Keep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Ethics &amp; Recap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 GPU YOU KEEP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Self-host on the VM with Ollama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install. A persistent server that is still running tomorrow.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309360" cy="2651760"/>
          </a:xfrm>
          <a:prstGeom prst="roundRect">
            <a:avLst>
              <a:gd name="adj" fmla="val 2414"/>
            </a:avLst>
          </a:prstGeom>
          <a:solidFill>
            <a:srgbClr val="231A12"/>
          </a:solidFill>
          <a:ln w="12700">
            <a:solidFill>
              <a:srgbClr val="231A12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833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VM, over SSH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83387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https://ollama.com/install.sh | sh   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detects the GPU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llama3.1:8b       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~5 GB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qwen2.5:14b       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~10 GB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list                   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you have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run llama3.1:8b        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 interactive prompt, right now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it is serving on localhost:11434 for your code to call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783080"/>
          <a:ext cx="4325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963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the ~20 GB slice?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llama3.1:8b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~5 GB, comfortable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qwen2.5:14b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~10 GB, still 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qwen2.5:32b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falls back to 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llama3.1:70b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not on one slice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223760" y="3767328"/>
            <a:ext cx="4325112" cy="1188720"/>
          </a:xfrm>
          <a:prstGeom prst="roundRect">
            <a:avLst>
              <a:gd name="adj" fmla="val 4615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43216" y="385876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Ollama rather than transformers here: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manages quantization, model files and a persistent server for you. transformers works too — Ollama is the fast path.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4590288"/>
            <a:ext cx="6309360" cy="1261872"/>
          </a:xfrm>
          <a:prstGeom prst="roundRect">
            <a:avLst>
              <a:gd name="adj" fmla="val 4348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4681728"/>
            <a:ext cx="58704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that matters: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server does not reset. Close your laptop, come back tomorrow, and the model is still loaded and still answering. Nothing you send it ever leaves the VM.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23760" y="5120640"/>
            <a:ext cx="4325112" cy="731520"/>
          </a:xfrm>
          <a:prstGeom prst="roundRect">
            <a:avLst>
              <a:gd name="adj" fmla="val 7500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43216" y="52120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landed on the GPU:  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ps — the PROCESSOR column should read 100% GPU.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 GPU YOU KEEP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the GPU — and the CPU-fallback trap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"Local LLMs are slow" is almost always a fit problem, not a speed limit.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760720" cy="1243584"/>
          </a:xfrm>
          <a:prstGeom prst="roundRect">
            <a:avLst>
              <a:gd name="adj" fmla="val 5147"/>
            </a:avLst>
          </a:prstGeom>
          <a:solidFill>
            <a:srgbClr val="14231C"/>
          </a:solidFill>
          <a:ln w="12700">
            <a:solidFill>
              <a:srgbClr val="14231C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— ollama ps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285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SIZE     PROCESSOR    UNTIL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llama3.1:8b    6.1 GB   100% GPU     4 minutes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5760720" cy="1243584"/>
          </a:xfrm>
          <a:prstGeom prst="roundRect">
            <a:avLst>
              <a:gd name="adj" fmla="val 5147"/>
            </a:avLst>
          </a:prstGeom>
          <a:solidFill>
            <a:srgbClr val="2A1519"/>
          </a:solidFill>
          <a:ln w="12700">
            <a:solidFill>
              <a:srgbClr val="2A1519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3282696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— same command, a model that did not fit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7824" y="3584448"/>
            <a:ext cx="5285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SIZE     PROCESSOR              UNTIL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qwen2.5:32b    21 GB    62%/38% CPU/GPU        4 minutes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553712"/>
            <a:ext cx="5760720" cy="1298448"/>
          </a:xfrm>
          <a:prstGeom prst="roundRect">
            <a:avLst>
              <a:gd name="adj" fmla="val 4225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645152"/>
            <a:ext cx="53218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is raised.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silently spills the layers that do not fit onto the CPU and keeps working — perhaps twenty times slower. Nothing tells you except that column.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487375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182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you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loaded, and whether it is on the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nvidia-smi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 in use right now — your dashboard for what fits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stop &lt;model&gt;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Unload it and reclaim the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rm &lt;model&gt;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the files from disk entirely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675120" y="3767328"/>
            <a:ext cx="4873752" cy="1298448"/>
          </a:xfrm>
          <a:prstGeom prst="roundRect">
            <a:avLst>
              <a:gd name="adj" fmla="val 493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31152" y="3950208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fix, in order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931152" y="4425696"/>
            <a:ext cx="4361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oversized model → confirm VRAM is free in nvidia-smi → pull something at 14B or below → check ollama ps again.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75120" y="5193792"/>
            <a:ext cx="4873752" cy="658368"/>
          </a:xfrm>
          <a:prstGeom prst="roundRect">
            <a:avLst>
              <a:gd name="adj" fmla="val 8333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94576" y="5285232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before you conclude.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ollama ps before deciding a model is too slow to be useful.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 GPU YOU KEEP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browser chat of your own — Open WebUI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of the whole VM path: a ChatGPT-style interface that never phones home.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035040" cy="1737360"/>
          </a:xfrm>
          <a:prstGeom prst="roundRect">
            <a:avLst>
              <a:gd name="adj" fmla="val 3684"/>
            </a:avLst>
          </a:prstGeom>
          <a:solidFill>
            <a:srgbClr val="231A12"/>
          </a:solidFill>
          <a:ln w="12700">
            <a:solidFill>
              <a:srgbClr val="231A12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VM — bind to localhost, not to the world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5595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127.0.0.1:8080:8080 \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--add-host=host.docker.internal:host-gateway \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-v open-webui:/app/backend/data \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--name open-webui --restart always \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ghcr.io/open-webui/open-webui:main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675888"/>
            <a:ext cx="6035040" cy="1170432"/>
          </a:xfrm>
          <a:prstGeom prst="roundRect">
            <a:avLst>
              <a:gd name="adj" fmla="val 4688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767328"/>
            <a:ext cx="5596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127.0.0.1 in that port mapping.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Docker binds to every interface and your chat UI is on the public internet. This is the whole of the next slide, in one prefix.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828800"/>
            <a:ext cx="4599432" cy="822960"/>
          </a:xfrm>
          <a:prstGeom prst="roundRect">
            <a:avLst>
              <a:gd name="adj" fmla="val 6667"/>
            </a:avLst>
          </a:prstGeom>
          <a:solidFill>
            <a:srgbClr val="F2E8DA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04304" y="1911096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04304" y="2176272"/>
            <a:ext cx="4489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on the VM, port 8080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244584" y="2688336"/>
            <a:ext cx="0" cy="457200"/>
          </a:xfrm>
          <a:prstGeom prst="line">
            <a:avLst/>
          </a:prstGeom>
          <a:noFill/>
          <a:ln w="22225">
            <a:solidFill>
              <a:srgbClr val="BE8B4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200400"/>
            <a:ext cx="4599432" cy="82296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3282696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04304" y="3547872"/>
            <a:ext cx="4489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server, port 11434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44584" y="4059936"/>
            <a:ext cx="0" cy="457200"/>
          </a:xfrm>
          <a:prstGeom prst="line">
            <a:avLst/>
          </a:prstGeom>
          <a:noFill/>
          <a:ln w="22225">
            <a:solidFill>
              <a:srgbClr val="BE8B4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0" y="4572000"/>
            <a:ext cx="4599432" cy="822960"/>
          </a:xfrm>
          <a:prstGeom prst="roundRect">
            <a:avLst>
              <a:gd name="adj" fmla="val 6667"/>
            </a:avLst>
          </a:prstGeom>
          <a:solidFill>
            <a:srgbClr val="12202B"/>
          </a:solidFill>
          <a:ln w="15875">
            <a:solidFill>
              <a:srgbClr val="1220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4304" y="4654296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04304" y="4919472"/>
            <a:ext cx="4489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A100 slice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6035040" cy="822960"/>
          </a:xfrm>
          <a:prstGeom prst="roundRect">
            <a:avLst>
              <a:gd name="adj" fmla="val 6667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5120640"/>
            <a:ext cx="5596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own: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persistent, browser-accessible assistant on hardware you control, holding conversation history that belongs to you and to nobody else.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 GPU YOU KEEP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closed, tunnel in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default of this module — and of every internal service you will ever run.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023360" cy="2286000"/>
          </a:xfrm>
          <a:prstGeom prst="roundRect">
            <a:avLst>
              <a:gd name="adj" fmla="val 2800"/>
            </a:avLst>
          </a:prstGeom>
          <a:solidFill>
            <a:srgbClr val="F1F5F8"/>
          </a:solidFill>
          <a:ln w="15875">
            <a:solidFill>
              <a:srgbClr val="8A5A2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59536" y="19568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50976" y="2377440"/>
            <a:ext cx="340156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597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7249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25512" y="1828800"/>
            <a:ext cx="4023360" cy="2286000"/>
          </a:xfrm>
          <a:prstGeom prst="roundRect">
            <a:avLst>
              <a:gd name="adj" fmla="val 2800"/>
            </a:avLst>
          </a:prstGeom>
          <a:solidFill>
            <a:srgbClr val="F1F5F8"/>
          </a:solidFill>
          <a:ln w="15875">
            <a:solidFill>
              <a:srgbClr val="8A5A2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744968" y="19568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VM — FIREWALL CLOSED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36408" y="2377440"/>
            <a:ext cx="340156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A5A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24597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91272" y="27249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on 127.0.0.1:8080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2542032"/>
            <a:ext cx="2377440" cy="585216"/>
          </a:xfrm>
          <a:prstGeom prst="roundRect">
            <a:avLst>
              <a:gd name="adj" fmla="val 50000"/>
            </a:avLst>
          </a:prstGeom>
          <a:solidFill>
            <a:srgbClr val="F2E8DA"/>
          </a:solidFill>
          <a:ln w="19050">
            <a:solidFill>
              <a:srgbClr val="8A5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5420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16552" y="2834640"/>
            <a:ext cx="411480" cy="0"/>
          </a:xfrm>
          <a:prstGeom prst="line">
            <a:avLst/>
          </a:prstGeom>
          <a:noFill/>
          <a:ln w="22225">
            <a:solidFill>
              <a:srgbClr val="BE8B4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33488" y="2834640"/>
            <a:ext cx="137160" cy="0"/>
          </a:xfrm>
          <a:prstGeom prst="line">
            <a:avLst/>
          </a:prstGeom>
          <a:noFill/>
          <a:ln w="22225">
            <a:solidFill>
              <a:srgbClr val="BE8B4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0080" y="42062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is never open to the internet. The only way in is a connection you could already make.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590288"/>
            <a:ext cx="6035040" cy="1261872"/>
          </a:xfrm>
          <a:prstGeom prst="roundRect">
            <a:avLst>
              <a:gd name="adj" fmla="val 5072"/>
            </a:avLst>
          </a:prstGeom>
          <a:solidFill>
            <a:srgbClr val="231A12"/>
          </a:solidFill>
          <a:ln w="12700">
            <a:solidFill>
              <a:srgbClr val="231A12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" y="470916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laptop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7824" y="5010912"/>
            <a:ext cx="5559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-L 8080:localhost:8080 it7075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open http://localhost:8080 in your browser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4590288"/>
          <a:ext cx="4599432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542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the 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Tunnel instead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who scans finds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Reachable only if you can already log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its own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Inherits your SSH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 GPU YOU KEEP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the models — a fair test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temperature zero, same token limit, timed. Otherwise you are comparing noise.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943600" cy="2194560"/>
          </a:xfrm>
          <a:prstGeom prst="roundRect">
            <a:avLst>
              <a:gd name="adj" fmla="val 2917"/>
            </a:avLst>
          </a:prstGeom>
          <a:solidFill>
            <a:srgbClr val="231A12"/>
          </a:solidFill>
          <a:ln w="12700">
            <a:solidFill>
              <a:srgbClr val="231A12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llm_compare.ipynb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4681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ollama, time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"prompt.txt"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SAME one you gave the API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 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0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"llama3.1:8b"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"qwen2.5:14b"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t0 = time.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perf_counter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 = ollama.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(model=model, options={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"temperature"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0,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"num_predict"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256},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messages=[{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PROMPT}])</a:t>
            </a:r>
            <a:endParaRPr lang="en-US" sz="950" dirty="0"/>
          </a:p>
          <a:p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(model, 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(time.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perf_counter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- t0, 1), 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</a:t>
            </a:r>
            <a:pPr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fixed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83080"/>
          <a:ext cx="4690872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051560"/>
                <a:gridCol w="2130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1–5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are judging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it get the security question right?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the pattern, or hedged vaguely?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an analyst act on it as written?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Recorded, not scored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858000" y="3840480"/>
            <a:ext cx="4690872" cy="1005840"/>
          </a:xfrm>
          <a:prstGeom prst="roundRect">
            <a:avLst>
              <a:gd name="adj" fmla="val 5455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077456" y="39319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it makes concrete: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not speed. The smaller model is faster; the larger one usually answers better.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5029200"/>
            <a:ext cx="10908792" cy="822960"/>
          </a:xfrm>
          <a:prstGeom prst="roundRect">
            <a:avLst>
              <a:gd name="adj" fmla="val 6667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9536" y="512064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rubric matters more than the timings: 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"which model is better" collapses into a vibe, and vibes are not defensible in a report. A crude rubric applied consistently beats a sophisticated one applied to whichever answer you happened to like. Record the numbers and submit them.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E8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Labs, Ethics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Recap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labs, the data-handling rules that apply to every prompt you send, and a look ahead to grounding models in your own documents.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the Landscape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and a Rented GPU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GPU You Keep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BE8B44"/>
          </a:solidFill>
          <a:ln w="12700">
            <a:solidFill>
              <a:srgbClr val="BE8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Ethics &amp; Recap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LABS, ETHICS &amp; RECAP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 — the two labs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 walks the whole arc. Lab B goes deep on the VM path.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94960" cy="2880360"/>
          </a:xfrm>
          <a:prstGeom prst="roundRect">
            <a:avLst>
              <a:gd name="adj" fmla="val 2222"/>
            </a:avLst>
          </a:prstGeom>
          <a:solidFill>
            <a:srgbClr val="F2E8DA"/>
          </a:solidFill>
          <a:ln w="19050">
            <a:solidFill>
              <a:srgbClr val="8A5A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019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21396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 — Run an LLM Three Ways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2560320"/>
            <a:ext cx="48463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your API baseline and keep the prompt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Qwen2.5-7B on a Colab T4 in 4-bit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the same idea on your NAIRR VM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own model from Hugging Face and justify it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three on the five axes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85232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C9D8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19672" y="19019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DIVE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19672" y="2139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B — Your Own Private AI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9672" y="2560320"/>
            <a:ext cx="47548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 and pull two models that fit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they loaded on the GPU with ollama ps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WebUI in Docker, bound to localhost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it over an SSH tunnel — port never opened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CPU-fallback trap on purpose, then fix it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73168"/>
          <a:ext cx="10908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39593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Screenshots, keys 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and notebook output showing it ran, on your machine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visible key means rotate it and resubmit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short comparison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five axes, your rubric scores, and which you would choose for what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 worked" is not a finding — say what you 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forum 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thing that surprised you, in your own words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early enough that people can reply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LABS, ETHICS &amp; RECAP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 and responsible use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rules as Module 1, plus one that is specific to open-weight models.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3776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bites here specifically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or provided data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 PII, secrets, credentials or live incident data in any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module sends the same prompt to a third party three times 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cloud calls as retained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 anything sent to a hosted API could be stored and reviewed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third-party processing, whatever the marketing page says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weights still have licences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model card before you use or redistribute anything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"Open" is not "unrestricted" — several major models carry real limits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limits and key rotation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hard cap in the console; rotate immediately on any leak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loop over a dataset is exactly how an unbounded bill happens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services to localhost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 in the port mapping; tunnel in over SSH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unauthenticated chat UI on a public IP is found by scanners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956048"/>
            <a:ext cx="10908792" cy="896112"/>
          </a:xfrm>
          <a:prstGeom prst="roundRect">
            <a:avLst>
              <a:gd name="adj" fmla="val 6122"/>
            </a:avLst>
          </a:prstGeom>
          <a:solidFill>
            <a:srgbClr val="F2E8DA"/>
          </a:solidFill>
          <a:ln w="9525">
            <a:solidFill>
              <a:srgbClr val="8A5A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047488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people get wrong: 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three. "Open weights" means you can download and run the parameters. It does not automatically mean you may use the model commercially, fine-tune it, or redistribute a derivative. Several widely used models carry custom licences with genuine restrictions. Read the card before you build something you intend to ship.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LABS, ETHICS &amp; RECAP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what's next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carry forward.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on Local &amp;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83864" cy="1664208"/>
          </a:xfrm>
          <a:prstGeom prst="roundRect">
            <a:avLst>
              <a:gd name="adj" fmla="val 3846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84248"/>
            <a:ext cx="384048" cy="384048"/>
          </a:xfrm>
          <a:prstGeom prst="ellipse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three homes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244144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hosted API, a GPU you rent for a session, a GPU you keep. Ways 2 and 3 are one skill.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2544" y="1783080"/>
            <a:ext cx="3483864" cy="1664208"/>
          </a:xfrm>
          <a:prstGeom prst="roundRect">
            <a:avLst>
              <a:gd name="adj" fmla="val 3846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984248"/>
            <a:ext cx="384048" cy="384048"/>
          </a:xfrm>
          <a:prstGeom prst="ellipse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84064" y="196596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who controls the GPU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08576" y="244144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"local or cloud". Remote and exposed are different properties — your VM is remote and private.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3483864" cy="1664208"/>
          </a:xfrm>
          <a:prstGeom prst="roundRect">
            <a:avLst>
              <a:gd name="adj" fmla="val 3846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858768"/>
            <a:ext cx="384048" cy="384048"/>
          </a:xfrm>
          <a:prstGeom prst="ellipse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84048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VRAM arithmetic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96112" y="431596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bytes-per-param, plus 2–3 GB. It is why 4-bit exists and why 32B silently crawls.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52544" y="3657600"/>
            <a:ext cx="3483864" cy="1664208"/>
          </a:xfrm>
          <a:prstGeom prst="roundRect">
            <a:avLst>
              <a:gd name="adj" fmla="val 3846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858768"/>
            <a:ext cx="384048" cy="384048"/>
          </a:xfrm>
          <a:prstGeom prst="ellipse">
            <a:avLst/>
          </a:prstGeom>
          <a:solidFill>
            <a:srgbClr val="8A5A22"/>
          </a:solidFill>
          <a:ln w="12700">
            <a:solidFill>
              <a:srgbClr val="8A5A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84064" y="384048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closed, tunnel in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08576" y="431596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to localhost, forward over SSH. The right default for any internal service you ever run.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65008" y="1783080"/>
            <a:ext cx="3483864" cy="1664208"/>
          </a:xfrm>
          <a:prstGeom prst="roundRect">
            <a:avLst>
              <a:gd name="adj" fmla="val 3846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196596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honest conclusion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21040" y="244144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option wins on all five axes. Choosing well means naming the constraint your task actually has — sensitivity, budget, persistence, or raw capability — and letting that row decide.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65008" y="3657600"/>
            <a:ext cx="3483864" cy="1664208"/>
          </a:xfrm>
          <a:prstGeom prst="roundRect">
            <a:avLst>
              <a:gd name="adj" fmla="val 3297"/>
            </a:avLst>
          </a:prstGeom>
          <a:solidFill>
            <a:srgbClr val="12202B"/>
          </a:solidFill>
          <a:ln w="9525">
            <a:solidFill>
              <a:srgbClr val="1220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3749040"/>
            <a:ext cx="30449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BE8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RAG: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models running in three places, and not one of them knows anything about your organisation. Retrieval-augmented generation is how you ground them in your own documents.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1 · CONCEPTS &amp; 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Three ways, five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The same security task, run three ways. Fill this table in yourself during the lab — it is 15 of its 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LLMs on Local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three_w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09278"/>
            <a:ext cx="10908792" cy="32223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394960"/>
            <a:ext cx="10908792" cy="82296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5513832"/>
            <a:ext cx="104698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“Self-hosting” does not mean “on my laptop.”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It means on a GPU you control. That is the most common misconception in this module according to the solutions key — and Part E of the lab is exactly this table, in your own words, for 15 marks.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2 · THE API AND A RENTED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How a 7B model fits on a free T4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Quantisation is the whole trick. Four bits per weight instead of sixteen, and the model drops from ~14 GB to ~5 GB.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LLMs on Local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quanti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76272"/>
            <a:ext cx="5760720" cy="29626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783080"/>
            <a:ext cx="4873752" cy="210312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12864" y="1901952"/>
            <a:ext cx="43982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host_LLM_GPU.ipynb — THE THREE LINES THAT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2864" y="2176272"/>
            <a:ext cx="439826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bnb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BitsAndBytesConfig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load_in_4bit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True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bnb_4bit_quant_type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"nf4"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bnb_4bit_compute_dtype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torch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float16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AutoModelForCausalLM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from_pretrained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MODEL_ID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quantization_config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bnb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device_map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"auto"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041648"/>
            <a:ext cx="4873752" cy="109728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94576" y="4160520"/>
            <a:ext cx="443484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Storage and compute precision are separate.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The weights live in 4 bits; the arithmetic still runs in float16. nf4 is a format shaped to how weights are actually distributed, which is why the quality cost is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5285232"/>
            <a:ext cx="4873752" cy="932688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94576" y="5431536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If it will not fit, it is one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5797296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MODEL_ID = "Qwen/Qwen2.5-3B-Instruct" — the notebook names this fallback explicitly.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2 · THE API AND A RENTED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Hosting a model,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The core of host_LLM_GPU.ipynb: load a quantised model, then talk to it through the chat template.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LLMs on Local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7223760" cy="4498848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837943"/>
            <a:ext cx="67482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host_LLM_GPU.ipynb — CELLS 17 AND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12263"/>
            <a:ext cx="6748272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!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pip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install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-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q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-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U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transformers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accelerate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bitsandbytes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D9A6CE"/>
                </a:solidFill>
                <a:latin typeface="Courier New"/>
              </a:rPr>
              <a:t>import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torch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D9A6CE"/>
                </a:solidFill>
                <a:latin typeface="Courier New"/>
              </a:rPr>
              <a:t>from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transformers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import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AutoModelForCausalLM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AutoTokenizer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                  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BitsAndBytesConfig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MODEL_ID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"Qwen/Qwen2.5-7B-Instruct"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  </a:t>
            </a:r>
            <a:r>
              <a:rPr sz="760" b="0" i="0">
                <a:solidFill>
                  <a:srgbClr val="76909F"/>
                </a:solidFill>
                <a:latin typeface="Courier New"/>
              </a:rPr>
              <a:t># fits a T4 in 4-bit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bnb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BitsAndBytesConfig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load_in_4bit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True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                 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bnb_4bit_quant_type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"nf4"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                 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bnb_4bit_compute_dtype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torch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float16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tok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  =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AutoTokenizer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from_pretrained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MODEL_ID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AutoModelForCausalLM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from_pretrained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MODEL_ID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quantization_config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bnb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device_map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"auto"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9FC4EE"/>
                </a:solidFill>
                <a:latin typeface="Courier New"/>
              </a:rPr>
              <a:t>print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"Loaded"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MODEL_ID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"on"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device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D9A6CE"/>
                </a:solidFill>
                <a:latin typeface="Courier New"/>
              </a:rPr>
              <a:t>def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chat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system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"You are a concise cybersecurity assistant."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 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max_new_tokens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256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messages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= [{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"role"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"system"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"content"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system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},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            {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"role"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"user"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 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"content"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}]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ids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tok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apply_chat_template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messages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      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add_generation_prompt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True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      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return_tensors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"pt"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to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device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out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generate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ids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max_new_tokens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max_new_tokens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                 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do_sample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False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return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tok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decode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out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[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0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][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ids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shape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[-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1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]:],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              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skip_special_tokens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True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19072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348471" y="1874519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5944" y="1865376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device_map="auto"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194560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Puts the model on the GPU if there is one. If the print says cpu, stop — everything after will take minutes per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866644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348471" y="3022091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3012948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apply_chat_template is not optional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3342132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Every instruct model has its own turn-marking format. The tokenizer knows its own; hand-rolling the string costs quality silently.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014216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48471" y="4169664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4160520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Decode only the new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489704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out[0][ids.shape[-1]:] drops the prompt. Without the slice you print your own question 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5161788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348471" y="5317236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5308092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do_sample=False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5637276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Greedy decoding — same input, same output. Required if you want the comparison in Part D to mean anything.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2 · THE API AND A RENTED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upgrade that breaks the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`pip install -U transformers` pulls 5.x, where one default flipped — and the failure surfaces two lines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LLMs on Local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transformers_br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17978"/>
            <a:ext cx="10908792" cy="30403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230368"/>
            <a:ext cx="6949440" cy="98755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5349240"/>
            <a:ext cx="651052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The error is not where the problem is.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`.to()` accepts the wrong type quietly, so the failure surfaces two lines later on a line that looks innocent. That pattern — a permissive method hiding a type change — is worth naming; you will meet it again.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5230368"/>
            <a:ext cx="3685032" cy="987552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 w="12700">
            <a:solidFill>
              <a:srgbClr val="A4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83296" y="537667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A4243B"/>
                </a:solidFill>
                <a:latin typeface="Calibri"/>
              </a:rPr>
              <a:t>Pin your 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5742431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A tutorial that says `-U` has a shelf life. This affects the core teaching cell of Lecture 2 and graded Parts B and D of the lab.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3 · A GPU YOU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Twenty gigabytes, and what fits in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Two models resident at once on the A100 slice — measured with `nvidia-smi` and `ollama ps`.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LLMs on Local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19</a:t>
            </a:r>
          </a:p>
        </p:txBody>
      </p:sp>
      <p:pic>
        <p:nvPicPr>
          <p:cNvPr id="7" name="Picture 6" descr="vram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203" y="1783080"/>
            <a:ext cx="7222545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315968"/>
            <a:ext cx="6583680" cy="1901952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4434840"/>
            <a:ext cx="61081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MEASURED — Lab_PrivateLLM_Solutions.md REFERENCE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709159"/>
            <a:ext cx="610819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$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ollama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ps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NAME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        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SIZE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  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PROCESSOR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CONTEXT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qwen2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5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:14b    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9.9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GB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 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100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%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GPU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   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4096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llama3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1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:8b    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5.6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GB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 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100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%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GPU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   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4096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$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nvidia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-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smi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GRID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A100X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-20C    14903MiB / 20480MiB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llama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-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server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PID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69643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 9180MiB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llama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-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server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PID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69838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  5162MiB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315968"/>
            <a:ext cx="4050791" cy="190195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17536" y="446227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Run `ollama ps` before you call anything slow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4828031"/>
            <a:ext cx="3611879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It tells you what is resident and, in the PROCESSOR column, whether each model is on the GPU or the CPU.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/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Nine times out of ten “this model is slow” means it quietly landed on the CPU — and nothing told you.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3 · A GPU YOU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It is a fit problem, not a speed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Exercise 2.5 asks you to break it on purpose. Here is what breaking it actually looks like.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LLMs on Local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21</a:t>
            </a:r>
          </a:p>
        </p:txBody>
      </p:sp>
      <p:pic>
        <p:nvPicPr>
          <p:cNvPr id="7" name="Picture 6" descr="cpu_fall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60407"/>
            <a:ext cx="10908792" cy="28628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937760"/>
            <a:ext cx="10908792" cy="1280160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5056632"/>
            <a:ext cx="1046988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A4243B"/>
                </a:solidFill>
                <a:latin typeface="Calibri"/>
              </a:rPr>
              <a:t>A system that silently degrades is harder to operate than one that refuses.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Nothing errored. Nothing warned. The only signal is the PROCESSOR column in `ollama ps` — and you only look there if you already suspect the cause. Keep that pattern in mind: you will meet it again in module 4, where a retrieval query happily returns the nearest chunks even when none of them is relevant.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3 · A GPU YOU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A fair test, and the one the code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Same prompt, temperature 0, same token budget, timed. The shipped comparison cell does none of those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LLMs on Local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486400" cy="265176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901952"/>
            <a:ext cx="5010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llm_compare.ipynb — AS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76272"/>
            <a:ext cx="5010912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D9A6CE"/>
                </a:solidFill>
                <a:latin typeface="Courier New"/>
              </a:rPr>
              <a:t>def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ask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temperature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0.7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t0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time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time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requests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post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f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"{OLLAMA}/api/generate"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json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={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"model"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"prompt"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"stream"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False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"options"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{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"temperature"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temperature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}})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return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json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()[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"response"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],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time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time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 -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t0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D9A6CE"/>
                </a:solidFill>
                <a:latin typeface="Courier New"/>
              </a:rPr>
              <a:t>for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in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MODEL_A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MODEL_B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text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secs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ask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   </a:t>
            </a:r>
            <a:r>
              <a:rPr sz="860" b="0" i="0">
                <a:solidFill>
                  <a:srgbClr val="76909F"/>
                </a:solidFill>
                <a:latin typeface="Courier New"/>
              </a:rPr>
              <a:t># &lt;- 0.7, and no cap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5148072" cy="265176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67258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WHAT THE SLIDE ACTUALLY ASKS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2176272"/>
            <a:ext cx="4672583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D9A6CE"/>
                </a:solidFill>
                <a:latin typeface="Courier New"/>
              </a:rPr>
              <a:t>def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ask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temperature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0.0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max_tokens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200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requests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post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f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"{OLLAMA}/api/generate"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timeout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120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json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={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   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"model"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"prompt"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   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"stream"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False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   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"options"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{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"temperature"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temperature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               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"num_predict"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max_tokens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}})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raise_for_status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return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json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()[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"response"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],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90288"/>
            <a:ext cx="6949440" cy="877824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" y="4709159"/>
            <a:ext cx="651052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Deterministic is the point.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At temperature 0.7 both models are sampling, so running the cell twice gives two different answers. “Qwen was more thorough” then measures a dice roll.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590288"/>
            <a:ext cx="3685032" cy="877824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83296" y="47365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Measured, and counterintuitive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5102352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Temperature barely moves tokens/second — throughput is set by model size and GPU, not sampling.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614416"/>
            <a:ext cx="10908792" cy="603504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 w="12700">
            <a:solidFill>
              <a:srgbClr val="A4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59536" y="5760720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A4243B"/>
                </a:solidFill>
                <a:latin typeface="Calibri"/>
              </a:rPr>
              <a:t>No timeout, no status check: ask for a model you have not pulled and you get `KeyError: 'response'`, not a readable error — and a 32B model in CPU fallback hangs the cell with no feedback at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LLMs on Local &amp; Cloud</dc:title>
  <dc:subject>PptxGenJS Presentation</dc:subject>
  <dc:creator>Chengcheng Li, PhD</dc:creator>
  <cp:lastModifiedBy>Chengcheng Li, PhD</cp:lastModifiedBy>
  <cp:revision>1</cp:revision>
  <dcterms:created xsi:type="dcterms:W3CDTF">2026-07-26T20:38:07Z</dcterms:created>
  <dcterms:modified xsi:type="dcterms:W3CDTF">2026-07-26T20:38:07Z</dcterms:modified>
</cp:coreProperties>
</file>