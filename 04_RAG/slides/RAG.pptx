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9" r:id="rId30"/>
    <p:sldId id="260" r:id="rId6"/>
    <p:sldId id="261" r:id="rId7"/>
    <p:sldId id="293" r:id="rId44"/>
    <p:sldId id="280" r:id="rId31"/>
    <p:sldId id="262" r:id="rId8"/>
    <p:sldId id="281" r:id="rId32"/>
    <p:sldId id="282" r:id="rId33"/>
    <p:sldId id="283" r:id="rId34"/>
    <p:sldId id="263" r:id="rId9"/>
    <p:sldId id="264" r:id="rId10"/>
    <p:sldId id="294" r:id="rId45"/>
    <p:sldId id="284" r:id="rId35"/>
    <p:sldId id="285" r:id="rId36"/>
    <p:sldId id="265" r:id="rId11"/>
    <p:sldId id="286" r:id="rId37"/>
    <p:sldId id="287" r:id="rId38"/>
    <p:sldId id="266" r:id="rId12"/>
    <p:sldId id="267" r:id="rId13"/>
    <p:sldId id="268" r:id="rId14"/>
    <p:sldId id="269" r:id="rId15"/>
    <p:sldId id="288" r:id="rId39"/>
    <p:sldId id="289" r:id="rId40"/>
    <p:sldId id="290" r:id="rId41"/>
    <p:sldId id="270" r:id="rId16"/>
    <p:sldId id="271" r:id="rId17"/>
    <p:sldId id="272" r:id="rId18"/>
    <p:sldId id="295" r:id="rId46"/>
    <p:sldId id="296" r:id="rId47"/>
    <p:sldId id="297" r:id="rId48"/>
    <p:sldId id="273" r:id="rId19"/>
    <p:sldId id="291" r:id="rId42"/>
    <p:sldId id="274" r:id="rId20"/>
    <p:sldId id="275" r:id="rId21"/>
    <p:sldId id="276" r:id="rId22"/>
    <p:sldId id="277" r:id="rId23"/>
    <p:sldId id="292" r:id="rId4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2202B"/>
                </a:solidFill>
                <a:latin typeface="Calibri"/>
              </a:defRPr>
            </a:pPr>
            <a:r>
              <a:rPr sz="1000" b="0" i="0" u="none" strike="noStrike">
                <a:solidFill>
                  <a:srgbClr val="12202B"/>
                </a:solidFill>
                <a:latin typeface="Calibri"/>
              </a:rPr>
              <a:t>Chunk size in tokens  (schematic — the shape, not measurements)</a:t>
            </a:r>
          </a:p>
        </c:rich>
      </c:tx>
      <c:layout/>
      <c:overlay val="0"/>
    </c:title>
    <c:autoTitleDeleted val="0"/>
    <c:plotArea>
      <c:layout/>
      <c:lineChart>
        <c:varyColors val="0"/>
        <c:ser>
          <c:idx val="0"/>
          <c:order val="0"/>
          <c:tx>
            <c:strRef>
              <c:f>Sheet1!$B$1</c:f>
              <c:strCache>
                <c:ptCount val="1"/>
                <c:pt idx="0">
                  <c:v>Match precision</c:v>
                </c:pt>
              </c:strCache>
            </c:strRef>
          </c:tx>
          <c:spPr>
            <a:solidFill>
              <a:srgbClr val="73305F"/>
            </a:solidFill>
            <a:ln w="38100" cap="flat">
              <a:solidFill>
                <a:srgbClr val="73305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3305F"/>
              </a:solidFill>
              <a:ln w="9525" cap="flat">
                <a:solidFill>
                  <a:srgbClr val="73305F"/>
                </a:solidFill>
                <a:prstDash val="solid"/>
                <a:round/>
              </a:ln>
              <a:effectLst/>
            </c:spPr>
          </c:marker>
          <c:cat>
            <c:multiLvlStrRef>
              <c:f>Sheet1!$A$2:$A$6</c:f>
              <c:multiLvlStrCache>
                <c:ptCount val="5"/>
                <c:lvl>
                  <c:pt idx="0">
                    <c:v>128</c:v>
                  </c:pt>
                  <c:pt idx="1">
                    <c:v>256</c:v>
                  </c:pt>
                  <c:pt idx="2">
                    <c:v>512</c:v>
                  </c:pt>
                  <c:pt idx="3">
                    <c:v>1024</c:v>
                  </c:pt>
                  <c:pt idx="4">
                    <c:v>2048</c:v>
                  </c:pt>
                </c:lvl>
              </c:multiLvlStrCache>
            </c:multiLvlStrRef>
          </c:cat>
          <c:val>
            <c:numRef>
              <c:f>Sheet1!$B$2:$B$6</c:f>
              <c:numCache>
                <c:formatCode>General</c:formatCode>
                <c:ptCount val="5"/>
                <c:pt idx="0">
                  <c:v>92</c:v>
                </c:pt>
                <c:pt idx="1">
                  <c:v>88</c:v>
                </c:pt>
                <c:pt idx="2">
                  <c:v>79</c:v>
                </c:pt>
                <c:pt idx="3">
                  <c:v>64</c:v>
                </c:pt>
                <c:pt idx="4">
                  <c:v>47</c:v>
                </c:pt>
              </c:numCache>
            </c:numRef>
          </c:val>
          <c:smooth val="1"/>
        </c:ser>
        <c:ser>
          <c:idx val="1"/>
          <c:order val="1"/>
          <c:tx>
            <c:strRef>
              <c:f>Sheet1!$C$1</c:f>
              <c:strCache>
                <c:ptCount val="1"/>
                <c:pt idx="0">
                  <c:v>Enough context to answer</c:v>
                </c:pt>
              </c:strCache>
            </c:strRef>
          </c:tx>
          <c:spPr>
            <a:solidFill>
              <a:srgbClr val="A96694"/>
            </a:solidFill>
            <a:ln w="38100" cap="flat">
              <a:solidFill>
                <a:srgbClr val="A9669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A96694"/>
              </a:solidFill>
              <a:ln w="9525" cap="flat">
                <a:solidFill>
                  <a:srgbClr val="A96694"/>
                </a:solidFill>
                <a:prstDash val="solid"/>
                <a:round/>
              </a:ln>
              <a:effectLst/>
            </c:spPr>
          </c:marker>
          <c:cat>
            <c:multiLvlStrRef>
              <c:f>Sheet1!$A$2:$A$6</c:f>
              <c:multiLvlStrCache>
                <c:ptCount val="5"/>
                <c:lvl>
                  <c:pt idx="0">
                    <c:v>128</c:v>
                  </c:pt>
                  <c:pt idx="1">
                    <c:v>256</c:v>
                  </c:pt>
                  <c:pt idx="2">
                    <c:v>512</c:v>
                  </c:pt>
                  <c:pt idx="3">
                    <c:v>1024</c:v>
                  </c:pt>
                  <c:pt idx="4">
                    <c:v>2048</c:v>
                  </c:pt>
                </c:lvl>
              </c:multiLvlStrCache>
            </c:multiLvlStrRef>
          </c:cat>
          <c:val>
            <c:numRef>
              <c:f>Sheet1!$C$2:$C$6</c:f>
              <c:numCache>
                <c:formatCode>General</c:formatCode>
                <c:ptCount val="5"/>
                <c:pt idx="0">
                  <c:v>38</c:v>
                </c:pt>
                <c:pt idx="1">
                  <c:v>61</c:v>
                </c:pt>
                <c:pt idx="2">
                  <c:v>82</c:v>
                </c:pt>
                <c:pt idx="3">
                  <c:v>90</c:v>
                </c:pt>
                <c:pt idx="4">
                  <c:v>94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7383"/>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E9EF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C738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5C738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202B"/>
                </a:solidFill>
                <a:latin typeface="Calibri"/>
              </a:defRPr>
            </a:pPr>
            <a:r>
              <a:rPr sz="1100" b="0" i="0" u="none" strike="noStrike">
                <a:solidFill>
                  <a:srgbClr val="12202B"/>
                </a:solidFill>
                <a:latin typeface="Calibri"/>
              </a:rPr>
              <a:t>Indicative mark distribution (%)</a:t>
            </a:r>
          </a:p>
        </c:rich>
      </c:tx>
      <c:layout/>
      <c:overlay val="0"/>
    </c:title>
    <c:autoTitleDeleted val="0"/>
    <c:plotArea>
      <c:layout/>
      <c:barChart>
        <c:barDir val="bar"/>
        <c:grouping val="clustered"/>
        <c:varyColors val="0"/>
        <c:ser>
          <c:idx val="0"/>
          <c:order val="0"/>
          <c:tx>
            <c:strRef>
              <c:f>Sheet1!$B$1</c:f>
              <c:strCache>
                <c:ptCount val="1"/>
                <c:pt idx="0">
                  <c:v>Weighting</c:v>
                </c:pt>
              </c:strCache>
            </c:strRef>
          </c:tx>
          <c:spPr>
            <a:solidFill>
              <a:srgbClr val="73305F"/>
            </a:solidFill>
            <a:effectLst/>
          </c:spPr>
          <c:invertIfNegative val="0"/>
          <c:dLbls>
            <c:numFmt formatCode="#,##0" sourceLinked="0"/>
            <c:txPr>
              <a:bodyPr/>
              <a:lstStyle/>
              <a:p>
                <a:pPr>
                  <a:defRPr b="0" i="0" strike="noStrike" sz="900" u="none">
                    <a:solidFill>
                      <a:srgbClr val="12202B"/>
                    </a:solidFill>
                    <a:latin typeface="Arial"/>
                  </a:defRPr>
                </a:pPr>
              </a:p>
            </c:txPr>
            <c:showLegendKey val="0"/>
            <c:showVal val="1"/>
            <c:showCatName val="0"/>
            <c:showSerName val="0"/>
            <c:showPercent val="0"/>
            <c:showBubbleSize val="0"/>
            <c:showLeaderLines val="0"/>
          </c:dLbls>
          <c:cat>
            <c:multiLvlStrRef>
              <c:f>Sheet1!$A$2:$A$5</c:f>
              <c:multiLvlStrCache>
                <c:ptCount val="4"/>
                <c:lvl>
                  <c:pt idx="0">
                    <c:v>Forum reflection</c:v>
                  </c:pt>
                  <c:pt idx="1">
                    <c:v>Grounded prompt &amp; citations</c:v>
                  </c:pt>
                  <c:pt idx="2">
                    <c:v>Tuning experiment</c:v>
                  </c:pt>
                  <c:pt idx="3">
                    <c:v>Working pipeline</c:v>
                  </c:pt>
                </c:lvl>
              </c:multiLvlStrCache>
            </c:multiLvlStrRef>
          </c:cat>
          <c:val>
            <c:numRef>
              <c:f>Sheet1!$B$2:$B$5</c:f>
              <c:numCache>
                <c:formatCode>General</c:formatCode>
                <c:ptCount val="4"/>
                <c:pt idx="0">
                  <c:v>10</c:v>
                </c:pt>
                <c:pt idx="1">
                  <c:v>20</c:v>
                </c:pt>
                <c:pt idx="2">
                  <c:v>30</c:v>
                </c:pt>
                <c:pt idx="3">
                  <c:v>40</c:v>
                </c:pt>
              </c:numCache>
            </c:numRef>
          </c:val>
        </c:ser>
        <c:dLbls>
          <c:numFmt formatCode="#,##0" sourceLinked="0"/>
          <c:txPr>
            <a:bodyPr/>
            <a:lstStyle/>
            <a:p>
              <a:pPr>
                <a:defRPr b="0" i="0" strike="noStrike" sz="900" u="none">
                  <a:solidFill>
                    <a:srgbClr val="12202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C7383"/>
                </a:solidFill>
                <a:latin typeface="Arial"/>
              </a:defRPr>
            </a:pPr>
            <a:endParaRPr lang="en-US"/>
          </a:p>
        </c:txPr>
        <c:crossAx val="2094734552"/>
        <c:crosses val="autoZero"/>
        <c:auto val="1"/>
        <c:lblAlgn val="ctr"/>
        <c:noMultiLvlLbl val="1"/>
      </c:catAx>
      <c:valAx>
        <c:axId val="2094734552"/>
        <c:scaling>
          <c:orientation val="minMax"/>
          <c:max val="50"/>
        </c:scaling>
        <c:delete val="0"/>
        <c:axPos val="b"/>
        <c:majorGridlines>
          <c:spPr>
            <a:ln w="12700" cap="flat">
              <a:solidFill>
                <a:srgbClr val="E9EF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C738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B"/>
        </a:solidFill>
      </p:bgPr>
    </p:bg>
    <p:spTree>
      <p:nvGrpSpPr>
        <p:cNvPr id="1" name=""/>
        <p:cNvGrpSpPr/>
        <p:nvPr/>
      </p:nvGrpSpPr>
      <p:grpSpPr>
        <a:xfrm>
          <a:off x="0" y="0"/>
          <a:ext cx="0" cy="0"/>
          <a:chOff x="0" y="0"/>
          <a:chExt cx="0" cy="0"/>
        </a:xfrm>
      </p:grpSpPr>
      <p:sp>
        <p:nvSpPr>
          <p:cNvPr id="2" name="Shape 0"/>
          <p:cNvSpPr/>
          <p:nvPr/>
        </p:nvSpPr>
        <p:spPr>
          <a:xfrm>
            <a:off x="8686800" y="-1280160"/>
            <a:ext cx="5120640" cy="5120640"/>
          </a:xfrm>
          <a:prstGeom prst="ellipse">
            <a:avLst/>
          </a:prstGeom>
          <a:solidFill>
            <a:srgbClr val="73305F">
              <a:alpha val="22000"/>
            </a:srgbClr>
          </a:solidFill>
          <a:ln w="12700">
            <a:solidFill>
              <a:srgbClr val="73305F">
                <a:alpha val="40000"/>
              </a:srgbClr>
            </a:solidFill>
            <a:prstDash val="solid"/>
          </a:ln>
        </p:spPr>
      </p:sp>
      <p:sp>
        <p:nvSpPr>
          <p:cNvPr id="3" name="Shape 1"/>
          <p:cNvSpPr/>
          <p:nvPr/>
        </p:nvSpPr>
        <p:spPr>
          <a:xfrm>
            <a:off x="9692640" y="-274320"/>
            <a:ext cx="3108960" cy="3108960"/>
          </a:xfrm>
          <a:prstGeom prst="ellipse">
            <a:avLst/>
          </a:prstGeom>
          <a:solidFill>
            <a:srgbClr val="12202B"/>
          </a:solidFill>
          <a:ln w="12700">
            <a:solidFill>
              <a:srgbClr val="73305F">
                <a:alpha val="55000"/>
              </a:srgbClr>
            </a:solidFill>
            <a:prstDash val="solid"/>
          </a:ln>
        </p:spPr>
      </p:sp>
      <p:sp>
        <p:nvSpPr>
          <p:cNvPr id="4" name="Text 2"/>
          <p:cNvSpPr/>
          <p:nvPr/>
        </p:nvSpPr>
        <p:spPr>
          <a:xfrm>
            <a:off x="640080" y="2121408"/>
            <a:ext cx="8229600" cy="274320"/>
          </a:xfrm>
          <a:prstGeom prst="rect">
            <a:avLst/>
          </a:prstGeom>
          <a:noFill/>
          <a:ln/>
        </p:spPr>
        <p:txBody>
          <a:bodyPr wrap="square" lIns="0" tIns="0" rIns="0" bIns="0" rtlCol="0" anchor="ctr"/>
          <a:lstStyle/>
          <a:p>
            <a:pPr indent="0" marL="0">
              <a:buNone/>
            </a:pPr>
            <a:r>
              <a:rPr lang="en-US" sz="1100" b="1" spc="240" kern="0" dirty="0">
                <a:solidFill>
                  <a:srgbClr val="9FB8C6"/>
                </a:solidFill>
                <a:latin typeface="Calibri" pitchFamily="34" charset="0"/>
                <a:ea typeface="Calibri" pitchFamily="34" charset="-122"/>
                <a:cs typeface="Calibri" pitchFamily="34" charset="-120"/>
              </a:rPr>
              <a:t>IT7075 · APPLIED AI FOR CYBERSECURITY · MODULE 4</a:t>
            </a:r>
            <a:endParaRPr lang="en-US" sz="1100" dirty="0"/>
          </a:p>
        </p:txBody>
      </p:sp>
      <p:sp>
        <p:nvSpPr>
          <p:cNvPr id="5" name="Text 3"/>
          <p:cNvSpPr/>
          <p:nvPr/>
        </p:nvSpPr>
        <p:spPr>
          <a:xfrm>
            <a:off x="640080" y="2487168"/>
            <a:ext cx="9509760" cy="11430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Retrieval-Augmented</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Generation</a:t>
            </a:r>
            <a:endParaRPr lang="en-US" sz="4000" dirty="0"/>
          </a:p>
        </p:txBody>
      </p:sp>
      <p:sp>
        <p:nvSpPr>
          <p:cNvPr id="6" name="Text 4"/>
          <p:cNvSpPr/>
          <p:nvPr/>
        </p:nvSpPr>
        <p:spPr>
          <a:xfrm>
            <a:off x="640080" y="3703320"/>
            <a:ext cx="8778240" cy="777240"/>
          </a:xfrm>
          <a:prstGeom prst="rect">
            <a:avLst/>
          </a:prstGeom>
          <a:noFill/>
          <a:ln/>
        </p:spPr>
        <p:txBody>
          <a:bodyPr wrap="square" lIns="0" tIns="0" rIns="0" bIns="0" rtlCol="0" anchor="t"/>
          <a:lstStyle/>
          <a:p>
            <a:pPr indent="0" marL="0">
              <a:lnSpc>
                <a:spcPts val="2400"/>
              </a:lnSpc>
              <a:buNone/>
            </a:pPr>
            <a:r>
              <a:rPr lang="en-US" sz="1650" dirty="0">
                <a:solidFill>
                  <a:srgbClr val="9FB8C6"/>
                </a:solidFill>
                <a:latin typeface="Calibri" pitchFamily="34" charset="0"/>
                <a:ea typeface="Calibri" pitchFamily="34" charset="-122"/>
                <a:cs typeface="Calibri" pitchFamily="34" charset="-120"/>
              </a:rPr>
              <a:t>Ground a model in knowledge you trust — then build the whole pipeline</a:t>
            </a:r>
            <a:endParaRPr lang="en-US" sz="1650" dirty="0"/>
          </a:p>
          <a:p>
            <a:pPr indent="0" marL="0">
              <a:lnSpc>
                <a:spcPts val="2400"/>
              </a:lnSpc>
              <a:buNone/>
            </a:pPr>
            <a:r>
              <a:rPr lang="en-US" sz="1650" dirty="0">
                <a:solidFill>
                  <a:srgbClr val="9FB8C6"/>
                </a:solidFill>
                <a:latin typeface="Calibri" pitchFamily="34" charset="0"/>
                <a:ea typeface="Calibri" pitchFamily="34" charset="-122"/>
                <a:cs typeface="Calibri" pitchFamily="34" charset="-120"/>
              </a:rPr>
              <a:t>yourself, with no framework hiding the moving parts.</a:t>
            </a:r>
            <a:endParaRPr lang="en-US" sz="1650" dirty="0"/>
          </a:p>
        </p:txBody>
      </p:sp>
      <p:sp>
        <p:nvSpPr>
          <p:cNvPr id="7" name="Shape 5"/>
          <p:cNvSpPr/>
          <p:nvPr/>
        </p:nvSpPr>
        <p:spPr>
          <a:xfrm>
            <a:off x="640080" y="4800600"/>
            <a:ext cx="1005840" cy="32004"/>
          </a:xfrm>
          <a:prstGeom prst="rect">
            <a:avLst/>
          </a:prstGeom>
          <a:solidFill>
            <a:srgbClr val="73305F"/>
          </a:solidFill>
          <a:ln w="12700">
            <a:solidFill>
              <a:srgbClr val="73305F"/>
            </a:solidFill>
            <a:prstDash val="solid"/>
          </a:ln>
        </p:spPr>
      </p:sp>
      <p:sp>
        <p:nvSpPr>
          <p:cNvPr id="8" name="Text 6"/>
          <p:cNvSpPr/>
          <p:nvPr/>
        </p:nvSpPr>
        <p:spPr>
          <a:xfrm>
            <a:off x="640080" y="5029200"/>
            <a:ext cx="6035040" cy="274320"/>
          </a:xfrm>
          <a:prstGeom prst="rect">
            <a:avLst/>
          </a:prstGeom>
          <a:noFill/>
          <a:ln/>
        </p:spPr>
        <p:txBody>
          <a:bodyPr wrap="square" lIns="0" tIns="0" rIns="0" bIns="0" rtlCol="0" anchor="ctr"/>
          <a:lstStyle/>
          <a:p>
            <a:pPr indent="0" marL="0">
              <a:buNone/>
            </a:pPr>
            <a:r>
              <a:rPr lang="en-US" sz="1150" dirty="0">
                <a:solidFill>
                  <a:srgbClr val="9FB8C6"/>
                </a:solidFill>
                <a:latin typeface="Calibri" pitchFamily="34" charset="0"/>
                <a:ea typeface="Calibri" pitchFamily="34" charset="-122"/>
                <a:cs typeface="Calibri" pitchFamily="34" charset="-120"/>
              </a:rPr>
              <a:t>Six parts · two notebooks · a concept-check lab and a mini-project</a:t>
            </a:r>
            <a:endParaRPr lang="en-US" sz="1150" dirty="0"/>
          </a:p>
        </p:txBody>
      </p:sp>
      <p:sp>
        <p:nvSpPr>
          <p:cNvPr id="9" name="Text 7"/>
          <p:cNvSpPr/>
          <p:nvPr/>
        </p:nvSpPr>
        <p:spPr>
          <a:xfrm>
            <a:off x="6035040" y="5029200"/>
            <a:ext cx="5516575" cy="274320"/>
          </a:xfrm>
          <a:prstGeom prst="rect">
            <a:avLst/>
          </a:prstGeom>
          <a:noFill/>
          <a:ln/>
        </p:spPr>
        <p:txBody>
          <a:bodyPr wrap="square" lIns="0" tIns="0" rIns="0" bIns="0" rtlCol="0" anchor="ctr"/>
          <a:lstStyle/>
          <a:p>
            <a:pPr algn="r" indent="0" marL="0">
              <a:buNone/>
            </a:pPr>
            <a:r>
              <a:rPr lang="en-US" sz="1150" dirty="0">
                <a:solidFill>
                  <a:srgbClr val="9FB8C6"/>
                </a:solidFill>
                <a:latin typeface="Calibri" pitchFamily="34" charset="0"/>
                <a:ea typeface="Calibri" pitchFamily="34" charset="-122"/>
                <a:cs typeface="Calibri" pitchFamily="34" charset="-120"/>
              </a:rPr>
              <a:t>Framework-free, and offline by default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A96694"/>
                </a:solidFill>
                <a:latin typeface="Calibri" pitchFamily="34" charset="0"/>
                <a:ea typeface="Calibri" pitchFamily="34" charset="-122"/>
                <a:cs typeface="Calibri" pitchFamily="34" charset="-120"/>
              </a:rPr>
              <a:t>PART 1</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Problem &amp;</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the Core Idea</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What goes wrong when a model answers from memory, and the two-phase pipeline that fixes it.</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A96694"/>
          </a:solidFill>
          <a:ln w="12700">
            <a:solidFill>
              <a:srgbClr val="A96694"/>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Problem &amp; the Core Idea</a:t>
            </a:r>
            <a:endParaRPr lang="en-US" sz="13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Embeddings</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Vector DB &amp; Chunking</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RAG Recipe &amp; Trust</a:t>
            </a:r>
            <a:endParaRPr lang="en-US" sz="12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Build It: Notebooks &amp; Practice</a:t>
            </a:r>
            <a:endParaRPr lang="en-US" sz="1200" dirty="0"/>
          </a:p>
        </p:txBody>
      </p:sp>
      <p:sp>
        <p:nvSpPr>
          <p:cNvPr id="16" name="Shape 14"/>
          <p:cNvSpPr/>
          <p:nvPr/>
        </p:nvSpPr>
        <p:spPr>
          <a:xfrm>
            <a:off x="7818120" y="4818888"/>
            <a:ext cx="182880" cy="182880"/>
          </a:xfrm>
          <a:prstGeom prst="ellipse">
            <a:avLst/>
          </a:prstGeom>
          <a:solidFill>
            <a:srgbClr val="1D3444"/>
          </a:solidFill>
          <a:ln w="12700">
            <a:solidFill>
              <a:srgbClr val="3A5566"/>
            </a:solidFill>
            <a:prstDash val="solid"/>
          </a:ln>
        </p:spPr>
      </p:sp>
      <p:sp>
        <p:nvSpPr>
          <p:cNvPr id="17" name="Text 15"/>
          <p:cNvSpPr/>
          <p:nvPr/>
        </p:nvSpPr>
        <p:spPr>
          <a:xfrm>
            <a:off x="8147304" y="470916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Lab &amp; Mini-Project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1 · THE PROBLEM &amp; THE CORE IDEA</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problem: it answers anyway</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A model asked something outside its knowledge does not decline. It produces something plausible.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640080" y="1783080"/>
            <a:ext cx="6400800" cy="1874520"/>
          </a:xfrm>
          <a:prstGeom prst="roundRect">
            <a:avLst>
              <a:gd name="adj" fmla="val 3415"/>
            </a:avLst>
          </a:prstGeom>
          <a:solidFill>
            <a:srgbClr val="221626"/>
          </a:solidFill>
          <a:ln w="12700">
            <a:solidFill>
              <a:srgbClr val="221626"/>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901952"/>
            <a:ext cx="59253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Asked about a corpus it has never seen</a:t>
            </a:r>
            <a:endParaRPr lang="en-US" sz="950" dirty="0"/>
          </a:p>
        </p:txBody>
      </p:sp>
      <p:sp>
        <p:nvSpPr>
          <p:cNvPr id="9" name="Text 7"/>
          <p:cNvSpPr/>
          <p:nvPr/>
        </p:nvSpPr>
        <p:spPr>
          <a:xfrm>
            <a:off x="877824" y="2203704"/>
            <a:ext cx="5925312" cy="1307592"/>
          </a:xfrm>
          <a:prstGeom prst="rect">
            <a:avLst/>
          </a:prstGeom>
          <a:noFill/>
          <a:ln/>
        </p:spPr>
        <p:txBody>
          <a:bodyPr wrap="square" lIns="0" tIns="0" rIns="0" bIns="0" rtlCol="0" anchor="t"/>
          <a:lstStyle/>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&gt; What does our incident response runbook say about</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isolating a compromised domain controller?</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"Your runbook specifies immediate network isolation,</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followed by a forensic image before any reboot..."</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pPr indent="0" marL="0">
              <a:lnSpc>
                <a:spcPts val="1500"/>
              </a:lnSpc>
              <a:buNone/>
            </a:pPr>
            <a:r>
              <a:rPr lang="en-US" sz="1000" dirty="0">
                <a:solidFill>
                  <a:srgbClr val="76909F"/>
                </a:solidFill>
                <a:latin typeface="Courier New" pitchFamily="34" charset="0"/>
                <a:ea typeface="Courier New" pitchFamily="34" charset="-122"/>
                <a:cs typeface="Courier New" pitchFamily="34" charset="-120"/>
              </a:rPr>
              <a:t># It has never seen your runbook.</a:t>
            </a:r>
            <a:endParaRPr lang="en-US" sz="1000" dirty="0"/>
          </a:p>
        </p:txBody>
      </p:sp>
      <p:sp>
        <p:nvSpPr>
          <p:cNvPr id="10" name="Shape 8"/>
          <p:cNvSpPr/>
          <p:nvPr/>
        </p:nvSpPr>
        <p:spPr>
          <a:xfrm>
            <a:off x="7315200" y="1783080"/>
            <a:ext cx="4233672" cy="1170432"/>
          </a:xfrm>
          <a:prstGeom prst="roundRect">
            <a:avLst>
              <a:gd name="adj" fmla="val 5469"/>
            </a:avLst>
          </a:prstGeom>
          <a:solidFill>
            <a:srgbClr val="F7E5E8"/>
          </a:solidFill>
          <a:ln w="9525">
            <a:solidFill>
              <a:srgbClr val="A4243B"/>
            </a:solidFill>
            <a:prstDash val="solid"/>
          </a:ln>
        </p:spPr>
      </p:sp>
      <p:sp>
        <p:nvSpPr>
          <p:cNvPr id="11" name="Text 9"/>
          <p:cNvSpPr/>
          <p:nvPr/>
        </p:nvSpPr>
        <p:spPr>
          <a:xfrm>
            <a:off x="7571232" y="1965960"/>
            <a:ext cx="3721608" cy="420624"/>
          </a:xfrm>
          <a:prstGeom prst="rect">
            <a:avLst/>
          </a:prstGeom>
          <a:noFill/>
          <a:ln/>
        </p:spPr>
        <p:txBody>
          <a:bodyPr wrap="square" lIns="0" tIns="0" rIns="0" bIns="0" rtlCol="0" anchor="ctr"/>
          <a:lstStyle/>
          <a:p>
            <a:pPr indent="0" marL="0">
              <a:buNone/>
            </a:pPr>
            <a:r>
              <a:rPr lang="en-US" sz="1350" b="1" dirty="0">
                <a:solidFill>
                  <a:srgbClr val="A4243B"/>
                </a:solidFill>
                <a:latin typeface="Calibri" pitchFamily="34" charset="0"/>
                <a:ea typeface="Calibri" pitchFamily="34" charset="-122"/>
                <a:cs typeface="Calibri" pitchFamily="34" charset="-120"/>
              </a:rPr>
              <a:t>It invents</a:t>
            </a:r>
            <a:endParaRPr lang="en-US" sz="1350" dirty="0"/>
          </a:p>
        </p:txBody>
      </p:sp>
      <p:sp>
        <p:nvSpPr>
          <p:cNvPr id="12" name="Text 10"/>
          <p:cNvSpPr/>
          <p:nvPr/>
        </p:nvSpPr>
        <p:spPr>
          <a:xfrm>
            <a:off x="7571232" y="2441448"/>
            <a:ext cx="3721608" cy="310896"/>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Confident, well-formed, and unsupported by anything.</a:t>
            </a:r>
            <a:endParaRPr lang="en-US" sz="1100" dirty="0"/>
          </a:p>
        </p:txBody>
      </p:sp>
      <p:sp>
        <p:nvSpPr>
          <p:cNvPr id="13" name="Shape 11"/>
          <p:cNvSpPr/>
          <p:nvPr/>
        </p:nvSpPr>
        <p:spPr>
          <a:xfrm>
            <a:off x="7315200" y="3081528"/>
            <a:ext cx="4233672" cy="1170432"/>
          </a:xfrm>
          <a:prstGeom prst="roundRect">
            <a:avLst>
              <a:gd name="adj" fmla="val 5469"/>
            </a:avLst>
          </a:prstGeom>
          <a:solidFill>
            <a:srgbClr val="F7E5E8"/>
          </a:solidFill>
          <a:ln w="9525">
            <a:solidFill>
              <a:srgbClr val="A4243B"/>
            </a:solidFill>
            <a:prstDash val="solid"/>
          </a:ln>
        </p:spPr>
      </p:sp>
      <p:sp>
        <p:nvSpPr>
          <p:cNvPr id="14" name="Text 12"/>
          <p:cNvSpPr/>
          <p:nvPr/>
        </p:nvSpPr>
        <p:spPr>
          <a:xfrm>
            <a:off x="7571232" y="3264408"/>
            <a:ext cx="3721608" cy="420624"/>
          </a:xfrm>
          <a:prstGeom prst="rect">
            <a:avLst/>
          </a:prstGeom>
          <a:noFill/>
          <a:ln/>
        </p:spPr>
        <p:txBody>
          <a:bodyPr wrap="square" lIns="0" tIns="0" rIns="0" bIns="0" rtlCol="0" anchor="ctr"/>
          <a:lstStyle/>
          <a:p>
            <a:pPr indent="0" marL="0">
              <a:buNone/>
            </a:pPr>
            <a:r>
              <a:rPr lang="en-US" sz="1350" b="1" dirty="0">
                <a:solidFill>
                  <a:srgbClr val="A4243B"/>
                </a:solidFill>
                <a:latin typeface="Calibri" pitchFamily="34" charset="0"/>
                <a:ea typeface="Calibri" pitchFamily="34" charset="-122"/>
                <a:cs typeface="Calibri" pitchFamily="34" charset="-120"/>
              </a:rPr>
              <a:t>It is stale</a:t>
            </a:r>
            <a:endParaRPr lang="en-US" sz="1350" dirty="0"/>
          </a:p>
        </p:txBody>
      </p:sp>
      <p:sp>
        <p:nvSpPr>
          <p:cNvPr id="15" name="Text 13"/>
          <p:cNvSpPr/>
          <p:nvPr/>
        </p:nvSpPr>
        <p:spPr>
          <a:xfrm>
            <a:off x="7571232" y="3739896"/>
            <a:ext cx="3721608" cy="310896"/>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A training cutoff. This week's CVEs do not exist to it.</a:t>
            </a:r>
            <a:endParaRPr lang="en-US" sz="1100" dirty="0"/>
          </a:p>
        </p:txBody>
      </p:sp>
      <p:sp>
        <p:nvSpPr>
          <p:cNvPr id="16" name="Shape 14"/>
          <p:cNvSpPr/>
          <p:nvPr/>
        </p:nvSpPr>
        <p:spPr>
          <a:xfrm>
            <a:off x="7315200" y="4379976"/>
            <a:ext cx="4233672" cy="1170432"/>
          </a:xfrm>
          <a:prstGeom prst="roundRect">
            <a:avLst>
              <a:gd name="adj" fmla="val 5469"/>
            </a:avLst>
          </a:prstGeom>
          <a:solidFill>
            <a:srgbClr val="F7E5E8"/>
          </a:solidFill>
          <a:ln w="9525">
            <a:solidFill>
              <a:srgbClr val="A4243B"/>
            </a:solidFill>
            <a:prstDash val="solid"/>
          </a:ln>
        </p:spPr>
      </p:sp>
      <p:sp>
        <p:nvSpPr>
          <p:cNvPr id="17" name="Text 15"/>
          <p:cNvSpPr/>
          <p:nvPr/>
        </p:nvSpPr>
        <p:spPr>
          <a:xfrm>
            <a:off x="7571232" y="4562856"/>
            <a:ext cx="3721608" cy="420624"/>
          </a:xfrm>
          <a:prstGeom prst="rect">
            <a:avLst/>
          </a:prstGeom>
          <a:noFill/>
          <a:ln/>
        </p:spPr>
        <p:txBody>
          <a:bodyPr wrap="square" lIns="0" tIns="0" rIns="0" bIns="0" rtlCol="0" anchor="ctr"/>
          <a:lstStyle/>
          <a:p>
            <a:pPr indent="0" marL="0">
              <a:buNone/>
            </a:pPr>
            <a:r>
              <a:rPr lang="en-US" sz="1350" b="1" dirty="0">
                <a:solidFill>
                  <a:srgbClr val="A4243B"/>
                </a:solidFill>
                <a:latin typeface="Calibri" pitchFamily="34" charset="0"/>
                <a:ea typeface="Calibri" pitchFamily="34" charset="-122"/>
                <a:cs typeface="Calibri" pitchFamily="34" charset="-120"/>
              </a:rPr>
              <a:t>It is not yours</a:t>
            </a:r>
            <a:endParaRPr lang="en-US" sz="1350" dirty="0"/>
          </a:p>
        </p:txBody>
      </p:sp>
      <p:sp>
        <p:nvSpPr>
          <p:cNvPr id="18" name="Text 16"/>
          <p:cNvSpPr/>
          <p:nvPr/>
        </p:nvSpPr>
        <p:spPr>
          <a:xfrm>
            <a:off x="7571232" y="5038344"/>
            <a:ext cx="3721608" cy="310896"/>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It knows the public internet, not your policies or assets.</a:t>
            </a:r>
            <a:endParaRPr lang="en-US" sz="1100" dirty="0"/>
          </a:p>
        </p:txBody>
      </p:sp>
      <p:sp>
        <p:nvSpPr>
          <p:cNvPr id="19" name="Shape 17"/>
          <p:cNvSpPr/>
          <p:nvPr/>
        </p:nvSpPr>
        <p:spPr>
          <a:xfrm>
            <a:off x="640080" y="3840480"/>
            <a:ext cx="6400800" cy="1005840"/>
          </a:xfrm>
          <a:prstGeom prst="roundRect">
            <a:avLst>
              <a:gd name="adj" fmla="val 5455"/>
            </a:avLst>
          </a:prstGeom>
          <a:solidFill>
            <a:srgbClr val="F7E5E8"/>
          </a:solidFill>
          <a:ln w="9525">
            <a:solidFill>
              <a:srgbClr val="A4243B"/>
            </a:solidFill>
            <a:prstDash val="solid"/>
          </a:ln>
        </p:spPr>
      </p:sp>
      <p:sp>
        <p:nvSpPr>
          <p:cNvPr id="20" name="Text 18"/>
          <p:cNvSpPr/>
          <p:nvPr/>
        </p:nvSpPr>
        <p:spPr>
          <a:xfrm>
            <a:off x="859536" y="3931920"/>
            <a:ext cx="5961888" cy="822960"/>
          </a:xfrm>
          <a:prstGeom prst="rect">
            <a:avLst/>
          </a:prstGeom>
          <a:noFill/>
          <a:ln/>
        </p:spPr>
        <p:txBody>
          <a:bodyPr wrap="square" lIns="0" tIns="0" rIns="0" bIns="0" rtlCol="0" anchor="ctr"/>
          <a:lstStyle/>
          <a:p>
            <a:pPr indent="0" marL="0">
              <a:lnSpc>
                <a:spcPts val="1540"/>
              </a:lnSpc>
              <a:buNone/>
            </a:pPr>
            <a:r>
              <a:rPr lang="en-US" sz="1100" b="1" dirty="0">
                <a:solidFill>
                  <a:srgbClr val="A4243B"/>
                </a:solidFill>
                <a:latin typeface="Calibri" pitchFamily="34" charset="0"/>
                <a:ea typeface="Calibri" pitchFamily="34" charset="-122"/>
                <a:cs typeface="Calibri" pitchFamily="34" charset="-120"/>
              </a:rPr>
              <a:t>And you cannot simply paste it all in.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The context window is finite, you pay per token, and retrieval quality degrades as you bury the relevant passage in irrelevant ones.</a:t>
            </a:r>
            <a:endParaRPr lang="en-US" sz="1100" dirty="0"/>
          </a:p>
        </p:txBody>
      </p:sp>
      <p:sp>
        <p:nvSpPr>
          <p:cNvPr id="21" name="Shape 19"/>
          <p:cNvSpPr/>
          <p:nvPr/>
        </p:nvSpPr>
        <p:spPr>
          <a:xfrm>
            <a:off x="640080" y="4937760"/>
            <a:ext cx="6400800" cy="1060704"/>
          </a:xfrm>
          <a:prstGeom prst="roundRect">
            <a:avLst>
              <a:gd name="adj" fmla="val 5172"/>
            </a:avLst>
          </a:prstGeom>
          <a:solidFill>
            <a:srgbClr val="F1E4ED"/>
          </a:solidFill>
          <a:ln w="9525">
            <a:solidFill>
              <a:srgbClr val="73305F"/>
            </a:solidFill>
            <a:prstDash val="solid"/>
          </a:ln>
        </p:spPr>
      </p:sp>
      <p:sp>
        <p:nvSpPr>
          <p:cNvPr id="22" name="Text 20"/>
          <p:cNvSpPr/>
          <p:nvPr/>
        </p:nvSpPr>
        <p:spPr>
          <a:xfrm>
            <a:off x="859536" y="5029200"/>
            <a:ext cx="5961888" cy="877824"/>
          </a:xfrm>
          <a:prstGeom prst="rect">
            <a:avLst/>
          </a:prstGeom>
          <a:noFill/>
          <a:ln/>
        </p:spPr>
        <p:txBody>
          <a:bodyPr wrap="square" lIns="0" tIns="0" rIns="0" bIns="0" rtlCol="0" anchor="ctr"/>
          <a:lstStyle/>
          <a:p>
            <a:pPr indent="0" marL="0">
              <a:lnSpc>
                <a:spcPts val="1680"/>
              </a:lnSpc>
              <a:buNone/>
            </a:pPr>
            <a:r>
              <a:rPr lang="en-US" sz="1200" b="1" dirty="0">
                <a:solidFill>
                  <a:srgbClr val="73305F"/>
                </a:solidFill>
                <a:latin typeface="Calibri" pitchFamily="34" charset="0"/>
                <a:ea typeface="Calibri" pitchFamily="34" charset="-122"/>
                <a:cs typeface="Calibri" pitchFamily="34" charset="-120"/>
              </a:rPr>
              <a:t>The fix, in one sentence: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look up the relevant passages first, hand them to the model, and instruct it to answer only from those. The model stops being a source of facts and becomes a summariser of facts you supplied — which is a much more reliable thing to be.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1 · THE PROBLEM &amp; THE CORE IDEA</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What RAG is: two phases, not one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Build the store once. Query it many times. Confusing the two is the most common early mistake.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640080" y="1719072"/>
            <a:ext cx="7315200" cy="219456"/>
          </a:xfrm>
          <a:prstGeom prst="rect">
            <a:avLst/>
          </a:prstGeom>
          <a:noFill/>
          <a:ln/>
        </p:spPr>
        <p:txBody>
          <a:bodyPr wrap="square" lIns="0" tIns="0" rIns="0" bIns="0" rtlCol="0" anchor="ctr"/>
          <a:lstStyle/>
          <a:p>
            <a:pPr indent="0" marL="0">
              <a:buNone/>
            </a:pPr>
            <a:r>
              <a:rPr lang="en-US" sz="950" b="1" spc="140" kern="0" dirty="0">
                <a:solidFill>
                  <a:srgbClr val="73305F"/>
                </a:solidFill>
                <a:latin typeface="Calibri" pitchFamily="34" charset="0"/>
                <a:ea typeface="Calibri" pitchFamily="34" charset="-122"/>
                <a:cs typeface="Calibri" pitchFamily="34" charset="-120"/>
              </a:rPr>
              <a:t>INGESTION — YOU RUN THIS ONCE, WHEN DOCUMENTS CHANGE</a:t>
            </a:r>
            <a:endParaRPr lang="en-US" sz="950" dirty="0"/>
          </a:p>
        </p:txBody>
      </p:sp>
      <p:sp>
        <p:nvSpPr>
          <p:cNvPr id="8" name="Shape 6"/>
          <p:cNvSpPr/>
          <p:nvPr/>
        </p:nvSpPr>
        <p:spPr>
          <a:xfrm>
            <a:off x="640080" y="1975104"/>
            <a:ext cx="2528316" cy="822960"/>
          </a:xfrm>
          <a:prstGeom prst="roundRect">
            <a:avLst>
              <a:gd name="adj" fmla="val 6667"/>
            </a:avLst>
          </a:prstGeom>
          <a:solidFill>
            <a:srgbClr val="F1F5F8"/>
          </a:solidFill>
          <a:ln w="15875">
            <a:solidFill>
              <a:srgbClr val="73305F"/>
            </a:solidFill>
            <a:prstDash val="solid"/>
          </a:ln>
        </p:spPr>
      </p:sp>
      <p:sp>
        <p:nvSpPr>
          <p:cNvPr id="9" name="Text 7"/>
          <p:cNvSpPr/>
          <p:nvPr/>
        </p:nvSpPr>
        <p:spPr>
          <a:xfrm>
            <a:off x="694944" y="2057400"/>
            <a:ext cx="241858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Documents</a:t>
            </a:r>
            <a:endParaRPr lang="en-US" sz="1250" dirty="0"/>
          </a:p>
        </p:txBody>
      </p:sp>
      <p:sp>
        <p:nvSpPr>
          <p:cNvPr id="10" name="Text 8"/>
          <p:cNvSpPr/>
          <p:nvPr/>
        </p:nvSpPr>
        <p:spPr>
          <a:xfrm>
            <a:off x="694944" y="2322576"/>
            <a:ext cx="2418588" cy="42062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runbooks, advisories, CVEs</a:t>
            </a:r>
            <a:endParaRPr lang="en-US" sz="950" dirty="0"/>
          </a:p>
        </p:txBody>
      </p:sp>
      <p:sp>
        <p:nvSpPr>
          <p:cNvPr id="11" name="Shape 9"/>
          <p:cNvSpPr/>
          <p:nvPr/>
        </p:nvSpPr>
        <p:spPr>
          <a:xfrm>
            <a:off x="3204972" y="2386584"/>
            <a:ext cx="192024" cy="0"/>
          </a:xfrm>
          <a:prstGeom prst="line">
            <a:avLst/>
          </a:prstGeom>
          <a:noFill/>
          <a:ln w="20320">
            <a:solidFill>
              <a:srgbClr val="A96694"/>
            </a:solidFill>
            <a:prstDash val="solid"/>
            <a:tailEnd type="triangle"/>
          </a:ln>
        </p:spPr>
      </p:sp>
      <p:sp>
        <p:nvSpPr>
          <p:cNvPr id="12" name="Shape 10"/>
          <p:cNvSpPr/>
          <p:nvPr/>
        </p:nvSpPr>
        <p:spPr>
          <a:xfrm>
            <a:off x="3433572" y="1975104"/>
            <a:ext cx="2528316" cy="822960"/>
          </a:xfrm>
          <a:prstGeom prst="roundRect">
            <a:avLst>
              <a:gd name="adj" fmla="val 6667"/>
            </a:avLst>
          </a:prstGeom>
          <a:solidFill>
            <a:srgbClr val="F1F5F8"/>
          </a:solidFill>
          <a:ln w="15875">
            <a:solidFill>
              <a:srgbClr val="73305F"/>
            </a:solidFill>
            <a:prstDash val="solid"/>
          </a:ln>
        </p:spPr>
      </p:sp>
      <p:sp>
        <p:nvSpPr>
          <p:cNvPr id="13" name="Text 11"/>
          <p:cNvSpPr/>
          <p:nvPr/>
        </p:nvSpPr>
        <p:spPr>
          <a:xfrm>
            <a:off x="3488436" y="2057400"/>
            <a:ext cx="241858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Chunk</a:t>
            </a:r>
            <a:endParaRPr lang="en-US" sz="1250" dirty="0"/>
          </a:p>
        </p:txBody>
      </p:sp>
      <p:sp>
        <p:nvSpPr>
          <p:cNvPr id="14" name="Text 12"/>
          <p:cNvSpPr/>
          <p:nvPr/>
        </p:nvSpPr>
        <p:spPr>
          <a:xfrm>
            <a:off x="3488436" y="2322576"/>
            <a:ext cx="2418588" cy="42062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split into passages</a:t>
            </a:r>
            <a:endParaRPr lang="en-US" sz="950" dirty="0"/>
          </a:p>
        </p:txBody>
      </p:sp>
      <p:sp>
        <p:nvSpPr>
          <p:cNvPr id="15" name="Shape 13"/>
          <p:cNvSpPr/>
          <p:nvPr/>
        </p:nvSpPr>
        <p:spPr>
          <a:xfrm>
            <a:off x="5998464" y="2386584"/>
            <a:ext cx="192024" cy="0"/>
          </a:xfrm>
          <a:prstGeom prst="line">
            <a:avLst/>
          </a:prstGeom>
          <a:noFill/>
          <a:ln w="20320">
            <a:solidFill>
              <a:srgbClr val="A96694"/>
            </a:solidFill>
            <a:prstDash val="solid"/>
            <a:tailEnd type="triangle"/>
          </a:ln>
        </p:spPr>
      </p:sp>
      <p:sp>
        <p:nvSpPr>
          <p:cNvPr id="16" name="Shape 14"/>
          <p:cNvSpPr/>
          <p:nvPr/>
        </p:nvSpPr>
        <p:spPr>
          <a:xfrm>
            <a:off x="6227064" y="1975104"/>
            <a:ext cx="2528316" cy="822960"/>
          </a:xfrm>
          <a:prstGeom prst="roundRect">
            <a:avLst>
              <a:gd name="adj" fmla="val 6667"/>
            </a:avLst>
          </a:prstGeom>
          <a:solidFill>
            <a:srgbClr val="F1F5F8"/>
          </a:solidFill>
          <a:ln w="15875">
            <a:solidFill>
              <a:srgbClr val="73305F"/>
            </a:solidFill>
            <a:prstDash val="solid"/>
          </a:ln>
        </p:spPr>
      </p:sp>
      <p:sp>
        <p:nvSpPr>
          <p:cNvPr id="17" name="Text 15"/>
          <p:cNvSpPr/>
          <p:nvPr/>
        </p:nvSpPr>
        <p:spPr>
          <a:xfrm>
            <a:off x="6281928" y="2057400"/>
            <a:ext cx="241858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Embed</a:t>
            </a:r>
            <a:endParaRPr lang="en-US" sz="1250" dirty="0"/>
          </a:p>
        </p:txBody>
      </p:sp>
      <p:sp>
        <p:nvSpPr>
          <p:cNvPr id="18" name="Text 16"/>
          <p:cNvSpPr/>
          <p:nvPr/>
        </p:nvSpPr>
        <p:spPr>
          <a:xfrm>
            <a:off x="6281928" y="2322576"/>
            <a:ext cx="2418588" cy="42062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each chunk → a vector</a:t>
            </a:r>
            <a:endParaRPr lang="en-US" sz="950" dirty="0"/>
          </a:p>
        </p:txBody>
      </p:sp>
      <p:sp>
        <p:nvSpPr>
          <p:cNvPr id="19" name="Shape 17"/>
          <p:cNvSpPr/>
          <p:nvPr/>
        </p:nvSpPr>
        <p:spPr>
          <a:xfrm>
            <a:off x="8791956" y="2386584"/>
            <a:ext cx="192024" cy="0"/>
          </a:xfrm>
          <a:prstGeom prst="line">
            <a:avLst/>
          </a:prstGeom>
          <a:noFill/>
          <a:ln w="20320">
            <a:solidFill>
              <a:srgbClr val="A96694"/>
            </a:solidFill>
            <a:prstDash val="solid"/>
            <a:tailEnd type="triangle"/>
          </a:ln>
        </p:spPr>
      </p:sp>
      <p:sp>
        <p:nvSpPr>
          <p:cNvPr id="20" name="Shape 18"/>
          <p:cNvSpPr/>
          <p:nvPr/>
        </p:nvSpPr>
        <p:spPr>
          <a:xfrm>
            <a:off x="9020556" y="1975104"/>
            <a:ext cx="2528316" cy="822960"/>
          </a:xfrm>
          <a:prstGeom prst="roundRect">
            <a:avLst>
              <a:gd name="adj" fmla="val 6667"/>
            </a:avLst>
          </a:prstGeom>
          <a:solidFill>
            <a:srgbClr val="F1F5F8"/>
          </a:solidFill>
          <a:ln w="15875">
            <a:solidFill>
              <a:srgbClr val="73305F"/>
            </a:solidFill>
            <a:prstDash val="solid"/>
          </a:ln>
        </p:spPr>
      </p:sp>
      <p:sp>
        <p:nvSpPr>
          <p:cNvPr id="21" name="Text 19"/>
          <p:cNvSpPr/>
          <p:nvPr/>
        </p:nvSpPr>
        <p:spPr>
          <a:xfrm>
            <a:off x="9075420" y="2057400"/>
            <a:ext cx="241858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Store</a:t>
            </a:r>
            <a:endParaRPr lang="en-US" sz="1250" dirty="0"/>
          </a:p>
        </p:txBody>
      </p:sp>
      <p:sp>
        <p:nvSpPr>
          <p:cNvPr id="22" name="Text 20"/>
          <p:cNvSpPr/>
          <p:nvPr/>
        </p:nvSpPr>
        <p:spPr>
          <a:xfrm>
            <a:off x="9075420" y="2322576"/>
            <a:ext cx="2418588" cy="42062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vectors + metadata</a:t>
            </a:r>
            <a:endParaRPr lang="en-US" sz="950" dirty="0"/>
          </a:p>
        </p:txBody>
      </p:sp>
      <p:sp>
        <p:nvSpPr>
          <p:cNvPr id="23" name="Text 21"/>
          <p:cNvSpPr/>
          <p:nvPr/>
        </p:nvSpPr>
        <p:spPr>
          <a:xfrm>
            <a:off x="640080" y="3054096"/>
            <a:ext cx="7315200" cy="219456"/>
          </a:xfrm>
          <a:prstGeom prst="rect">
            <a:avLst/>
          </a:prstGeom>
          <a:noFill/>
          <a:ln/>
        </p:spPr>
        <p:txBody>
          <a:bodyPr wrap="square" lIns="0" tIns="0" rIns="0" bIns="0" rtlCol="0" anchor="ctr"/>
          <a:lstStyle/>
          <a:p>
            <a:pPr indent="0" marL="0">
              <a:buNone/>
            </a:pPr>
            <a:r>
              <a:rPr lang="en-US" sz="950" b="1" spc="140" kern="0" dirty="0">
                <a:solidFill>
                  <a:srgbClr val="73305F"/>
                </a:solidFill>
                <a:latin typeface="Calibri" pitchFamily="34" charset="0"/>
                <a:ea typeface="Calibri" pitchFamily="34" charset="-122"/>
                <a:cs typeface="Calibri" pitchFamily="34" charset="-120"/>
              </a:rPr>
              <a:t>QUERY — YOU RUN THIS ON EVERY QUESTION</a:t>
            </a:r>
            <a:endParaRPr lang="en-US" sz="950" dirty="0"/>
          </a:p>
        </p:txBody>
      </p:sp>
      <p:sp>
        <p:nvSpPr>
          <p:cNvPr id="24" name="Shape 22"/>
          <p:cNvSpPr/>
          <p:nvPr/>
        </p:nvSpPr>
        <p:spPr>
          <a:xfrm>
            <a:off x="640080" y="3310128"/>
            <a:ext cx="2528316" cy="822960"/>
          </a:xfrm>
          <a:prstGeom prst="roundRect">
            <a:avLst>
              <a:gd name="adj" fmla="val 6667"/>
            </a:avLst>
          </a:prstGeom>
          <a:solidFill>
            <a:srgbClr val="F1F5F8"/>
          </a:solidFill>
          <a:ln w="15875">
            <a:solidFill>
              <a:srgbClr val="73305F"/>
            </a:solidFill>
            <a:prstDash val="solid"/>
          </a:ln>
        </p:spPr>
      </p:sp>
      <p:sp>
        <p:nvSpPr>
          <p:cNvPr id="25" name="Text 23"/>
          <p:cNvSpPr/>
          <p:nvPr/>
        </p:nvSpPr>
        <p:spPr>
          <a:xfrm>
            <a:off x="694944" y="3392424"/>
            <a:ext cx="241858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Question</a:t>
            </a:r>
            <a:endParaRPr lang="en-US" sz="1250" dirty="0"/>
          </a:p>
        </p:txBody>
      </p:sp>
      <p:sp>
        <p:nvSpPr>
          <p:cNvPr id="26" name="Text 24"/>
          <p:cNvSpPr/>
          <p:nvPr/>
        </p:nvSpPr>
        <p:spPr>
          <a:xfrm>
            <a:off x="694944" y="3657600"/>
            <a:ext cx="2418588" cy="42062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from the analyst</a:t>
            </a:r>
            <a:endParaRPr lang="en-US" sz="950" dirty="0"/>
          </a:p>
        </p:txBody>
      </p:sp>
      <p:sp>
        <p:nvSpPr>
          <p:cNvPr id="27" name="Shape 25"/>
          <p:cNvSpPr/>
          <p:nvPr/>
        </p:nvSpPr>
        <p:spPr>
          <a:xfrm>
            <a:off x="3204972" y="3721608"/>
            <a:ext cx="192024" cy="0"/>
          </a:xfrm>
          <a:prstGeom prst="line">
            <a:avLst/>
          </a:prstGeom>
          <a:noFill/>
          <a:ln w="20320">
            <a:solidFill>
              <a:srgbClr val="A96694"/>
            </a:solidFill>
            <a:prstDash val="solid"/>
            <a:tailEnd type="triangle"/>
          </a:ln>
        </p:spPr>
      </p:sp>
      <p:sp>
        <p:nvSpPr>
          <p:cNvPr id="28" name="Shape 26"/>
          <p:cNvSpPr/>
          <p:nvPr/>
        </p:nvSpPr>
        <p:spPr>
          <a:xfrm>
            <a:off x="3433572" y="3310128"/>
            <a:ext cx="2528316" cy="822960"/>
          </a:xfrm>
          <a:prstGeom prst="roundRect">
            <a:avLst>
              <a:gd name="adj" fmla="val 6667"/>
            </a:avLst>
          </a:prstGeom>
          <a:solidFill>
            <a:srgbClr val="F1F5F8"/>
          </a:solidFill>
          <a:ln w="15875">
            <a:solidFill>
              <a:srgbClr val="73305F"/>
            </a:solidFill>
            <a:prstDash val="solid"/>
          </a:ln>
        </p:spPr>
      </p:sp>
      <p:sp>
        <p:nvSpPr>
          <p:cNvPr id="29" name="Text 27"/>
          <p:cNvSpPr/>
          <p:nvPr/>
        </p:nvSpPr>
        <p:spPr>
          <a:xfrm>
            <a:off x="3488436" y="3392424"/>
            <a:ext cx="241858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Retrieve</a:t>
            </a:r>
            <a:endParaRPr lang="en-US" sz="1250" dirty="0"/>
          </a:p>
        </p:txBody>
      </p:sp>
      <p:sp>
        <p:nvSpPr>
          <p:cNvPr id="30" name="Text 28"/>
          <p:cNvSpPr/>
          <p:nvPr/>
        </p:nvSpPr>
        <p:spPr>
          <a:xfrm>
            <a:off x="3488436" y="3657600"/>
            <a:ext cx="2418588" cy="42062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the k closest chunks</a:t>
            </a:r>
            <a:endParaRPr lang="en-US" sz="950" dirty="0"/>
          </a:p>
        </p:txBody>
      </p:sp>
      <p:sp>
        <p:nvSpPr>
          <p:cNvPr id="31" name="Shape 29"/>
          <p:cNvSpPr/>
          <p:nvPr/>
        </p:nvSpPr>
        <p:spPr>
          <a:xfrm>
            <a:off x="5998464" y="3721608"/>
            <a:ext cx="192024" cy="0"/>
          </a:xfrm>
          <a:prstGeom prst="line">
            <a:avLst/>
          </a:prstGeom>
          <a:noFill/>
          <a:ln w="20320">
            <a:solidFill>
              <a:srgbClr val="A96694"/>
            </a:solidFill>
            <a:prstDash val="solid"/>
            <a:tailEnd type="triangle"/>
          </a:ln>
        </p:spPr>
      </p:sp>
      <p:sp>
        <p:nvSpPr>
          <p:cNvPr id="32" name="Shape 30"/>
          <p:cNvSpPr/>
          <p:nvPr/>
        </p:nvSpPr>
        <p:spPr>
          <a:xfrm>
            <a:off x="6227064" y="3310128"/>
            <a:ext cx="2528316" cy="822960"/>
          </a:xfrm>
          <a:prstGeom prst="roundRect">
            <a:avLst>
              <a:gd name="adj" fmla="val 6667"/>
            </a:avLst>
          </a:prstGeom>
          <a:solidFill>
            <a:srgbClr val="F1F5F8"/>
          </a:solidFill>
          <a:ln w="15875">
            <a:solidFill>
              <a:srgbClr val="73305F"/>
            </a:solidFill>
            <a:prstDash val="solid"/>
          </a:ln>
        </p:spPr>
      </p:sp>
      <p:sp>
        <p:nvSpPr>
          <p:cNvPr id="33" name="Text 31"/>
          <p:cNvSpPr/>
          <p:nvPr/>
        </p:nvSpPr>
        <p:spPr>
          <a:xfrm>
            <a:off x="6281928" y="3392424"/>
            <a:ext cx="241858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Augment</a:t>
            </a:r>
            <a:endParaRPr lang="en-US" sz="1250" dirty="0"/>
          </a:p>
        </p:txBody>
      </p:sp>
      <p:sp>
        <p:nvSpPr>
          <p:cNvPr id="34" name="Text 32"/>
          <p:cNvSpPr/>
          <p:nvPr/>
        </p:nvSpPr>
        <p:spPr>
          <a:xfrm>
            <a:off x="6281928" y="3657600"/>
            <a:ext cx="2418588" cy="42062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chunks into the prompt</a:t>
            </a:r>
            <a:endParaRPr lang="en-US" sz="950" dirty="0"/>
          </a:p>
        </p:txBody>
      </p:sp>
      <p:sp>
        <p:nvSpPr>
          <p:cNvPr id="35" name="Shape 33"/>
          <p:cNvSpPr/>
          <p:nvPr/>
        </p:nvSpPr>
        <p:spPr>
          <a:xfrm>
            <a:off x="8791956" y="3721608"/>
            <a:ext cx="192024" cy="0"/>
          </a:xfrm>
          <a:prstGeom prst="line">
            <a:avLst/>
          </a:prstGeom>
          <a:noFill/>
          <a:ln w="20320">
            <a:solidFill>
              <a:srgbClr val="A96694"/>
            </a:solidFill>
            <a:prstDash val="solid"/>
            <a:tailEnd type="triangle"/>
          </a:ln>
        </p:spPr>
      </p:sp>
      <p:sp>
        <p:nvSpPr>
          <p:cNvPr id="36" name="Shape 34"/>
          <p:cNvSpPr/>
          <p:nvPr/>
        </p:nvSpPr>
        <p:spPr>
          <a:xfrm>
            <a:off x="9020556" y="3310128"/>
            <a:ext cx="2528316" cy="822960"/>
          </a:xfrm>
          <a:prstGeom prst="roundRect">
            <a:avLst>
              <a:gd name="adj" fmla="val 6667"/>
            </a:avLst>
          </a:prstGeom>
          <a:solidFill>
            <a:srgbClr val="F1E4ED"/>
          </a:solidFill>
          <a:ln w="15875">
            <a:solidFill>
              <a:srgbClr val="73305F"/>
            </a:solidFill>
            <a:prstDash val="solid"/>
          </a:ln>
        </p:spPr>
      </p:sp>
      <p:sp>
        <p:nvSpPr>
          <p:cNvPr id="37" name="Text 35"/>
          <p:cNvSpPr/>
          <p:nvPr/>
        </p:nvSpPr>
        <p:spPr>
          <a:xfrm>
            <a:off x="9075420" y="3392424"/>
            <a:ext cx="241858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Generate</a:t>
            </a:r>
            <a:endParaRPr lang="en-US" sz="1250" dirty="0"/>
          </a:p>
        </p:txBody>
      </p:sp>
      <p:sp>
        <p:nvSpPr>
          <p:cNvPr id="38" name="Text 36"/>
          <p:cNvSpPr/>
          <p:nvPr/>
        </p:nvSpPr>
        <p:spPr>
          <a:xfrm>
            <a:off x="9075420" y="3657600"/>
            <a:ext cx="2418588" cy="42062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grounded, cited answer</a:t>
            </a:r>
            <a:endParaRPr lang="en-US" sz="950" dirty="0"/>
          </a:p>
        </p:txBody>
      </p:sp>
      <p:sp>
        <p:nvSpPr>
          <p:cNvPr id="39" name="Shape 37"/>
          <p:cNvSpPr/>
          <p:nvPr/>
        </p:nvSpPr>
        <p:spPr>
          <a:xfrm>
            <a:off x="10284714" y="2798064"/>
            <a:ext cx="0" cy="219456"/>
          </a:xfrm>
          <a:prstGeom prst="line">
            <a:avLst/>
          </a:prstGeom>
          <a:noFill/>
          <a:ln w="17780">
            <a:solidFill>
              <a:srgbClr val="A96694"/>
            </a:solidFill>
            <a:prstDash val="dash"/>
          </a:ln>
        </p:spPr>
      </p:sp>
      <p:sp>
        <p:nvSpPr>
          <p:cNvPr id="40" name="Shape 38"/>
          <p:cNvSpPr/>
          <p:nvPr/>
        </p:nvSpPr>
        <p:spPr>
          <a:xfrm flipH="1">
            <a:off x="4697730" y="3017520"/>
            <a:ext cx="5586984" cy="0"/>
          </a:xfrm>
          <a:prstGeom prst="line">
            <a:avLst/>
          </a:prstGeom>
          <a:noFill/>
          <a:ln w="17780">
            <a:solidFill>
              <a:srgbClr val="A96694"/>
            </a:solidFill>
            <a:prstDash val="dash"/>
          </a:ln>
        </p:spPr>
      </p:sp>
      <p:sp>
        <p:nvSpPr>
          <p:cNvPr id="41" name="Shape 39"/>
          <p:cNvSpPr/>
          <p:nvPr/>
        </p:nvSpPr>
        <p:spPr>
          <a:xfrm>
            <a:off x="4697730" y="3017520"/>
            <a:ext cx="0" cy="274320"/>
          </a:xfrm>
          <a:prstGeom prst="line">
            <a:avLst/>
          </a:prstGeom>
          <a:noFill/>
          <a:ln w="17780">
            <a:solidFill>
              <a:srgbClr val="A96694"/>
            </a:solidFill>
            <a:prstDash val="dash"/>
            <a:tailEnd type="triangle"/>
          </a:ln>
        </p:spPr>
      </p:sp>
      <p:sp>
        <p:nvSpPr>
          <p:cNvPr id="42" name="Text 40"/>
          <p:cNvSpPr/>
          <p:nvPr/>
        </p:nvSpPr>
        <p:spPr>
          <a:xfrm>
            <a:off x="5029200" y="2798064"/>
            <a:ext cx="3657600" cy="219456"/>
          </a:xfrm>
          <a:prstGeom prst="rect">
            <a:avLst/>
          </a:prstGeom>
          <a:noFill/>
          <a:ln/>
        </p:spPr>
        <p:txBody>
          <a:bodyPr wrap="square" lIns="0" tIns="0" rIns="0" bIns="0" rtlCol="0" anchor="ctr"/>
          <a:lstStyle/>
          <a:p>
            <a:pPr algn="r" indent="0" marL="0">
              <a:buNone/>
            </a:pPr>
            <a:r>
              <a:rPr lang="en-US" sz="900" i="1" dirty="0">
                <a:solidFill>
                  <a:srgbClr val="A96694"/>
                </a:solidFill>
                <a:latin typeface="Calibri" pitchFamily="34" charset="0"/>
                <a:ea typeface="Calibri" pitchFamily="34" charset="-122"/>
                <a:cs typeface="Calibri" pitchFamily="34" charset="-120"/>
              </a:rPr>
              <a:t>the store is what connects the two phases</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4370832"/>
          <a:ext cx="10908792" cy="914400"/>
        </p:xfrm>
        <a:graphic>
          <a:graphicData uri="http://schemas.openxmlformats.org/drawingml/2006/table">
            <a:tbl>
              <a:tblPr/>
              <a:tblGrid>
                <a:gridCol w="2011680"/>
                <a:gridCol w="3108960"/>
                <a:gridCol w="2926080"/>
                <a:gridCol w="286207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Phase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When it runs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costs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breaks if you get it wrong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Ingestion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Once, then again only when documents change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Slow and compute-heavy — every chunk gets embedded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Re-embedding on every question: correct answers, unusable latency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Query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Every single question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Fast — one embedding, one nearest-neighbour search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Retrieving too few chunks, or too many irrelevant ones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44" name="Shape 41"/>
          <p:cNvSpPr/>
          <p:nvPr/>
        </p:nvSpPr>
        <p:spPr>
          <a:xfrm>
            <a:off x="640080" y="5486400"/>
            <a:ext cx="10908792" cy="457200"/>
          </a:xfrm>
          <a:prstGeom prst="roundRect">
            <a:avLst>
              <a:gd name="adj" fmla="val 12000"/>
            </a:avLst>
          </a:prstGeom>
          <a:solidFill>
            <a:srgbClr val="F1E4ED"/>
          </a:solidFill>
          <a:ln w="9525">
            <a:solidFill>
              <a:srgbClr val="73305F"/>
            </a:solidFill>
            <a:prstDash val="solid"/>
          </a:ln>
        </p:spPr>
      </p:sp>
      <p:sp>
        <p:nvSpPr>
          <p:cNvPr id="45" name="Text 42"/>
          <p:cNvSpPr/>
          <p:nvPr/>
        </p:nvSpPr>
        <p:spPr>
          <a:xfrm>
            <a:off x="859536" y="5577840"/>
            <a:ext cx="10469880" cy="274320"/>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The retrieved passages are the evidence.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They are what the answer is built from, and what a citation points 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A96694"/>
                </a:solidFill>
                <a:latin typeface="Calibri" pitchFamily="34" charset="0"/>
                <a:ea typeface="Calibri" pitchFamily="34" charset="-122"/>
                <a:cs typeface="Calibri" pitchFamily="34" charset="-120"/>
              </a:rPr>
              <a:t>PART 2</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Embeddings —</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Search by Meaning</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The engine under retrieval: turning text into vectors so that closeness in space means closeness in meaning.</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Problem &amp; the Core Idea</a:t>
            </a:r>
            <a:endParaRPr lang="en-US" sz="1200" dirty="0"/>
          </a:p>
        </p:txBody>
      </p:sp>
      <p:sp>
        <p:nvSpPr>
          <p:cNvPr id="8" name="Shape 6"/>
          <p:cNvSpPr/>
          <p:nvPr/>
        </p:nvSpPr>
        <p:spPr>
          <a:xfrm>
            <a:off x="7818120" y="2185416"/>
            <a:ext cx="182880" cy="182880"/>
          </a:xfrm>
          <a:prstGeom prst="ellipse">
            <a:avLst/>
          </a:prstGeom>
          <a:solidFill>
            <a:srgbClr val="A96694"/>
          </a:solidFill>
          <a:ln w="12700">
            <a:solidFill>
              <a:srgbClr val="A96694"/>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Embeddings</a:t>
            </a:r>
            <a:endParaRPr lang="en-US" sz="13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Vector DB &amp; Chunking</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RAG Recipe &amp; Trust</a:t>
            </a:r>
            <a:endParaRPr lang="en-US" sz="12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Build It: Notebooks &amp; Practice</a:t>
            </a:r>
            <a:endParaRPr lang="en-US" sz="1200" dirty="0"/>
          </a:p>
        </p:txBody>
      </p:sp>
      <p:sp>
        <p:nvSpPr>
          <p:cNvPr id="16" name="Shape 14"/>
          <p:cNvSpPr/>
          <p:nvPr/>
        </p:nvSpPr>
        <p:spPr>
          <a:xfrm>
            <a:off x="7818120" y="4818888"/>
            <a:ext cx="182880" cy="182880"/>
          </a:xfrm>
          <a:prstGeom prst="ellipse">
            <a:avLst/>
          </a:prstGeom>
          <a:solidFill>
            <a:srgbClr val="1D3444"/>
          </a:solidFill>
          <a:ln w="12700">
            <a:solidFill>
              <a:srgbClr val="3A5566"/>
            </a:solidFill>
            <a:prstDash val="solid"/>
          </a:ln>
        </p:spPr>
      </p:sp>
      <p:sp>
        <p:nvSpPr>
          <p:cNvPr id="17" name="Text 15"/>
          <p:cNvSpPr/>
          <p:nvPr/>
        </p:nvSpPr>
        <p:spPr>
          <a:xfrm>
            <a:off x="8147304" y="470916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Lab &amp; Mini-Project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2 · EMBEDDINGS</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Embeddings turn meaning into geometry</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Text becomes a point in space. Related text lands nearby. That is the whole trick.</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640080" y="1783080"/>
            <a:ext cx="5669280" cy="2651760"/>
          </a:xfrm>
          <a:prstGeom prst="roundRect">
            <a:avLst>
              <a:gd name="adj" fmla="val 2414"/>
            </a:avLst>
          </a:prstGeom>
          <a:solidFill>
            <a:srgbClr val="F1F5F8"/>
          </a:solidFill>
          <a:ln w="9525">
            <a:solidFill>
              <a:srgbClr val="C9D8E0"/>
            </a:solidFill>
            <a:prstDash val="solid"/>
          </a:ln>
        </p:spPr>
      </p:sp>
      <p:sp>
        <p:nvSpPr>
          <p:cNvPr id="8" name="Text 6"/>
          <p:cNvSpPr/>
          <p:nvPr/>
        </p:nvSpPr>
        <p:spPr>
          <a:xfrm>
            <a:off x="859536" y="1901952"/>
            <a:ext cx="5212080" cy="219456"/>
          </a:xfrm>
          <a:prstGeom prst="rect">
            <a:avLst/>
          </a:prstGeom>
          <a:noFill/>
          <a:ln/>
        </p:spPr>
        <p:txBody>
          <a:bodyPr wrap="square" lIns="0" tIns="0" rIns="0" bIns="0" rtlCol="0" anchor="ctr"/>
          <a:lstStyle/>
          <a:p>
            <a:pPr indent="0" marL="0">
              <a:buNone/>
            </a:pPr>
            <a:r>
              <a:rPr lang="en-US" sz="950" b="1" spc="140" kern="0" dirty="0">
                <a:solidFill>
                  <a:srgbClr val="5C7383"/>
                </a:solidFill>
                <a:latin typeface="Calibri" pitchFamily="34" charset="0"/>
                <a:ea typeface="Calibri" pitchFamily="34" charset="-122"/>
                <a:cs typeface="Calibri" pitchFamily="34" charset="-120"/>
              </a:rPr>
              <a:t>EMBEDDING SPACE (2 OF 384 DIMENSIONS SHOWN)</a:t>
            </a:r>
            <a:endParaRPr lang="en-US" sz="950" dirty="0"/>
          </a:p>
        </p:txBody>
      </p:sp>
      <p:sp>
        <p:nvSpPr>
          <p:cNvPr id="9" name="Shape 7"/>
          <p:cNvSpPr/>
          <p:nvPr/>
        </p:nvSpPr>
        <p:spPr>
          <a:xfrm>
            <a:off x="1371600" y="2395728"/>
            <a:ext cx="137160" cy="137160"/>
          </a:xfrm>
          <a:prstGeom prst="ellipse">
            <a:avLst/>
          </a:prstGeom>
          <a:solidFill>
            <a:srgbClr val="73305F"/>
          </a:solidFill>
          <a:ln w="12700">
            <a:solidFill>
              <a:srgbClr val="73305F"/>
            </a:solidFill>
            <a:prstDash val="solid"/>
          </a:ln>
        </p:spPr>
      </p:sp>
      <p:sp>
        <p:nvSpPr>
          <p:cNvPr id="10" name="Text 8"/>
          <p:cNvSpPr/>
          <p:nvPr/>
        </p:nvSpPr>
        <p:spPr>
          <a:xfrm>
            <a:off x="1554480" y="2331720"/>
            <a:ext cx="2103120" cy="256032"/>
          </a:xfrm>
          <a:prstGeom prst="rect">
            <a:avLst/>
          </a:prstGeom>
          <a:noFill/>
          <a:ln/>
        </p:spPr>
        <p:txBody>
          <a:bodyPr wrap="square" lIns="0" tIns="0" rIns="0" bIns="0" rtlCol="0" anchor="ctr"/>
          <a:lstStyle/>
          <a:p>
            <a:pPr indent="0" marL="0">
              <a:buNone/>
            </a:pPr>
            <a:r>
              <a:rPr lang="en-US" sz="950" dirty="0">
                <a:solidFill>
                  <a:srgbClr val="12202B"/>
                </a:solidFill>
                <a:latin typeface="Calibri" pitchFamily="34" charset="0"/>
                <a:ea typeface="Calibri" pitchFamily="34" charset="-122"/>
                <a:cs typeface="Calibri" pitchFamily="34" charset="-120"/>
              </a:rPr>
              <a:t>"brute force attack"</a:t>
            </a:r>
            <a:endParaRPr lang="en-US" sz="950" dirty="0"/>
          </a:p>
        </p:txBody>
      </p:sp>
      <p:sp>
        <p:nvSpPr>
          <p:cNvPr id="11" name="Shape 9"/>
          <p:cNvSpPr/>
          <p:nvPr/>
        </p:nvSpPr>
        <p:spPr>
          <a:xfrm>
            <a:off x="2148840" y="2816352"/>
            <a:ext cx="137160" cy="137160"/>
          </a:xfrm>
          <a:prstGeom prst="ellipse">
            <a:avLst/>
          </a:prstGeom>
          <a:solidFill>
            <a:srgbClr val="73305F"/>
          </a:solidFill>
          <a:ln w="12700">
            <a:solidFill>
              <a:srgbClr val="73305F"/>
            </a:solidFill>
            <a:prstDash val="solid"/>
          </a:ln>
        </p:spPr>
      </p:sp>
      <p:sp>
        <p:nvSpPr>
          <p:cNvPr id="12" name="Text 10"/>
          <p:cNvSpPr/>
          <p:nvPr/>
        </p:nvSpPr>
        <p:spPr>
          <a:xfrm>
            <a:off x="2331720" y="2752344"/>
            <a:ext cx="2103120" cy="256032"/>
          </a:xfrm>
          <a:prstGeom prst="rect">
            <a:avLst/>
          </a:prstGeom>
          <a:noFill/>
          <a:ln/>
        </p:spPr>
        <p:txBody>
          <a:bodyPr wrap="square" lIns="0" tIns="0" rIns="0" bIns="0" rtlCol="0" anchor="ctr"/>
          <a:lstStyle/>
          <a:p>
            <a:pPr indent="0" marL="0">
              <a:buNone/>
            </a:pPr>
            <a:r>
              <a:rPr lang="en-US" sz="950" dirty="0">
                <a:solidFill>
                  <a:srgbClr val="12202B"/>
                </a:solidFill>
                <a:latin typeface="Calibri" pitchFamily="34" charset="0"/>
                <a:ea typeface="Calibri" pitchFamily="34" charset="-122"/>
                <a:cs typeface="Calibri" pitchFamily="34" charset="-120"/>
              </a:rPr>
              <a:t>"password spraying"</a:t>
            </a:r>
            <a:endParaRPr lang="en-US" sz="950" dirty="0"/>
          </a:p>
        </p:txBody>
      </p:sp>
      <p:sp>
        <p:nvSpPr>
          <p:cNvPr id="13" name="Shape 11"/>
          <p:cNvSpPr/>
          <p:nvPr/>
        </p:nvSpPr>
        <p:spPr>
          <a:xfrm>
            <a:off x="1234440" y="3200400"/>
            <a:ext cx="137160" cy="137160"/>
          </a:xfrm>
          <a:prstGeom prst="ellipse">
            <a:avLst/>
          </a:prstGeom>
          <a:solidFill>
            <a:srgbClr val="73305F"/>
          </a:solidFill>
          <a:ln w="12700">
            <a:solidFill>
              <a:srgbClr val="73305F"/>
            </a:solidFill>
            <a:prstDash val="solid"/>
          </a:ln>
        </p:spPr>
      </p:sp>
      <p:sp>
        <p:nvSpPr>
          <p:cNvPr id="14" name="Text 12"/>
          <p:cNvSpPr/>
          <p:nvPr/>
        </p:nvSpPr>
        <p:spPr>
          <a:xfrm>
            <a:off x="1417320" y="3136392"/>
            <a:ext cx="2103120" cy="256032"/>
          </a:xfrm>
          <a:prstGeom prst="rect">
            <a:avLst/>
          </a:prstGeom>
          <a:noFill/>
          <a:ln/>
        </p:spPr>
        <p:txBody>
          <a:bodyPr wrap="square" lIns="0" tIns="0" rIns="0" bIns="0" rtlCol="0" anchor="ctr"/>
          <a:lstStyle/>
          <a:p>
            <a:pPr indent="0" marL="0">
              <a:buNone/>
            </a:pPr>
            <a:r>
              <a:rPr lang="en-US" sz="950" dirty="0">
                <a:solidFill>
                  <a:srgbClr val="12202B"/>
                </a:solidFill>
                <a:latin typeface="Calibri" pitchFamily="34" charset="0"/>
                <a:ea typeface="Calibri" pitchFamily="34" charset="-122"/>
                <a:cs typeface="Calibri" pitchFamily="34" charset="-120"/>
              </a:rPr>
              <a:t>"repeated failed logins"</a:t>
            </a:r>
            <a:endParaRPr lang="en-US" sz="950" dirty="0"/>
          </a:p>
        </p:txBody>
      </p:sp>
      <p:sp>
        <p:nvSpPr>
          <p:cNvPr id="15" name="Shape 13"/>
          <p:cNvSpPr/>
          <p:nvPr/>
        </p:nvSpPr>
        <p:spPr>
          <a:xfrm>
            <a:off x="4251960" y="2468880"/>
            <a:ext cx="137160" cy="137160"/>
          </a:xfrm>
          <a:prstGeom prst="ellipse">
            <a:avLst/>
          </a:prstGeom>
          <a:solidFill>
            <a:srgbClr val="A96694"/>
          </a:solidFill>
          <a:ln w="12700">
            <a:solidFill>
              <a:srgbClr val="A96694"/>
            </a:solidFill>
            <a:prstDash val="solid"/>
          </a:ln>
        </p:spPr>
      </p:sp>
      <p:sp>
        <p:nvSpPr>
          <p:cNvPr id="16" name="Text 14"/>
          <p:cNvSpPr/>
          <p:nvPr/>
        </p:nvSpPr>
        <p:spPr>
          <a:xfrm>
            <a:off x="4434840" y="2404872"/>
            <a:ext cx="2103120" cy="256032"/>
          </a:xfrm>
          <a:prstGeom prst="rect">
            <a:avLst/>
          </a:prstGeom>
          <a:noFill/>
          <a:ln/>
        </p:spPr>
        <p:txBody>
          <a:bodyPr wrap="square" lIns="0" tIns="0" rIns="0" bIns="0" rtlCol="0" anchor="ctr"/>
          <a:lstStyle/>
          <a:p>
            <a:pPr indent="0" marL="0">
              <a:buNone/>
            </a:pPr>
            <a:r>
              <a:rPr lang="en-US" sz="950" dirty="0">
                <a:solidFill>
                  <a:srgbClr val="12202B"/>
                </a:solidFill>
                <a:latin typeface="Calibri" pitchFamily="34" charset="0"/>
                <a:ea typeface="Calibri" pitchFamily="34" charset="-122"/>
                <a:cs typeface="Calibri" pitchFamily="34" charset="-120"/>
              </a:rPr>
              <a:t>"SQL injection"</a:t>
            </a:r>
            <a:endParaRPr lang="en-US" sz="950" dirty="0"/>
          </a:p>
        </p:txBody>
      </p:sp>
      <p:sp>
        <p:nvSpPr>
          <p:cNvPr id="17" name="Shape 15"/>
          <p:cNvSpPr/>
          <p:nvPr/>
        </p:nvSpPr>
        <p:spPr>
          <a:xfrm>
            <a:off x="4709160" y="2999232"/>
            <a:ext cx="137160" cy="137160"/>
          </a:xfrm>
          <a:prstGeom prst="ellipse">
            <a:avLst/>
          </a:prstGeom>
          <a:solidFill>
            <a:srgbClr val="A96694"/>
          </a:solidFill>
          <a:ln w="12700">
            <a:solidFill>
              <a:srgbClr val="A96694"/>
            </a:solidFill>
            <a:prstDash val="solid"/>
          </a:ln>
        </p:spPr>
      </p:sp>
      <p:sp>
        <p:nvSpPr>
          <p:cNvPr id="18" name="Text 16"/>
          <p:cNvSpPr/>
          <p:nvPr/>
        </p:nvSpPr>
        <p:spPr>
          <a:xfrm>
            <a:off x="4892040" y="2935224"/>
            <a:ext cx="2103120" cy="256032"/>
          </a:xfrm>
          <a:prstGeom prst="rect">
            <a:avLst/>
          </a:prstGeom>
          <a:noFill/>
          <a:ln/>
        </p:spPr>
        <p:txBody>
          <a:bodyPr wrap="square" lIns="0" tIns="0" rIns="0" bIns="0" rtlCol="0" anchor="ctr"/>
          <a:lstStyle/>
          <a:p>
            <a:pPr indent="0" marL="0">
              <a:buNone/>
            </a:pPr>
            <a:r>
              <a:rPr lang="en-US" sz="950" dirty="0">
                <a:solidFill>
                  <a:srgbClr val="12202B"/>
                </a:solidFill>
                <a:latin typeface="Calibri" pitchFamily="34" charset="0"/>
                <a:ea typeface="Calibri" pitchFamily="34" charset="-122"/>
                <a:cs typeface="Calibri" pitchFamily="34" charset="-120"/>
              </a:rPr>
              <a:t>"XSS in the login form"</a:t>
            </a:r>
            <a:endParaRPr lang="en-US" sz="950" dirty="0"/>
          </a:p>
        </p:txBody>
      </p:sp>
      <p:sp>
        <p:nvSpPr>
          <p:cNvPr id="19" name="Shape 17"/>
          <p:cNvSpPr/>
          <p:nvPr/>
        </p:nvSpPr>
        <p:spPr>
          <a:xfrm>
            <a:off x="1005840" y="2212848"/>
            <a:ext cx="1874520" cy="1298448"/>
          </a:xfrm>
          <a:prstGeom prst="ellipse">
            <a:avLst/>
          </a:prstGeom>
          <a:solidFill>
            <a:srgbClr val="F1E4ED">
              <a:alpha val="45000"/>
            </a:srgbClr>
          </a:solidFill>
          <a:ln w="12700">
            <a:solidFill>
              <a:srgbClr val="73305F"/>
            </a:solidFill>
            <a:prstDash val="dash"/>
          </a:ln>
        </p:spPr>
      </p:sp>
      <p:sp>
        <p:nvSpPr>
          <p:cNvPr id="20" name="Shape 18"/>
          <p:cNvSpPr/>
          <p:nvPr/>
        </p:nvSpPr>
        <p:spPr>
          <a:xfrm>
            <a:off x="3977640" y="2286000"/>
            <a:ext cx="1417320" cy="1097280"/>
          </a:xfrm>
          <a:prstGeom prst="ellipse">
            <a:avLst/>
          </a:prstGeom>
          <a:solidFill>
            <a:srgbClr val="F1E4ED">
              <a:alpha val="45000"/>
            </a:srgbClr>
          </a:solidFill>
          <a:ln w="12700">
            <a:solidFill>
              <a:srgbClr val="A96694"/>
            </a:solidFill>
            <a:prstDash val="dash"/>
          </a:ln>
        </p:spPr>
      </p:sp>
      <p:sp>
        <p:nvSpPr>
          <p:cNvPr id="21" name="Text 19"/>
          <p:cNvSpPr/>
          <p:nvPr/>
        </p:nvSpPr>
        <p:spPr>
          <a:xfrm>
            <a:off x="1005840" y="3529584"/>
            <a:ext cx="1874520" cy="219456"/>
          </a:xfrm>
          <a:prstGeom prst="rect">
            <a:avLst/>
          </a:prstGeom>
          <a:noFill/>
          <a:ln/>
        </p:spPr>
        <p:txBody>
          <a:bodyPr wrap="square" lIns="0" tIns="0" rIns="0" bIns="0" rtlCol="0" anchor="ctr"/>
          <a:lstStyle/>
          <a:p>
            <a:pPr algn="ctr" indent="0" marL="0">
              <a:buNone/>
            </a:pPr>
            <a:r>
              <a:rPr lang="en-US" sz="900" i="1" dirty="0">
                <a:solidFill>
                  <a:srgbClr val="73305F"/>
                </a:solidFill>
                <a:latin typeface="Calibri" pitchFamily="34" charset="0"/>
                <a:ea typeface="Calibri" pitchFamily="34" charset="-122"/>
                <a:cs typeface="Calibri" pitchFamily="34" charset="-120"/>
              </a:rPr>
              <a:t>credential attacks</a:t>
            </a:r>
            <a:endParaRPr lang="en-US" sz="900" dirty="0"/>
          </a:p>
        </p:txBody>
      </p:sp>
      <p:sp>
        <p:nvSpPr>
          <p:cNvPr id="22" name="Text 20"/>
          <p:cNvSpPr/>
          <p:nvPr/>
        </p:nvSpPr>
        <p:spPr>
          <a:xfrm>
            <a:off x="3977640" y="3419856"/>
            <a:ext cx="1417320" cy="219456"/>
          </a:xfrm>
          <a:prstGeom prst="rect">
            <a:avLst/>
          </a:prstGeom>
          <a:noFill/>
          <a:ln/>
        </p:spPr>
        <p:txBody>
          <a:bodyPr wrap="square" lIns="0" tIns="0" rIns="0" bIns="0" rtlCol="0" anchor="ctr"/>
          <a:lstStyle/>
          <a:p>
            <a:pPr algn="ctr" indent="0" marL="0">
              <a:buNone/>
            </a:pPr>
            <a:r>
              <a:rPr lang="en-US" sz="900" i="1" dirty="0">
                <a:solidFill>
                  <a:srgbClr val="A96694"/>
                </a:solidFill>
                <a:latin typeface="Calibri" pitchFamily="34" charset="0"/>
                <a:ea typeface="Calibri" pitchFamily="34" charset="-122"/>
                <a:cs typeface="Calibri" pitchFamily="34" charset="-120"/>
              </a:rPr>
              <a:t>web app attacks</a:t>
            </a:r>
            <a:endParaRPr lang="en-US" sz="900" dirty="0"/>
          </a:p>
        </p:txBody>
      </p:sp>
      <p:sp>
        <p:nvSpPr>
          <p:cNvPr id="23" name="Text 21"/>
          <p:cNvSpPr/>
          <p:nvPr/>
        </p:nvSpPr>
        <p:spPr>
          <a:xfrm>
            <a:off x="859536" y="3968496"/>
            <a:ext cx="5212080" cy="329184"/>
          </a:xfrm>
          <a:prstGeom prst="rect">
            <a:avLst/>
          </a:prstGeom>
          <a:noFill/>
          <a:ln/>
        </p:spPr>
        <p:txBody>
          <a:bodyPr wrap="square" lIns="0" tIns="0" rIns="0" bIns="0" rtlCol="0" anchor="ctr"/>
          <a:lstStyle/>
          <a:p>
            <a:pPr indent="0" marL="0">
              <a:buNone/>
            </a:pPr>
            <a:r>
              <a:rPr lang="en-US" sz="1050" i="1" dirty="0">
                <a:solidFill>
                  <a:srgbClr val="5C7383"/>
                </a:solidFill>
                <a:latin typeface="Calibri" pitchFamily="34" charset="0"/>
                <a:ea typeface="Calibri" pitchFamily="34" charset="-122"/>
                <a:cs typeface="Calibri" pitchFamily="34" charset="-120"/>
              </a:rPr>
              <a:t>No shared words between the three on the left — yet they cluster.</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783080"/>
          <a:ext cx="4965192" cy="914400"/>
        </p:xfrm>
        <a:graphic>
          <a:graphicData uri="http://schemas.openxmlformats.org/drawingml/2006/table">
            <a:tbl>
              <a:tblPr/>
              <a:tblGrid>
                <a:gridCol w="1463040"/>
                <a:gridCol w="35021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means here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fixed-length list of numbers standing for a piece of text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Dimensions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How long that list is. 384 for the small model we use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Cosine similarity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angle between two vectors. 1 = same direction, 0 = unrelated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Embedding model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thing that does the mapping. Different from your chat model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25" name="Shape 22"/>
          <p:cNvSpPr/>
          <p:nvPr/>
        </p:nvSpPr>
        <p:spPr>
          <a:xfrm>
            <a:off x="640080" y="4590288"/>
            <a:ext cx="5669280" cy="1261872"/>
          </a:xfrm>
          <a:prstGeom prst="roundRect">
            <a:avLst>
              <a:gd name="adj" fmla="val 5072"/>
            </a:avLst>
          </a:prstGeom>
          <a:solidFill>
            <a:srgbClr val="221626"/>
          </a:solidFill>
          <a:ln w="12700">
            <a:solidFill>
              <a:srgbClr val="221626"/>
            </a:solidFill>
            <a:prstDash val="solid"/>
          </a:ln>
          <a:effectLst>
            <a:outerShdw sx="100000" sy="100000" kx="0" ky="0" algn="bl" rotWithShape="0" blurRad="114300" dist="25400" dir="5400000">
              <a:srgbClr val="0B1720">
                <a:alpha val="22000"/>
              </a:srgbClr>
            </a:outerShdw>
          </a:effectLst>
        </p:spPr>
      </p:sp>
      <p:sp>
        <p:nvSpPr>
          <p:cNvPr id="26" name="Text 23"/>
          <p:cNvSpPr/>
          <p:nvPr/>
        </p:nvSpPr>
        <p:spPr>
          <a:xfrm>
            <a:off x="877824" y="4709160"/>
            <a:ext cx="519379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Local, offline, nothing leaves your machine</a:t>
            </a:r>
            <a:endParaRPr lang="en-US" sz="950" dirty="0"/>
          </a:p>
        </p:txBody>
      </p:sp>
      <p:sp>
        <p:nvSpPr>
          <p:cNvPr id="27" name="Text 24"/>
          <p:cNvSpPr/>
          <p:nvPr/>
        </p:nvSpPr>
        <p:spPr>
          <a:xfrm>
            <a:off x="877824" y="5010912"/>
            <a:ext cx="5193792" cy="694944"/>
          </a:xfrm>
          <a:prstGeom prst="rect">
            <a:avLst/>
          </a:prstGeom>
          <a:noFill/>
          <a:ln/>
        </p:spPr>
        <p:txBody>
          <a:bodyPr wrap="square" lIns="0" tIns="0" rIns="0" bIns="0" rtlCol="0" anchor="t"/>
          <a:lstStyle/>
          <a:p>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from</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sentence_transformers </a:t>
            </a:r>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import</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SentenceTransformer</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m = </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SentenceTransformer</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"all-MiniLM-L6-v2"</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384 dims, ~80 MB</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vecs = m.</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encode</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"brute force attack"</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"password spraying"</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endParaRPr lang="en-US" sz="950" dirty="0"/>
          </a:p>
        </p:txBody>
      </p:sp>
      <p:sp>
        <p:nvSpPr>
          <p:cNvPr id="28" name="Shape 25"/>
          <p:cNvSpPr/>
          <p:nvPr/>
        </p:nvSpPr>
        <p:spPr>
          <a:xfrm>
            <a:off x="6583680" y="3950208"/>
            <a:ext cx="4965192" cy="1901952"/>
          </a:xfrm>
          <a:prstGeom prst="roundRect">
            <a:avLst>
              <a:gd name="adj" fmla="val 2885"/>
            </a:avLst>
          </a:prstGeom>
          <a:solidFill>
            <a:srgbClr val="F1E4ED"/>
          </a:solidFill>
          <a:ln w="9525">
            <a:solidFill>
              <a:srgbClr val="73305F"/>
            </a:solidFill>
            <a:prstDash val="solid"/>
          </a:ln>
        </p:spPr>
      </p:sp>
      <p:sp>
        <p:nvSpPr>
          <p:cNvPr id="29" name="Text 26"/>
          <p:cNvSpPr/>
          <p:nvPr/>
        </p:nvSpPr>
        <p:spPr>
          <a:xfrm>
            <a:off x="6803136" y="4041648"/>
            <a:ext cx="4526280" cy="1719072"/>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Why this matters for security work: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the embedding model is small enough to run on a laptop CPU. Your corpus — runbooks, incident notes, advisories — never leaves your machine to be turned into vectors. That is a genuine privacy property, and it is why we default to local embeddings rather than an embedding API.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2 · EMBEDDINGS</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Why embeddings beat keyword search</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Security language is varied and paraphrased. Exact-string matching is the wrong tool for it.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640080" y="1783080"/>
            <a:ext cx="5394960" cy="2286000"/>
          </a:xfrm>
          <a:prstGeom prst="roundRect">
            <a:avLst>
              <a:gd name="adj" fmla="val 2800"/>
            </a:avLst>
          </a:prstGeom>
          <a:solidFill>
            <a:srgbClr val="F7E5E8"/>
          </a:solidFill>
          <a:ln w="15875">
            <a:solidFill>
              <a:srgbClr val="A4243B"/>
            </a:solidFill>
            <a:prstDash val="solid"/>
          </a:ln>
        </p:spPr>
      </p:sp>
      <p:sp>
        <p:nvSpPr>
          <p:cNvPr id="8" name="Text 6"/>
          <p:cNvSpPr/>
          <p:nvPr/>
        </p:nvSpPr>
        <p:spPr>
          <a:xfrm>
            <a:off x="896112" y="1920240"/>
            <a:ext cx="4846320" cy="219456"/>
          </a:xfrm>
          <a:prstGeom prst="rect">
            <a:avLst/>
          </a:prstGeom>
          <a:noFill/>
          <a:ln/>
        </p:spPr>
        <p:txBody>
          <a:bodyPr wrap="square" lIns="0" tIns="0" rIns="0" bIns="0" rtlCol="0" anchor="ctr"/>
          <a:lstStyle/>
          <a:p>
            <a:pPr indent="0" marL="0">
              <a:buNone/>
            </a:pPr>
            <a:r>
              <a:rPr lang="en-US" sz="950" b="1" spc="140" kern="0" dirty="0">
                <a:solidFill>
                  <a:srgbClr val="A4243B"/>
                </a:solidFill>
                <a:latin typeface="Calibri" pitchFamily="34" charset="0"/>
                <a:ea typeface="Calibri" pitchFamily="34" charset="-122"/>
                <a:cs typeface="Calibri" pitchFamily="34" charset="-120"/>
              </a:rPr>
              <a:t>KEYWORD SEARCH</a:t>
            </a:r>
            <a:endParaRPr lang="en-US" sz="950" dirty="0"/>
          </a:p>
        </p:txBody>
      </p:sp>
      <p:sp>
        <p:nvSpPr>
          <p:cNvPr id="9" name="Text 7"/>
          <p:cNvSpPr/>
          <p:nvPr/>
        </p:nvSpPr>
        <p:spPr>
          <a:xfrm>
            <a:off x="896112" y="2212848"/>
            <a:ext cx="4846320" cy="274320"/>
          </a:xfrm>
          <a:prstGeom prst="rect">
            <a:avLst/>
          </a:prstGeom>
          <a:noFill/>
          <a:ln/>
        </p:spPr>
        <p:txBody>
          <a:bodyPr wrap="square" lIns="0" tIns="0" rIns="0" bIns="0" rtlCol="0" anchor="ctr"/>
          <a:lstStyle/>
          <a:p>
            <a:pPr indent="0" marL="0">
              <a:buNone/>
            </a:pPr>
            <a:r>
              <a:rPr lang="en-US" sz="1100" dirty="0">
                <a:solidFill>
                  <a:srgbClr val="12202B"/>
                </a:solidFill>
                <a:latin typeface="Courier New" pitchFamily="34" charset="0"/>
                <a:ea typeface="Courier New" pitchFamily="34" charset="-122"/>
                <a:cs typeface="Courier New" pitchFamily="34" charset="-120"/>
              </a:rPr>
              <a:t>Query:  "brute force"</a:t>
            </a:r>
            <a:endParaRPr lang="en-US" sz="1100" dirty="0"/>
          </a:p>
        </p:txBody>
      </p:sp>
      <p:sp>
        <p:nvSpPr>
          <p:cNvPr id="10" name="Text 8"/>
          <p:cNvSpPr/>
          <p:nvPr/>
        </p:nvSpPr>
        <p:spPr>
          <a:xfrm>
            <a:off x="896112" y="2560320"/>
            <a:ext cx="4846320" cy="1371600"/>
          </a:xfrm>
          <a:prstGeom prst="rect">
            <a:avLst/>
          </a:prstGeom>
          <a:noFill/>
          <a:ln/>
        </p:spPr>
        <p:txBody>
          <a:bodyPr wrap="square" lIns="0" tIns="0" rIns="0" bIns="0" rtlCol="0" anchor="t"/>
          <a:lstStyle/>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"password spraying detected"  —  no match</a:t>
            </a:r>
            <a:endParaRPr lang="en-US" sz="1100" dirty="0"/>
          </a:p>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"repeated authentication failures"  —  no match</a:t>
            </a:r>
            <a:endParaRPr lang="en-US" sz="1100" dirty="0"/>
          </a:p>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"brute force protection enabled"  —  matched, and irrelevant</a:t>
            </a:r>
            <a:endParaRPr lang="en-US" sz="1100" dirty="0"/>
          </a:p>
        </p:txBody>
      </p:sp>
      <p:sp>
        <p:nvSpPr>
          <p:cNvPr id="11" name="Shape 9"/>
          <p:cNvSpPr/>
          <p:nvPr/>
        </p:nvSpPr>
        <p:spPr>
          <a:xfrm>
            <a:off x="6263640" y="1783080"/>
            <a:ext cx="5285232" cy="2286000"/>
          </a:xfrm>
          <a:prstGeom prst="roundRect">
            <a:avLst>
              <a:gd name="adj" fmla="val 2800"/>
            </a:avLst>
          </a:prstGeom>
          <a:solidFill>
            <a:srgbClr val="E1EFE7"/>
          </a:solidFill>
          <a:ln w="15875">
            <a:solidFill>
              <a:srgbClr val="1F6B4A"/>
            </a:solidFill>
            <a:prstDash val="solid"/>
          </a:ln>
        </p:spPr>
      </p:sp>
      <p:sp>
        <p:nvSpPr>
          <p:cNvPr id="12" name="Text 10"/>
          <p:cNvSpPr/>
          <p:nvPr/>
        </p:nvSpPr>
        <p:spPr>
          <a:xfrm>
            <a:off x="6519672" y="1920240"/>
            <a:ext cx="4754880" cy="219456"/>
          </a:xfrm>
          <a:prstGeom prst="rect">
            <a:avLst/>
          </a:prstGeom>
          <a:noFill/>
          <a:ln/>
        </p:spPr>
        <p:txBody>
          <a:bodyPr wrap="square" lIns="0" tIns="0" rIns="0" bIns="0" rtlCol="0" anchor="ctr"/>
          <a:lstStyle/>
          <a:p>
            <a:pPr indent="0" marL="0">
              <a:buNone/>
            </a:pPr>
            <a:r>
              <a:rPr lang="en-US" sz="950" b="1" spc="140" kern="0" dirty="0">
                <a:solidFill>
                  <a:srgbClr val="1F6B4A"/>
                </a:solidFill>
                <a:latin typeface="Calibri" pitchFamily="34" charset="0"/>
                <a:ea typeface="Calibri" pitchFamily="34" charset="-122"/>
                <a:cs typeface="Calibri" pitchFamily="34" charset="-120"/>
              </a:rPr>
              <a:t>SEMANTIC SEARCH</a:t>
            </a:r>
            <a:endParaRPr lang="en-US" sz="950" dirty="0"/>
          </a:p>
        </p:txBody>
      </p:sp>
      <p:sp>
        <p:nvSpPr>
          <p:cNvPr id="13" name="Text 11"/>
          <p:cNvSpPr/>
          <p:nvPr/>
        </p:nvSpPr>
        <p:spPr>
          <a:xfrm>
            <a:off x="6519672" y="2212848"/>
            <a:ext cx="4754880" cy="274320"/>
          </a:xfrm>
          <a:prstGeom prst="rect">
            <a:avLst/>
          </a:prstGeom>
          <a:noFill/>
          <a:ln/>
        </p:spPr>
        <p:txBody>
          <a:bodyPr wrap="square" lIns="0" tIns="0" rIns="0" bIns="0" rtlCol="0" anchor="ctr"/>
          <a:lstStyle/>
          <a:p>
            <a:pPr indent="0" marL="0">
              <a:buNone/>
            </a:pPr>
            <a:r>
              <a:rPr lang="en-US" sz="1100" dirty="0">
                <a:solidFill>
                  <a:srgbClr val="12202B"/>
                </a:solidFill>
                <a:latin typeface="Courier New" pitchFamily="34" charset="0"/>
                <a:ea typeface="Courier New" pitchFamily="34" charset="-122"/>
                <a:cs typeface="Courier New" pitchFamily="34" charset="-120"/>
              </a:rPr>
              <a:t>Query:  "brute force"</a:t>
            </a:r>
            <a:endParaRPr lang="en-US" sz="1100" dirty="0"/>
          </a:p>
        </p:txBody>
      </p:sp>
      <p:sp>
        <p:nvSpPr>
          <p:cNvPr id="14" name="Text 12"/>
          <p:cNvSpPr/>
          <p:nvPr/>
        </p:nvSpPr>
        <p:spPr>
          <a:xfrm>
            <a:off x="6519672" y="2560320"/>
            <a:ext cx="4754880" cy="1371600"/>
          </a:xfrm>
          <a:prstGeom prst="rect">
            <a:avLst/>
          </a:prstGeom>
          <a:noFill/>
          <a:ln/>
        </p:spPr>
        <p:txBody>
          <a:bodyPr wrap="square" lIns="0" tIns="0" rIns="0" bIns="0" rtlCol="0" anchor="t"/>
          <a:lstStyle/>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"password spraying detected"  —  0.71</a:t>
            </a:r>
            <a:endParaRPr lang="en-US" sz="1100" dirty="0"/>
          </a:p>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"repeated authentication failures"  —  0.68</a:t>
            </a:r>
            <a:endParaRPr lang="en-US" sz="1100" dirty="0"/>
          </a:p>
          <a:p>
            <a:pPr marL="342900" indent="-342900">
              <a:lnSpc>
                <a:spcPts val="1540"/>
              </a:lnSpc>
              <a:spcAft>
                <a:spcPts val="500"/>
              </a:spcAft>
              <a:buSzPct val="100000"/>
              <a:buChar char="•"/>
            </a:pPr>
            <a:r>
              <a:rPr lang="en-US" sz="1100" dirty="0">
                <a:solidFill>
                  <a:srgbClr val="1B2B36"/>
                </a:solidFill>
                <a:latin typeface="Calibri" pitchFamily="34" charset="0"/>
                <a:ea typeface="Calibri" pitchFamily="34" charset="-122"/>
                <a:cs typeface="Calibri" pitchFamily="34" charset="-120"/>
              </a:rPr>
              <a:t>"brute force protection enabled"  —  0.44, ranked lower</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4261104"/>
          <a:ext cx="10908792" cy="914400"/>
        </p:xfrm>
        <a:graphic>
          <a:graphicData uri="http://schemas.openxmlformats.org/drawingml/2006/table">
            <a:tbl>
              <a:tblPr/>
              <a:tblGrid>
                <a:gridCol w="3017520"/>
                <a:gridCol w="3931920"/>
                <a:gridCol w="3959352"/>
              </a:tblGrid>
              <a:tr h="0">
                <a:tc>
                  <a:txBody>
                    <a:bodyPr/>
                    <a:lstStyle/>
                    <a:p>
                      <a:pPr algn="l" indent="0" marL="0">
                        <a:buNone/>
                      </a:pP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Keyword (exact string)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Semantic (meaning)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Finds paraphrase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No — different words, no match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 — that is the entire point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Handles a typo or an acronym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Poorly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Usually, if the meaning survives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Explains why it matched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Trivially — you can see the word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Less so — a similarity score is not a reason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Still worth having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 for exact IDs: CVE numbers, hostnames, hashes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 for everything written in prose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A96694"/>
                </a:solidFill>
                <a:latin typeface="Calibri" pitchFamily="34" charset="0"/>
                <a:ea typeface="Calibri" pitchFamily="34" charset="-122"/>
                <a:cs typeface="Calibri" pitchFamily="34" charset="-120"/>
              </a:rPr>
              <a:t>PART 3</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Store It: Vector DB,</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Indexing &amp; Chunking</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Once text is vectors, you need somewhere to keep them, a way to find the nearest ones fast, and a decision about how big a passage should be.</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Problem &amp; the Core Idea</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Embeddings</a:t>
            </a:r>
            <a:endParaRPr lang="en-US" sz="1200" dirty="0"/>
          </a:p>
        </p:txBody>
      </p:sp>
      <p:sp>
        <p:nvSpPr>
          <p:cNvPr id="10" name="Shape 8"/>
          <p:cNvSpPr/>
          <p:nvPr/>
        </p:nvSpPr>
        <p:spPr>
          <a:xfrm>
            <a:off x="7818120" y="2843784"/>
            <a:ext cx="182880" cy="182880"/>
          </a:xfrm>
          <a:prstGeom prst="ellipse">
            <a:avLst/>
          </a:prstGeom>
          <a:solidFill>
            <a:srgbClr val="A96694"/>
          </a:solidFill>
          <a:ln w="12700">
            <a:solidFill>
              <a:srgbClr val="A96694"/>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Vector DB &amp; Chunking</a:t>
            </a:r>
            <a:endParaRPr lang="en-US" sz="13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RAG Recipe &amp; Trust</a:t>
            </a:r>
            <a:endParaRPr lang="en-US" sz="12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Build It: Notebooks &amp; Practice</a:t>
            </a:r>
            <a:endParaRPr lang="en-US" sz="1200" dirty="0"/>
          </a:p>
        </p:txBody>
      </p:sp>
      <p:sp>
        <p:nvSpPr>
          <p:cNvPr id="16" name="Shape 14"/>
          <p:cNvSpPr/>
          <p:nvPr/>
        </p:nvSpPr>
        <p:spPr>
          <a:xfrm>
            <a:off x="7818120" y="4818888"/>
            <a:ext cx="182880" cy="182880"/>
          </a:xfrm>
          <a:prstGeom prst="ellipse">
            <a:avLst/>
          </a:prstGeom>
          <a:solidFill>
            <a:srgbClr val="1D3444"/>
          </a:solidFill>
          <a:ln w="12700">
            <a:solidFill>
              <a:srgbClr val="3A5566"/>
            </a:solidFill>
            <a:prstDash val="solid"/>
          </a:ln>
        </p:spPr>
      </p:sp>
      <p:sp>
        <p:nvSpPr>
          <p:cNvPr id="17" name="Text 15"/>
          <p:cNvSpPr/>
          <p:nvPr/>
        </p:nvSpPr>
        <p:spPr>
          <a:xfrm>
            <a:off x="8147304" y="470916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Lab &amp; Mini-Project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3 · VECTOR DB &amp; CHUNKING</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Vector databases and indexing</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A store that keeps the vector, the text, and where it came from — and finds neighbours fast.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640080" y="1783080"/>
            <a:ext cx="5943600" cy="1737360"/>
          </a:xfrm>
          <a:prstGeom prst="roundRect">
            <a:avLst>
              <a:gd name="adj" fmla="val 3684"/>
            </a:avLst>
          </a:prstGeom>
          <a:solidFill>
            <a:srgbClr val="F1F5F8"/>
          </a:solidFill>
          <a:ln w="15875">
            <a:solidFill>
              <a:srgbClr val="73305F"/>
            </a:solidFill>
            <a:prstDash val="solid"/>
          </a:ln>
        </p:spPr>
      </p:sp>
      <p:sp>
        <p:nvSpPr>
          <p:cNvPr id="8" name="Text 6"/>
          <p:cNvSpPr/>
          <p:nvPr/>
        </p:nvSpPr>
        <p:spPr>
          <a:xfrm>
            <a:off x="877824" y="1901952"/>
            <a:ext cx="5468112" cy="219456"/>
          </a:xfrm>
          <a:prstGeom prst="rect">
            <a:avLst/>
          </a:prstGeom>
          <a:noFill/>
          <a:ln/>
        </p:spPr>
        <p:txBody>
          <a:bodyPr wrap="square" lIns="0" tIns="0" rIns="0" bIns="0" rtlCol="0" anchor="ctr"/>
          <a:lstStyle/>
          <a:p>
            <a:pPr indent="0" marL="0">
              <a:buNone/>
            </a:pPr>
            <a:r>
              <a:rPr lang="en-US" sz="950" b="1" spc="140" kern="0" dirty="0">
                <a:solidFill>
                  <a:srgbClr val="73305F"/>
                </a:solidFill>
                <a:latin typeface="Calibri" pitchFamily="34" charset="0"/>
                <a:ea typeface="Calibri" pitchFamily="34" charset="-122"/>
                <a:cs typeface="Calibri" pitchFamily="34" charset="-120"/>
              </a:rPr>
              <a:t>ONE STORED RECORD</a:t>
            </a:r>
            <a:endParaRPr lang="en-US" sz="950" dirty="0"/>
          </a:p>
        </p:txBody>
      </p:sp>
      <p:sp>
        <p:nvSpPr>
          <p:cNvPr id="9" name="Text 7"/>
          <p:cNvSpPr/>
          <p:nvPr/>
        </p:nvSpPr>
        <p:spPr>
          <a:xfrm>
            <a:off x="877824" y="2176272"/>
            <a:ext cx="5468112" cy="292608"/>
          </a:xfrm>
          <a:prstGeom prst="rect">
            <a:avLst/>
          </a:prstGeom>
          <a:noFill/>
          <a:ln/>
        </p:spPr>
        <p:txBody>
          <a:bodyPr wrap="square" lIns="0" tIns="0" rIns="0" bIns="0" rtlCol="0" anchor="ctr"/>
          <a:lstStyle/>
          <a:p>
            <a:pPr indent="0" marL="0">
              <a:buNone/>
            </a:pPr>
            <a:r>
              <a:rPr lang="en-US" sz="1050" b="1" dirty="0">
                <a:solidFill>
                  <a:srgbClr val="73305F"/>
                </a:solidFill>
                <a:latin typeface="Calibri" pitchFamily="34" charset="0"/>
                <a:ea typeface="Calibri" pitchFamily="34" charset="-122"/>
                <a:cs typeface="Calibri" pitchFamily="34" charset="-120"/>
              </a:rPr>
              <a:t>Vector     </a:t>
            </a:r>
            <a:pPr indent="0" marL="0">
              <a:buNone/>
            </a:pPr>
            <a:r>
              <a:rPr lang="en-US" sz="1050" dirty="0">
                <a:solidFill>
                  <a:srgbClr val="1B2B36"/>
                </a:solidFill>
                <a:latin typeface="Calibri" pitchFamily="34" charset="0"/>
                <a:ea typeface="Calibri" pitchFamily="34" charset="-122"/>
                <a:cs typeface="Calibri" pitchFamily="34" charset="-120"/>
              </a:rPr>
              <a:t>[0.021, -0.114, 0.335, … ] · 384 floats</a:t>
            </a:r>
            <a:endParaRPr lang="en-US" sz="1050" dirty="0"/>
          </a:p>
        </p:txBody>
      </p:sp>
      <p:sp>
        <p:nvSpPr>
          <p:cNvPr id="10" name="Text 8"/>
          <p:cNvSpPr/>
          <p:nvPr/>
        </p:nvSpPr>
        <p:spPr>
          <a:xfrm>
            <a:off x="877824" y="2487168"/>
            <a:ext cx="5468112" cy="292608"/>
          </a:xfrm>
          <a:prstGeom prst="rect">
            <a:avLst/>
          </a:prstGeom>
          <a:noFill/>
          <a:ln/>
        </p:spPr>
        <p:txBody>
          <a:bodyPr wrap="square" lIns="0" tIns="0" rIns="0" bIns="0" rtlCol="0" anchor="ctr"/>
          <a:lstStyle/>
          <a:p>
            <a:pPr indent="0" marL="0">
              <a:buNone/>
            </a:pPr>
            <a:r>
              <a:rPr lang="en-US" sz="1050" b="1" dirty="0">
                <a:solidFill>
                  <a:srgbClr val="73305F"/>
                </a:solidFill>
                <a:latin typeface="Calibri" pitchFamily="34" charset="0"/>
                <a:ea typeface="Calibri" pitchFamily="34" charset="-122"/>
                <a:cs typeface="Calibri" pitchFamily="34" charset="-120"/>
              </a:rPr>
              <a:t>Document   </a:t>
            </a:r>
            <a:pPr indent="0" marL="0">
              <a:buNone/>
            </a:pPr>
            <a:r>
              <a:rPr lang="en-US" sz="1050" dirty="0">
                <a:solidFill>
                  <a:srgbClr val="1B2B36"/>
                </a:solidFill>
                <a:latin typeface="Calibri" pitchFamily="34" charset="0"/>
                <a:ea typeface="Calibri" pitchFamily="34" charset="-122"/>
                <a:cs typeface="Calibri" pitchFamily="34" charset="-120"/>
              </a:rPr>
              <a:t>the chunk text itself, returned verbatim</a:t>
            </a:r>
            <a:endParaRPr lang="en-US" sz="1050" dirty="0"/>
          </a:p>
        </p:txBody>
      </p:sp>
      <p:sp>
        <p:nvSpPr>
          <p:cNvPr id="11" name="Text 9"/>
          <p:cNvSpPr/>
          <p:nvPr/>
        </p:nvSpPr>
        <p:spPr>
          <a:xfrm>
            <a:off x="877824" y="2798064"/>
            <a:ext cx="5468112" cy="292608"/>
          </a:xfrm>
          <a:prstGeom prst="rect">
            <a:avLst/>
          </a:prstGeom>
          <a:noFill/>
          <a:ln/>
        </p:spPr>
        <p:txBody>
          <a:bodyPr wrap="square" lIns="0" tIns="0" rIns="0" bIns="0" rtlCol="0" anchor="ctr"/>
          <a:lstStyle/>
          <a:p>
            <a:pPr indent="0" marL="0">
              <a:buNone/>
            </a:pPr>
            <a:r>
              <a:rPr lang="en-US" sz="1050" b="1" dirty="0">
                <a:solidFill>
                  <a:srgbClr val="73305F"/>
                </a:solidFill>
                <a:latin typeface="Calibri" pitchFamily="34" charset="0"/>
                <a:ea typeface="Calibri" pitchFamily="34" charset="-122"/>
                <a:cs typeface="Calibri" pitchFamily="34" charset="-120"/>
              </a:rPr>
              <a:t>Metadata   </a:t>
            </a:r>
            <a:pPr indent="0" marL="0">
              <a:buNone/>
            </a:pPr>
            <a:r>
              <a:rPr lang="en-US" sz="1050" dirty="0">
                <a:solidFill>
                  <a:srgbClr val="1B2B36"/>
                </a:solidFill>
                <a:latin typeface="Calibri" pitchFamily="34" charset="0"/>
                <a:ea typeface="Calibri" pitchFamily="34" charset="-122"/>
                <a:cs typeface="Calibri" pitchFamily="34" charset="-120"/>
              </a:rPr>
              <a:t>source file · section · date · classification</a:t>
            </a:r>
            <a:endParaRPr lang="en-US" sz="1050" dirty="0"/>
          </a:p>
        </p:txBody>
      </p:sp>
      <p:sp>
        <p:nvSpPr>
          <p:cNvPr id="12" name="Text 10"/>
          <p:cNvSpPr/>
          <p:nvPr/>
        </p:nvSpPr>
        <p:spPr>
          <a:xfrm>
            <a:off x="877824" y="3108960"/>
            <a:ext cx="5468112" cy="292608"/>
          </a:xfrm>
          <a:prstGeom prst="rect">
            <a:avLst/>
          </a:prstGeom>
          <a:noFill/>
          <a:ln/>
        </p:spPr>
        <p:txBody>
          <a:bodyPr wrap="square" lIns="0" tIns="0" rIns="0" bIns="0" rtlCol="0" anchor="ctr"/>
          <a:lstStyle/>
          <a:p>
            <a:pPr indent="0" marL="0">
              <a:buNone/>
            </a:pPr>
            <a:r>
              <a:rPr lang="en-US" sz="1050" b="1" dirty="0">
                <a:solidFill>
                  <a:srgbClr val="73305F"/>
                </a:solidFill>
                <a:latin typeface="Calibri" pitchFamily="34" charset="0"/>
                <a:ea typeface="Calibri" pitchFamily="34" charset="-122"/>
                <a:cs typeface="Calibri" pitchFamily="34" charset="-120"/>
              </a:rPr>
              <a:t>ID         </a:t>
            </a:r>
            <a:pPr indent="0" marL="0">
              <a:buNone/>
            </a:pPr>
            <a:r>
              <a:rPr lang="en-US" sz="1050" dirty="0">
                <a:solidFill>
                  <a:srgbClr val="1B2B36"/>
                </a:solidFill>
                <a:latin typeface="Calibri" pitchFamily="34" charset="0"/>
                <a:ea typeface="Calibri" pitchFamily="34" charset="-122"/>
                <a:cs typeface="Calibri" pitchFamily="34" charset="-120"/>
              </a:rPr>
              <a:t>runbook.md#chunk-14</a:t>
            </a:r>
            <a:endParaRPr lang="en-US" sz="1050" dirty="0"/>
          </a:p>
        </p:txBody>
      </p:sp>
      <p:sp>
        <p:nvSpPr>
          <p:cNvPr id="13" name="Shape 11"/>
          <p:cNvSpPr/>
          <p:nvPr/>
        </p:nvSpPr>
        <p:spPr>
          <a:xfrm>
            <a:off x="640080" y="3675888"/>
            <a:ext cx="5943600" cy="2176272"/>
          </a:xfrm>
          <a:prstGeom prst="roundRect">
            <a:avLst>
              <a:gd name="adj" fmla="val 2941"/>
            </a:avLst>
          </a:prstGeom>
          <a:solidFill>
            <a:srgbClr val="221626"/>
          </a:solidFill>
          <a:ln w="12700">
            <a:solidFill>
              <a:srgbClr val="221626"/>
            </a:solidFill>
            <a:prstDash val="solid"/>
          </a:ln>
          <a:effectLst>
            <a:outerShdw sx="100000" sy="100000" kx="0" ky="0" algn="bl" rotWithShape="0" blurRad="114300" dist="25400" dir="5400000">
              <a:srgbClr val="0B1720">
                <a:alpha val="22000"/>
              </a:srgbClr>
            </a:outerShdw>
          </a:effectLst>
        </p:spPr>
      </p:sp>
      <p:sp>
        <p:nvSpPr>
          <p:cNvPr id="14" name="Text 12"/>
          <p:cNvSpPr/>
          <p:nvPr/>
        </p:nvSpPr>
        <p:spPr>
          <a:xfrm>
            <a:off x="877824" y="3794760"/>
            <a:ext cx="54681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ChromaDB — and the NumPy equivalent, for perspective</a:t>
            </a:r>
            <a:endParaRPr lang="en-US" sz="950" dirty="0"/>
          </a:p>
        </p:txBody>
      </p:sp>
      <p:sp>
        <p:nvSpPr>
          <p:cNvPr id="15" name="Text 13"/>
          <p:cNvSpPr/>
          <p:nvPr/>
        </p:nvSpPr>
        <p:spPr>
          <a:xfrm>
            <a:off x="877824" y="4096512"/>
            <a:ext cx="5468112" cy="1609344"/>
          </a:xfrm>
          <a:prstGeom prst="rect">
            <a:avLst/>
          </a:prstGeom>
          <a:noFill/>
          <a:ln/>
        </p:spPr>
        <p:txBody>
          <a:bodyPr wrap="square" lIns="0" tIns="0" rIns="0" bIns="0" rtlCol="0" anchor="t"/>
          <a:lstStyle/>
          <a:p>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import</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chromadb</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col = chromadb.</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Client</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create_collection</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"cves"</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col.</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add</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(ids=ids, embeddings=vecs, documents=texts, metadatas=meta)</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hits = col.</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query</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(query_embeddings=[qv], n_results=4)</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what it is doing, for a few hundred chunks:</a:t>
            </a:r>
            <a:endParaRPr lang="en-US" sz="950" dirty="0"/>
          </a:p>
          <a:p>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import</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numpy </a:t>
            </a:r>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as</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np</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sims = (M @ qv) / (np.linalg.</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norm</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(M, axis=1) * np.linalg.</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norm</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(qv))</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top = np.</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argsort</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(-sims)[:4]</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0" y="1783080"/>
          <a:ext cx="4690872" cy="914400"/>
        </p:xfrm>
        <a:graphic>
          <a:graphicData uri="http://schemas.openxmlformats.org/drawingml/2006/table">
            <a:tbl>
              <a:tblPr/>
              <a:tblGrid>
                <a:gridCol w="1691640"/>
                <a:gridCol w="299923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Store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When it is the right choice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NumPy array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few hundred chunks. Transparent, no dependency, fine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ChromaDB</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This course. Metadata filtering and persistence, minimal setup</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FAISS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Millions of vectors, one machine, you want speed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pgvector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 already run Postgres and want one system to operate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17" name="Shape 14"/>
          <p:cNvSpPr/>
          <p:nvPr/>
        </p:nvSpPr>
        <p:spPr>
          <a:xfrm>
            <a:off x="6858000" y="3968496"/>
            <a:ext cx="4690872" cy="1005840"/>
          </a:xfrm>
          <a:prstGeom prst="roundRect">
            <a:avLst>
              <a:gd name="adj" fmla="val 5455"/>
            </a:avLst>
          </a:prstGeom>
          <a:solidFill>
            <a:srgbClr val="F1E4ED"/>
          </a:solidFill>
          <a:ln w="9525">
            <a:solidFill>
              <a:srgbClr val="73305F"/>
            </a:solidFill>
            <a:prstDash val="solid"/>
          </a:ln>
        </p:spPr>
      </p:sp>
      <p:sp>
        <p:nvSpPr>
          <p:cNvPr id="18" name="Text 15"/>
          <p:cNvSpPr/>
          <p:nvPr/>
        </p:nvSpPr>
        <p:spPr>
          <a:xfrm>
            <a:off x="7077456" y="4059936"/>
            <a:ext cx="4251960" cy="822960"/>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What indexing buys you: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approximate nearest-neighbour search, so you do not compare the query against every vector. It trades a little recall for a lot of speed.</a:t>
            </a:r>
            <a:endParaRPr lang="en-US" sz="1100" dirty="0"/>
          </a:p>
        </p:txBody>
      </p:sp>
      <p:sp>
        <p:nvSpPr>
          <p:cNvPr id="19" name="Shape 16"/>
          <p:cNvSpPr/>
          <p:nvPr/>
        </p:nvSpPr>
        <p:spPr>
          <a:xfrm>
            <a:off x="6858000" y="5084064"/>
            <a:ext cx="4690872" cy="768096"/>
          </a:xfrm>
          <a:prstGeom prst="roundRect">
            <a:avLst>
              <a:gd name="adj" fmla="val 7143"/>
            </a:avLst>
          </a:prstGeom>
          <a:solidFill>
            <a:srgbClr val="F1E4ED"/>
          </a:solidFill>
          <a:ln w="9525">
            <a:solidFill>
              <a:srgbClr val="73305F"/>
            </a:solidFill>
            <a:prstDash val="solid"/>
          </a:ln>
        </p:spPr>
      </p:sp>
      <p:sp>
        <p:nvSpPr>
          <p:cNvPr id="20" name="Text 17"/>
          <p:cNvSpPr/>
          <p:nvPr/>
        </p:nvSpPr>
        <p:spPr>
          <a:xfrm>
            <a:off x="7077456" y="5175504"/>
            <a:ext cx="4251960" cy="585216"/>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At our scale you do not need it.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Understand it, because production corpora do.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3 · VECTOR DB &amp; CHUNKING</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Chunking: the one knob that really matters</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Too big and the match is diluted. Too small and the passage cannot answer the question.</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19</a:t>
            </a:r>
            <a:endParaRPr lang="en-US" sz="900" dirty="0"/>
          </a:p>
        </p:txBody>
      </p:sp>
      <p:graphicFrame>
        <p:nvGraphicFramePr>
          <p:cNvPr id="7" name="Chart 0" descr=""/>
          <p:cNvGraphicFramePr/>
          <p:nvPr/>
        </p:nvGraphicFramePr>
        <p:xfrm>
          <a:off x="640080" y="1783080"/>
          <a:ext cx="5623560" cy="2377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309360" y="1737360"/>
            <a:ext cx="5212080" cy="219456"/>
          </a:xfrm>
          <a:prstGeom prst="rect">
            <a:avLst/>
          </a:prstGeom>
          <a:noFill/>
          <a:ln/>
        </p:spPr>
        <p:txBody>
          <a:bodyPr wrap="square" lIns="0" tIns="0" rIns="0" bIns="0" rtlCol="0" anchor="ctr"/>
          <a:lstStyle/>
          <a:p>
            <a:pPr indent="0" marL="0">
              <a:buNone/>
            </a:pPr>
            <a:r>
              <a:rPr lang="en-US" sz="950" b="1" spc="140" kern="0" dirty="0">
                <a:solidFill>
                  <a:srgbClr val="73305F"/>
                </a:solidFill>
                <a:latin typeface="Calibri" pitchFamily="34" charset="0"/>
                <a:ea typeface="Calibri" pitchFamily="34" charset="-122"/>
                <a:cs typeface="Calibri" pitchFamily="34" charset="-120"/>
              </a:rPr>
              <a:t>OVERLAP KEEPS AN IDEA FROM BEING CUT IN HALF</a:t>
            </a:r>
            <a:endParaRPr lang="en-US" sz="950" dirty="0"/>
          </a:p>
        </p:txBody>
      </p:sp>
      <p:sp>
        <p:nvSpPr>
          <p:cNvPr id="9" name="Shape 6"/>
          <p:cNvSpPr/>
          <p:nvPr/>
        </p:nvSpPr>
        <p:spPr>
          <a:xfrm>
            <a:off x="6309360" y="2048256"/>
            <a:ext cx="2286000" cy="310896"/>
          </a:xfrm>
          <a:prstGeom prst="roundRect">
            <a:avLst>
              <a:gd name="adj" fmla="val 11765"/>
            </a:avLst>
          </a:prstGeom>
          <a:solidFill>
            <a:srgbClr val="F1F5F8"/>
          </a:solidFill>
          <a:ln w="12700">
            <a:solidFill>
              <a:srgbClr val="73305F"/>
            </a:solidFill>
            <a:prstDash val="solid"/>
          </a:ln>
        </p:spPr>
      </p:sp>
      <p:sp>
        <p:nvSpPr>
          <p:cNvPr id="10" name="Text 7"/>
          <p:cNvSpPr/>
          <p:nvPr/>
        </p:nvSpPr>
        <p:spPr>
          <a:xfrm>
            <a:off x="6309360" y="2048256"/>
            <a:ext cx="2286000" cy="310896"/>
          </a:xfrm>
          <a:prstGeom prst="rect">
            <a:avLst/>
          </a:prstGeom>
          <a:noFill/>
          <a:ln/>
        </p:spPr>
        <p:txBody>
          <a:bodyPr wrap="square" lIns="0" tIns="0" rIns="0" bIns="0" rtlCol="0" anchor="ctr"/>
          <a:lstStyle/>
          <a:p>
            <a:pPr algn="ctr" indent="0" marL="0">
              <a:buNone/>
            </a:pPr>
            <a:r>
              <a:rPr lang="en-US" sz="950" dirty="0">
                <a:solidFill>
                  <a:srgbClr val="12202B"/>
                </a:solidFill>
                <a:latin typeface="Calibri" pitchFamily="34" charset="0"/>
                <a:ea typeface="Calibri" pitchFamily="34" charset="-122"/>
                <a:cs typeface="Calibri" pitchFamily="34" charset="-120"/>
              </a:rPr>
              <a:t>chunk 1</a:t>
            </a:r>
            <a:endParaRPr lang="en-US" sz="950" dirty="0"/>
          </a:p>
        </p:txBody>
      </p:sp>
      <p:sp>
        <p:nvSpPr>
          <p:cNvPr id="11" name="Shape 8"/>
          <p:cNvSpPr/>
          <p:nvPr/>
        </p:nvSpPr>
        <p:spPr>
          <a:xfrm>
            <a:off x="8138160" y="2432304"/>
            <a:ext cx="2286000" cy="310896"/>
          </a:xfrm>
          <a:prstGeom prst="roundRect">
            <a:avLst>
              <a:gd name="adj" fmla="val 11765"/>
            </a:avLst>
          </a:prstGeom>
          <a:solidFill>
            <a:srgbClr val="F1E4ED"/>
          </a:solidFill>
          <a:ln w="12700">
            <a:solidFill>
              <a:srgbClr val="73305F"/>
            </a:solidFill>
            <a:prstDash val="solid"/>
          </a:ln>
        </p:spPr>
      </p:sp>
      <p:sp>
        <p:nvSpPr>
          <p:cNvPr id="12" name="Text 9"/>
          <p:cNvSpPr/>
          <p:nvPr/>
        </p:nvSpPr>
        <p:spPr>
          <a:xfrm>
            <a:off x="8138160" y="2432304"/>
            <a:ext cx="2286000" cy="310896"/>
          </a:xfrm>
          <a:prstGeom prst="rect">
            <a:avLst/>
          </a:prstGeom>
          <a:noFill/>
          <a:ln/>
        </p:spPr>
        <p:txBody>
          <a:bodyPr wrap="square" lIns="0" tIns="0" rIns="0" bIns="0" rtlCol="0" anchor="ctr"/>
          <a:lstStyle/>
          <a:p>
            <a:pPr algn="ctr" indent="0" marL="0">
              <a:buNone/>
            </a:pPr>
            <a:r>
              <a:rPr lang="en-US" sz="950" dirty="0">
                <a:solidFill>
                  <a:srgbClr val="12202B"/>
                </a:solidFill>
                <a:latin typeface="Calibri" pitchFamily="34" charset="0"/>
                <a:ea typeface="Calibri" pitchFamily="34" charset="-122"/>
                <a:cs typeface="Calibri" pitchFamily="34" charset="-120"/>
              </a:rPr>
              <a:t>chunk 2</a:t>
            </a:r>
            <a:endParaRPr lang="en-US" sz="950" dirty="0"/>
          </a:p>
        </p:txBody>
      </p:sp>
      <p:sp>
        <p:nvSpPr>
          <p:cNvPr id="13" name="Shape 10"/>
          <p:cNvSpPr/>
          <p:nvPr/>
        </p:nvSpPr>
        <p:spPr>
          <a:xfrm>
            <a:off x="9966960" y="2816352"/>
            <a:ext cx="1581912" cy="310896"/>
          </a:xfrm>
          <a:prstGeom prst="roundRect">
            <a:avLst>
              <a:gd name="adj" fmla="val 11765"/>
            </a:avLst>
          </a:prstGeom>
          <a:solidFill>
            <a:srgbClr val="F1F5F8"/>
          </a:solidFill>
          <a:ln w="12700">
            <a:solidFill>
              <a:srgbClr val="73305F"/>
            </a:solidFill>
            <a:prstDash val="solid"/>
          </a:ln>
        </p:spPr>
      </p:sp>
      <p:sp>
        <p:nvSpPr>
          <p:cNvPr id="14" name="Text 11"/>
          <p:cNvSpPr/>
          <p:nvPr/>
        </p:nvSpPr>
        <p:spPr>
          <a:xfrm>
            <a:off x="9966960" y="2816352"/>
            <a:ext cx="1581912" cy="310896"/>
          </a:xfrm>
          <a:prstGeom prst="rect">
            <a:avLst/>
          </a:prstGeom>
          <a:noFill/>
          <a:ln/>
        </p:spPr>
        <p:txBody>
          <a:bodyPr wrap="square" lIns="0" tIns="0" rIns="0" bIns="0" rtlCol="0" anchor="ctr"/>
          <a:lstStyle/>
          <a:p>
            <a:pPr algn="ctr" indent="0" marL="0">
              <a:buNone/>
            </a:pPr>
            <a:r>
              <a:rPr lang="en-US" sz="950" dirty="0">
                <a:solidFill>
                  <a:srgbClr val="12202B"/>
                </a:solidFill>
                <a:latin typeface="Calibri" pitchFamily="34" charset="0"/>
                <a:ea typeface="Calibri" pitchFamily="34" charset="-122"/>
                <a:cs typeface="Calibri" pitchFamily="34" charset="-120"/>
              </a:rPr>
              <a:t>chunk 3</a:t>
            </a:r>
            <a:endParaRPr lang="en-US" sz="950" dirty="0"/>
          </a:p>
        </p:txBody>
      </p:sp>
      <p:sp>
        <p:nvSpPr>
          <p:cNvPr id="15" name="Text 12"/>
          <p:cNvSpPr/>
          <p:nvPr/>
        </p:nvSpPr>
        <p:spPr>
          <a:xfrm>
            <a:off x="6309360" y="3255264"/>
            <a:ext cx="5239512" cy="219456"/>
          </a:xfrm>
          <a:prstGeom prst="rect">
            <a:avLst/>
          </a:prstGeom>
          <a:noFill/>
          <a:ln/>
        </p:spPr>
        <p:txBody>
          <a:bodyPr wrap="square" lIns="0" tIns="0" rIns="0" bIns="0" rtlCol="0" anchor="ctr"/>
          <a:lstStyle/>
          <a:p>
            <a:pPr indent="0" marL="0">
              <a:buNone/>
            </a:pPr>
            <a:r>
              <a:rPr lang="en-US" sz="900" i="1" dirty="0">
                <a:solidFill>
                  <a:srgbClr val="5C7383"/>
                </a:solidFill>
                <a:latin typeface="Calibri" pitchFamily="34" charset="0"/>
                <a:ea typeface="Calibri" pitchFamily="34" charset="-122"/>
                <a:cs typeface="Calibri" pitchFamily="34" charset="-120"/>
              </a:rPr>
              <a:t>the shaded overlap appears in both neighbours</a:t>
            </a:r>
            <a:endParaRPr lang="en-US" sz="900" dirty="0"/>
          </a:p>
        </p:txBody>
      </p:sp>
      <p:sp>
        <p:nvSpPr>
          <p:cNvPr id="16" name="Shape 13"/>
          <p:cNvSpPr/>
          <p:nvPr/>
        </p:nvSpPr>
        <p:spPr>
          <a:xfrm>
            <a:off x="6309360" y="3566160"/>
            <a:ext cx="5239512" cy="1097280"/>
          </a:xfrm>
          <a:prstGeom prst="roundRect">
            <a:avLst>
              <a:gd name="adj" fmla="val 5833"/>
            </a:avLst>
          </a:prstGeom>
          <a:solidFill>
            <a:srgbClr val="221626"/>
          </a:solidFill>
          <a:ln w="12700">
            <a:solidFill>
              <a:srgbClr val="221626"/>
            </a:solidFill>
            <a:prstDash val="solid"/>
          </a:ln>
          <a:effectLst>
            <a:outerShdw sx="100000" sy="100000" kx="0" ky="0" algn="bl" rotWithShape="0" blurRad="114300" dist="25400" dir="5400000">
              <a:srgbClr val="0B1720">
                <a:alpha val="22000"/>
              </a:srgbClr>
            </a:outerShdw>
          </a:effectLst>
        </p:spPr>
      </p:sp>
      <p:sp>
        <p:nvSpPr>
          <p:cNvPr id="17" name="Text 14"/>
          <p:cNvSpPr/>
          <p:nvPr/>
        </p:nvSpPr>
        <p:spPr>
          <a:xfrm>
            <a:off x="6547104" y="3685032"/>
            <a:ext cx="4764024"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A sensible default for security prose</a:t>
            </a:r>
            <a:endParaRPr lang="en-US" sz="950" dirty="0"/>
          </a:p>
        </p:txBody>
      </p:sp>
      <p:sp>
        <p:nvSpPr>
          <p:cNvPr id="18" name="Text 15"/>
          <p:cNvSpPr/>
          <p:nvPr/>
        </p:nvSpPr>
        <p:spPr>
          <a:xfrm>
            <a:off x="6547104" y="3986784"/>
            <a:ext cx="4764024" cy="530352"/>
          </a:xfrm>
          <a:prstGeom prst="rect">
            <a:avLst/>
          </a:prstGeom>
          <a:noFill/>
          <a:ln/>
        </p:spPr>
        <p:txBody>
          <a:bodyPr wrap="square" lIns="0" tIns="0" rIns="0" bIns="0" rtlCol="0" anchor="t"/>
          <a:lstStyle/>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chunk_size = 512      </a:t>
            </a:r>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tokens</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chunk_overlap = 64    </a:t>
            </a:r>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~12% — enough to bridge a boundary</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4315968"/>
          <a:ext cx="5623560" cy="914400"/>
        </p:xfrm>
        <a:graphic>
          <a:graphicData uri="http://schemas.openxmlformats.org/drawingml/2006/table">
            <a:tbl>
              <a:tblPr/>
              <a:tblGrid>
                <a:gridCol w="1417320"/>
                <a:gridCol w="4206240"/>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Usually means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Right topic, wrong detail</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Chunks too large — the answer is buried in the passage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Fragmentary, unusable hits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Chunks too small — no context survived the split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"I don't know" too often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Too few chunks retrieved, or the threshold is too strict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20" name="Shape 16"/>
          <p:cNvSpPr/>
          <p:nvPr/>
        </p:nvSpPr>
        <p:spPr>
          <a:xfrm>
            <a:off x="6309360" y="4809744"/>
            <a:ext cx="5239512" cy="1042416"/>
          </a:xfrm>
          <a:prstGeom prst="roundRect">
            <a:avLst>
              <a:gd name="adj" fmla="val 5263"/>
            </a:avLst>
          </a:prstGeom>
          <a:solidFill>
            <a:srgbClr val="F1E4ED"/>
          </a:solidFill>
          <a:ln w="9525">
            <a:solidFill>
              <a:srgbClr val="73305F"/>
            </a:solidFill>
            <a:prstDash val="solid"/>
          </a:ln>
        </p:spPr>
      </p:sp>
      <p:sp>
        <p:nvSpPr>
          <p:cNvPr id="21" name="Text 17"/>
          <p:cNvSpPr/>
          <p:nvPr/>
        </p:nvSpPr>
        <p:spPr>
          <a:xfrm>
            <a:off x="6528816" y="4901184"/>
            <a:ext cx="4800600" cy="859536"/>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This is the mini-project's tuning experiment.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Change the size, measure what happens, and report it. "512 because a tutorial said so" is not an answer.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3 · VECTOR DB &amp; CHUNKING</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RAG or fine-tuning?</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They solve different problems. For facts that change, it is not close.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22</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103120"/>
                <a:gridCol w="4206240"/>
                <a:gridCol w="4599432"/>
              </a:tblGrid>
              <a:tr h="0">
                <a:tc>
                  <a:txBody>
                    <a:bodyPr/>
                    <a:lstStyle/>
                    <a:p>
                      <a:pPr algn="l" indent="0" marL="0">
                        <a:buNone/>
                      </a:pP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Fine-tuning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RAG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Where knowledge lives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Baked into the model's weights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In an external store you can edit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Cost to update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training run, every time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Add a file and re-embed one document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Time to reflect a new CVE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Days to weeks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Minutes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Can it cite a source?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No — the knowledge is diffuse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 — you retrieved the passage, so you have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Can you remove a fact?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Hard. Often needs retraining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Delete the chunk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What it is genuinely good at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Teaching style, format, or a task the model performs badly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Supplying facts the model does not have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8" name="Shape 5"/>
          <p:cNvSpPr/>
          <p:nvPr/>
        </p:nvSpPr>
        <p:spPr>
          <a:xfrm>
            <a:off x="640080" y="4590288"/>
            <a:ext cx="5943600" cy="1371600"/>
          </a:xfrm>
          <a:prstGeom prst="roundRect">
            <a:avLst>
              <a:gd name="adj" fmla="val 4000"/>
            </a:avLst>
          </a:prstGeom>
          <a:solidFill>
            <a:srgbClr val="F1E4ED"/>
          </a:solidFill>
          <a:ln w="9525">
            <a:solidFill>
              <a:srgbClr val="73305F"/>
            </a:solidFill>
            <a:prstDash val="solid"/>
          </a:ln>
        </p:spPr>
      </p:sp>
      <p:sp>
        <p:nvSpPr>
          <p:cNvPr id="9" name="Text 6"/>
          <p:cNvSpPr/>
          <p:nvPr/>
        </p:nvSpPr>
        <p:spPr>
          <a:xfrm>
            <a:off x="859536" y="4681728"/>
            <a:ext cx="5504688" cy="1188720"/>
          </a:xfrm>
          <a:prstGeom prst="rect">
            <a:avLst/>
          </a:prstGeom>
          <a:noFill/>
          <a:ln/>
        </p:spPr>
        <p:txBody>
          <a:bodyPr wrap="square" lIns="0" tIns="0" rIns="0" bIns="0" rtlCol="0" anchor="ctr"/>
          <a:lstStyle/>
          <a:p>
            <a:pPr indent="0" marL="0">
              <a:lnSpc>
                <a:spcPts val="1610"/>
              </a:lnSpc>
              <a:buNone/>
            </a:pPr>
            <a:r>
              <a:rPr lang="en-US" sz="1150" b="1" dirty="0">
                <a:solidFill>
                  <a:srgbClr val="73305F"/>
                </a:solidFill>
                <a:latin typeface="Calibri" pitchFamily="34" charset="0"/>
                <a:ea typeface="Calibri" pitchFamily="34" charset="-122"/>
                <a:cs typeface="Calibri" pitchFamily="34" charset="-120"/>
              </a:rPr>
              <a:t>The security case is decisive: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your facts change weekly, you must be able to cite them, and you occasionally need to remove one. Every one of those favours RAG.</a:t>
            </a:r>
            <a:endParaRPr lang="en-US" sz="1150" dirty="0"/>
          </a:p>
        </p:txBody>
      </p:sp>
      <p:sp>
        <p:nvSpPr>
          <p:cNvPr id="10" name="Shape 7"/>
          <p:cNvSpPr/>
          <p:nvPr/>
        </p:nvSpPr>
        <p:spPr>
          <a:xfrm>
            <a:off x="6858000" y="4590288"/>
            <a:ext cx="4690872" cy="1463040"/>
          </a:xfrm>
          <a:prstGeom prst="roundRect">
            <a:avLst>
              <a:gd name="adj" fmla="val 4375"/>
            </a:avLst>
          </a:prstGeom>
          <a:solidFill>
            <a:srgbClr val="F1F5F8"/>
          </a:solidFill>
          <a:ln w="9525">
            <a:solidFill>
              <a:srgbClr val="C9D8E0"/>
            </a:solidFill>
            <a:prstDash val="solid"/>
          </a:ln>
        </p:spPr>
      </p:sp>
      <p:sp>
        <p:nvSpPr>
          <p:cNvPr id="11" name="Text 8"/>
          <p:cNvSpPr/>
          <p:nvPr/>
        </p:nvSpPr>
        <p:spPr>
          <a:xfrm>
            <a:off x="7114032" y="4773168"/>
            <a:ext cx="4178808" cy="420624"/>
          </a:xfrm>
          <a:prstGeom prst="rect">
            <a:avLst/>
          </a:prstGeom>
          <a:noFill/>
          <a:ln/>
        </p:spPr>
        <p:txBody>
          <a:bodyPr wrap="square" lIns="0" tIns="0" rIns="0" bIns="0" rtlCol="0" anchor="ctr"/>
          <a:lstStyle/>
          <a:p>
            <a:pPr indent="0" marL="0">
              <a:buNone/>
            </a:pPr>
            <a:r>
              <a:rPr lang="en-US" sz="1250" b="1" dirty="0">
                <a:solidFill>
                  <a:srgbClr val="12202B"/>
                </a:solidFill>
                <a:latin typeface="Calibri" pitchFamily="34" charset="0"/>
                <a:ea typeface="Calibri" pitchFamily="34" charset="-122"/>
                <a:cs typeface="Calibri" pitchFamily="34" charset="-120"/>
              </a:rPr>
              <a:t>When fine-tuning is right</a:t>
            </a:r>
            <a:endParaRPr lang="en-US" sz="1250" dirty="0"/>
          </a:p>
        </p:txBody>
      </p:sp>
      <p:sp>
        <p:nvSpPr>
          <p:cNvPr id="12" name="Text 9"/>
          <p:cNvSpPr/>
          <p:nvPr/>
        </p:nvSpPr>
        <p:spPr>
          <a:xfrm>
            <a:off x="7114032" y="5248656"/>
            <a:ext cx="4178808" cy="603504"/>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When the problem is behaviour, not knowledge: a consistent report format, a domain vocabulary, or a task the base model performs poorly.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A96694"/>
                </a:solidFill>
                <a:latin typeface="Calibri" pitchFamily="34" charset="0"/>
                <a:ea typeface="Calibri" pitchFamily="34" charset="-122"/>
                <a:cs typeface="Calibri" pitchFamily="34" charset="-120"/>
              </a:rPr>
              <a:t>PART 4</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RAG Recipe</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&amp; Trust</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Wire the pieces end to end — and see exactly where the trustworthiness of the answer comes from.</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Problem &amp; the Core Idea</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Embeddings</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Vector DB &amp; Chunking</a:t>
            </a:r>
            <a:endParaRPr lang="en-US" sz="1200" dirty="0"/>
          </a:p>
        </p:txBody>
      </p:sp>
      <p:sp>
        <p:nvSpPr>
          <p:cNvPr id="12" name="Shape 10"/>
          <p:cNvSpPr/>
          <p:nvPr/>
        </p:nvSpPr>
        <p:spPr>
          <a:xfrm>
            <a:off x="7818120" y="3502152"/>
            <a:ext cx="182880" cy="182880"/>
          </a:xfrm>
          <a:prstGeom prst="ellipse">
            <a:avLst/>
          </a:prstGeom>
          <a:solidFill>
            <a:srgbClr val="A96694"/>
          </a:solidFill>
          <a:ln w="12700">
            <a:solidFill>
              <a:srgbClr val="A96694"/>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RAG Recipe &amp; Trust</a:t>
            </a:r>
            <a:endParaRPr lang="en-US" sz="13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Build It: Notebooks &amp; Practice</a:t>
            </a:r>
            <a:endParaRPr lang="en-US" sz="1200" dirty="0"/>
          </a:p>
        </p:txBody>
      </p:sp>
      <p:sp>
        <p:nvSpPr>
          <p:cNvPr id="16" name="Shape 14"/>
          <p:cNvSpPr/>
          <p:nvPr/>
        </p:nvSpPr>
        <p:spPr>
          <a:xfrm>
            <a:off x="7818120" y="4818888"/>
            <a:ext cx="182880" cy="182880"/>
          </a:xfrm>
          <a:prstGeom prst="ellipse">
            <a:avLst/>
          </a:prstGeom>
          <a:solidFill>
            <a:srgbClr val="1D3444"/>
          </a:solidFill>
          <a:ln w="12700">
            <a:solidFill>
              <a:srgbClr val="3A5566"/>
            </a:solidFill>
            <a:prstDash val="solid"/>
          </a:ln>
        </p:spPr>
      </p:sp>
      <p:sp>
        <p:nvSpPr>
          <p:cNvPr id="17" name="Text 15"/>
          <p:cNvSpPr/>
          <p:nvPr/>
        </p:nvSpPr>
        <p:spPr>
          <a:xfrm>
            <a:off x="8147304" y="470916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Lab &amp; Mini-Project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4 · THE RAG RECIPE &amp; TRUST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recipe: retrieve, augment, generate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Three moves. The notebook spells them into six steps, but this is the shape.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24</a:t>
            </a:r>
            <a:endParaRPr lang="en-US" sz="900" dirty="0"/>
          </a:p>
        </p:txBody>
      </p:sp>
      <p:sp>
        <p:nvSpPr>
          <p:cNvPr id="7" name="Shape 5"/>
          <p:cNvSpPr/>
          <p:nvPr/>
        </p:nvSpPr>
        <p:spPr>
          <a:xfrm>
            <a:off x="640080" y="1810512"/>
            <a:ext cx="3483864" cy="1298448"/>
          </a:xfrm>
          <a:prstGeom prst="roundRect">
            <a:avLst>
              <a:gd name="adj" fmla="val 4930"/>
            </a:avLst>
          </a:prstGeom>
          <a:solidFill>
            <a:srgbClr val="F1F5F8"/>
          </a:solidFill>
          <a:ln w="17780">
            <a:solidFill>
              <a:srgbClr val="73305F"/>
            </a:solidFill>
            <a:prstDash val="solid"/>
          </a:ln>
        </p:spPr>
      </p:sp>
      <p:sp>
        <p:nvSpPr>
          <p:cNvPr id="8" name="Shape 6"/>
          <p:cNvSpPr/>
          <p:nvPr/>
        </p:nvSpPr>
        <p:spPr>
          <a:xfrm>
            <a:off x="859536" y="1993392"/>
            <a:ext cx="365760" cy="365760"/>
          </a:xfrm>
          <a:prstGeom prst="ellipse">
            <a:avLst/>
          </a:prstGeom>
          <a:solidFill>
            <a:srgbClr val="73305F"/>
          </a:solidFill>
          <a:ln w="12700">
            <a:solidFill>
              <a:srgbClr val="73305F"/>
            </a:solidFill>
            <a:prstDash val="solid"/>
          </a:ln>
        </p:spPr>
      </p:sp>
      <p:sp>
        <p:nvSpPr>
          <p:cNvPr id="9" name="Text 7"/>
          <p:cNvSpPr/>
          <p:nvPr/>
        </p:nvSpPr>
        <p:spPr>
          <a:xfrm>
            <a:off x="859536" y="19933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p:nvPr/>
        </p:nvSpPr>
        <p:spPr>
          <a:xfrm>
            <a:off x="1335024" y="1993392"/>
            <a:ext cx="2560320" cy="365760"/>
          </a:xfrm>
          <a:prstGeom prst="rect">
            <a:avLst/>
          </a:prstGeom>
          <a:noFill/>
          <a:ln/>
        </p:spPr>
        <p:txBody>
          <a:bodyPr wrap="square" lIns="0" tIns="0" rIns="0" bIns="0" rtlCol="0" anchor="ctr"/>
          <a:lstStyle/>
          <a:p>
            <a:pPr indent="0" marL="0">
              <a:buNone/>
            </a:pPr>
            <a:r>
              <a:rPr lang="en-US" sz="1600" b="1" dirty="0">
                <a:solidFill>
                  <a:srgbClr val="73305F"/>
                </a:solidFill>
                <a:latin typeface="Cambria" pitchFamily="34" charset="0"/>
                <a:ea typeface="Cambria" pitchFamily="34" charset="-122"/>
                <a:cs typeface="Cambria" pitchFamily="34" charset="-120"/>
              </a:rPr>
              <a:t>Retrieve</a:t>
            </a:r>
            <a:endParaRPr lang="en-US" sz="1600" dirty="0"/>
          </a:p>
        </p:txBody>
      </p:sp>
      <p:sp>
        <p:nvSpPr>
          <p:cNvPr id="11" name="Text 9"/>
          <p:cNvSpPr/>
          <p:nvPr/>
        </p:nvSpPr>
        <p:spPr>
          <a:xfrm>
            <a:off x="877824" y="2432304"/>
            <a:ext cx="3008376" cy="566928"/>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Embed the question. Return the k closest chunks from the store.</a:t>
            </a:r>
            <a:endParaRPr lang="en-US" sz="1050" dirty="0"/>
          </a:p>
        </p:txBody>
      </p:sp>
      <p:sp>
        <p:nvSpPr>
          <p:cNvPr id="12" name="Shape 10"/>
          <p:cNvSpPr/>
          <p:nvPr/>
        </p:nvSpPr>
        <p:spPr>
          <a:xfrm>
            <a:off x="4169664" y="2459736"/>
            <a:ext cx="146304" cy="0"/>
          </a:xfrm>
          <a:prstGeom prst="line">
            <a:avLst/>
          </a:prstGeom>
          <a:noFill/>
          <a:ln w="22225">
            <a:solidFill>
              <a:srgbClr val="A96694"/>
            </a:solidFill>
            <a:prstDash val="solid"/>
            <a:tailEnd type="triangle"/>
          </a:ln>
        </p:spPr>
      </p:sp>
      <p:sp>
        <p:nvSpPr>
          <p:cNvPr id="13" name="Shape 11"/>
          <p:cNvSpPr/>
          <p:nvPr/>
        </p:nvSpPr>
        <p:spPr>
          <a:xfrm>
            <a:off x="4352544" y="1810512"/>
            <a:ext cx="3483864" cy="1298448"/>
          </a:xfrm>
          <a:prstGeom prst="roundRect">
            <a:avLst>
              <a:gd name="adj" fmla="val 4930"/>
            </a:avLst>
          </a:prstGeom>
          <a:solidFill>
            <a:srgbClr val="F1F5F8"/>
          </a:solidFill>
          <a:ln w="17780">
            <a:solidFill>
              <a:srgbClr val="73305F"/>
            </a:solidFill>
            <a:prstDash val="solid"/>
          </a:ln>
        </p:spPr>
      </p:sp>
      <p:sp>
        <p:nvSpPr>
          <p:cNvPr id="14" name="Shape 12"/>
          <p:cNvSpPr/>
          <p:nvPr/>
        </p:nvSpPr>
        <p:spPr>
          <a:xfrm>
            <a:off x="4572000" y="1993392"/>
            <a:ext cx="365760" cy="365760"/>
          </a:xfrm>
          <a:prstGeom prst="ellipse">
            <a:avLst/>
          </a:prstGeom>
          <a:solidFill>
            <a:srgbClr val="73305F"/>
          </a:solidFill>
          <a:ln w="12700">
            <a:solidFill>
              <a:srgbClr val="73305F"/>
            </a:solidFill>
            <a:prstDash val="solid"/>
          </a:ln>
        </p:spPr>
      </p:sp>
      <p:sp>
        <p:nvSpPr>
          <p:cNvPr id="15" name="Text 13"/>
          <p:cNvSpPr/>
          <p:nvPr/>
        </p:nvSpPr>
        <p:spPr>
          <a:xfrm>
            <a:off x="4572000" y="19933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6" name="Text 14"/>
          <p:cNvSpPr/>
          <p:nvPr/>
        </p:nvSpPr>
        <p:spPr>
          <a:xfrm>
            <a:off x="5047488" y="1993392"/>
            <a:ext cx="2560320" cy="365760"/>
          </a:xfrm>
          <a:prstGeom prst="rect">
            <a:avLst/>
          </a:prstGeom>
          <a:noFill/>
          <a:ln/>
        </p:spPr>
        <p:txBody>
          <a:bodyPr wrap="square" lIns="0" tIns="0" rIns="0" bIns="0" rtlCol="0" anchor="ctr"/>
          <a:lstStyle/>
          <a:p>
            <a:pPr indent="0" marL="0">
              <a:buNone/>
            </a:pPr>
            <a:r>
              <a:rPr lang="en-US" sz="1600" b="1" dirty="0">
                <a:solidFill>
                  <a:srgbClr val="73305F"/>
                </a:solidFill>
                <a:latin typeface="Cambria" pitchFamily="34" charset="0"/>
                <a:ea typeface="Cambria" pitchFamily="34" charset="-122"/>
                <a:cs typeface="Cambria" pitchFamily="34" charset="-120"/>
              </a:rPr>
              <a:t>Augment</a:t>
            </a:r>
            <a:endParaRPr lang="en-US" sz="1600" dirty="0"/>
          </a:p>
        </p:txBody>
      </p:sp>
      <p:sp>
        <p:nvSpPr>
          <p:cNvPr id="17" name="Text 15"/>
          <p:cNvSpPr/>
          <p:nvPr/>
        </p:nvSpPr>
        <p:spPr>
          <a:xfrm>
            <a:off x="4590288" y="2432304"/>
            <a:ext cx="3008376" cy="566928"/>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Build a prompt that includes those chunks as labelled context.</a:t>
            </a:r>
            <a:endParaRPr lang="en-US" sz="1050" dirty="0"/>
          </a:p>
        </p:txBody>
      </p:sp>
      <p:sp>
        <p:nvSpPr>
          <p:cNvPr id="18" name="Shape 16"/>
          <p:cNvSpPr/>
          <p:nvPr/>
        </p:nvSpPr>
        <p:spPr>
          <a:xfrm>
            <a:off x="7882128" y="2459736"/>
            <a:ext cx="146304" cy="0"/>
          </a:xfrm>
          <a:prstGeom prst="line">
            <a:avLst/>
          </a:prstGeom>
          <a:noFill/>
          <a:ln w="22225">
            <a:solidFill>
              <a:srgbClr val="A96694"/>
            </a:solidFill>
            <a:prstDash val="solid"/>
            <a:tailEnd type="triangle"/>
          </a:ln>
        </p:spPr>
      </p:sp>
      <p:sp>
        <p:nvSpPr>
          <p:cNvPr id="19" name="Shape 17"/>
          <p:cNvSpPr/>
          <p:nvPr/>
        </p:nvSpPr>
        <p:spPr>
          <a:xfrm>
            <a:off x="8065008" y="1810512"/>
            <a:ext cx="3483864" cy="1298448"/>
          </a:xfrm>
          <a:prstGeom prst="roundRect">
            <a:avLst>
              <a:gd name="adj" fmla="val 4930"/>
            </a:avLst>
          </a:prstGeom>
          <a:solidFill>
            <a:srgbClr val="F1E4ED"/>
          </a:solidFill>
          <a:ln w="17780">
            <a:solidFill>
              <a:srgbClr val="12202B"/>
            </a:solidFill>
            <a:prstDash val="solid"/>
          </a:ln>
        </p:spPr>
      </p:sp>
      <p:sp>
        <p:nvSpPr>
          <p:cNvPr id="20" name="Shape 18"/>
          <p:cNvSpPr/>
          <p:nvPr/>
        </p:nvSpPr>
        <p:spPr>
          <a:xfrm>
            <a:off x="8284464" y="1993392"/>
            <a:ext cx="365760" cy="365760"/>
          </a:xfrm>
          <a:prstGeom prst="ellipse">
            <a:avLst/>
          </a:prstGeom>
          <a:solidFill>
            <a:srgbClr val="12202B"/>
          </a:solidFill>
          <a:ln w="12700">
            <a:solidFill>
              <a:srgbClr val="12202B"/>
            </a:solidFill>
            <a:prstDash val="solid"/>
          </a:ln>
        </p:spPr>
      </p:sp>
      <p:sp>
        <p:nvSpPr>
          <p:cNvPr id="21" name="Text 19"/>
          <p:cNvSpPr/>
          <p:nvPr/>
        </p:nvSpPr>
        <p:spPr>
          <a:xfrm>
            <a:off x="8284464" y="19933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2" name="Text 20"/>
          <p:cNvSpPr/>
          <p:nvPr/>
        </p:nvSpPr>
        <p:spPr>
          <a:xfrm>
            <a:off x="8759952" y="1993392"/>
            <a:ext cx="2560320" cy="365760"/>
          </a:xfrm>
          <a:prstGeom prst="rect">
            <a:avLst/>
          </a:prstGeom>
          <a:noFill/>
          <a:ln/>
        </p:spPr>
        <p:txBody>
          <a:bodyPr wrap="square" lIns="0" tIns="0" rIns="0" bIns="0" rtlCol="0" anchor="ctr"/>
          <a:lstStyle/>
          <a:p>
            <a:pPr indent="0" marL="0">
              <a:buNone/>
            </a:pPr>
            <a:r>
              <a:rPr lang="en-US" sz="1600" b="1" dirty="0">
                <a:solidFill>
                  <a:srgbClr val="12202B"/>
                </a:solidFill>
                <a:latin typeface="Cambria" pitchFamily="34" charset="0"/>
                <a:ea typeface="Cambria" pitchFamily="34" charset="-122"/>
                <a:cs typeface="Cambria" pitchFamily="34" charset="-120"/>
              </a:rPr>
              <a:t>Generate</a:t>
            </a:r>
            <a:endParaRPr lang="en-US" sz="1600" dirty="0"/>
          </a:p>
        </p:txBody>
      </p:sp>
      <p:sp>
        <p:nvSpPr>
          <p:cNvPr id="23" name="Text 21"/>
          <p:cNvSpPr/>
          <p:nvPr/>
        </p:nvSpPr>
        <p:spPr>
          <a:xfrm>
            <a:off x="8302752" y="2432304"/>
            <a:ext cx="3008376" cy="566928"/>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The model answers from the context — grounded, and able to cite.</a:t>
            </a:r>
            <a:endParaRPr lang="en-US" sz="1050" dirty="0"/>
          </a:p>
        </p:txBody>
      </p:sp>
      <p:sp>
        <p:nvSpPr>
          <p:cNvPr id="24" name="Shape 22"/>
          <p:cNvSpPr/>
          <p:nvPr/>
        </p:nvSpPr>
        <p:spPr>
          <a:xfrm>
            <a:off x="640080" y="3291840"/>
            <a:ext cx="6766560" cy="2560320"/>
          </a:xfrm>
          <a:prstGeom prst="roundRect">
            <a:avLst>
              <a:gd name="adj" fmla="val 2500"/>
            </a:avLst>
          </a:prstGeom>
          <a:solidFill>
            <a:srgbClr val="221626"/>
          </a:solidFill>
          <a:ln w="12700">
            <a:solidFill>
              <a:srgbClr val="221626"/>
            </a:solidFill>
            <a:prstDash val="solid"/>
          </a:ln>
          <a:effectLst>
            <a:outerShdw sx="100000" sy="100000" kx="0" ky="0" algn="bl" rotWithShape="0" blurRad="114300" dist="25400" dir="5400000">
              <a:srgbClr val="0B1720">
                <a:alpha val="22000"/>
              </a:srgbClr>
            </a:outerShdw>
          </a:effectLst>
        </p:spPr>
      </p:sp>
      <p:sp>
        <p:nvSpPr>
          <p:cNvPr id="25" name="Text 23"/>
          <p:cNvSpPr/>
          <p:nvPr/>
        </p:nvSpPr>
        <p:spPr>
          <a:xfrm>
            <a:off x="877824" y="3410712"/>
            <a:ext cx="629107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The whole loop, once the store exists</a:t>
            </a:r>
            <a:endParaRPr lang="en-US" sz="950" dirty="0"/>
          </a:p>
        </p:txBody>
      </p:sp>
      <p:sp>
        <p:nvSpPr>
          <p:cNvPr id="26" name="Text 24"/>
          <p:cNvSpPr/>
          <p:nvPr/>
        </p:nvSpPr>
        <p:spPr>
          <a:xfrm>
            <a:off x="877824" y="3712464"/>
            <a:ext cx="6291072" cy="1993392"/>
          </a:xfrm>
          <a:prstGeom prst="rect">
            <a:avLst/>
          </a:prstGeom>
          <a:noFill/>
          <a:ln/>
        </p:spPr>
        <p:txBody>
          <a:bodyPr wrap="square" lIns="0" tIns="0" rIns="0" bIns="0" rtlCol="0" anchor="t"/>
          <a:lstStyle/>
          <a:p>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def</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answer</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(question, k=4):</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qv   = embed_model.</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encode</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([question])[0]        </a:t>
            </a:r>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1 retrieve</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hits = store.</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query</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(qv, n_results=k)</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ctx = </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"\n\n"</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join</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2 augment</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f</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"[{i+1}] {d}"</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for</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i, d </a:t>
            </a:r>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in</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enumerate</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(hits[</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"documents"</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D9A6CE"/>
                </a:solidFill>
                <a:latin typeface="Courier New" pitchFamily="34" charset="0"/>
                <a:ea typeface="Courier New" pitchFamily="34" charset="-122"/>
                <a:cs typeface="Courier New" pitchFamily="34" charset="-120"/>
              </a:rPr>
              <a:t>return</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9FC4EE"/>
                </a:solidFill>
                <a:latin typeface="Courier New" pitchFamily="34" charset="0"/>
                <a:ea typeface="Courier New" pitchFamily="34" charset="-122"/>
                <a:cs typeface="Courier New" pitchFamily="34" charset="-120"/>
              </a:rPr>
              <a:t>llm</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(SYSTEM, f</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"Context:\n{ctx}\n\nQuestion: {question}"</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3 generate</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98080" y="3291840"/>
          <a:ext cx="4050792" cy="914400"/>
        </p:xfrm>
        <a:graphic>
          <a:graphicData uri="http://schemas.openxmlformats.org/drawingml/2006/table">
            <a:tbl>
              <a:tblPr/>
              <a:tblGrid>
                <a:gridCol w="960120"/>
                <a:gridCol w="309067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In the notebook</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Load and chunk the documents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Embed and store the vectors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Retrieve for a question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Augment — build the prompt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Generate the answer</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Wrap it all in one function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4 · THE RAG RECIPE &amp; TRUST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grounded prompt is the guardrail</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Retrieval supplies the facts. The prompt is what makes the model stay inside them.</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25</a:t>
            </a:r>
            <a:endParaRPr lang="en-US" sz="900" dirty="0"/>
          </a:p>
        </p:txBody>
      </p:sp>
      <p:sp>
        <p:nvSpPr>
          <p:cNvPr id="7" name="Shape 5"/>
          <p:cNvSpPr/>
          <p:nvPr/>
        </p:nvSpPr>
        <p:spPr>
          <a:xfrm>
            <a:off x="640080" y="1783080"/>
            <a:ext cx="6400800" cy="2468880"/>
          </a:xfrm>
          <a:prstGeom prst="roundRect">
            <a:avLst>
              <a:gd name="adj" fmla="val 2593"/>
            </a:avLst>
          </a:prstGeom>
          <a:solidFill>
            <a:srgbClr val="221626"/>
          </a:solidFill>
          <a:ln w="12700">
            <a:solidFill>
              <a:srgbClr val="221626"/>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901952"/>
            <a:ext cx="59253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SYSTEM — the three instructions that do the work</a:t>
            </a:r>
            <a:endParaRPr lang="en-US" sz="950" dirty="0"/>
          </a:p>
        </p:txBody>
      </p:sp>
      <p:sp>
        <p:nvSpPr>
          <p:cNvPr id="9" name="Text 7"/>
          <p:cNvSpPr/>
          <p:nvPr/>
        </p:nvSpPr>
        <p:spPr>
          <a:xfrm>
            <a:off x="877824" y="2203704"/>
            <a:ext cx="5925312" cy="1901952"/>
          </a:xfrm>
          <a:prstGeom prst="rect">
            <a:avLst/>
          </a:prstGeom>
          <a:noFill/>
          <a:ln/>
        </p:spPr>
        <p:txBody>
          <a:bodyPr wrap="square" lIns="0" tIns="0" rIns="0" bIns="0" rtlCol="0" anchor="t"/>
          <a:lstStyle/>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You are a security analyst assistant.</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Answer ONLY </a:t>
            </a:r>
            <a:pPr indent="0" marL="0">
              <a:lnSpc>
                <a:spcPts val="1500"/>
              </a:lnSpc>
              <a:buNone/>
            </a:pPr>
            <a:r>
              <a:rPr lang="en-US" sz="1000" dirty="0">
                <a:solidFill>
                  <a:srgbClr val="D9A6CE"/>
                </a:solidFill>
                <a:latin typeface="Courier New" pitchFamily="34" charset="0"/>
                <a:ea typeface="Courier New" pitchFamily="34" charset="-122"/>
                <a:cs typeface="Courier New" pitchFamily="34" charset="-120"/>
              </a:rPr>
              <a:t>from</a:t>
            </a:r>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the context provided below.</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Cite the source of each claim </a:t>
            </a:r>
            <a:pPr indent="0" marL="0">
              <a:lnSpc>
                <a:spcPts val="1500"/>
              </a:lnSpc>
              <a:buNone/>
            </a:pPr>
            <a:r>
              <a:rPr lang="en-US" sz="1000" dirty="0">
                <a:solidFill>
                  <a:srgbClr val="D9A6CE"/>
                </a:solidFill>
                <a:latin typeface="Courier New" pitchFamily="34" charset="0"/>
                <a:ea typeface="Courier New" pitchFamily="34" charset="-122"/>
                <a:cs typeface="Courier New" pitchFamily="34" charset="-120"/>
              </a:rPr>
              <a:t>as</a:t>
            </a:r>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[n].</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If the answer is </a:t>
            </a:r>
            <a:pPr indent="0" marL="0">
              <a:lnSpc>
                <a:spcPts val="1500"/>
              </a:lnSpc>
              <a:buNone/>
            </a:pPr>
            <a:r>
              <a:rPr lang="en-US" sz="1000" dirty="0">
                <a:solidFill>
                  <a:srgbClr val="D9A6CE"/>
                </a:solidFill>
                <a:latin typeface="Courier New" pitchFamily="34" charset="0"/>
                <a:ea typeface="Courier New" pitchFamily="34" charset="-122"/>
                <a:cs typeface="Courier New" pitchFamily="34" charset="-120"/>
              </a:rPr>
              <a:t>not</a:t>
            </a:r>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pPr indent="0" marL="0">
              <a:lnSpc>
                <a:spcPts val="1500"/>
              </a:lnSpc>
              <a:buNone/>
            </a:pPr>
            <a:r>
              <a:rPr lang="en-US" sz="1000" dirty="0">
                <a:solidFill>
                  <a:srgbClr val="D9A6CE"/>
                </a:solidFill>
                <a:latin typeface="Courier New" pitchFamily="34" charset="0"/>
                <a:ea typeface="Courier New" pitchFamily="34" charset="-122"/>
                <a:cs typeface="Courier New" pitchFamily="34" charset="-120"/>
              </a:rPr>
              <a:t>in</a:t>
            </a:r>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the context, say</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pPr indent="0" marL="0">
              <a:lnSpc>
                <a:spcPts val="1500"/>
              </a:lnSpc>
              <a:buNone/>
            </a:pPr>
            <a:r>
              <a:rPr lang="en-US" sz="1000" dirty="0">
                <a:solidFill>
                  <a:srgbClr val="EBB183"/>
                </a:solidFill>
                <a:latin typeface="Courier New" pitchFamily="34" charset="0"/>
                <a:ea typeface="Courier New" pitchFamily="34" charset="-122"/>
                <a:cs typeface="Courier New" pitchFamily="34" charset="-120"/>
              </a:rPr>
              <a:t>"I don't know based on the provided documents."</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Do </a:t>
            </a:r>
            <a:pPr indent="0" marL="0">
              <a:lnSpc>
                <a:spcPts val="1500"/>
              </a:lnSpc>
              <a:buNone/>
            </a:pPr>
            <a:r>
              <a:rPr lang="en-US" sz="1000" dirty="0">
                <a:solidFill>
                  <a:srgbClr val="D9A6CE"/>
                </a:solidFill>
                <a:latin typeface="Courier New" pitchFamily="34" charset="0"/>
                <a:ea typeface="Courier New" pitchFamily="34" charset="-122"/>
                <a:cs typeface="Courier New" pitchFamily="34" charset="-120"/>
              </a:rPr>
              <a:t>not</a:t>
            </a:r>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use knowledge </a:t>
            </a:r>
            <a:pPr indent="0" marL="0">
              <a:lnSpc>
                <a:spcPts val="1500"/>
              </a:lnSpc>
              <a:buNone/>
            </a:pPr>
            <a:r>
              <a:rPr lang="en-US" sz="1000" dirty="0">
                <a:solidFill>
                  <a:srgbClr val="D9A6CE"/>
                </a:solidFill>
                <a:latin typeface="Courier New" pitchFamily="34" charset="0"/>
                <a:ea typeface="Courier New" pitchFamily="34" charset="-122"/>
                <a:cs typeface="Courier New" pitchFamily="34" charset="-120"/>
              </a:rPr>
              <a:t>from</a:t>
            </a:r>
            <a:pPr indent="0" marL="0">
              <a:lnSpc>
                <a:spcPts val="1500"/>
              </a:lnSpc>
              <a:buNone/>
            </a:pPr>
            <a:r>
              <a:rPr lang="en-US" sz="1000" dirty="0">
                <a:solidFill>
                  <a:srgbClr val="E4EDF2"/>
                </a:solidFill>
                <a:latin typeface="Courier New" pitchFamily="34" charset="0"/>
                <a:ea typeface="Courier New" pitchFamily="34" charset="-122"/>
                <a:cs typeface="Courier New" pitchFamily="34" charset="-120"/>
              </a:rPr>
              <a:t> outside the context.</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223760" y="1783080"/>
          <a:ext cx="4325112" cy="914400"/>
        </p:xfrm>
        <a:graphic>
          <a:graphicData uri="http://schemas.openxmlformats.org/drawingml/2006/table">
            <a:tbl>
              <a:tblPr/>
              <a:tblGrid>
                <a:gridCol w="1737360"/>
                <a:gridCol w="25877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Instruction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buys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Answer only from context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Turns generation into summarisation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Cite as [n]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Every claim becomes checkable in seconds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Say "I don't know"</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Gives it a licence to fail honestly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1" name="Shape 8"/>
          <p:cNvSpPr/>
          <p:nvPr/>
        </p:nvSpPr>
        <p:spPr>
          <a:xfrm>
            <a:off x="7223760" y="3675888"/>
            <a:ext cx="4325112" cy="1207008"/>
          </a:xfrm>
          <a:prstGeom prst="roundRect">
            <a:avLst>
              <a:gd name="adj" fmla="val 4545"/>
            </a:avLst>
          </a:prstGeom>
          <a:solidFill>
            <a:srgbClr val="F1E4ED"/>
          </a:solidFill>
          <a:ln w="9525">
            <a:solidFill>
              <a:srgbClr val="73305F"/>
            </a:solidFill>
            <a:prstDash val="solid"/>
          </a:ln>
        </p:spPr>
      </p:sp>
      <p:sp>
        <p:nvSpPr>
          <p:cNvPr id="12" name="Text 9"/>
          <p:cNvSpPr/>
          <p:nvPr/>
        </p:nvSpPr>
        <p:spPr>
          <a:xfrm>
            <a:off x="7443216" y="3767328"/>
            <a:ext cx="3886200" cy="1024128"/>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The third line is the important one.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Without an explicit escape hatch, a model asked an unanswerable question will produce something anyway. "I don't know" has to be permitted.</a:t>
            </a:r>
            <a:endParaRPr lang="en-US" sz="1100" dirty="0"/>
          </a:p>
        </p:txBody>
      </p:sp>
      <p:sp>
        <p:nvSpPr>
          <p:cNvPr id="13" name="Shape 10"/>
          <p:cNvSpPr/>
          <p:nvPr/>
        </p:nvSpPr>
        <p:spPr>
          <a:xfrm>
            <a:off x="640080" y="4407408"/>
            <a:ext cx="6400800" cy="1444752"/>
          </a:xfrm>
          <a:prstGeom prst="roundRect">
            <a:avLst>
              <a:gd name="adj" fmla="val 3797"/>
            </a:avLst>
          </a:prstGeom>
          <a:solidFill>
            <a:srgbClr val="F7E5E8"/>
          </a:solidFill>
          <a:ln w="9525">
            <a:solidFill>
              <a:srgbClr val="A4243B"/>
            </a:solidFill>
            <a:prstDash val="solid"/>
          </a:ln>
        </p:spPr>
      </p:sp>
      <p:sp>
        <p:nvSpPr>
          <p:cNvPr id="14" name="Text 11"/>
          <p:cNvSpPr/>
          <p:nvPr/>
        </p:nvSpPr>
        <p:spPr>
          <a:xfrm>
            <a:off x="859536" y="4498848"/>
            <a:ext cx="5961888" cy="1261872"/>
          </a:xfrm>
          <a:prstGeom prst="rect">
            <a:avLst/>
          </a:prstGeom>
          <a:noFill/>
          <a:ln/>
        </p:spPr>
        <p:txBody>
          <a:bodyPr wrap="square" lIns="0" tIns="0" rIns="0" bIns="0" rtlCol="0" anchor="ctr"/>
          <a:lstStyle/>
          <a:p>
            <a:pPr indent="0" marL="0">
              <a:lnSpc>
                <a:spcPts val="1540"/>
              </a:lnSpc>
              <a:buNone/>
            </a:pPr>
            <a:r>
              <a:rPr lang="en-US" sz="1100" b="1" dirty="0">
                <a:solidFill>
                  <a:srgbClr val="A4243B"/>
                </a:solidFill>
                <a:latin typeface="Calibri" pitchFamily="34" charset="0"/>
                <a:ea typeface="Calibri" pitchFamily="34" charset="-122"/>
                <a:cs typeface="Calibri" pitchFamily="34" charset="-120"/>
              </a:rPr>
              <a:t>But notice what you just did.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You took text from your corpus and placed it in the prompt, above the question, where the model treats it as instructions-adjacent. If an attacker can write into a document you ingest, they are writing into your prompt. Retrieved text is untrusted input. This is prompt injection, and it is where Module 5 begins.</a:t>
            </a:r>
            <a:endParaRPr lang="en-US" sz="1100" dirty="0"/>
          </a:p>
        </p:txBody>
      </p:sp>
      <p:sp>
        <p:nvSpPr>
          <p:cNvPr id="15" name="Shape 12"/>
          <p:cNvSpPr/>
          <p:nvPr/>
        </p:nvSpPr>
        <p:spPr>
          <a:xfrm>
            <a:off x="7223760" y="5029200"/>
            <a:ext cx="4325112" cy="822960"/>
          </a:xfrm>
          <a:prstGeom prst="roundRect">
            <a:avLst>
              <a:gd name="adj" fmla="val 6667"/>
            </a:avLst>
          </a:prstGeom>
          <a:solidFill>
            <a:srgbClr val="F1E4ED"/>
          </a:solidFill>
          <a:ln w="9525">
            <a:solidFill>
              <a:srgbClr val="73305F"/>
            </a:solidFill>
            <a:prstDash val="solid"/>
          </a:ln>
        </p:spPr>
      </p:sp>
      <p:sp>
        <p:nvSpPr>
          <p:cNvPr id="16" name="Text 13"/>
          <p:cNvSpPr/>
          <p:nvPr/>
        </p:nvSpPr>
        <p:spPr>
          <a:xfrm>
            <a:off x="7443216" y="5120640"/>
            <a:ext cx="3886200" cy="640080"/>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No API key? Still works.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Retrieval runs entirely locally. Generation is the only step that needs one.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4 · THE RAG RECIPE &amp; TRUST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Evaluating a RAG system</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"It gave a good answer" is not evaluation. Four checks make it measurable.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29</a:t>
            </a:r>
            <a:endParaRPr lang="en-US" sz="900" dirty="0"/>
          </a:p>
        </p:txBody>
      </p:sp>
      <p:sp>
        <p:nvSpPr>
          <p:cNvPr id="7" name="Shape 5"/>
          <p:cNvSpPr/>
          <p:nvPr/>
        </p:nvSpPr>
        <p:spPr>
          <a:xfrm>
            <a:off x="640080" y="1783080"/>
            <a:ext cx="2624328" cy="1481328"/>
          </a:xfrm>
          <a:prstGeom prst="roundRect">
            <a:avLst>
              <a:gd name="adj" fmla="val 4321"/>
            </a:avLst>
          </a:prstGeom>
          <a:solidFill>
            <a:srgbClr val="F1F5F8"/>
          </a:solidFill>
          <a:ln w="9525">
            <a:solidFill>
              <a:srgbClr val="C9D8E0"/>
            </a:solidFill>
            <a:prstDash val="solid"/>
          </a:ln>
        </p:spPr>
      </p:sp>
      <p:sp>
        <p:nvSpPr>
          <p:cNvPr id="8" name="Shape 6"/>
          <p:cNvSpPr/>
          <p:nvPr/>
        </p:nvSpPr>
        <p:spPr>
          <a:xfrm>
            <a:off x="859536" y="1984248"/>
            <a:ext cx="384048" cy="384048"/>
          </a:xfrm>
          <a:prstGeom prst="ellipse">
            <a:avLst/>
          </a:prstGeom>
          <a:solidFill>
            <a:srgbClr val="73305F"/>
          </a:solidFill>
          <a:ln w="12700">
            <a:solidFill>
              <a:srgbClr val="73305F"/>
            </a:solidFill>
            <a:prstDash val="solid"/>
          </a:ln>
        </p:spPr>
      </p:sp>
      <p:sp>
        <p:nvSpPr>
          <p:cNvPr id="9" name="Text 7"/>
          <p:cNvSpPr/>
          <p:nvPr/>
        </p:nvSpPr>
        <p:spPr>
          <a:xfrm>
            <a:off x="859536"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71600" y="1965960"/>
            <a:ext cx="1664208" cy="420624"/>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Retrieval quality</a:t>
            </a:r>
            <a:endParaRPr lang="en-US" sz="1300" dirty="0"/>
          </a:p>
        </p:txBody>
      </p:sp>
      <p:sp>
        <p:nvSpPr>
          <p:cNvPr id="11" name="Text 9"/>
          <p:cNvSpPr/>
          <p:nvPr/>
        </p:nvSpPr>
        <p:spPr>
          <a:xfrm>
            <a:off x="896112" y="2441448"/>
            <a:ext cx="2112264" cy="62179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Did the search fetch the chunk that actually answers the question?</a:t>
            </a:r>
            <a:endParaRPr lang="en-US" sz="1050" dirty="0"/>
          </a:p>
        </p:txBody>
      </p:sp>
      <p:sp>
        <p:nvSpPr>
          <p:cNvPr id="12" name="Shape 10"/>
          <p:cNvSpPr/>
          <p:nvPr/>
        </p:nvSpPr>
        <p:spPr>
          <a:xfrm>
            <a:off x="3438144" y="1783080"/>
            <a:ext cx="2624328" cy="1481328"/>
          </a:xfrm>
          <a:prstGeom prst="roundRect">
            <a:avLst>
              <a:gd name="adj" fmla="val 4321"/>
            </a:avLst>
          </a:prstGeom>
          <a:solidFill>
            <a:srgbClr val="F1F5F8"/>
          </a:solidFill>
          <a:ln w="9525">
            <a:solidFill>
              <a:srgbClr val="C9D8E0"/>
            </a:solidFill>
            <a:prstDash val="solid"/>
          </a:ln>
        </p:spPr>
      </p:sp>
      <p:sp>
        <p:nvSpPr>
          <p:cNvPr id="13" name="Shape 11"/>
          <p:cNvSpPr/>
          <p:nvPr/>
        </p:nvSpPr>
        <p:spPr>
          <a:xfrm>
            <a:off x="3657600" y="1984248"/>
            <a:ext cx="384048" cy="384048"/>
          </a:xfrm>
          <a:prstGeom prst="ellipse">
            <a:avLst/>
          </a:prstGeom>
          <a:solidFill>
            <a:srgbClr val="73305F"/>
          </a:solidFill>
          <a:ln w="12700">
            <a:solidFill>
              <a:srgbClr val="73305F"/>
            </a:solidFill>
            <a:prstDash val="solid"/>
          </a:ln>
        </p:spPr>
      </p:sp>
      <p:sp>
        <p:nvSpPr>
          <p:cNvPr id="14" name="Text 12"/>
          <p:cNvSpPr/>
          <p:nvPr/>
        </p:nvSpPr>
        <p:spPr>
          <a:xfrm>
            <a:off x="3657600"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169664" y="1965960"/>
            <a:ext cx="1664208" cy="420624"/>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Grounding</a:t>
            </a:r>
            <a:endParaRPr lang="en-US" sz="1300" dirty="0"/>
          </a:p>
        </p:txBody>
      </p:sp>
      <p:sp>
        <p:nvSpPr>
          <p:cNvPr id="16" name="Text 14"/>
          <p:cNvSpPr/>
          <p:nvPr/>
        </p:nvSpPr>
        <p:spPr>
          <a:xfrm>
            <a:off x="3694176" y="2441448"/>
            <a:ext cx="2112264" cy="62179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Is every claim supported by a retrieved chunk — or did it drift?</a:t>
            </a:r>
            <a:endParaRPr lang="en-US" sz="1050" dirty="0"/>
          </a:p>
        </p:txBody>
      </p:sp>
      <p:sp>
        <p:nvSpPr>
          <p:cNvPr id="17" name="Shape 15"/>
          <p:cNvSpPr/>
          <p:nvPr/>
        </p:nvSpPr>
        <p:spPr>
          <a:xfrm>
            <a:off x="6236208" y="1783080"/>
            <a:ext cx="2624328" cy="1481328"/>
          </a:xfrm>
          <a:prstGeom prst="roundRect">
            <a:avLst>
              <a:gd name="adj" fmla="val 4321"/>
            </a:avLst>
          </a:prstGeom>
          <a:solidFill>
            <a:srgbClr val="F1F5F8"/>
          </a:solidFill>
          <a:ln w="9525">
            <a:solidFill>
              <a:srgbClr val="C9D8E0"/>
            </a:solidFill>
            <a:prstDash val="solid"/>
          </a:ln>
        </p:spPr>
      </p:sp>
      <p:sp>
        <p:nvSpPr>
          <p:cNvPr id="18" name="Shape 16"/>
          <p:cNvSpPr/>
          <p:nvPr/>
        </p:nvSpPr>
        <p:spPr>
          <a:xfrm>
            <a:off x="6455664" y="1984248"/>
            <a:ext cx="384048" cy="384048"/>
          </a:xfrm>
          <a:prstGeom prst="ellipse">
            <a:avLst/>
          </a:prstGeom>
          <a:solidFill>
            <a:srgbClr val="73305F"/>
          </a:solidFill>
          <a:ln w="12700">
            <a:solidFill>
              <a:srgbClr val="73305F"/>
            </a:solidFill>
            <a:prstDash val="solid"/>
          </a:ln>
        </p:spPr>
      </p:sp>
      <p:sp>
        <p:nvSpPr>
          <p:cNvPr id="19" name="Text 17"/>
          <p:cNvSpPr/>
          <p:nvPr/>
        </p:nvSpPr>
        <p:spPr>
          <a:xfrm>
            <a:off x="6455664"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6967728" y="1965960"/>
            <a:ext cx="1664208" cy="420624"/>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Honesty</a:t>
            </a:r>
            <a:endParaRPr lang="en-US" sz="1300" dirty="0"/>
          </a:p>
        </p:txBody>
      </p:sp>
      <p:sp>
        <p:nvSpPr>
          <p:cNvPr id="21" name="Text 19"/>
          <p:cNvSpPr/>
          <p:nvPr/>
        </p:nvSpPr>
        <p:spPr>
          <a:xfrm>
            <a:off x="6492240" y="2441448"/>
            <a:ext cx="2112264" cy="62179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Does it say "I don't know" when the answer genuinely is not there?</a:t>
            </a:r>
            <a:endParaRPr lang="en-US" sz="1050" dirty="0"/>
          </a:p>
        </p:txBody>
      </p:sp>
      <p:sp>
        <p:nvSpPr>
          <p:cNvPr id="22" name="Shape 20"/>
          <p:cNvSpPr/>
          <p:nvPr/>
        </p:nvSpPr>
        <p:spPr>
          <a:xfrm>
            <a:off x="9034272" y="1783080"/>
            <a:ext cx="2624328" cy="1481328"/>
          </a:xfrm>
          <a:prstGeom prst="roundRect">
            <a:avLst>
              <a:gd name="adj" fmla="val 4321"/>
            </a:avLst>
          </a:prstGeom>
          <a:solidFill>
            <a:srgbClr val="F1F5F8"/>
          </a:solidFill>
          <a:ln w="9525">
            <a:solidFill>
              <a:srgbClr val="C9D8E0"/>
            </a:solidFill>
            <a:prstDash val="solid"/>
          </a:ln>
        </p:spPr>
      </p:sp>
      <p:sp>
        <p:nvSpPr>
          <p:cNvPr id="23" name="Shape 21"/>
          <p:cNvSpPr/>
          <p:nvPr/>
        </p:nvSpPr>
        <p:spPr>
          <a:xfrm>
            <a:off x="9253728" y="1984248"/>
            <a:ext cx="384048" cy="384048"/>
          </a:xfrm>
          <a:prstGeom prst="ellipse">
            <a:avLst/>
          </a:prstGeom>
          <a:solidFill>
            <a:srgbClr val="73305F"/>
          </a:solidFill>
          <a:ln w="12700">
            <a:solidFill>
              <a:srgbClr val="73305F"/>
            </a:solidFill>
            <a:prstDash val="solid"/>
          </a:ln>
        </p:spPr>
      </p:sp>
      <p:sp>
        <p:nvSpPr>
          <p:cNvPr id="24" name="Text 22"/>
          <p:cNvSpPr/>
          <p:nvPr/>
        </p:nvSpPr>
        <p:spPr>
          <a:xfrm>
            <a:off x="9253728"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9765792" y="1965960"/>
            <a:ext cx="1664208" cy="420624"/>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Citations</a:t>
            </a:r>
            <a:endParaRPr lang="en-US" sz="1300" dirty="0"/>
          </a:p>
        </p:txBody>
      </p:sp>
      <p:sp>
        <p:nvSpPr>
          <p:cNvPr id="26" name="Text 24"/>
          <p:cNvSpPr/>
          <p:nvPr/>
        </p:nvSpPr>
        <p:spPr>
          <a:xfrm>
            <a:off x="9290304" y="2441448"/>
            <a:ext cx="2112264" cy="62179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Can a human trace each claim back to a specific source?</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3346704"/>
          <a:ext cx="10908792" cy="914400"/>
        </p:xfrm>
        <a:graphic>
          <a:graphicData uri="http://schemas.openxmlformats.org/drawingml/2006/table">
            <a:tbl>
              <a:tblPr/>
              <a:tblGrid>
                <a:gridCol w="2103120"/>
                <a:gridCol w="4023360"/>
                <a:gridCol w="478231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Check</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How to measure it without a framework</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a failure tells you</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Retrieval quality</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Write 10 questions with a known answering chunk. Count how often it lands in the top k</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Chunking or k is wrong — the generator is not the problem</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Grounding</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For each claim in the answer, point at the chunk. Anything unpointable is drift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Your prompt is too weak, or too much irrelevant context got in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Honesty</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Ask 5 questions the corpus cannot answer. Count real refusals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The "I don't know" instruction is missing or being overridden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Citations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Pick a claim at random. Time how long verification takes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Citations are decorative rather than functional</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28" name="Shape 25"/>
          <p:cNvSpPr/>
          <p:nvPr/>
        </p:nvSpPr>
        <p:spPr>
          <a:xfrm>
            <a:off x="640080" y="5431536"/>
            <a:ext cx="10908792" cy="566928"/>
          </a:xfrm>
          <a:prstGeom prst="roundRect">
            <a:avLst>
              <a:gd name="adj" fmla="val 9677"/>
            </a:avLst>
          </a:prstGeom>
          <a:solidFill>
            <a:srgbClr val="F1E4ED"/>
          </a:solidFill>
          <a:ln w="9525">
            <a:solidFill>
              <a:srgbClr val="73305F"/>
            </a:solidFill>
            <a:prstDash val="solid"/>
          </a:ln>
        </p:spPr>
      </p:sp>
      <p:sp>
        <p:nvSpPr>
          <p:cNvPr id="29" name="Text 26"/>
          <p:cNvSpPr/>
          <p:nvPr/>
        </p:nvSpPr>
        <p:spPr>
          <a:xfrm>
            <a:off x="859536" y="5522976"/>
            <a:ext cx="10469880" cy="384048"/>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Diagnose in that order.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Retrieval failures masquerade as generation failures, and people tune the prompt for hours when the answering chunk was never retrieved.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A96694"/>
                </a:solidFill>
                <a:latin typeface="Calibri" pitchFamily="34" charset="0"/>
                <a:ea typeface="Calibri" pitchFamily="34" charset="-122"/>
                <a:cs typeface="Calibri" pitchFamily="34" charset="-120"/>
              </a:rPr>
              <a:t>PART 5</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Build It: The Notebooks</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&amp; Practice</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Two framework-free notebooks over a thousand real CVE descriptions, what RAG is actually used for in security, and the data rules that come with it.</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Problem &amp; the Core Idea</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Embeddings</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Vector DB &amp; Chunking</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RAG Recipe &amp; Trust</a:t>
            </a:r>
            <a:endParaRPr lang="en-US" sz="1200" dirty="0"/>
          </a:p>
        </p:txBody>
      </p:sp>
      <p:sp>
        <p:nvSpPr>
          <p:cNvPr id="14" name="Shape 12"/>
          <p:cNvSpPr/>
          <p:nvPr/>
        </p:nvSpPr>
        <p:spPr>
          <a:xfrm>
            <a:off x="7818120" y="4160520"/>
            <a:ext cx="182880" cy="182880"/>
          </a:xfrm>
          <a:prstGeom prst="ellipse">
            <a:avLst/>
          </a:prstGeom>
          <a:solidFill>
            <a:srgbClr val="A96694"/>
          </a:solidFill>
          <a:ln w="12700">
            <a:solidFill>
              <a:srgbClr val="A96694"/>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Build It: Notebooks &amp; Practice</a:t>
            </a:r>
            <a:endParaRPr lang="en-US" sz="1300" dirty="0"/>
          </a:p>
        </p:txBody>
      </p:sp>
      <p:sp>
        <p:nvSpPr>
          <p:cNvPr id="16" name="Shape 14"/>
          <p:cNvSpPr/>
          <p:nvPr/>
        </p:nvSpPr>
        <p:spPr>
          <a:xfrm>
            <a:off x="7818120" y="4818888"/>
            <a:ext cx="182880" cy="182880"/>
          </a:xfrm>
          <a:prstGeom prst="ellipse">
            <a:avLst/>
          </a:prstGeom>
          <a:solidFill>
            <a:srgbClr val="1D3444"/>
          </a:solidFill>
          <a:ln w="12700">
            <a:solidFill>
              <a:srgbClr val="3A5566"/>
            </a:solidFill>
            <a:prstDash val="solid"/>
          </a:ln>
        </p:spPr>
      </p:sp>
      <p:sp>
        <p:nvSpPr>
          <p:cNvPr id="17" name="Text 15"/>
          <p:cNvSpPr/>
          <p:nvPr/>
        </p:nvSpPr>
        <p:spPr>
          <a:xfrm>
            <a:off x="8147304" y="470916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Lab &amp; Mini-Project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5 · BUILD IT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notebooks: framework-free and offline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Nothing hidden. You will see every moving part before you let a framework hide it.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31</a:t>
            </a:r>
            <a:endParaRPr lang="en-US" sz="900" dirty="0"/>
          </a:p>
        </p:txBody>
      </p:sp>
      <p:sp>
        <p:nvSpPr>
          <p:cNvPr id="7" name="Shape 5"/>
          <p:cNvSpPr/>
          <p:nvPr/>
        </p:nvSpPr>
        <p:spPr>
          <a:xfrm>
            <a:off x="640080" y="1783080"/>
            <a:ext cx="6035040" cy="2286000"/>
          </a:xfrm>
          <a:prstGeom prst="roundRect">
            <a:avLst>
              <a:gd name="adj" fmla="val 2800"/>
            </a:avLst>
          </a:prstGeom>
          <a:solidFill>
            <a:srgbClr val="221626"/>
          </a:solidFill>
          <a:ln w="12700">
            <a:solidFill>
              <a:srgbClr val="221626"/>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901952"/>
            <a:ext cx="555955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This module's files</a:t>
            </a:r>
            <a:endParaRPr lang="en-US" sz="950" dirty="0"/>
          </a:p>
        </p:txBody>
      </p:sp>
      <p:sp>
        <p:nvSpPr>
          <p:cNvPr id="9" name="Text 7"/>
          <p:cNvSpPr/>
          <p:nvPr/>
        </p:nvSpPr>
        <p:spPr>
          <a:xfrm>
            <a:off x="877824" y="2203704"/>
            <a:ext cx="5559552" cy="1719072"/>
          </a:xfrm>
          <a:prstGeom prst="rect">
            <a:avLst/>
          </a:prstGeom>
          <a:noFill/>
          <a:ln/>
        </p:spPr>
        <p:txBody>
          <a:bodyPr wrap="square" lIns="0" tIns="0" rIns="0" bIns="0" rtlCol="0" anchor="t"/>
          <a:lstStyle/>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code/</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lecture2_embeddings_vectordb.ipynb   embeddings + the store</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lecture3_rag_pipeline.ipynb          the full six-step pipeline</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data/</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cve_descriptions.csv                 1,000 real CVE entries</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kb/                                  a small security knowledge base</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assignments/                           lab, mini-project, forum</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4224528"/>
          <a:ext cx="6035040" cy="914400"/>
        </p:xfrm>
        <a:graphic>
          <a:graphicData uri="http://schemas.openxmlformats.org/drawingml/2006/table">
            <a:tbl>
              <a:tblPr/>
              <a:tblGrid>
                <a:gridCol w="2194560"/>
                <a:gridCol w="3840480"/>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Dependency</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Why it is the only one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sentence-transformers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Local embeddings, ~80 MB, runs on CPU</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chromadb</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The store — and you see the NumPy equivalent too</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No LangChain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Deliberately. That is next module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1" name="Shape 8"/>
          <p:cNvSpPr/>
          <p:nvPr/>
        </p:nvSpPr>
        <p:spPr>
          <a:xfrm>
            <a:off x="6949440" y="1783080"/>
            <a:ext cx="4599432" cy="1737360"/>
          </a:xfrm>
          <a:prstGeom prst="roundRect">
            <a:avLst>
              <a:gd name="adj" fmla="val 3684"/>
            </a:avLst>
          </a:prstGeom>
          <a:solidFill>
            <a:srgbClr val="F1F5F8"/>
          </a:solidFill>
          <a:ln w="9525">
            <a:solidFill>
              <a:srgbClr val="C9D8E0"/>
            </a:solidFill>
            <a:prstDash val="solid"/>
          </a:ln>
        </p:spPr>
      </p:sp>
      <p:sp>
        <p:nvSpPr>
          <p:cNvPr id="12" name="Text 9"/>
          <p:cNvSpPr/>
          <p:nvPr/>
        </p:nvSpPr>
        <p:spPr>
          <a:xfrm>
            <a:off x="7205472" y="1965960"/>
            <a:ext cx="4087368"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Real data, not a toy corpus</a:t>
            </a:r>
            <a:endParaRPr lang="en-US" sz="1450" dirty="0"/>
          </a:p>
        </p:txBody>
      </p:sp>
      <p:sp>
        <p:nvSpPr>
          <p:cNvPr id="13" name="Text 10"/>
          <p:cNvSpPr/>
          <p:nvPr/>
        </p:nvSpPr>
        <p:spPr>
          <a:xfrm>
            <a:off x="7205472" y="2441448"/>
            <a:ext cx="4087368" cy="877824"/>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A thousand CVE descriptions. Pick one, look at its nearest neighbours, and you will find related vulnerabilities that share no keywords with it at all. That moment is the point of the lab.</a:t>
            </a:r>
            <a:endParaRPr lang="en-US" sz="1100" dirty="0"/>
          </a:p>
        </p:txBody>
      </p:sp>
      <p:sp>
        <p:nvSpPr>
          <p:cNvPr id="14" name="Shape 11"/>
          <p:cNvSpPr/>
          <p:nvPr/>
        </p:nvSpPr>
        <p:spPr>
          <a:xfrm>
            <a:off x="6949440" y="3675888"/>
            <a:ext cx="4599432" cy="1371600"/>
          </a:xfrm>
          <a:prstGeom prst="roundRect">
            <a:avLst>
              <a:gd name="adj" fmla="val 4000"/>
            </a:avLst>
          </a:prstGeom>
          <a:solidFill>
            <a:srgbClr val="F1E4ED"/>
          </a:solidFill>
          <a:ln w="9525">
            <a:solidFill>
              <a:srgbClr val="73305F"/>
            </a:solidFill>
            <a:prstDash val="solid"/>
          </a:ln>
        </p:spPr>
      </p:sp>
      <p:sp>
        <p:nvSpPr>
          <p:cNvPr id="15" name="Text 12"/>
          <p:cNvSpPr/>
          <p:nvPr/>
        </p:nvSpPr>
        <p:spPr>
          <a:xfrm>
            <a:off x="7168896" y="3767328"/>
            <a:ext cx="4160520" cy="1188720"/>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Why framework-free: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next module you will build this in about fifteen lines of LangChain. You should be able to say what each of those lines is doing — and you can only do that if you have written it yourself once.</a:t>
            </a:r>
            <a:endParaRPr lang="en-US" sz="1100" dirty="0"/>
          </a:p>
        </p:txBody>
      </p:sp>
      <p:sp>
        <p:nvSpPr>
          <p:cNvPr id="16" name="Shape 13"/>
          <p:cNvSpPr/>
          <p:nvPr/>
        </p:nvSpPr>
        <p:spPr>
          <a:xfrm>
            <a:off x="6949440" y="5193792"/>
            <a:ext cx="4599432" cy="658368"/>
          </a:xfrm>
          <a:prstGeom prst="roundRect">
            <a:avLst>
              <a:gd name="adj" fmla="val 8333"/>
            </a:avLst>
          </a:prstGeom>
          <a:solidFill>
            <a:srgbClr val="F1E4ED"/>
          </a:solidFill>
          <a:ln w="9525">
            <a:solidFill>
              <a:srgbClr val="73305F"/>
            </a:solidFill>
            <a:prstDash val="solid"/>
          </a:ln>
        </p:spPr>
      </p:sp>
      <p:sp>
        <p:nvSpPr>
          <p:cNvPr id="17" name="Text 14"/>
          <p:cNvSpPr/>
          <p:nvPr/>
        </p:nvSpPr>
        <p:spPr>
          <a:xfrm>
            <a:off x="7168896" y="5285232"/>
            <a:ext cx="4160520" cy="475488"/>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Runs offline.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Retrieval needs no API key at all.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5 · BUILD IT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What RAG is actually used for in security</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Four patterns, all of which are somebody's real internal tool.</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35</a:t>
            </a:r>
            <a:endParaRPr lang="en-US" sz="900" dirty="0"/>
          </a:p>
        </p:txBody>
      </p:sp>
      <p:sp>
        <p:nvSpPr>
          <p:cNvPr id="7" name="Shape 5"/>
          <p:cNvSpPr/>
          <p:nvPr/>
        </p:nvSpPr>
        <p:spPr>
          <a:xfrm>
            <a:off x="640080" y="1783080"/>
            <a:ext cx="2624328" cy="1572768"/>
          </a:xfrm>
          <a:prstGeom prst="roundRect">
            <a:avLst>
              <a:gd name="adj" fmla="val 4070"/>
            </a:avLst>
          </a:prstGeom>
          <a:solidFill>
            <a:srgbClr val="F1F5F8"/>
          </a:solidFill>
          <a:ln w="9525">
            <a:solidFill>
              <a:srgbClr val="C9D8E0"/>
            </a:solidFill>
            <a:prstDash val="solid"/>
          </a:ln>
        </p:spPr>
      </p:sp>
      <p:sp>
        <p:nvSpPr>
          <p:cNvPr id="8" name="Text 6"/>
          <p:cNvSpPr/>
          <p:nvPr/>
        </p:nvSpPr>
        <p:spPr>
          <a:xfrm>
            <a:off x="896112" y="1965960"/>
            <a:ext cx="2112264" cy="420624"/>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Query threat intel</a:t>
            </a:r>
            <a:endParaRPr lang="en-US" sz="1300" dirty="0"/>
          </a:p>
        </p:txBody>
      </p:sp>
      <p:sp>
        <p:nvSpPr>
          <p:cNvPr id="9" name="Text 7"/>
          <p:cNvSpPr/>
          <p:nvPr/>
        </p:nvSpPr>
        <p:spPr>
          <a:xfrm>
            <a:off x="896112" y="2441448"/>
            <a:ext cx="2112264" cy="71323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Ask advisories and intel reports in natural language instead of grepping a PDF pile.</a:t>
            </a:r>
            <a:endParaRPr lang="en-US" sz="1050" dirty="0"/>
          </a:p>
        </p:txBody>
      </p:sp>
      <p:sp>
        <p:nvSpPr>
          <p:cNvPr id="10" name="Shape 8"/>
          <p:cNvSpPr/>
          <p:nvPr/>
        </p:nvSpPr>
        <p:spPr>
          <a:xfrm>
            <a:off x="3438144" y="1783080"/>
            <a:ext cx="2624328" cy="1572768"/>
          </a:xfrm>
          <a:prstGeom prst="roundRect">
            <a:avLst>
              <a:gd name="adj" fmla="val 4070"/>
            </a:avLst>
          </a:prstGeom>
          <a:solidFill>
            <a:srgbClr val="F1F5F8"/>
          </a:solidFill>
          <a:ln w="9525">
            <a:solidFill>
              <a:srgbClr val="C9D8E0"/>
            </a:solidFill>
            <a:prstDash val="solid"/>
          </a:ln>
        </p:spPr>
      </p:sp>
      <p:sp>
        <p:nvSpPr>
          <p:cNvPr id="11" name="Text 9"/>
          <p:cNvSpPr/>
          <p:nvPr/>
        </p:nvSpPr>
        <p:spPr>
          <a:xfrm>
            <a:off x="3694176" y="1965960"/>
            <a:ext cx="2112264" cy="420624"/>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Answer policy questions</a:t>
            </a:r>
            <a:endParaRPr lang="en-US" sz="1300" dirty="0"/>
          </a:p>
        </p:txBody>
      </p:sp>
      <p:sp>
        <p:nvSpPr>
          <p:cNvPr id="12" name="Text 10"/>
          <p:cNvSpPr/>
          <p:nvPr/>
        </p:nvSpPr>
        <p:spPr>
          <a:xfrm>
            <a:off x="3694176" y="2441448"/>
            <a:ext cx="2112264" cy="71323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"What does NIST AI RMF say about model monitoring?" — with a citation you can check.</a:t>
            </a:r>
            <a:endParaRPr lang="en-US" sz="1050" dirty="0"/>
          </a:p>
        </p:txBody>
      </p:sp>
      <p:sp>
        <p:nvSpPr>
          <p:cNvPr id="13" name="Shape 11"/>
          <p:cNvSpPr/>
          <p:nvPr/>
        </p:nvSpPr>
        <p:spPr>
          <a:xfrm>
            <a:off x="6236208" y="1783080"/>
            <a:ext cx="2624328" cy="1572768"/>
          </a:xfrm>
          <a:prstGeom prst="roundRect">
            <a:avLst>
              <a:gd name="adj" fmla="val 4070"/>
            </a:avLst>
          </a:prstGeom>
          <a:solidFill>
            <a:srgbClr val="F1F5F8"/>
          </a:solidFill>
          <a:ln w="9525">
            <a:solidFill>
              <a:srgbClr val="C9D8E0"/>
            </a:solidFill>
            <a:prstDash val="solid"/>
          </a:ln>
        </p:spPr>
      </p:sp>
      <p:sp>
        <p:nvSpPr>
          <p:cNvPr id="14" name="Text 12"/>
          <p:cNvSpPr/>
          <p:nvPr/>
        </p:nvSpPr>
        <p:spPr>
          <a:xfrm>
            <a:off x="6492240" y="1965960"/>
            <a:ext cx="2112264" cy="420624"/>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Search incident history</a:t>
            </a:r>
            <a:endParaRPr lang="en-US" sz="1300" dirty="0"/>
          </a:p>
        </p:txBody>
      </p:sp>
      <p:sp>
        <p:nvSpPr>
          <p:cNvPr id="15" name="Text 13"/>
          <p:cNvSpPr/>
          <p:nvPr/>
        </p:nvSpPr>
        <p:spPr>
          <a:xfrm>
            <a:off x="6492240" y="2441448"/>
            <a:ext cx="2112264" cy="71323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During response: has anything like this happened before, and what did we do?</a:t>
            </a:r>
            <a:endParaRPr lang="en-US" sz="1050" dirty="0"/>
          </a:p>
        </p:txBody>
      </p:sp>
      <p:sp>
        <p:nvSpPr>
          <p:cNvPr id="16" name="Shape 14"/>
          <p:cNvSpPr/>
          <p:nvPr/>
        </p:nvSpPr>
        <p:spPr>
          <a:xfrm>
            <a:off x="9034272" y="1783080"/>
            <a:ext cx="2624328" cy="1572768"/>
          </a:xfrm>
          <a:prstGeom prst="roundRect">
            <a:avLst>
              <a:gd name="adj" fmla="val 4070"/>
            </a:avLst>
          </a:prstGeom>
          <a:solidFill>
            <a:srgbClr val="F1F5F8"/>
          </a:solidFill>
          <a:ln w="9525">
            <a:solidFill>
              <a:srgbClr val="C9D8E0"/>
            </a:solidFill>
            <a:prstDash val="solid"/>
          </a:ln>
        </p:spPr>
      </p:sp>
      <p:sp>
        <p:nvSpPr>
          <p:cNvPr id="17" name="Text 15"/>
          <p:cNvSpPr/>
          <p:nvPr/>
        </p:nvSpPr>
        <p:spPr>
          <a:xfrm>
            <a:off x="9290304" y="1965960"/>
            <a:ext cx="2112264" cy="420624"/>
          </a:xfrm>
          <a:prstGeom prst="rect">
            <a:avLst/>
          </a:prstGeom>
          <a:noFill/>
          <a:ln/>
        </p:spPr>
        <p:txBody>
          <a:bodyPr wrap="square" lIns="0" tIns="0" rIns="0" bIns="0" rtlCol="0" anchor="ctr"/>
          <a:lstStyle/>
          <a:p>
            <a:pPr indent="0" marL="0">
              <a:buNone/>
            </a:pPr>
            <a:r>
              <a:rPr lang="en-US" sz="1300" b="1" dirty="0">
                <a:solidFill>
                  <a:srgbClr val="12202B"/>
                </a:solidFill>
                <a:latin typeface="Calibri" pitchFamily="34" charset="0"/>
                <a:ea typeface="Calibri" pitchFamily="34" charset="-122"/>
                <a:cs typeface="Calibri" pitchFamily="34" charset="-120"/>
              </a:rPr>
              <a:t>Ground a SOC assistant</a:t>
            </a:r>
            <a:endParaRPr lang="en-US" sz="1300" dirty="0"/>
          </a:p>
        </p:txBody>
      </p:sp>
      <p:sp>
        <p:nvSpPr>
          <p:cNvPr id="18" name="Text 16"/>
          <p:cNvSpPr/>
          <p:nvPr/>
        </p:nvSpPr>
        <p:spPr>
          <a:xfrm>
            <a:off x="9290304" y="2441448"/>
            <a:ext cx="2112264" cy="713232"/>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Answers that reflect your runbooks and your environment, not the open internet.</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3547872"/>
          <a:ext cx="10908792" cy="914400"/>
        </p:xfrm>
        <a:graphic>
          <a:graphicData uri="http://schemas.openxmlformats.org/drawingml/2006/table">
            <a:tbl>
              <a:tblPr/>
              <a:tblGrid>
                <a:gridCol w="2651760"/>
                <a:gridCol w="3840480"/>
                <a:gridCol w="441655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corpus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property that makes it work</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Threat intel Q&amp;A</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Advisories, vendor bulletins, intel reports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Currency — add today's advisory and it is searchable now</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Policy and framework Q&amp;A</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NIST, ISO, internal policy documents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Citation — an uncited compliance answer is worthless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Incident knowledge base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Past tickets, post-incident reviews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Semantic match — nobody describes an incident the same way twice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SOC assistant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Your runbooks and asset documentation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Privacy — local embeddings mean the corpus never leaves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20" name="Shape 17"/>
          <p:cNvSpPr/>
          <p:nvPr/>
        </p:nvSpPr>
        <p:spPr>
          <a:xfrm>
            <a:off x="640080" y="5449824"/>
            <a:ext cx="10908792" cy="402336"/>
          </a:xfrm>
          <a:prstGeom prst="roundRect">
            <a:avLst>
              <a:gd name="adj" fmla="val 13636"/>
            </a:avLst>
          </a:prstGeom>
          <a:solidFill>
            <a:srgbClr val="F1E4ED"/>
          </a:solidFill>
          <a:ln w="9525">
            <a:solidFill>
              <a:srgbClr val="73305F"/>
            </a:solidFill>
            <a:prstDash val="solid"/>
          </a:ln>
        </p:spPr>
      </p:sp>
      <p:sp>
        <p:nvSpPr>
          <p:cNvPr id="21" name="Text 18"/>
          <p:cNvSpPr/>
          <p:nvPr/>
        </p:nvSpPr>
        <p:spPr>
          <a:xfrm>
            <a:off x="859536" y="5541264"/>
            <a:ext cx="10469880" cy="219456"/>
          </a:xfrm>
          <a:prstGeom prst="rect">
            <a:avLst/>
          </a:prstGeom>
          <a:noFill/>
          <a:ln/>
        </p:spPr>
        <p:txBody>
          <a:bodyPr wrap="square" lIns="0" tIns="0" rIns="0" bIns="0" rtlCol="0" anchor="ctr"/>
          <a:lstStyle/>
          <a:p>
            <a:pPr indent="0" marL="0">
              <a:lnSpc>
                <a:spcPts val="1470"/>
              </a:lnSpc>
              <a:buNone/>
            </a:pPr>
            <a:r>
              <a:rPr lang="en-US" sz="1050" b="1" dirty="0">
                <a:solidFill>
                  <a:srgbClr val="73305F"/>
                </a:solidFill>
                <a:latin typeface="Calibri" pitchFamily="34" charset="0"/>
                <a:ea typeface="Calibri" pitchFamily="34" charset="-122"/>
                <a:cs typeface="Calibri" pitchFamily="34" charset="-120"/>
              </a:rPr>
              <a:t>Notice the third column.  </a:t>
            </a:r>
            <a:pPr indent="0" marL="0">
              <a:lnSpc>
                <a:spcPts val="1470"/>
              </a:lnSpc>
              <a:buNone/>
            </a:pPr>
            <a:r>
              <a:rPr lang="en-US" sz="1050" dirty="0">
                <a:solidFill>
                  <a:srgbClr val="12202B"/>
                </a:solidFill>
                <a:latin typeface="Calibri" pitchFamily="34" charset="0"/>
                <a:ea typeface="Calibri" pitchFamily="34" charset="-122"/>
                <a:cs typeface="Calibri" pitchFamily="34" charset="-120"/>
              </a:rPr>
              <a:t>Each pattern depends on a different property of RAG — which is why "just use RAG" is not a design.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A4243B"/>
                </a:solidFill>
                <a:latin typeface="Calibri" pitchFamily="34" charset="0"/>
                <a:ea typeface="Calibri" pitchFamily="34" charset="-122"/>
                <a:cs typeface="Calibri" pitchFamily="34" charset="-120"/>
              </a:rPr>
              <a:t>PART 5 · BUILD IT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Data handling: retrieved text is your prompt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Everything in your corpus can end up in an answer. Plan for that before you ingest.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37</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3017520"/>
                <a:gridCol w="4023360"/>
                <a:gridCol w="386791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Concretely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 it bites in RAG specifically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Embed locally for sensitive data</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sentence-transformers on your machine, not an embedding API</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Ingestion sends every chunk of the corpus, not just one prompt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Sanitise the corpus first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Strip credentials, keys, PII and customer names before ingesting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Retrieval will surface whatever is in a chunk, to whoever asks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Treat retrieved text as untrusted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It reaches the model in an instruction-adjacent position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Anyone who can write into an ingested document writes into your prompt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Labs use provided documents only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Synthetic or course-supplied corpora — never real incident data</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corpus is a bigger disclosure than a single prompt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Keys in .env or Colab Secrets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Never in a cell, never in the report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Unchanged from Module 2, and still the most common slip</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8" name="Shape 5"/>
          <p:cNvSpPr/>
          <p:nvPr/>
        </p:nvSpPr>
        <p:spPr>
          <a:xfrm>
            <a:off x="640080" y="4937760"/>
            <a:ext cx="10908792" cy="914400"/>
          </a:xfrm>
          <a:prstGeom prst="roundRect">
            <a:avLst>
              <a:gd name="adj" fmla="val 6000"/>
            </a:avLst>
          </a:prstGeom>
          <a:solidFill>
            <a:srgbClr val="F7E5E8"/>
          </a:solidFill>
          <a:ln w="9525">
            <a:solidFill>
              <a:srgbClr val="A4243B"/>
            </a:solidFill>
            <a:prstDash val="solid"/>
          </a:ln>
        </p:spPr>
      </p:sp>
      <p:sp>
        <p:nvSpPr>
          <p:cNvPr id="9" name="Text 6"/>
          <p:cNvSpPr/>
          <p:nvPr/>
        </p:nvSpPr>
        <p:spPr>
          <a:xfrm>
            <a:off x="859536" y="5029200"/>
            <a:ext cx="10469880" cy="731520"/>
          </a:xfrm>
          <a:prstGeom prst="rect">
            <a:avLst/>
          </a:prstGeom>
          <a:noFill/>
          <a:ln/>
        </p:spPr>
        <p:txBody>
          <a:bodyPr wrap="square" lIns="0" tIns="0" rIns="0" bIns="0" rtlCol="0" anchor="ctr"/>
          <a:lstStyle/>
          <a:p>
            <a:pPr indent="0" marL="0">
              <a:lnSpc>
                <a:spcPts val="1680"/>
              </a:lnSpc>
              <a:buNone/>
            </a:pPr>
            <a:r>
              <a:rPr lang="en-US" sz="1200" b="1" dirty="0">
                <a:solidFill>
                  <a:srgbClr val="A4243B"/>
                </a:solidFill>
                <a:latin typeface="Calibri" pitchFamily="34" charset="0"/>
                <a:ea typeface="Calibri" pitchFamily="34" charset="-122"/>
                <a:cs typeface="Calibri" pitchFamily="34" charset="-120"/>
              </a:rPr>
              <a:t>The one that surprises people: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row two. A RAG system has no concept of who is asking. If a runbook chunk contains a service-account password, then anyone who can query the assistant can retrieve that password by asking a question that happens to match. Access control has to live in the metadata filter and in what you chose to ingest — never in the model's discretion.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A96694"/>
                </a:solidFill>
                <a:latin typeface="Calibri" pitchFamily="34" charset="0"/>
                <a:ea typeface="Calibri" pitchFamily="34" charset="-122"/>
                <a:cs typeface="Calibri" pitchFamily="34" charset="-120"/>
              </a:rPr>
              <a:t>PART 6</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Lab &amp;</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Mini-Project</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A concept-check lab to rehearse the machinery, then your own working RAG Q&amp;A bot with a tuning experiment attached.</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Problem &amp; the Core Idea</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Embeddings</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Vector DB &amp; Chunking</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The RAG Recipe &amp; Trust</a:t>
            </a:r>
            <a:endParaRPr lang="en-US" sz="12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Build It: Notebooks &amp; Practice</a:t>
            </a:r>
            <a:endParaRPr lang="en-US" sz="1200" dirty="0"/>
          </a:p>
        </p:txBody>
      </p:sp>
      <p:sp>
        <p:nvSpPr>
          <p:cNvPr id="16" name="Shape 14"/>
          <p:cNvSpPr/>
          <p:nvPr/>
        </p:nvSpPr>
        <p:spPr>
          <a:xfrm>
            <a:off x="7818120" y="4818888"/>
            <a:ext cx="182880" cy="182880"/>
          </a:xfrm>
          <a:prstGeom prst="ellipse">
            <a:avLst/>
          </a:prstGeom>
          <a:solidFill>
            <a:srgbClr val="A96694"/>
          </a:solidFill>
          <a:ln w="12700">
            <a:solidFill>
              <a:srgbClr val="A96694"/>
            </a:solidFill>
            <a:prstDash val="solid"/>
          </a:ln>
        </p:spPr>
      </p:sp>
      <p:sp>
        <p:nvSpPr>
          <p:cNvPr id="17" name="Text 15"/>
          <p:cNvSpPr/>
          <p:nvPr/>
        </p:nvSpPr>
        <p:spPr>
          <a:xfrm>
            <a:off x="8147304" y="4709160"/>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Lab &amp; Mini-Project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6 · LAB &amp; MINI-PROJECT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concept-check lab — your rehearsal</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Run the notebooks, poke at them, and confirm the machinery makes sense before you build.</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39</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315200" cy="914400"/>
        </p:xfrm>
        <a:graphic>
          <a:graphicData uri="http://schemas.openxmlformats.org/drawingml/2006/table">
            <a:tbl>
              <a:tblPr/>
              <a:tblGrid>
                <a:gridCol w="457200"/>
                <a:gridCol w="3108960"/>
                <a:gridCol w="3749040"/>
              </a:tblGrid>
              <a:tr h="0">
                <a:tc>
                  <a:txBody>
                    <a:bodyPr/>
                    <a:lstStyle/>
                    <a:p>
                      <a:pPr algn="l" indent="0" marL="0">
                        <a:buNone/>
                      </a:pP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Do this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You should be able to say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Run both notebooks top to bottom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Which cell does ingestion and which does query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Pick a CVE, read its nearest neighbours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Why a result with no shared words came back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Change the chunk size and re-run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What happened to the number of chunks, and why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Ask something the corpus cannot answer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Whether it refused honestly, and what made it refuse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Print the retrieved chunks before the answer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Whether a bad answer was retrieval's fault or generation's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8" name="Shape 5"/>
          <p:cNvSpPr/>
          <p:nvPr/>
        </p:nvSpPr>
        <p:spPr>
          <a:xfrm>
            <a:off x="8183880" y="1783080"/>
            <a:ext cx="3364992" cy="1965960"/>
          </a:xfrm>
          <a:prstGeom prst="roundRect">
            <a:avLst>
              <a:gd name="adj" fmla="val 3256"/>
            </a:avLst>
          </a:prstGeom>
          <a:solidFill>
            <a:srgbClr val="F1F5F8"/>
          </a:solidFill>
          <a:ln w="9525">
            <a:solidFill>
              <a:srgbClr val="C9D8E0"/>
            </a:solidFill>
            <a:prstDash val="solid"/>
          </a:ln>
        </p:spPr>
      </p:sp>
      <p:sp>
        <p:nvSpPr>
          <p:cNvPr id="9" name="Text 6"/>
          <p:cNvSpPr/>
          <p:nvPr/>
        </p:nvSpPr>
        <p:spPr>
          <a:xfrm>
            <a:off x="8439912" y="1965960"/>
            <a:ext cx="2852928"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The four ideas it checks</a:t>
            </a:r>
            <a:endParaRPr lang="en-US" sz="1450" dirty="0"/>
          </a:p>
        </p:txBody>
      </p:sp>
      <p:sp>
        <p:nvSpPr>
          <p:cNvPr id="10" name="Text 7"/>
          <p:cNvSpPr/>
          <p:nvPr/>
        </p:nvSpPr>
        <p:spPr>
          <a:xfrm>
            <a:off x="8439912" y="2441448"/>
            <a:ext cx="2852928" cy="1106424"/>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Embeddings · cosine similarity · chunking · the three RAG steps.</a:t>
            </a:r>
            <a:endParaRPr lang="en-US" sz="1100" dirty="0"/>
          </a:p>
          <a:p>
            <a:pPr indent="0" marL="0">
              <a:lnSpc>
                <a:spcPts val="1562"/>
              </a:lnSpc>
              <a:buNone/>
            </a:pPr>
            <a:endParaRPr lang="en-US" sz="1100" dirty="0"/>
          </a:p>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If any of those still feels vague after the lab, sort it out before starting the mini-project rather than during it.</a:t>
            </a:r>
            <a:endParaRPr lang="en-US" sz="1100" dirty="0"/>
          </a:p>
        </p:txBody>
      </p:sp>
      <p:sp>
        <p:nvSpPr>
          <p:cNvPr id="11" name="Shape 8"/>
          <p:cNvSpPr/>
          <p:nvPr/>
        </p:nvSpPr>
        <p:spPr>
          <a:xfrm>
            <a:off x="8183880" y="3913632"/>
            <a:ext cx="3364992" cy="1938528"/>
          </a:xfrm>
          <a:prstGeom prst="roundRect">
            <a:avLst>
              <a:gd name="adj" fmla="val 2830"/>
            </a:avLst>
          </a:prstGeom>
          <a:solidFill>
            <a:srgbClr val="F1E4ED"/>
          </a:solidFill>
          <a:ln w="9525">
            <a:solidFill>
              <a:srgbClr val="73305F"/>
            </a:solidFill>
            <a:prstDash val="solid"/>
          </a:ln>
        </p:spPr>
      </p:sp>
      <p:sp>
        <p:nvSpPr>
          <p:cNvPr id="12" name="Text 9"/>
          <p:cNvSpPr/>
          <p:nvPr/>
        </p:nvSpPr>
        <p:spPr>
          <a:xfrm>
            <a:off x="8403336" y="4005072"/>
            <a:ext cx="2926080" cy="1755648"/>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Step 5 is the one to internalise: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printing the retrieved chunks before the answer is the single most useful debugging habit in RAG. It tells you immediately which half of the system is broken, and it will save you hours on the mini-project.</a:t>
            </a:r>
            <a:endParaRPr lang="en-US" sz="1100" dirty="0"/>
          </a:p>
        </p:txBody>
      </p:sp>
      <p:sp>
        <p:nvSpPr>
          <p:cNvPr id="13" name="Shape 10"/>
          <p:cNvSpPr/>
          <p:nvPr/>
        </p:nvSpPr>
        <p:spPr>
          <a:xfrm>
            <a:off x="640080" y="4517136"/>
            <a:ext cx="7315200" cy="1335024"/>
          </a:xfrm>
          <a:prstGeom prst="roundRect">
            <a:avLst>
              <a:gd name="adj" fmla="val 4110"/>
            </a:avLst>
          </a:prstGeom>
          <a:solidFill>
            <a:srgbClr val="F1E4ED"/>
          </a:solidFill>
          <a:ln w="9525">
            <a:solidFill>
              <a:srgbClr val="73305F"/>
            </a:solidFill>
            <a:prstDash val="solid"/>
          </a:ln>
        </p:spPr>
      </p:sp>
      <p:sp>
        <p:nvSpPr>
          <p:cNvPr id="14" name="Text 11"/>
          <p:cNvSpPr/>
          <p:nvPr/>
        </p:nvSpPr>
        <p:spPr>
          <a:xfrm>
            <a:off x="859536" y="4608576"/>
            <a:ext cx="6876288" cy="1152144"/>
          </a:xfrm>
          <a:prstGeom prst="rect">
            <a:avLst/>
          </a:prstGeom>
          <a:noFill/>
          <a:ln/>
        </p:spPr>
        <p:txBody>
          <a:bodyPr wrap="square" lIns="0" tIns="0" rIns="0" bIns="0" rtlCol="0" anchor="ctr"/>
          <a:lstStyle/>
          <a:p>
            <a:pPr indent="0" marL="0">
              <a:lnSpc>
                <a:spcPts val="1680"/>
              </a:lnSpc>
              <a:buNone/>
            </a:pPr>
            <a:r>
              <a:rPr lang="en-US" sz="1200" b="1" dirty="0">
                <a:solidFill>
                  <a:srgbClr val="73305F"/>
                </a:solidFill>
                <a:latin typeface="Calibri" pitchFamily="34" charset="0"/>
                <a:ea typeface="Calibri" pitchFamily="34" charset="-122"/>
                <a:cs typeface="Calibri" pitchFamily="34" charset="-120"/>
              </a:rPr>
              <a:t>Why a rehearsal at all: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the mini-project should be assembly, not discovery. Every component you need is in these notebooks. If you have run them and understood them, building your own bot is a couple of hours of wiring. If you have not, it is an evening of debugging your understanding and your code simultaneously, which is much harder than doing either alone.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6 · LAB &amp; MINI-PROJECT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Mini-project: build a RAG Q&amp;A bot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Your own framework-free pipeline over your own documents — plus the experiment that proves you understand it.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40</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766560" cy="914400"/>
        </p:xfrm>
        <a:graphic>
          <a:graphicData uri="http://schemas.openxmlformats.org/drawingml/2006/table">
            <a:tbl>
              <a:tblPr/>
              <a:tblGrid>
                <a:gridCol w="457200"/>
                <a:gridCol w="2743200"/>
                <a:gridCol w="3566160"/>
              </a:tblGrid>
              <a:tr h="0">
                <a:tc>
                  <a:txBody>
                    <a:bodyPr/>
                    <a:lstStyle/>
                    <a:p>
                      <a:pPr algn="l" indent="0" marL="0">
                        <a:buNone/>
                      </a:pP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Deliverable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 am looking for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small knowledge base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2–3 security documents, or the course KB. Say why you chose them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runnable notebook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Ingest → retrieve → augment → generate, with the phases separated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tuning experiment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Before and after numbers, not impressions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forum reflection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On grounding and trust, in your own words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40080" y="3950208"/>
          <a:ext cx="6766560" cy="914400"/>
        </p:xfrm>
        <a:graphic>
          <a:graphicData uri="http://schemas.openxmlformats.org/drawingml/2006/table">
            <a:tbl>
              <a:tblPr/>
              <a:tblGrid>
                <a:gridCol w="1737360"/>
                <a:gridCol w="2103120"/>
                <a:gridCol w="2926080"/>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Knob</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Try</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Report the effect on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chunk_size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256 → 512 → 1024</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Whether the answering passage still lands in the top k</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k</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2 → 4 → 8</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Answer quality, and how much irrelevant context got in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distance threshold</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Loose → strict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How often it correctly says "I don't know"</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graphicFrame>
        <p:nvGraphicFramePr>
          <p:cNvPr id="9" name="Chart 0" descr=""/>
          <p:cNvGraphicFramePr/>
          <p:nvPr/>
        </p:nvGraphicFramePr>
        <p:xfrm>
          <a:off x="7315200" y="1783080"/>
          <a:ext cx="4233672" cy="2377440"/>
        </p:xfrm>
        <a:graphic xmlns:a="http://schemas.openxmlformats.org/drawingml/2006/main">
          <a:graphicData uri="http://schemas.openxmlformats.org/drawingml/2006/chart">
            <c:chart xmlns:c="http://schemas.openxmlformats.org/drawingml/2006/chart" r:id="rId1"/>
          </a:graphicData>
        </a:graphic>
      </p:graphicFrame>
      <p:sp>
        <p:nvSpPr>
          <p:cNvPr id="10" name="Shape 5"/>
          <p:cNvSpPr/>
          <p:nvPr/>
        </p:nvSpPr>
        <p:spPr>
          <a:xfrm>
            <a:off x="7315200" y="4315968"/>
            <a:ext cx="4233672" cy="1536192"/>
          </a:xfrm>
          <a:prstGeom prst="roundRect">
            <a:avLst>
              <a:gd name="adj" fmla="val 3571"/>
            </a:avLst>
          </a:prstGeom>
          <a:solidFill>
            <a:srgbClr val="F1E4ED"/>
          </a:solidFill>
          <a:ln w="9525">
            <a:solidFill>
              <a:srgbClr val="73305F"/>
            </a:solidFill>
            <a:prstDash val="solid"/>
          </a:ln>
        </p:spPr>
      </p:sp>
      <p:sp>
        <p:nvSpPr>
          <p:cNvPr id="11" name="Text 6"/>
          <p:cNvSpPr/>
          <p:nvPr/>
        </p:nvSpPr>
        <p:spPr>
          <a:xfrm>
            <a:off x="7534656" y="4407408"/>
            <a:ext cx="3794760" cy="1353312"/>
          </a:xfrm>
          <a:prstGeom prst="rect">
            <a:avLst/>
          </a:prstGeom>
          <a:noFill/>
          <a:ln/>
        </p:spPr>
        <p:txBody>
          <a:bodyPr wrap="square" lIns="0" tIns="0" rIns="0" bIns="0" rtlCol="0" anchor="ctr"/>
          <a:lstStyle/>
          <a:p>
            <a:pPr indent="0" marL="0">
              <a:lnSpc>
                <a:spcPts val="1540"/>
              </a:lnSpc>
              <a:buNone/>
            </a:pPr>
            <a:r>
              <a:rPr lang="en-US" sz="1100" b="1" dirty="0">
                <a:solidFill>
                  <a:srgbClr val="73305F"/>
                </a:solidFill>
                <a:latin typeface="Calibri" pitchFamily="34" charset="0"/>
                <a:ea typeface="Calibri" pitchFamily="34" charset="-122"/>
                <a:cs typeface="Calibri" pitchFamily="34" charset="-120"/>
              </a:rPr>
              <a:t>The tuning experiment is 30%.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A bot that answers questions is the expected outcome. A student who can explain what changed when they moved chunk size from 256 to 1024 — and why — has understood the module.</a:t>
            </a:r>
            <a:endParaRPr lang="en-US" sz="1100" dirty="0"/>
          </a:p>
        </p:txBody>
      </p:sp>
      <p:sp>
        <p:nvSpPr>
          <p:cNvPr id="12" name="Shape 7"/>
          <p:cNvSpPr/>
          <p:nvPr/>
        </p:nvSpPr>
        <p:spPr>
          <a:xfrm>
            <a:off x="640080" y="5705856"/>
            <a:ext cx="6766560" cy="457200"/>
          </a:xfrm>
          <a:prstGeom prst="roundRect">
            <a:avLst>
              <a:gd name="adj" fmla="val 12000"/>
            </a:avLst>
          </a:prstGeom>
          <a:solidFill>
            <a:srgbClr val="F7E5E8"/>
          </a:solidFill>
          <a:ln w="9525">
            <a:solidFill>
              <a:srgbClr val="A4243B"/>
            </a:solidFill>
            <a:prstDash val="solid"/>
          </a:ln>
        </p:spPr>
      </p:sp>
      <p:sp>
        <p:nvSpPr>
          <p:cNvPr id="13" name="Text 8"/>
          <p:cNvSpPr/>
          <p:nvPr/>
        </p:nvSpPr>
        <p:spPr>
          <a:xfrm>
            <a:off x="859536" y="5797296"/>
            <a:ext cx="6327648" cy="274320"/>
          </a:xfrm>
          <a:prstGeom prst="rect">
            <a:avLst/>
          </a:prstGeom>
          <a:noFill/>
          <a:ln/>
        </p:spPr>
        <p:txBody>
          <a:bodyPr wrap="square" lIns="0" tIns="0" rIns="0" bIns="0" rtlCol="0" anchor="ctr"/>
          <a:lstStyle/>
          <a:p>
            <a:pPr indent="0" marL="0">
              <a:lnSpc>
                <a:spcPts val="1470"/>
              </a:lnSpc>
              <a:buNone/>
            </a:pPr>
            <a:r>
              <a:rPr lang="en-US" sz="1050" b="1" dirty="0">
                <a:solidFill>
                  <a:srgbClr val="A4243B"/>
                </a:solidFill>
                <a:latin typeface="Calibri" pitchFamily="34" charset="0"/>
                <a:ea typeface="Calibri" pitchFamily="34" charset="-122"/>
                <a:cs typeface="Calibri" pitchFamily="34" charset="-120"/>
              </a:rPr>
              <a:t>Provided or synthetic documents only —  </a:t>
            </a:r>
            <a:pPr indent="0" marL="0">
              <a:lnSpc>
                <a:spcPts val="1470"/>
              </a:lnSpc>
              <a:buNone/>
            </a:pPr>
            <a:r>
              <a:rPr lang="en-US" sz="1050" dirty="0">
                <a:solidFill>
                  <a:srgbClr val="12202B"/>
                </a:solidFill>
                <a:latin typeface="Calibri" pitchFamily="34" charset="0"/>
                <a:ea typeface="Calibri" pitchFamily="34" charset="-122"/>
                <a:cs typeface="Calibri" pitchFamily="34" charset="-120"/>
              </a:rPr>
              <a:t>no real incident data, no credentials.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73305F"/>
                </a:solidFill>
                <a:latin typeface="Calibri" pitchFamily="34" charset="0"/>
                <a:ea typeface="Calibri" pitchFamily="34" charset="-122"/>
                <a:cs typeface="Calibri" pitchFamily="34" charset="-120"/>
              </a:rPr>
              <a:t>PART 6 · LAB &amp; MINI-PROJECT</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Recap and what's next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Four things to carry into the framework modules.</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Retrieval-Augmented Generation</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42</a:t>
            </a:r>
            <a:endParaRPr lang="en-US" sz="900" dirty="0"/>
          </a:p>
        </p:txBody>
      </p:sp>
      <p:sp>
        <p:nvSpPr>
          <p:cNvPr id="7" name="Shape 5"/>
          <p:cNvSpPr/>
          <p:nvPr/>
        </p:nvSpPr>
        <p:spPr>
          <a:xfrm>
            <a:off x="640080" y="1783080"/>
            <a:ext cx="3483864" cy="1664208"/>
          </a:xfrm>
          <a:prstGeom prst="roundRect">
            <a:avLst>
              <a:gd name="adj" fmla="val 3846"/>
            </a:avLst>
          </a:prstGeom>
          <a:solidFill>
            <a:srgbClr val="F1F5F8"/>
          </a:solidFill>
          <a:ln w="9525">
            <a:solidFill>
              <a:srgbClr val="C9D8E0"/>
            </a:solidFill>
            <a:prstDash val="solid"/>
          </a:ln>
        </p:spPr>
      </p:sp>
      <p:sp>
        <p:nvSpPr>
          <p:cNvPr id="8" name="Shape 6"/>
          <p:cNvSpPr/>
          <p:nvPr/>
        </p:nvSpPr>
        <p:spPr>
          <a:xfrm>
            <a:off x="859536" y="1984248"/>
            <a:ext cx="384048" cy="384048"/>
          </a:xfrm>
          <a:prstGeom prst="ellipse">
            <a:avLst/>
          </a:prstGeom>
          <a:solidFill>
            <a:srgbClr val="73305F"/>
          </a:solidFill>
          <a:ln w="12700">
            <a:solidFill>
              <a:srgbClr val="73305F"/>
            </a:solidFill>
            <a:prstDash val="solid"/>
          </a:ln>
        </p:spPr>
      </p:sp>
      <p:sp>
        <p:nvSpPr>
          <p:cNvPr id="9" name="Text 7"/>
          <p:cNvSpPr/>
          <p:nvPr/>
        </p:nvSpPr>
        <p:spPr>
          <a:xfrm>
            <a:off x="859536"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71600" y="1965960"/>
            <a:ext cx="2523744"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Meaning becomes geometry</a:t>
            </a:r>
            <a:endParaRPr lang="en-US" sz="1350" dirty="0"/>
          </a:p>
        </p:txBody>
      </p:sp>
      <p:sp>
        <p:nvSpPr>
          <p:cNvPr id="11" name="Text 9"/>
          <p:cNvSpPr/>
          <p:nvPr/>
        </p:nvSpPr>
        <p:spPr>
          <a:xfrm>
            <a:off x="896112" y="244144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Embeddings map text to vectors; cosine similarity finds related passages that share no words.</a:t>
            </a:r>
            <a:endParaRPr lang="en-US" sz="1100" dirty="0"/>
          </a:p>
        </p:txBody>
      </p:sp>
      <p:sp>
        <p:nvSpPr>
          <p:cNvPr id="12" name="Shape 10"/>
          <p:cNvSpPr/>
          <p:nvPr/>
        </p:nvSpPr>
        <p:spPr>
          <a:xfrm>
            <a:off x="4352544" y="1783080"/>
            <a:ext cx="3483864" cy="1664208"/>
          </a:xfrm>
          <a:prstGeom prst="roundRect">
            <a:avLst>
              <a:gd name="adj" fmla="val 3846"/>
            </a:avLst>
          </a:prstGeom>
          <a:solidFill>
            <a:srgbClr val="F1F5F8"/>
          </a:solidFill>
          <a:ln w="9525">
            <a:solidFill>
              <a:srgbClr val="C9D8E0"/>
            </a:solidFill>
            <a:prstDash val="solid"/>
          </a:ln>
        </p:spPr>
      </p:sp>
      <p:sp>
        <p:nvSpPr>
          <p:cNvPr id="13" name="Shape 11"/>
          <p:cNvSpPr/>
          <p:nvPr/>
        </p:nvSpPr>
        <p:spPr>
          <a:xfrm>
            <a:off x="4572000" y="1984248"/>
            <a:ext cx="384048" cy="384048"/>
          </a:xfrm>
          <a:prstGeom prst="ellipse">
            <a:avLst/>
          </a:prstGeom>
          <a:solidFill>
            <a:srgbClr val="73305F"/>
          </a:solidFill>
          <a:ln w="12700">
            <a:solidFill>
              <a:srgbClr val="73305F"/>
            </a:solidFill>
            <a:prstDash val="solid"/>
          </a:ln>
        </p:spPr>
      </p:sp>
      <p:sp>
        <p:nvSpPr>
          <p:cNvPr id="14" name="Text 12"/>
          <p:cNvSpPr/>
          <p:nvPr/>
        </p:nvSpPr>
        <p:spPr>
          <a:xfrm>
            <a:off x="4572000"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084064" y="1965960"/>
            <a:ext cx="2523744"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Two phases, not one</a:t>
            </a:r>
            <a:endParaRPr lang="en-US" sz="1350" dirty="0"/>
          </a:p>
        </p:txBody>
      </p:sp>
      <p:sp>
        <p:nvSpPr>
          <p:cNvPr id="16" name="Text 14"/>
          <p:cNvSpPr/>
          <p:nvPr/>
        </p:nvSpPr>
        <p:spPr>
          <a:xfrm>
            <a:off x="4608576" y="244144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Ingest once — chunk, embed, store. Query many times — retrieve, augment, generate.</a:t>
            </a:r>
            <a:endParaRPr lang="en-US" sz="1100" dirty="0"/>
          </a:p>
        </p:txBody>
      </p:sp>
      <p:sp>
        <p:nvSpPr>
          <p:cNvPr id="17" name="Shape 15"/>
          <p:cNvSpPr/>
          <p:nvPr/>
        </p:nvSpPr>
        <p:spPr>
          <a:xfrm>
            <a:off x="640080" y="3657600"/>
            <a:ext cx="3483864" cy="1664208"/>
          </a:xfrm>
          <a:prstGeom prst="roundRect">
            <a:avLst>
              <a:gd name="adj" fmla="val 3846"/>
            </a:avLst>
          </a:prstGeom>
          <a:solidFill>
            <a:srgbClr val="F1F5F8"/>
          </a:solidFill>
          <a:ln w="9525">
            <a:solidFill>
              <a:srgbClr val="C9D8E0"/>
            </a:solidFill>
            <a:prstDash val="solid"/>
          </a:ln>
        </p:spPr>
      </p:sp>
      <p:sp>
        <p:nvSpPr>
          <p:cNvPr id="18" name="Shape 16"/>
          <p:cNvSpPr/>
          <p:nvPr/>
        </p:nvSpPr>
        <p:spPr>
          <a:xfrm>
            <a:off x="859536" y="3858768"/>
            <a:ext cx="384048" cy="384048"/>
          </a:xfrm>
          <a:prstGeom prst="ellipse">
            <a:avLst/>
          </a:prstGeom>
          <a:solidFill>
            <a:srgbClr val="73305F"/>
          </a:solidFill>
          <a:ln w="12700">
            <a:solidFill>
              <a:srgbClr val="73305F"/>
            </a:solidFill>
            <a:prstDash val="solid"/>
          </a:ln>
        </p:spPr>
      </p:sp>
      <p:sp>
        <p:nvSpPr>
          <p:cNvPr id="19" name="Text 17"/>
          <p:cNvSpPr/>
          <p:nvPr/>
        </p:nvSpPr>
        <p:spPr>
          <a:xfrm>
            <a:off x="859536"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371600" y="3840480"/>
            <a:ext cx="2523744"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The prompt is the guardrail</a:t>
            </a:r>
            <a:endParaRPr lang="en-US" sz="1350" dirty="0"/>
          </a:p>
        </p:txBody>
      </p:sp>
      <p:sp>
        <p:nvSpPr>
          <p:cNvPr id="21" name="Text 19"/>
          <p:cNvSpPr/>
          <p:nvPr/>
        </p:nvSpPr>
        <p:spPr>
          <a:xfrm>
            <a:off x="896112" y="431596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Answer only from context, cite [n], and permit "I don't know." That last one does the most work.</a:t>
            </a:r>
            <a:endParaRPr lang="en-US" sz="1100" dirty="0"/>
          </a:p>
        </p:txBody>
      </p:sp>
      <p:sp>
        <p:nvSpPr>
          <p:cNvPr id="22" name="Shape 20"/>
          <p:cNvSpPr/>
          <p:nvPr/>
        </p:nvSpPr>
        <p:spPr>
          <a:xfrm>
            <a:off x="4352544" y="3657600"/>
            <a:ext cx="3483864" cy="1664208"/>
          </a:xfrm>
          <a:prstGeom prst="roundRect">
            <a:avLst>
              <a:gd name="adj" fmla="val 3846"/>
            </a:avLst>
          </a:prstGeom>
          <a:solidFill>
            <a:srgbClr val="F1F5F8"/>
          </a:solidFill>
          <a:ln w="9525">
            <a:solidFill>
              <a:srgbClr val="C9D8E0"/>
            </a:solidFill>
            <a:prstDash val="solid"/>
          </a:ln>
        </p:spPr>
      </p:sp>
      <p:sp>
        <p:nvSpPr>
          <p:cNvPr id="23" name="Shape 21"/>
          <p:cNvSpPr/>
          <p:nvPr/>
        </p:nvSpPr>
        <p:spPr>
          <a:xfrm>
            <a:off x="4572000" y="3858768"/>
            <a:ext cx="384048" cy="384048"/>
          </a:xfrm>
          <a:prstGeom prst="ellipse">
            <a:avLst/>
          </a:prstGeom>
          <a:solidFill>
            <a:srgbClr val="73305F"/>
          </a:solidFill>
          <a:ln w="12700">
            <a:solidFill>
              <a:srgbClr val="73305F"/>
            </a:solidFill>
            <a:prstDash val="solid"/>
          </a:ln>
        </p:spPr>
      </p:sp>
      <p:sp>
        <p:nvSpPr>
          <p:cNvPr id="24" name="Text 22"/>
          <p:cNvSpPr/>
          <p:nvPr/>
        </p:nvSpPr>
        <p:spPr>
          <a:xfrm>
            <a:off x="4572000"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084064" y="3840480"/>
            <a:ext cx="2523744"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Diagnose retrieval first</a:t>
            </a:r>
            <a:endParaRPr lang="en-US" sz="1350" dirty="0"/>
          </a:p>
        </p:txBody>
      </p:sp>
      <p:sp>
        <p:nvSpPr>
          <p:cNvPr id="26" name="Text 24"/>
          <p:cNvSpPr/>
          <p:nvPr/>
        </p:nvSpPr>
        <p:spPr>
          <a:xfrm>
            <a:off x="4608576" y="431596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Print the chunks before you tune the prompt. Retrieval failures look exactly like generation failures.</a:t>
            </a:r>
            <a:endParaRPr lang="en-US" sz="1100" dirty="0"/>
          </a:p>
        </p:txBody>
      </p:sp>
      <p:sp>
        <p:nvSpPr>
          <p:cNvPr id="27" name="Shape 25"/>
          <p:cNvSpPr/>
          <p:nvPr/>
        </p:nvSpPr>
        <p:spPr>
          <a:xfrm>
            <a:off x="8065008" y="1783080"/>
            <a:ext cx="3483864" cy="1664208"/>
          </a:xfrm>
          <a:prstGeom prst="roundRect">
            <a:avLst>
              <a:gd name="adj" fmla="val 3846"/>
            </a:avLst>
          </a:prstGeom>
          <a:solidFill>
            <a:srgbClr val="F7E5E8"/>
          </a:solidFill>
          <a:ln w="9525">
            <a:solidFill>
              <a:srgbClr val="A4243B"/>
            </a:solidFill>
            <a:prstDash val="solid"/>
          </a:ln>
        </p:spPr>
      </p:sp>
      <p:sp>
        <p:nvSpPr>
          <p:cNvPr id="28" name="Text 26"/>
          <p:cNvSpPr/>
          <p:nvPr/>
        </p:nvSpPr>
        <p:spPr>
          <a:xfrm>
            <a:off x="8321040" y="1965960"/>
            <a:ext cx="2971800" cy="420624"/>
          </a:xfrm>
          <a:prstGeom prst="rect">
            <a:avLst/>
          </a:prstGeom>
          <a:noFill/>
          <a:ln/>
        </p:spPr>
        <p:txBody>
          <a:bodyPr wrap="square" lIns="0" tIns="0" rIns="0" bIns="0" rtlCol="0" anchor="ctr"/>
          <a:lstStyle/>
          <a:p>
            <a:pPr indent="0" marL="0">
              <a:buNone/>
            </a:pPr>
            <a:r>
              <a:rPr lang="en-US" sz="1350" b="1" dirty="0">
                <a:solidFill>
                  <a:srgbClr val="A4243B"/>
                </a:solidFill>
                <a:latin typeface="Calibri" pitchFamily="34" charset="0"/>
                <a:ea typeface="Calibri" pitchFamily="34" charset="-122"/>
                <a:cs typeface="Calibri" pitchFamily="34" charset="-120"/>
              </a:rPr>
              <a:t>And the uncomfortable one</a:t>
            </a:r>
            <a:endParaRPr lang="en-US" sz="1350" dirty="0"/>
          </a:p>
        </p:txBody>
      </p:sp>
      <p:sp>
        <p:nvSpPr>
          <p:cNvPr id="29" name="Text 27"/>
          <p:cNvSpPr/>
          <p:nvPr/>
        </p:nvSpPr>
        <p:spPr>
          <a:xfrm>
            <a:off x="8321040" y="2441448"/>
            <a:ext cx="2971800" cy="80467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You built a system that takes text from a corpus and puts it into a prompt. Retrieved text is untrusted input, and every retrieval system is an injection surface.</a:t>
            </a:r>
            <a:endParaRPr lang="en-US" sz="1100" dirty="0"/>
          </a:p>
        </p:txBody>
      </p:sp>
      <p:sp>
        <p:nvSpPr>
          <p:cNvPr id="30" name="Shape 28"/>
          <p:cNvSpPr/>
          <p:nvPr/>
        </p:nvSpPr>
        <p:spPr>
          <a:xfrm>
            <a:off x="8065008" y="3657600"/>
            <a:ext cx="3483864" cy="1664208"/>
          </a:xfrm>
          <a:prstGeom prst="roundRect">
            <a:avLst>
              <a:gd name="adj" fmla="val 3297"/>
            </a:avLst>
          </a:prstGeom>
          <a:solidFill>
            <a:srgbClr val="12202B"/>
          </a:solidFill>
          <a:ln w="9525">
            <a:solidFill>
              <a:srgbClr val="12202B"/>
            </a:solidFill>
            <a:prstDash val="solid"/>
          </a:ln>
        </p:spPr>
      </p:sp>
      <p:sp>
        <p:nvSpPr>
          <p:cNvPr id="31" name="Text 29"/>
          <p:cNvSpPr/>
          <p:nvPr/>
        </p:nvSpPr>
        <p:spPr>
          <a:xfrm>
            <a:off x="8284464" y="3749040"/>
            <a:ext cx="3044952" cy="1481328"/>
          </a:xfrm>
          <a:prstGeom prst="rect">
            <a:avLst/>
          </a:prstGeom>
          <a:noFill/>
          <a:ln/>
        </p:spPr>
        <p:txBody>
          <a:bodyPr wrap="square" lIns="0" tIns="0" rIns="0" bIns="0" rtlCol="0" anchor="ctr"/>
          <a:lstStyle/>
          <a:p>
            <a:pPr indent="0" marL="0">
              <a:lnSpc>
                <a:spcPts val="1610"/>
              </a:lnSpc>
              <a:buNone/>
            </a:pPr>
            <a:r>
              <a:rPr lang="en-US" sz="1150" b="1" dirty="0">
                <a:solidFill>
                  <a:srgbClr val="A96694"/>
                </a:solidFill>
                <a:latin typeface="Calibri" pitchFamily="34" charset="0"/>
                <a:ea typeface="Calibri" pitchFamily="34" charset="-122"/>
                <a:cs typeface="Calibri" pitchFamily="34" charset="-120"/>
              </a:rPr>
              <a:t>Next — LangChain:  </a:t>
            </a:r>
            <a:pPr indent="0" marL="0">
              <a:lnSpc>
                <a:spcPts val="1610"/>
              </a:lnSpc>
              <a:buNone/>
            </a:pPr>
            <a:r>
              <a:rPr lang="en-US" sz="1150" dirty="0">
                <a:solidFill>
                  <a:srgbClr val="FFFFFF"/>
                </a:solidFill>
                <a:latin typeface="Calibri" pitchFamily="34" charset="0"/>
                <a:ea typeface="Calibri" pitchFamily="34" charset="-122"/>
                <a:cs typeface="Calibri" pitchFamily="34" charset="-120"/>
              </a:rPr>
              <a:t>the same pipeline in about fifteen lines, so you can see what a framework buys you — and then we go straight at prompt injection.</a:t>
            </a:r>
            <a:endParaRPr lang="en-US" sz="115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1 · THE PROBLEM &amp; THE CORE IDEA</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Two phases, one embedding model</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Build the store once. Query it many times. Both sides must be turned into vectors by the same model.</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5</a:t>
            </a:r>
          </a:p>
        </p:txBody>
      </p:sp>
      <p:pic>
        <p:nvPicPr>
          <p:cNvPr id="7" name="Picture 6" descr="two_phase_pipeline.png"/>
          <p:cNvPicPr>
            <a:picLocks noChangeAspect="1"/>
          </p:cNvPicPr>
          <p:nvPr/>
        </p:nvPicPr>
        <p:blipFill>
          <a:blip r:embed="rId3"/>
          <a:stretch>
            <a:fillRect/>
          </a:stretch>
        </p:blipFill>
        <p:spPr>
          <a:xfrm>
            <a:off x="1539138" y="1664208"/>
            <a:ext cx="9110675" cy="3218688"/>
          </a:xfrm>
          <a:prstGeom prst="rect">
            <a:avLst/>
          </a:prstGeom>
        </p:spPr>
      </p:pic>
      <p:sp>
        <p:nvSpPr>
          <p:cNvPr id="8" name="Rounded Rectangle 7"/>
          <p:cNvSpPr/>
          <p:nvPr/>
        </p:nvSpPr>
        <p:spPr>
          <a:xfrm>
            <a:off x="640080" y="4974336"/>
            <a:ext cx="5394960" cy="1243584"/>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5093208"/>
            <a:ext cx="49194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INGESTION — lecture3_rag_pipeline.ipynb, STEP 2</a:t>
            </a:r>
          </a:p>
        </p:txBody>
      </p:sp>
      <p:sp>
        <p:nvSpPr>
          <p:cNvPr id="10" name="TextBox 9"/>
          <p:cNvSpPr txBox="1"/>
          <p:nvPr/>
        </p:nvSpPr>
        <p:spPr>
          <a:xfrm>
            <a:off x="877824" y="5367528"/>
            <a:ext cx="4919472" cy="740664"/>
          </a:xfrm>
          <a:prstGeom prst="rect">
            <a:avLst/>
          </a:prstGeom>
          <a:noFill/>
        </p:spPr>
        <p:txBody>
          <a:bodyPr wrap="square" lIns="0" rIns="0" tIns="0" bIns="0">
            <a:spAutoFit/>
          </a:bodyPr>
          <a:lstStyle/>
          <a:p>
            <a:pPr>
              <a:lnSpc>
                <a:spcPct val="112000"/>
              </a:lnSpc>
              <a:spcAft>
                <a:spcPts val="100"/>
              </a:spcAft>
            </a:pPr>
            <a:r>
              <a:rPr sz="900" b="0" i="0">
                <a:solidFill>
                  <a:srgbClr val="E4EDF2"/>
                </a:solidFill>
                <a:latin typeface="Courier New"/>
              </a:rPr>
              <a:t>chunks</a:t>
            </a:r>
            <a:r>
              <a:rPr sz="900" b="0" i="0">
                <a:solidFill>
                  <a:srgbClr val="E4EDF2"/>
                </a:solidFill>
                <a:latin typeface="Courier New"/>
              </a:rPr>
              <a:t> = </a:t>
            </a:r>
            <a:r>
              <a:rPr sz="900" b="0" i="0">
                <a:solidFill>
                  <a:srgbClr val="9FC4EE"/>
                </a:solidFill>
                <a:latin typeface="Courier New"/>
              </a:rPr>
              <a:t>split_into_chunks</a:t>
            </a:r>
            <a:r>
              <a:rPr sz="900" b="0" i="0">
                <a:solidFill>
                  <a:srgbClr val="E4EDF2"/>
                </a:solidFill>
                <a:latin typeface="Courier New"/>
              </a:rPr>
              <a:t>(</a:t>
            </a:r>
            <a:r>
              <a:rPr sz="900" b="0" i="0">
                <a:solidFill>
                  <a:srgbClr val="E4EDF2"/>
                </a:solidFill>
                <a:latin typeface="Courier New"/>
              </a:rPr>
              <a:t>text</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collection</a:t>
            </a:r>
            <a:r>
              <a:rPr sz="900" b="0" i="0">
                <a:solidFill>
                  <a:srgbClr val="E4EDF2"/>
                </a:solidFill>
                <a:latin typeface="Courier New"/>
              </a:rPr>
              <a:t>.</a:t>
            </a:r>
            <a:r>
              <a:rPr sz="900" b="0" i="0">
                <a:solidFill>
                  <a:srgbClr val="9FC4EE"/>
                </a:solidFill>
                <a:latin typeface="Courier New"/>
              </a:rPr>
              <a:t>add</a:t>
            </a:r>
            <a:r>
              <a:rPr sz="900" b="0" i="0">
                <a:solidFill>
                  <a:srgbClr val="E4EDF2"/>
                </a:solidFill>
                <a:latin typeface="Courier New"/>
              </a:rPr>
              <a:t>(</a:t>
            </a:r>
            <a:r>
              <a:rPr sz="900" b="0" i="0">
                <a:solidFill>
                  <a:srgbClr val="E4EDF2"/>
                </a:solidFill>
                <a:latin typeface="Courier New"/>
              </a:rPr>
              <a:t>ids</a:t>
            </a:r>
            <a:r>
              <a:rPr sz="900" b="0" i="0">
                <a:solidFill>
                  <a:srgbClr val="E4EDF2"/>
                </a:solidFill>
                <a:latin typeface="Courier New"/>
              </a:rPr>
              <a:t>=</a:t>
            </a:r>
            <a:r>
              <a:rPr sz="900" b="0" i="0">
                <a:solidFill>
                  <a:srgbClr val="E4EDF2"/>
                </a:solidFill>
                <a:latin typeface="Courier New"/>
              </a:rPr>
              <a:t>ids</a:t>
            </a:r>
            <a:r>
              <a:rPr sz="900" b="0" i="0">
                <a:solidFill>
                  <a:srgbClr val="E4EDF2"/>
                </a:solidFill>
                <a:latin typeface="Courier New"/>
              </a:rPr>
              <a:t>, </a:t>
            </a:r>
            <a:r>
              <a:rPr sz="900" b="0" i="0">
                <a:solidFill>
                  <a:srgbClr val="E4EDF2"/>
                </a:solidFill>
                <a:latin typeface="Courier New"/>
              </a:rPr>
              <a:t>documents</a:t>
            </a:r>
            <a:r>
              <a:rPr sz="900" b="0" i="0">
                <a:solidFill>
                  <a:srgbClr val="E4EDF2"/>
                </a:solidFill>
                <a:latin typeface="Courier New"/>
              </a:rPr>
              <a:t>=</a:t>
            </a:r>
            <a:r>
              <a:rPr sz="900" b="0" i="0">
                <a:solidFill>
                  <a:srgbClr val="E4EDF2"/>
                </a:solidFill>
                <a:latin typeface="Courier New"/>
              </a:rPr>
              <a:t>chunks</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4EDF2"/>
                </a:solidFill>
                <a:latin typeface="Courier New"/>
              </a:rPr>
              <a:t>embeddings</a:t>
            </a:r>
            <a:r>
              <a:rPr sz="900" b="0" i="0">
                <a:solidFill>
                  <a:srgbClr val="E4EDF2"/>
                </a:solidFill>
                <a:latin typeface="Courier New"/>
              </a:rPr>
              <a:t>=</a:t>
            </a:r>
            <a:r>
              <a:rPr sz="900" b="0" i="0">
                <a:solidFill>
                  <a:srgbClr val="9FC4EE"/>
                </a:solidFill>
                <a:latin typeface="Courier New"/>
              </a:rPr>
              <a:t>embed</a:t>
            </a:r>
            <a:r>
              <a:rPr sz="900" b="0" i="0">
                <a:solidFill>
                  <a:srgbClr val="E4EDF2"/>
                </a:solidFill>
                <a:latin typeface="Courier New"/>
              </a:rPr>
              <a:t>(</a:t>
            </a:r>
            <a:r>
              <a:rPr sz="900" b="0" i="0">
                <a:solidFill>
                  <a:srgbClr val="E4EDF2"/>
                </a:solidFill>
                <a:latin typeface="Courier New"/>
              </a:rPr>
              <a:t>chunks</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4EDF2"/>
                </a:solidFill>
                <a:latin typeface="Courier New"/>
              </a:rPr>
              <a:t>metadatas</a:t>
            </a:r>
            <a:r>
              <a:rPr sz="900" b="0" i="0">
                <a:solidFill>
                  <a:srgbClr val="E4EDF2"/>
                </a:solidFill>
                <a:latin typeface="Courier New"/>
              </a:rPr>
              <a:t>=</a:t>
            </a:r>
            <a:r>
              <a:rPr sz="900" b="0" i="0">
                <a:solidFill>
                  <a:srgbClr val="E4EDF2"/>
                </a:solidFill>
                <a:latin typeface="Courier New"/>
              </a:rPr>
              <a:t>labels</a:t>
            </a:r>
            <a:r>
              <a:rPr sz="900" b="0" i="0">
                <a:solidFill>
                  <a:srgbClr val="E4EDF2"/>
                </a:solidFill>
                <a:latin typeface="Courier New"/>
              </a:rPr>
              <a:t>)</a:t>
            </a:r>
          </a:p>
        </p:txBody>
      </p:sp>
      <p:sp>
        <p:nvSpPr>
          <p:cNvPr id="11" name="Rounded Rectangle 10"/>
          <p:cNvSpPr/>
          <p:nvPr/>
        </p:nvSpPr>
        <p:spPr>
          <a:xfrm>
            <a:off x="6153912" y="4974336"/>
            <a:ext cx="5394960" cy="1243584"/>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91656" y="5093208"/>
            <a:ext cx="49194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QUERY — lecture3_rag_pipeline.ipynb, STEP 3 · note embed() on both sides</a:t>
            </a:r>
          </a:p>
        </p:txBody>
      </p:sp>
      <p:sp>
        <p:nvSpPr>
          <p:cNvPr id="13" name="TextBox 12"/>
          <p:cNvSpPr txBox="1"/>
          <p:nvPr/>
        </p:nvSpPr>
        <p:spPr>
          <a:xfrm>
            <a:off x="6391656" y="5367528"/>
            <a:ext cx="4919472" cy="740664"/>
          </a:xfrm>
          <a:prstGeom prst="rect">
            <a:avLst/>
          </a:prstGeom>
          <a:noFill/>
        </p:spPr>
        <p:txBody>
          <a:bodyPr wrap="square" lIns="0" rIns="0" tIns="0" bIns="0">
            <a:spAutoFit/>
          </a:bodyPr>
          <a:lstStyle/>
          <a:p>
            <a:pPr>
              <a:lnSpc>
                <a:spcPct val="112000"/>
              </a:lnSpc>
              <a:spcAft>
                <a:spcPts val="100"/>
              </a:spcAft>
            </a:pPr>
            <a:r>
              <a:rPr sz="900" b="0" i="0">
                <a:solidFill>
                  <a:srgbClr val="D9A6CE"/>
                </a:solidFill>
                <a:latin typeface="Courier New"/>
              </a:rPr>
              <a:t>def</a:t>
            </a:r>
            <a:r>
              <a:rPr sz="900" b="0" i="0">
                <a:solidFill>
                  <a:srgbClr val="E4EDF2"/>
                </a:solidFill>
                <a:latin typeface="Courier New"/>
              </a:rPr>
              <a:t> </a:t>
            </a:r>
            <a:r>
              <a:rPr sz="900" b="0" i="0">
                <a:solidFill>
                  <a:srgbClr val="9FC4EE"/>
                </a:solidFill>
                <a:latin typeface="Courier New"/>
              </a:rPr>
              <a:t>retrieve</a:t>
            </a:r>
            <a:r>
              <a:rPr sz="900" b="0" i="0">
                <a:solidFill>
                  <a:srgbClr val="E4EDF2"/>
                </a:solidFill>
                <a:latin typeface="Courier New"/>
              </a:rPr>
              <a:t>(</a:t>
            </a:r>
            <a:r>
              <a:rPr sz="900" b="0" i="0">
                <a:solidFill>
                  <a:srgbClr val="E4EDF2"/>
                </a:solidFill>
                <a:latin typeface="Courier New"/>
              </a:rPr>
              <a:t>query</a:t>
            </a:r>
            <a:r>
              <a:rPr sz="900" b="0" i="0">
                <a:solidFill>
                  <a:srgbClr val="E4EDF2"/>
                </a:solidFill>
                <a:latin typeface="Courier New"/>
              </a:rPr>
              <a:t>, </a:t>
            </a:r>
            <a:r>
              <a:rPr sz="900" b="0" i="0">
                <a:solidFill>
                  <a:srgbClr val="E4EDF2"/>
                </a:solidFill>
                <a:latin typeface="Courier New"/>
              </a:rPr>
              <a:t>how_many</a:t>
            </a:r>
            <a:r>
              <a:rPr sz="900" b="0" i="0">
                <a:solidFill>
                  <a:srgbClr val="E4EDF2"/>
                </a:solidFill>
                <a:latin typeface="Courier New"/>
              </a:rPr>
              <a:t>=</a:t>
            </a:r>
            <a:r>
              <a:rPr sz="900" b="0" i="0">
                <a:solidFill>
                  <a:srgbClr val="9FC4EE"/>
                </a:solidFill>
                <a:latin typeface="Courier New"/>
              </a:rPr>
              <a:t>4</a:t>
            </a:r>
            <a:r>
              <a:rPr sz="900" b="0" i="0">
                <a:solidFill>
                  <a:srgbClr val="E4EDF2"/>
                </a:solidFill>
                <a:latin typeface="Courier New"/>
              </a:rPr>
              <a:t>, </a:t>
            </a:r>
            <a:r>
              <a:rPr sz="900" b="0" i="0">
                <a:solidFill>
                  <a:srgbClr val="E4EDF2"/>
                </a:solidFill>
                <a:latin typeface="Courier New"/>
              </a:rPr>
              <a:t>max_distance</a:t>
            </a:r>
            <a:r>
              <a:rPr sz="900" b="0" i="0">
                <a:solidFill>
                  <a:srgbClr val="E4EDF2"/>
                </a:solidFill>
                <a:latin typeface="Courier New"/>
              </a:rPr>
              <a:t>=</a:t>
            </a:r>
            <a:r>
              <a:rPr sz="900" b="0" i="0">
                <a:solidFill>
                  <a:srgbClr val="9FC4EE"/>
                </a:solidFill>
                <a:latin typeface="Courier New"/>
              </a:rPr>
              <a:t>0.75</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4EDF2"/>
                </a:solidFill>
                <a:latin typeface="Courier New"/>
              </a:rPr>
              <a:t>results</a:t>
            </a:r>
            <a:r>
              <a:rPr sz="900" b="0" i="0">
                <a:solidFill>
                  <a:srgbClr val="E4EDF2"/>
                </a:solidFill>
                <a:latin typeface="Courier New"/>
              </a:rPr>
              <a:t> = </a:t>
            </a:r>
            <a:r>
              <a:rPr sz="900" b="0" i="0">
                <a:solidFill>
                  <a:srgbClr val="E4EDF2"/>
                </a:solidFill>
                <a:latin typeface="Courier New"/>
              </a:rPr>
              <a:t>collection</a:t>
            </a:r>
            <a:r>
              <a:rPr sz="900" b="0" i="0">
                <a:solidFill>
                  <a:srgbClr val="E4EDF2"/>
                </a:solidFill>
                <a:latin typeface="Courier New"/>
              </a:rPr>
              <a:t>.</a:t>
            </a:r>
            <a:r>
              <a:rPr sz="900" b="0" i="0">
                <a:solidFill>
                  <a:srgbClr val="9FC4EE"/>
                </a:solidFill>
                <a:latin typeface="Courier New"/>
              </a:rPr>
              <a:t>query</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4EDF2"/>
                </a:solidFill>
                <a:latin typeface="Courier New"/>
              </a:rPr>
              <a:t>query_embeddings</a:t>
            </a:r>
            <a:r>
              <a:rPr sz="900" b="0" i="0">
                <a:solidFill>
                  <a:srgbClr val="E4EDF2"/>
                </a:solidFill>
                <a:latin typeface="Courier New"/>
              </a:rPr>
              <a:t>=</a:t>
            </a:r>
            <a:r>
              <a:rPr sz="900" b="0" i="0">
                <a:solidFill>
                  <a:srgbClr val="9FC4EE"/>
                </a:solidFill>
                <a:latin typeface="Courier New"/>
              </a:rPr>
              <a:t>embed</a:t>
            </a:r>
            <a:r>
              <a:rPr sz="900" b="0" i="0">
                <a:solidFill>
                  <a:srgbClr val="E4EDF2"/>
                </a:solidFill>
                <a:latin typeface="Courier New"/>
              </a:rPr>
              <a:t>([</a:t>
            </a:r>
            <a:r>
              <a:rPr sz="900" b="0" i="0">
                <a:solidFill>
                  <a:srgbClr val="E4EDF2"/>
                </a:solidFill>
                <a:latin typeface="Courier New"/>
              </a:rPr>
              <a:t>query</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4EDF2"/>
                </a:solidFill>
                <a:latin typeface="Courier New"/>
              </a:rPr>
              <a:t>n_results</a:t>
            </a:r>
            <a:r>
              <a:rPr sz="900" b="0" i="0">
                <a:solidFill>
                  <a:srgbClr val="E4EDF2"/>
                </a:solidFill>
                <a:latin typeface="Courier New"/>
              </a:rPr>
              <a:t>=</a:t>
            </a:r>
            <a:r>
              <a:rPr sz="900" b="0" i="0">
                <a:solidFill>
                  <a:srgbClr val="E4EDF2"/>
                </a:solidFill>
                <a:latin typeface="Courier New"/>
              </a:rPr>
              <a:t>how_many</a:t>
            </a:r>
            <a:r>
              <a:rPr sz="900" b="0" i="0">
                <a:solidFill>
                  <a:srgbClr val="E4EDF2"/>
                </a:solidFill>
                <a:latin typeface="Courier New"/>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EMBEDDINGS</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Three ways to measure closeness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Cosine is the default for text. Know the other two — and know which one ChromaDB uses when you do not say.</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9</a:t>
            </a:r>
          </a:p>
        </p:txBody>
      </p:sp>
      <p:pic>
        <p:nvPicPr>
          <p:cNvPr id="7" name="Picture 6" descr="distance_metrics.png"/>
          <p:cNvPicPr>
            <a:picLocks noChangeAspect="1"/>
          </p:cNvPicPr>
          <p:nvPr/>
        </p:nvPicPr>
        <p:blipFill>
          <a:blip r:embed="rId3"/>
          <a:stretch>
            <a:fillRect/>
          </a:stretch>
        </p:blipFill>
        <p:spPr>
          <a:xfrm>
            <a:off x="2793582" y="1609344"/>
            <a:ext cx="6601787" cy="2395728"/>
          </a:xfrm>
          <a:prstGeom prst="rect">
            <a:avLst/>
          </a:prstGeom>
        </p:spPr>
      </p:pic>
      <p:sp>
        <p:nvSpPr>
          <p:cNvPr id="8" name="Rounded Rectangle 7"/>
          <p:cNvSpPr/>
          <p:nvPr/>
        </p:nvSpPr>
        <p:spPr>
          <a:xfrm>
            <a:off x="640080" y="4114800"/>
            <a:ext cx="5394960" cy="138988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4233672"/>
            <a:ext cx="49194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COSINE BY HAND — lecture2_embeddings_and_vectordb.ipynb, SECTION 2</a:t>
            </a:r>
          </a:p>
        </p:txBody>
      </p:sp>
      <p:sp>
        <p:nvSpPr>
          <p:cNvPr id="10" name="TextBox 9"/>
          <p:cNvSpPr txBox="1"/>
          <p:nvPr/>
        </p:nvSpPr>
        <p:spPr>
          <a:xfrm>
            <a:off x="877824" y="4507992"/>
            <a:ext cx="4919472" cy="886968"/>
          </a:xfrm>
          <a:prstGeom prst="rect">
            <a:avLst/>
          </a:prstGeom>
          <a:noFill/>
        </p:spPr>
        <p:txBody>
          <a:bodyPr wrap="square" lIns="0" rIns="0" tIns="0" bIns="0">
            <a:spAutoFit/>
          </a:bodyPr>
          <a:lstStyle/>
          <a:p>
            <a:pPr>
              <a:lnSpc>
                <a:spcPct val="112000"/>
              </a:lnSpc>
              <a:spcAft>
                <a:spcPts val="100"/>
              </a:spcAft>
            </a:pPr>
            <a:r>
              <a:rPr sz="880" b="0" i="0">
                <a:solidFill>
                  <a:srgbClr val="D9A6CE"/>
                </a:solidFill>
                <a:latin typeface="Courier New"/>
              </a:rPr>
              <a:t>def</a:t>
            </a:r>
            <a:r>
              <a:rPr sz="880" b="0" i="0">
                <a:solidFill>
                  <a:srgbClr val="E4EDF2"/>
                </a:solidFill>
                <a:latin typeface="Courier New"/>
              </a:rPr>
              <a:t> </a:t>
            </a:r>
            <a:r>
              <a:rPr sz="880" b="0" i="0">
                <a:solidFill>
                  <a:srgbClr val="9FC4EE"/>
                </a:solidFill>
                <a:latin typeface="Courier New"/>
              </a:rPr>
              <a:t>similarity</a:t>
            </a:r>
            <a:r>
              <a:rPr sz="880" b="0" i="0">
                <a:solidFill>
                  <a:srgbClr val="E4EDF2"/>
                </a:solidFill>
                <a:latin typeface="Courier New"/>
              </a:rPr>
              <a:t>(</a:t>
            </a:r>
            <a:r>
              <a:rPr sz="880" b="0" i="0">
                <a:solidFill>
                  <a:srgbClr val="E4EDF2"/>
                </a:solidFill>
                <a:latin typeface="Courier New"/>
              </a:rPr>
              <a:t>vector_a</a:t>
            </a:r>
            <a:r>
              <a:rPr sz="880" b="0" i="0">
                <a:solidFill>
                  <a:srgbClr val="E4EDF2"/>
                </a:solidFill>
                <a:latin typeface="Courier New"/>
              </a:rPr>
              <a:t>, </a:t>
            </a:r>
            <a:r>
              <a:rPr sz="880" b="0" i="0">
                <a:solidFill>
                  <a:srgbClr val="E4EDF2"/>
                </a:solidFill>
                <a:latin typeface="Courier New"/>
              </a:rPr>
              <a:t>vector_b</a:t>
            </a:r>
            <a:r>
              <a:rPr sz="880" b="0" i="0">
                <a:solidFill>
                  <a:srgbClr val="E4EDF2"/>
                </a:solidFill>
                <a:latin typeface="Courier New"/>
              </a:rPr>
              <a:t>):</a:t>
            </a:r>
          </a:p>
          <a:p>
            <a:pPr>
              <a:lnSpc>
                <a:spcPct val="112000"/>
              </a:lnSpc>
              <a:spcAft>
                <a:spcPts val="100"/>
              </a:spcAft>
            </a:pPr>
            <a:r>
              <a:rPr sz="880" b="0" i="0">
                <a:solidFill>
                  <a:srgbClr val="E4EDF2"/>
                </a:solidFill>
                <a:latin typeface="Courier New"/>
              </a:rPr>
              <a:t>    </a:t>
            </a:r>
            <a:r>
              <a:rPr sz="880" b="0" i="0">
                <a:solidFill>
                  <a:srgbClr val="E4EDF2"/>
                </a:solidFill>
                <a:latin typeface="Courier New"/>
              </a:rPr>
              <a:t>dot</a:t>
            </a:r>
            <a:r>
              <a:rPr sz="880" b="0" i="0">
                <a:solidFill>
                  <a:srgbClr val="E4EDF2"/>
                </a:solidFill>
                <a:latin typeface="Courier New"/>
              </a:rPr>
              <a:t> = </a:t>
            </a:r>
            <a:r>
              <a:rPr sz="880" b="0" i="0">
                <a:solidFill>
                  <a:srgbClr val="E4EDF2"/>
                </a:solidFill>
                <a:latin typeface="Courier New"/>
              </a:rPr>
              <a:t>np</a:t>
            </a:r>
            <a:r>
              <a:rPr sz="880" b="0" i="0">
                <a:solidFill>
                  <a:srgbClr val="E4EDF2"/>
                </a:solidFill>
                <a:latin typeface="Courier New"/>
              </a:rPr>
              <a:t>.</a:t>
            </a:r>
            <a:r>
              <a:rPr sz="880" b="0" i="0">
                <a:solidFill>
                  <a:srgbClr val="9FC4EE"/>
                </a:solidFill>
                <a:latin typeface="Courier New"/>
              </a:rPr>
              <a:t>dot</a:t>
            </a:r>
            <a:r>
              <a:rPr sz="880" b="0" i="0">
                <a:solidFill>
                  <a:srgbClr val="E4EDF2"/>
                </a:solidFill>
                <a:latin typeface="Courier New"/>
              </a:rPr>
              <a:t>(</a:t>
            </a:r>
            <a:r>
              <a:rPr sz="880" b="0" i="0">
                <a:solidFill>
                  <a:srgbClr val="E4EDF2"/>
                </a:solidFill>
                <a:latin typeface="Courier New"/>
              </a:rPr>
              <a:t>vector_a</a:t>
            </a:r>
            <a:r>
              <a:rPr sz="880" b="0" i="0">
                <a:solidFill>
                  <a:srgbClr val="E4EDF2"/>
                </a:solidFill>
                <a:latin typeface="Courier New"/>
              </a:rPr>
              <a:t>, </a:t>
            </a:r>
            <a:r>
              <a:rPr sz="880" b="0" i="0">
                <a:solidFill>
                  <a:srgbClr val="E4EDF2"/>
                </a:solidFill>
                <a:latin typeface="Courier New"/>
              </a:rPr>
              <a:t>vector_b</a:t>
            </a:r>
            <a:r>
              <a:rPr sz="880" b="0" i="0">
                <a:solidFill>
                  <a:srgbClr val="E4EDF2"/>
                </a:solidFill>
                <a:latin typeface="Courier New"/>
              </a:rPr>
              <a:t>)</a:t>
            </a:r>
          </a:p>
          <a:p>
            <a:pPr>
              <a:lnSpc>
                <a:spcPct val="112000"/>
              </a:lnSpc>
              <a:spcAft>
                <a:spcPts val="100"/>
              </a:spcAft>
            </a:pPr>
            <a:r>
              <a:rPr sz="880" b="0" i="0">
                <a:solidFill>
                  <a:srgbClr val="E4EDF2"/>
                </a:solidFill>
                <a:latin typeface="Courier New"/>
              </a:rPr>
              <a:t>    </a:t>
            </a:r>
            <a:r>
              <a:rPr sz="880" b="0" i="0">
                <a:solidFill>
                  <a:srgbClr val="E4EDF2"/>
                </a:solidFill>
                <a:latin typeface="Courier New"/>
              </a:rPr>
              <a:t>sizes</a:t>
            </a:r>
            <a:r>
              <a:rPr sz="880" b="0" i="0">
                <a:solidFill>
                  <a:srgbClr val="E4EDF2"/>
                </a:solidFill>
                <a:latin typeface="Courier New"/>
              </a:rPr>
              <a:t> = </a:t>
            </a:r>
            <a:r>
              <a:rPr sz="880" b="0" i="0">
                <a:solidFill>
                  <a:srgbClr val="E4EDF2"/>
                </a:solidFill>
                <a:latin typeface="Courier New"/>
              </a:rPr>
              <a:t>np</a:t>
            </a:r>
            <a:r>
              <a:rPr sz="880" b="0" i="0">
                <a:solidFill>
                  <a:srgbClr val="E4EDF2"/>
                </a:solidFill>
                <a:latin typeface="Courier New"/>
              </a:rPr>
              <a:t>.</a:t>
            </a:r>
            <a:r>
              <a:rPr sz="880" b="0" i="0">
                <a:solidFill>
                  <a:srgbClr val="E4EDF2"/>
                </a:solidFill>
                <a:latin typeface="Courier New"/>
              </a:rPr>
              <a:t>linalg</a:t>
            </a:r>
            <a:r>
              <a:rPr sz="880" b="0" i="0">
                <a:solidFill>
                  <a:srgbClr val="E4EDF2"/>
                </a:solidFill>
                <a:latin typeface="Courier New"/>
              </a:rPr>
              <a:t>.</a:t>
            </a:r>
            <a:r>
              <a:rPr sz="880" b="0" i="0">
                <a:solidFill>
                  <a:srgbClr val="9FC4EE"/>
                </a:solidFill>
                <a:latin typeface="Courier New"/>
              </a:rPr>
              <a:t>norm</a:t>
            </a:r>
            <a:r>
              <a:rPr sz="880" b="0" i="0">
                <a:solidFill>
                  <a:srgbClr val="E4EDF2"/>
                </a:solidFill>
                <a:latin typeface="Courier New"/>
              </a:rPr>
              <a:t>(</a:t>
            </a:r>
            <a:r>
              <a:rPr sz="880" b="0" i="0">
                <a:solidFill>
                  <a:srgbClr val="E4EDF2"/>
                </a:solidFill>
                <a:latin typeface="Courier New"/>
              </a:rPr>
              <a:t>vector_a</a:t>
            </a:r>
            <a:r>
              <a:rPr sz="880" b="0" i="0">
                <a:solidFill>
                  <a:srgbClr val="E4EDF2"/>
                </a:solidFill>
                <a:latin typeface="Courier New"/>
              </a:rPr>
              <a:t>) * </a:t>
            </a:r>
            <a:r>
              <a:rPr sz="880" b="0" i="0">
                <a:solidFill>
                  <a:srgbClr val="E4EDF2"/>
                </a:solidFill>
                <a:latin typeface="Courier New"/>
              </a:rPr>
              <a:t>np</a:t>
            </a:r>
            <a:r>
              <a:rPr sz="880" b="0" i="0">
                <a:solidFill>
                  <a:srgbClr val="E4EDF2"/>
                </a:solidFill>
                <a:latin typeface="Courier New"/>
              </a:rPr>
              <a:t>.</a:t>
            </a:r>
            <a:r>
              <a:rPr sz="880" b="0" i="0">
                <a:solidFill>
                  <a:srgbClr val="E4EDF2"/>
                </a:solidFill>
                <a:latin typeface="Courier New"/>
              </a:rPr>
              <a:t>linalg</a:t>
            </a:r>
            <a:r>
              <a:rPr sz="880" b="0" i="0">
                <a:solidFill>
                  <a:srgbClr val="E4EDF2"/>
                </a:solidFill>
                <a:latin typeface="Courier New"/>
              </a:rPr>
              <a:t>.</a:t>
            </a:r>
            <a:r>
              <a:rPr sz="880" b="0" i="0">
                <a:solidFill>
                  <a:srgbClr val="9FC4EE"/>
                </a:solidFill>
                <a:latin typeface="Courier New"/>
              </a:rPr>
              <a:t>norm</a:t>
            </a:r>
            <a:r>
              <a:rPr sz="880" b="0" i="0">
                <a:solidFill>
                  <a:srgbClr val="E4EDF2"/>
                </a:solidFill>
                <a:latin typeface="Courier New"/>
              </a:rPr>
              <a:t>(</a:t>
            </a:r>
            <a:r>
              <a:rPr sz="880" b="0" i="0">
                <a:solidFill>
                  <a:srgbClr val="E4EDF2"/>
                </a:solidFill>
                <a:latin typeface="Courier New"/>
              </a:rPr>
              <a:t>vector_b</a:t>
            </a:r>
            <a:r>
              <a:rPr sz="880" b="0" i="0">
                <a:solidFill>
                  <a:srgbClr val="E4EDF2"/>
                </a:solidFill>
                <a:latin typeface="Courier New"/>
              </a:rPr>
              <a:t>)</a:t>
            </a:r>
          </a:p>
          <a:p>
            <a:pPr>
              <a:lnSpc>
                <a:spcPct val="112000"/>
              </a:lnSpc>
              <a:spcAft>
                <a:spcPts val="100"/>
              </a:spcAft>
            </a:pPr>
            <a:r>
              <a:rPr sz="880" b="0" i="0">
                <a:solidFill>
                  <a:srgbClr val="E4EDF2"/>
                </a:solidFill>
                <a:latin typeface="Courier New"/>
              </a:rPr>
              <a:t>    </a:t>
            </a:r>
            <a:r>
              <a:rPr sz="880" b="0" i="0">
                <a:solidFill>
                  <a:srgbClr val="D9A6CE"/>
                </a:solidFill>
                <a:latin typeface="Courier New"/>
              </a:rPr>
              <a:t>return</a:t>
            </a:r>
            <a:r>
              <a:rPr sz="880" b="0" i="0">
                <a:solidFill>
                  <a:srgbClr val="E4EDF2"/>
                </a:solidFill>
                <a:latin typeface="Courier New"/>
              </a:rPr>
              <a:t> </a:t>
            </a:r>
            <a:r>
              <a:rPr sz="880" b="0" i="0">
                <a:solidFill>
                  <a:srgbClr val="9FC4EE"/>
                </a:solidFill>
                <a:latin typeface="Courier New"/>
              </a:rPr>
              <a:t>float</a:t>
            </a:r>
            <a:r>
              <a:rPr sz="880" b="0" i="0">
                <a:solidFill>
                  <a:srgbClr val="E4EDF2"/>
                </a:solidFill>
                <a:latin typeface="Courier New"/>
              </a:rPr>
              <a:t>(</a:t>
            </a:r>
            <a:r>
              <a:rPr sz="880" b="0" i="0">
                <a:solidFill>
                  <a:srgbClr val="E4EDF2"/>
                </a:solidFill>
                <a:latin typeface="Courier New"/>
              </a:rPr>
              <a:t>dot</a:t>
            </a:r>
            <a:r>
              <a:rPr sz="880" b="0" i="0">
                <a:solidFill>
                  <a:srgbClr val="E4EDF2"/>
                </a:solidFill>
                <a:latin typeface="Courier New"/>
              </a:rPr>
              <a:t> / </a:t>
            </a:r>
            <a:r>
              <a:rPr sz="880" b="0" i="0">
                <a:solidFill>
                  <a:srgbClr val="E4EDF2"/>
                </a:solidFill>
                <a:latin typeface="Courier New"/>
              </a:rPr>
              <a:t>sizes</a:t>
            </a:r>
            <a:r>
              <a:rPr sz="880" b="0" i="0">
                <a:solidFill>
                  <a:srgbClr val="E4EDF2"/>
                </a:solidFill>
                <a:latin typeface="Courier New"/>
              </a:rPr>
              <a:t>)</a:t>
            </a:r>
          </a:p>
        </p:txBody>
      </p:sp>
      <p:sp>
        <p:nvSpPr>
          <p:cNvPr id="11" name="Rounded Rectangle 10"/>
          <p:cNvSpPr/>
          <p:nvPr/>
        </p:nvSpPr>
        <p:spPr>
          <a:xfrm>
            <a:off x="6153912" y="4114800"/>
            <a:ext cx="5394960" cy="138988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91656" y="4233672"/>
            <a:ext cx="49194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SETTING THE METRIC — lecture3_rag_pipeline.ipynb, STEP 2</a:t>
            </a:r>
          </a:p>
        </p:txBody>
      </p:sp>
      <p:sp>
        <p:nvSpPr>
          <p:cNvPr id="13" name="TextBox 12"/>
          <p:cNvSpPr txBox="1"/>
          <p:nvPr/>
        </p:nvSpPr>
        <p:spPr>
          <a:xfrm>
            <a:off x="6391656" y="4507992"/>
            <a:ext cx="4919472" cy="886968"/>
          </a:xfrm>
          <a:prstGeom prst="rect">
            <a:avLst/>
          </a:prstGeom>
          <a:noFill/>
        </p:spPr>
        <p:txBody>
          <a:bodyPr wrap="square" lIns="0" rIns="0" tIns="0" bIns="0">
            <a:spAutoFit/>
          </a:bodyPr>
          <a:lstStyle/>
          <a:p>
            <a:pPr>
              <a:lnSpc>
                <a:spcPct val="112000"/>
              </a:lnSpc>
              <a:spcAft>
                <a:spcPts val="100"/>
              </a:spcAft>
            </a:pPr>
            <a:r>
              <a:rPr sz="880" b="0" i="0">
                <a:solidFill>
                  <a:srgbClr val="E4EDF2"/>
                </a:solidFill>
                <a:latin typeface="Courier New"/>
              </a:rPr>
              <a:t>collection</a:t>
            </a:r>
            <a:r>
              <a:rPr sz="880" b="0" i="0">
                <a:solidFill>
                  <a:srgbClr val="E4EDF2"/>
                </a:solidFill>
                <a:latin typeface="Courier New"/>
              </a:rPr>
              <a:t> = </a:t>
            </a:r>
            <a:r>
              <a:rPr sz="880" b="0" i="0">
                <a:solidFill>
                  <a:srgbClr val="E4EDF2"/>
                </a:solidFill>
                <a:latin typeface="Courier New"/>
              </a:rPr>
              <a:t>client</a:t>
            </a:r>
            <a:r>
              <a:rPr sz="880" b="0" i="0">
                <a:solidFill>
                  <a:srgbClr val="E4EDF2"/>
                </a:solidFill>
                <a:latin typeface="Courier New"/>
              </a:rPr>
              <a:t>.</a:t>
            </a:r>
            <a:r>
              <a:rPr sz="880" b="0" i="0">
                <a:solidFill>
                  <a:srgbClr val="9FC4EE"/>
                </a:solidFill>
                <a:latin typeface="Courier New"/>
              </a:rPr>
              <a:t>get_or_create_collection</a:t>
            </a:r>
            <a:r>
              <a:rPr sz="880" b="0" i="0">
                <a:solidFill>
                  <a:srgbClr val="E4EDF2"/>
                </a:solidFill>
                <a:latin typeface="Courier New"/>
              </a:rPr>
              <a:t>(</a:t>
            </a:r>
          </a:p>
          <a:p>
            <a:pPr>
              <a:lnSpc>
                <a:spcPct val="112000"/>
              </a:lnSpc>
              <a:spcAft>
                <a:spcPts val="100"/>
              </a:spcAft>
            </a:pPr>
            <a:r>
              <a:rPr sz="880" b="0" i="0">
                <a:solidFill>
                  <a:srgbClr val="E4EDF2"/>
                </a:solidFill>
                <a:latin typeface="Courier New"/>
              </a:rPr>
              <a:t>    </a:t>
            </a:r>
            <a:r>
              <a:rPr sz="880" b="0" i="0">
                <a:solidFill>
                  <a:srgbClr val="EBB183"/>
                </a:solidFill>
                <a:latin typeface="Courier New"/>
              </a:rPr>
              <a:t>"security_kb"</a:t>
            </a:r>
            <a:r>
              <a:rPr sz="880" b="0" i="0">
                <a:solidFill>
                  <a:srgbClr val="E4EDF2"/>
                </a:solidFill>
                <a:latin typeface="Courier New"/>
              </a:rPr>
              <a:t>, </a:t>
            </a:r>
            <a:r>
              <a:rPr sz="880" b="0" i="0">
                <a:solidFill>
                  <a:srgbClr val="E4EDF2"/>
                </a:solidFill>
                <a:latin typeface="Courier New"/>
              </a:rPr>
              <a:t>metadata</a:t>
            </a:r>
            <a:r>
              <a:rPr sz="880" b="0" i="0">
                <a:solidFill>
                  <a:srgbClr val="E4EDF2"/>
                </a:solidFill>
                <a:latin typeface="Courier New"/>
              </a:rPr>
              <a:t>={</a:t>
            </a:r>
            <a:r>
              <a:rPr sz="880" b="0" i="0">
                <a:solidFill>
                  <a:srgbClr val="EBB183"/>
                </a:solidFill>
                <a:latin typeface="Courier New"/>
              </a:rPr>
              <a:t>"hnsw:space"</a:t>
            </a:r>
            <a:r>
              <a:rPr sz="880" b="0" i="0">
                <a:solidFill>
                  <a:srgbClr val="E4EDF2"/>
                </a:solidFill>
                <a:latin typeface="Courier New"/>
              </a:rPr>
              <a:t>: </a:t>
            </a:r>
            <a:r>
              <a:rPr sz="880" b="0" i="0">
                <a:solidFill>
                  <a:srgbClr val="EBB183"/>
                </a:solidFill>
                <a:latin typeface="Courier New"/>
              </a:rPr>
              <a:t>"cosine"</a:t>
            </a:r>
            <a:r>
              <a:rPr sz="880" b="0" i="0">
                <a:solidFill>
                  <a:srgbClr val="E4EDF2"/>
                </a:solidFill>
                <a:latin typeface="Courier New"/>
              </a:rPr>
              <a:t>})</a:t>
            </a:r>
          </a:p>
          <a:p>
            <a:pPr>
              <a:lnSpc>
                <a:spcPct val="112000"/>
              </a:lnSpc>
              <a:spcAft>
                <a:spcPts val="100"/>
              </a:spcAft>
            </a:pPr>
            <a:r>
              <a:rPr sz="880" b="0" i="0">
                <a:solidFill>
                  <a:srgbClr val="E4EDF2"/>
                </a:solidFill>
                <a:latin typeface="Courier New"/>
              </a:rPr>
              <a:t/>
            </a:r>
          </a:p>
          <a:p>
            <a:pPr>
              <a:lnSpc>
                <a:spcPct val="112000"/>
              </a:lnSpc>
              <a:spcAft>
                <a:spcPts val="100"/>
              </a:spcAft>
            </a:pPr>
            <a:r>
              <a:rPr sz="880" b="0" i="0">
                <a:solidFill>
                  <a:srgbClr val="76909F"/>
                </a:solidFill>
                <a:latin typeface="Courier New"/>
              </a:rPr>
              <a:t># omit the metadata and Chroma silently uses L2</a:t>
            </a:r>
          </a:p>
        </p:txBody>
      </p:sp>
      <p:sp>
        <p:nvSpPr>
          <p:cNvPr id="14" name="Rounded Rectangle 13"/>
          <p:cNvSpPr/>
          <p:nvPr/>
        </p:nvSpPr>
        <p:spPr>
          <a:xfrm>
            <a:off x="640080" y="5614416"/>
            <a:ext cx="10908792" cy="603504"/>
          </a:xfrm>
          <a:prstGeom prst="roundRect">
            <a:avLst>
              <a:gd name="adj" fmla="val 3500"/>
            </a:avLst>
          </a:prstGeom>
          <a:solidFill>
            <a:srgbClr val="F7E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59536" y="5733288"/>
            <a:ext cx="10469880" cy="365760"/>
          </a:xfrm>
          <a:prstGeom prst="rect">
            <a:avLst/>
          </a:prstGeom>
          <a:noFill/>
        </p:spPr>
        <p:txBody>
          <a:bodyPr wrap="square" lIns="0" rIns="0" tIns="0" bIns="0">
            <a:spAutoFit/>
          </a:bodyPr>
          <a:lstStyle/>
          <a:p>
            <a:pPr>
              <a:lnSpc>
                <a:spcPct val="116000"/>
              </a:lnSpc>
              <a:spcAft>
                <a:spcPts val="200"/>
              </a:spcAft>
            </a:pPr>
            <a:r>
              <a:rPr sz="1100" b="1" i="0">
                <a:solidFill>
                  <a:srgbClr val="A4243B"/>
                </a:solidFill>
                <a:latin typeface="Calibri"/>
              </a:rPr>
              <a:t>The same three matches, two different scales.  </a:t>
            </a:r>
            <a:r>
              <a:rPr sz="1100" b="0" i="0">
                <a:solidFill>
                  <a:srgbClr val="1B2B36"/>
                </a:solidFill>
                <a:latin typeface="Calibri"/>
              </a:rPr>
              <a:t>Lecture 2 with the default L2 reports 0.70 / 0.78 / 0.82. Lecture 3 with cosine reports 0.307 / 0.366 / 0.386. Retrieval did not improve — a threshold tuned on one scale is meaningless on the other.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EMBEDDINGS</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Choosing an embedding model</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MTEB ranks models across dozens of retrieval, clustering and classification tasks. Bigger is not automatically better.</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11</a:t>
            </a:r>
          </a:p>
        </p:txBody>
      </p:sp>
      <p:pic>
        <p:nvPicPr>
          <p:cNvPr id="7" name="Picture 6" descr="mteb_leaderboard.jpg"/>
          <p:cNvPicPr>
            <a:picLocks noChangeAspect="1"/>
          </p:cNvPicPr>
          <p:nvPr/>
        </p:nvPicPr>
        <p:blipFill>
          <a:blip r:embed="rId3"/>
          <a:stretch>
            <a:fillRect/>
          </a:stretch>
        </p:blipFill>
        <p:spPr>
          <a:xfrm>
            <a:off x="928819" y="1792224"/>
            <a:ext cx="4680321" cy="3017520"/>
          </a:xfrm>
          <a:prstGeom prst="rect">
            <a:avLst/>
          </a:prstGeom>
        </p:spPr>
      </p:pic>
      <p:sp>
        <p:nvSpPr>
          <p:cNvPr id="8" name="TextBox 7"/>
          <p:cNvSpPr txBox="1"/>
          <p:nvPr/>
        </p:nvSpPr>
        <p:spPr>
          <a:xfrm>
            <a:off x="640080" y="4882896"/>
            <a:ext cx="5257800" cy="219456"/>
          </a:xfrm>
          <a:prstGeom prst="rect">
            <a:avLst/>
          </a:prstGeom>
          <a:noFill/>
        </p:spPr>
        <p:txBody>
          <a:bodyPr wrap="square" lIns="0" rIns="0" tIns="0" bIns="0">
            <a:spAutoFit/>
          </a:bodyPr>
          <a:lstStyle/>
          <a:p>
            <a:pPr>
              <a:spcAft>
                <a:spcPts val="200"/>
              </a:spcAft>
            </a:pPr>
            <a:r>
              <a:rPr sz="800" b="0" i="1">
                <a:solidFill>
                  <a:srgbClr val="7C99A8"/>
                </a:solidFill>
                <a:latin typeface="Calibri"/>
              </a:rPr>
              <a:t>Figure 2-2 from Santos, Agentic AI for Cybersecurity — reproduced for classroom use.</a:t>
            </a:r>
          </a:p>
        </p:txBody>
      </p:sp>
      <p:sp>
        <p:nvSpPr>
          <p:cNvPr id="9" name="Rounded Rectangle 8"/>
          <p:cNvSpPr/>
          <p:nvPr/>
        </p:nvSpPr>
        <p:spPr>
          <a:xfrm>
            <a:off x="640080" y="5157216"/>
            <a:ext cx="5257800" cy="1060704"/>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 y="5276088"/>
            <a:ext cx="478231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THE OPTIONAL CELL — lecture2_embeddings_and_vectordb.ipynb, SECTION 2</a:t>
            </a:r>
          </a:p>
        </p:txBody>
      </p:sp>
      <p:sp>
        <p:nvSpPr>
          <p:cNvPr id="11" name="TextBox 10"/>
          <p:cNvSpPr txBox="1"/>
          <p:nvPr/>
        </p:nvSpPr>
        <p:spPr>
          <a:xfrm>
            <a:off x="877824" y="5550407"/>
            <a:ext cx="4782312" cy="557784"/>
          </a:xfrm>
          <a:prstGeom prst="rect">
            <a:avLst/>
          </a:prstGeom>
          <a:noFill/>
        </p:spPr>
        <p:txBody>
          <a:bodyPr wrap="square" lIns="0" rIns="0" tIns="0" bIns="0">
            <a:spAutoFit/>
          </a:bodyPr>
          <a:lstStyle/>
          <a:p>
            <a:pPr>
              <a:lnSpc>
                <a:spcPct val="112000"/>
              </a:lnSpc>
              <a:spcAft>
                <a:spcPts val="100"/>
              </a:spcAft>
            </a:pPr>
            <a:r>
              <a:rPr sz="860" b="0" i="0">
                <a:solidFill>
                  <a:srgbClr val="E4EDF2"/>
                </a:solidFill>
                <a:latin typeface="Courier New"/>
              </a:rPr>
              <a:t>r</a:t>
            </a:r>
            <a:r>
              <a:rPr sz="860" b="0" i="0">
                <a:solidFill>
                  <a:srgbClr val="E4EDF2"/>
                </a:solidFill>
                <a:latin typeface="Courier New"/>
              </a:rPr>
              <a:t> = </a:t>
            </a:r>
            <a:r>
              <a:rPr sz="860" b="0" i="0">
                <a:solidFill>
                  <a:srgbClr val="9FC4EE"/>
                </a:solidFill>
                <a:latin typeface="Courier New"/>
              </a:rPr>
              <a:t>OpenAI</a:t>
            </a:r>
            <a:r>
              <a:rPr sz="860" b="0" i="0">
                <a:solidFill>
                  <a:srgbClr val="E4EDF2"/>
                </a:solidFill>
                <a:latin typeface="Courier New"/>
              </a:rPr>
              <a:t>().</a:t>
            </a:r>
            <a:r>
              <a:rPr sz="860" b="0" i="0">
                <a:solidFill>
                  <a:srgbClr val="E4EDF2"/>
                </a:solidFill>
                <a:latin typeface="Courier New"/>
              </a:rPr>
              <a:t>embeddings</a:t>
            </a:r>
            <a:r>
              <a:rPr sz="860" b="0" i="0">
                <a:solidFill>
                  <a:srgbClr val="E4EDF2"/>
                </a:solidFill>
                <a:latin typeface="Courier New"/>
              </a:rPr>
              <a:t>.</a:t>
            </a:r>
            <a:r>
              <a:rPr sz="860" b="0" i="0">
                <a:solidFill>
                  <a:srgbClr val="9FC4EE"/>
                </a:solidFill>
                <a:latin typeface="Courier New"/>
              </a:rPr>
              <a:t>create</a:t>
            </a:r>
            <a:r>
              <a:rPr sz="860" b="0" i="0">
                <a:solidFill>
                  <a:srgbClr val="E4EDF2"/>
                </a:solidFill>
                <a:latin typeface="Courier New"/>
              </a:rPr>
              <a:t>(</a:t>
            </a:r>
            <a:r>
              <a:rPr sz="860" b="0" i="0">
                <a:solidFill>
                  <a:srgbClr val="E4EDF2"/>
                </a:solidFill>
                <a:latin typeface="Courier New"/>
              </a:rPr>
              <a:t>input</a:t>
            </a:r>
            <a:r>
              <a:rPr sz="860" b="0" i="0">
                <a:solidFill>
                  <a:srgbClr val="E4EDF2"/>
                </a:solidFill>
                <a:latin typeface="Courier New"/>
              </a:rPr>
              <a:t>=</a:t>
            </a:r>
            <a:r>
              <a:rPr sz="860" b="0" i="0">
                <a:solidFill>
                  <a:srgbClr val="E4EDF2"/>
                </a:solidFill>
                <a:latin typeface="Courier New"/>
              </a:rPr>
              <a:t>text</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model</a:t>
            </a:r>
            <a:r>
              <a:rPr sz="860" b="0" i="0">
                <a:solidFill>
                  <a:srgbClr val="E4EDF2"/>
                </a:solidFill>
                <a:latin typeface="Courier New"/>
              </a:rPr>
              <a:t>=</a:t>
            </a:r>
            <a:r>
              <a:rPr sz="860" b="0" i="0">
                <a:solidFill>
                  <a:srgbClr val="EBB183"/>
                </a:solidFill>
                <a:latin typeface="Courier New"/>
              </a:rPr>
              <a:t>"text-embedding-3-small"</a:t>
            </a:r>
            <a:r>
              <a:rPr sz="860" b="0" i="0">
                <a:solidFill>
                  <a:srgbClr val="E4EDF2"/>
                </a:solidFill>
                <a:latin typeface="Courier New"/>
              </a:rPr>
              <a:t>)</a:t>
            </a:r>
          </a:p>
          <a:p>
            <a:pPr>
              <a:lnSpc>
                <a:spcPct val="112000"/>
              </a:lnSpc>
              <a:spcAft>
                <a:spcPts val="100"/>
              </a:spcAft>
            </a:pPr>
            <a:r>
              <a:rPr sz="860" b="0" i="0">
                <a:solidFill>
                  <a:srgbClr val="9FC4EE"/>
                </a:solidFill>
                <a:latin typeface="Courier New"/>
              </a:rPr>
              <a:t>len</a:t>
            </a:r>
            <a:r>
              <a:rPr sz="860" b="0" i="0">
                <a:solidFill>
                  <a:srgbClr val="E4EDF2"/>
                </a:solidFill>
                <a:latin typeface="Courier New"/>
              </a:rPr>
              <a:t>(</a:t>
            </a:r>
            <a:r>
              <a:rPr sz="860" b="0" i="0">
                <a:solidFill>
                  <a:srgbClr val="E4EDF2"/>
                </a:solidFill>
                <a:latin typeface="Courier New"/>
              </a:rPr>
              <a:t>r</a:t>
            </a:r>
            <a:r>
              <a:rPr sz="860" b="0" i="0">
                <a:solidFill>
                  <a:srgbClr val="E4EDF2"/>
                </a:solidFill>
                <a:latin typeface="Courier New"/>
              </a:rPr>
              <a:t>.</a:t>
            </a:r>
            <a:r>
              <a:rPr sz="860" b="0" i="0">
                <a:solidFill>
                  <a:srgbClr val="E4EDF2"/>
                </a:solidFill>
                <a:latin typeface="Courier New"/>
              </a:rPr>
              <a:t>data</a:t>
            </a:r>
            <a:r>
              <a:rPr sz="860" b="0" i="0">
                <a:solidFill>
                  <a:srgbClr val="E4EDF2"/>
                </a:solidFill>
                <a:latin typeface="Courier New"/>
              </a:rPr>
              <a:t>[</a:t>
            </a:r>
            <a:r>
              <a:rPr sz="860" b="0" i="0">
                <a:solidFill>
                  <a:srgbClr val="9FC4EE"/>
                </a:solidFill>
                <a:latin typeface="Courier New"/>
              </a:rPr>
              <a:t>0</a:t>
            </a:r>
            <a:r>
              <a:rPr sz="860" b="0" i="0">
                <a:solidFill>
                  <a:srgbClr val="E4EDF2"/>
                </a:solidFill>
                <a:latin typeface="Courier New"/>
              </a:rPr>
              <a:t>].</a:t>
            </a:r>
            <a:r>
              <a:rPr sz="860" b="0" i="0">
                <a:solidFill>
                  <a:srgbClr val="E4EDF2"/>
                </a:solidFill>
                <a:latin typeface="Courier New"/>
              </a:rPr>
              <a:t>embedding</a:t>
            </a:r>
            <a:r>
              <a:rPr sz="860" b="0" i="0">
                <a:solidFill>
                  <a:srgbClr val="E4EDF2"/>
                </a:solidFill>
                <a:latin typeface="Courier New"/>
              </a:rPr>
              <a:t>)   </a:t>
            </a:r>
            <a:r>
              <a:rPr sz="860" b="0" i="0">
                <a:solidFill>
                  <a:srgbClr val="76909F"/>
                </a:solidFill>
                <a:latin typeface="Courier New"/>
              </a:rPr>
              <a:t># -&gt; 1536</a:t>
            </a:r>
          </a:p>
        </p:txBody>
      </p:sp>
      <p:graphicFrame>
        <p:nvGraphicFramePr>
          <p:cNvPr id="12" name="Table 11"/>
          <p:cNvGraphicFramePr>
            <a:graphicFrameLocks noGrp="1"/>
          </p:cNvGraphicFramePr>
          <p:nvPr/>
        </p:nvGraphicFramePr>
        <p:xfrm>
          <a:off x="6126480" y="1792224"/>
          <a:ext cx="5422391" cy="2103115"/>
        </p:xfrm>
        <a:graphic>
          <a:graphicData uri="http://schemas.openxmlformats.org/drawingml/2006/table">
            <a:tbl>
              <a:tblPr firstRow="1" bandRow="1">
                <a:tableStyleId>{5C22544A-7EE6-4342-B048-85BDC9FD1C3A}</a:tableStyleId>
              </a:tblPr>
              <a:tblGrid>
                <a:gridCol w="1891532"/>
                <a:gridCol w="630510"/>
                <a:gridCol w="2900349"/>
              </a:tblGrid>
              <a:tr h="420623">
                <a:tc>
                  <a:txBody>
                    <a:bodyPr wrap="square"/>
                    <a:lstStyle/>
                    <a:p>
                      <a:r>
                        <a:rPr sz="950" b="1">
                          <a:solidFill>
                            <a:srgbClr val="73305F"/>
                          </a:solidFill>
                          <a:latin typeface="Calibri"/>
                        </a:rPr>
                        <a:t>Model</a:t>
                      </a:r>
                    </a:p>
                  </a:txBody>
                  <a:tcPr marL="91440" marR="73152" marT="36576" marB="36576" anchor="ctr">
                    <a:solidFill>
                      <a:srgbClr val="F1E4ED"/>
                    </a:solidFill>
                  </a:tcPr>
                </a:tc>
                <a:tc>
                  <a:txBody>
                    <a:bodyPr wrap="square"/>
                    <a:lstStyle/>
                    <a:p>
                      <a:r>
                        <a:rPr sz="950" b="1">
                          <a:solidFill>
                            <a:srgbClr val="73305F"/>
                          </a:solidFill>
                          <a:latin typeface="Calibri"/>
                        </a:rPr>
                        <a:t>Dims</a:t>
                      </a:r>
                    </a:p>
                  </a:txBody>
                  <a:tcPr marL="91440" marR="73152" marT="36576" marB="36576" anchor="ctr">
                    <a:solidFill>
                      <a:srgbClr val="F1E4ED"/>
                    </a:solidFill>
                  </a:tcPr>
                </a:tc>
                <a:tc>
                  <a:txBody>
                    <a:bodyPr wrap="square"/>
                    <a:lstStyle/>
                    <a:p>
                      <a:r>
                        <a:rPr sz="950" b="1">
                          <a:solidFill>
                            <a:srgbClr val="73305F"/>
                          </a:solidFill>
                          <a:latin typeface="Calibri"/>
                        </a:rPr>
                        <a:t>Notes</a:t>
                      </a:r>
                    </a:p>
                  </a:txBody>
                  <a:tcPr marL="91440" marR="73152" marT="36576" marB="36576" anchor="ctr">
                    <a:solidFill>
                      <a:srgbClr val="F1E4ED"/>
                    </a:solidFill>
                  </a:tcPr>
                </a:tc>
              </a:tr>
              <a:tr h="420623">
                <a:tc>
                  <a:txBody>
                    <a:bodyPr wrap="square"/>
                    <a:lstStyle/>
                    <a:p>
                      <a:r>
                        <a:rPr sz="1000" b="0">
                          <a:solidFill>
                            <a:srgbClr val="1B2B36"/>
                          </a:solidFill>
                          <a:latin typeface="Calibri"/>
                        </a:rPr>
                        <a:t>all-MiniLM-L6-v2</a:t>
                      </a:r>
                    </a:p>
                  </a:txBody>
                  <a:tcPr marL="91440" marR="73152" marT="36576" marB="36576" anchor="ctr">
                    <a:solidFill>
                      <a:srgbClr val="FFFFFF"/>
                    </a:solidFill>
                  </a:tcPr>
                </a:tc>
                <a:tc>
                  <a:txBody>
                    <a:bodyPr wrap="square"/>
                    <a:lstStyle/>
                    <a:p>
                      <a:r>
                        <a:rPr sz="1000" b="0">
                          <a:solidFill>
                            <a:srgbClr val="1B2B36"/>
                          </a:solidFill>
                          <a:latin typeface="Calibri"/>
                        </a:rPr>
                        <a:t>384</a:t>
                      </a:r>
                    </a:p>
                  </a:txBody>
                  <a:tcPr marL="91440" marR="73152" marT="36576" marB="36576" anchor="ctr">
                    <a:solidFill>
                      <a:srgbClr val="FFFFFF"/>
                    </a:solidFill>
                  </a:tcPr>
                </a:tc>
                <a:tc>
                  <a:txBody>
                    <a:bodyPr wrap="square"/>
                    <a:lstStyle/>
                    <a:p>
                      <a:r>
                        <a:rPr sz="1000" b="0">
                          <a:solidFill>
                            <a:srgbClr val="1B2B36"/>
                          </a:solidFill>
                          <a:latin typeface="Calibri"/>
                        </a:rPr>
                        <a:t>local · offline · ~90 MB · our default</a:t>
                      </a:r>
                    </a:p>
                  </a:txBody>
                  <a:tcPr marL="91440" marR="73152" marT="36576" marB="36576" anchor="ctr">
                    <a:solidFill>
                      <a:srgbClr val="FFFFFF"/>
                    </a:solidFill>
                  </a:tcPr>
                </a:tc>
              </a:tr>
              <a:tr h="420623">
                <a:tc>
                  <a:txBody>
                    <a:bodyPr wrap="square"/>
                    <a:lstStyle/>
                    <a:p>
                      <a:r>
                        <a:rPr sz="1000" b="0">
                          <a:solidFill>
                            <a:srgbClr val="1B2B36"/>
                          </a:solidFill>
                          <a:latin typeface="Calibri"/>
                        </a:rPr>
                        <a:t>text-embedding-3-small</a:t>
                      </a:r>
                    </a:p>
                  </a:txBody>
                  <a:tcPr marL="91440" marR="73152" marT="36576" marB="36576" anchor="ctr">
                    <a:solidFill>
                      <a:srgbClr val="F1F5F8"/>
                    </a:solidFill>
                  </a:tcPr>
                </a:tc>
                <a:tc>
                  <a:txBody>
                    <a:bodyPr wrap="square"/>
                    <a:lstStyle/>
                    <a:p>
                      <a:r>
                        <a:rPr sz="1000" b="0">
                          <a:solidFill>
                            <a:srgbClr val="1B2B36"/>
                          </a:solidFill>
                          <a:latin typeface="Calibri"/>
                        </a:rPr>
                        <a:t>1536</a:t>
                      </a:r>
                    </a:p>
                  </a:txBody>
                  <a:tcPr marL="91440" marR="73152" marT="36576" marB="36576" anchor="ctr">
                    <a:solidFill>
                      <a:srgbClr val="F1F5F8"/>
                    </a:solidFill>
                  </a:tcPr>
                </a:tc>
                <a:tc>
                  <a:txBody>
                    <a:bodyPr wrap="square"/>
                    <a:lstStyle/>
                    <a:p>
                      <a:r>
                        <a:rPr sz="1000" b="0">
                          <a:solidFill>
                            <a:srgbClr val="1B2B36"/>
                          </a:solidFill>
                          <a:latin typeface="Calibri"/>
                        </a:rPr>
                        <a:t>OpenAI · API key · low cost</a:t>
                      </a:r>
                    </a:p>
                  </a:txBody>
                  <a:tcPr marL="91440" marR="73152" marT="36576" marB="36576" anchor="ctr">
                    <a:solidFill>
                      <a:srgbClr val="F1F5F8"/>
                    </a:solidFill>
                  </a:tcPr>
                </a:tc>
              </a:tr>
              <a:tr h="420623">
                <a:tc>
                  <a:txBody>
                    <a:bodyPr wrap="square"/>
                    <a:lstStyle/>
                    <a:p>
                      <a:r>
                        <a:rPr sz="1000" b="0">
                          <a:solidFill>
                            <a:srgbClr val="1B2B36"/>
                          </a:solidFill>
                          <a:latin typeface="Calibri"/>
                        </a:rPr>
                        <a:t>text-embedding-3-large</a:t>
                      </a:r>
                    </a:p>
                  </a:txBody>
                  <a:tcPr marL="91440" marR="73152" marT="36576" marB="36576" anchor="ctr">
                    <a:solidFill>
                      <a:srgbClr val="FFFFFF"/>
                    </a:solidFill>
                  </a:tcPr>
                </a:tc>
                <a:tc>
                  <a:txBody>
                    <a:bodyPr wrap="square"/>
                    <a:lstStyle/>
                    <a:p>
                      <a:r>
                        <a:rPr sz="1000" b="0">
                          <a:solidFill>
                            <a:srgbClr val="1B2B36"/>
                          </a:solidFill>
                          <a:latin typeface="Calibri"/>
                        </a:rPr>
                        <a:t>3072</a:t>
                      </a:r>
                    </a:p>
                  </a:txBody>
                  <a:tcPr marL="91440" marR="73152" marT="36576" marB="36576" anchor="ctr">
                    <a:solidFill>
                      <a:srgbClr val="FFFFFF"/>
                    </a:solidFill>
                  </a:tcPr>
                </a:tc>
                <a:tc>
                  <a:txBody>
                    <a:bodyPr wrap="square"/>
                    <a:lstStyle/>
                    <a:p>
                      <a:r>
                        <a:rPr sz="1000" b="0">
                          <a:solidFill>
                            <a:srgbClr val="1B2B36"/>
                          </a:solidFill>
                          <a:latin typeface="Calibri"/>
                        </a:rPr>
                        <a:t>higher accuracy · higher cost</a:t>
                      </a:r>
                    </a:p>
                  </a:txBody>
                  <a:tcPr marL="91440" marR="73152" marT="36576" marB="36576" anchor="ctr">
                    <a:solidFill>
                      <a:srgbClr val="FFFFFF"/>
                    </a:solidFill>
                  </a:tcPr>
                </a:tc>
              </a:tr>
              <a:tr h="420623">
                <a:tc>
                  <a:txBody>
                    <a:bodyPr wrap="square"/>
                    <a:lstStyle/>
                    <a:p>
                      <a:r>
                        <a:rPr sz="1000" b="0">
                          <a:solidFill>
                            <a:srgbClr val="1B2B36"/>
                          </a:solidFill>
                          <a:latin typeface="Calibri"/>
                        </a:rPr>
                        <a:t>text-embedding-ada-002</a:t>
                      </a:r>
                    </a:p>
                  </a:txBody>
                  <a:tcPr marL="91440" marR="73152" marT="36576" marB="36576" anchor="ctr">
                    <a:solidFill>
                      <a:srgbClr val="F1F5F8"/>
                    </a:solidFill>
                  </a:tcPr>
                </a:tc>
                <a:tc>
                  <a:txBody>
                    <a:bodyPr wrap="square"/>
                    <a:lstStyle/>
                    <a:p>
                      <a:r>
                        <a:rPr sz="1000" b="0">
                          <a:solidFill>
                            <a:srgbClr val="1B2B36"/>
                          </a:solidFill>
                          <a:latin typeface="Calibri"/>
                        </a:rPr>
                        <a:t>1536</a:t>
                      </a:r>
                    </a:p>
                  </a:txBody>
                  <a:tcPr marL="91440" marR="73152" marT="36576" marB="36576" anchor="ctr">
                    <a:solidFill>
                      <a:srgbClr val="F1F5F8"/>
                    </a:solidFill>
                  </a:tcPr>
                </a:tc>
                <a:tc>
                  <a:txBody>
                    <a:bodyPr wrap="square"/>
                    <a:lstStyle/>
                    <a:p>
                      <a:r>
                        <a:rPr sz="1000" b="0">
                          <a:solidFill>
                            <a:srgbClr val="1B2B36"/>
                          </a:solidFill>
                          <a:latin typeface="Calibri"/>
                        </a:rPr>
                        <a:t>legacy, still widely deployed</a:t>
                      </a:r>
                    </a:p>
                  </a:txBody>
                  <a:tcPr marL="91440" marR="73152" marT="36576" marB="36576" anchor="ctr">
                    <a:solidFill>
                      <a:srgbClr val="F1F5F8"/>
                    </a:solidFill>
                  </a:tcPr>
                </a:tc>
              </a:tr>
            </a:tbl>
          </a:graphicData>
        </a:graphic>
      </p:graphicFrame>
      <p:sp>
        <p:nvSpPr>
          <p:cNvPr id="13" name="Rounded Rectangle 12"/>
          <p:cNvSpPr/>
          <p:nvPr/>
        </p:nvSpPr>
        <p:spPr>
          <a:xfrm>
            <a:off x="6126480" y="4059936"/>
            <a:ext cx="5422392" cy="1005840"/>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45936" y="4178808"/>
            <a:ext cx="4983479" cy="768096"/>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More dimensions is not free.  </a:t>
            </a:r>
            <a:r>
              <a:rPr sz="1100" b="0" i="0">
                <a:solidFill>
                  <a:srgbClr val="1B2B36"/>
                </a:solidFill>
                <a:latin typeface="Calibri"/>
              </a:rPr>
              <a:t>Every extra dimension costs storage, memory and query time — permanently. A 384-d model that runs on a laptop CPU with no network is the right default for security work: your corpus never leaves the machine to be vectorised.</a:t>
            </a:r>
          </a:p>
        </p:txBody>
      </p:sp>
      <p:sp>
        <p:nvSpPr>
          <p:cNvPr id="15" name="Rounded Rectangle 14"/>
          <p:cNvSpPr/>
          <p:nvPr/>
        </p:nvSpPr>
        <p:spPr>
          <a:xfrm>
            <a:off x="6126480" y="5212080"/>
            <a:ext cx="5422392" cy="1005840"/>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45936" y="5358384"/>
            <a:ext cx="4983479"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What actually decides it</a:t>
            </a:r>
          </a:p>
        </p:txBody>
      </p:sp>
      <p:sp>
        <p:nvSpPr>
          <p:cNvPr id="17" name="TextBox 16"/>
          <p:cNvSpPr txBox="1"/>
          <p:nvPr/>
        </p:nvSpPr>
        <p:spPr>
          <a:xfrm>
            <a:off x="6345936" y="5724144"/>
            <a:ext cx="4983479" cy="347472"/>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Your data and your task — not the leaderboard position. Shortlist from MTEB, then benchmark two candidates on your own questions before you commit.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EMBEDDINGS</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meaning-space map</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1,000 CVEs projected down to two dimensions — the plot the notebook cannot draw when the matplotlib backend is blocked.</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12</a:t>
            </a:r>
          </a:p>
        </p:txBody>
      </p:sp>
      <p:pic>
        <p:nvPicPr>
          <p:cNvPr id="7" name="Picture 6" descr="pca_map.png"/>
          <p:cNvPicPr>
            <a:picLocks noChangeAspect="1"/>
          </p:cNvPicPr>
          <p:nvPr/>
        </p:nvPicPr>
        <p:blipFill>
          <a:blip r:embed="rId3"/>
          <a:stretch>
            <a:fillRect/>
          </a:stretch>
        </p:blipFill>
        <p:spPr>
          <a:xfrm>
            <a:off x="2260309" y="1682495"/>
            <a:ext cx="7668333" cy="3127248"/>
          </a:xfrm>
          <a:prstGeom prst="rect">
            <a:avLst/>
          </a:prstGeom>
        </p:spPr>
      </p:pic>
      <p:sp>
        <p:nvSpPr>
          <p:cNvPr id="8" name="Rounded Rectangle 7"/>
          <p:cNvSpPr/>
          <p:nvPr/>
        </p:nvSpPr>
        <p:spPr>
          <a:xfrm>
            <a:off x="640080" y="4919472"/>
            <a:ext cx="6309360" cy="129844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5038344"/>
            <a:ext cx="58338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lecture2_embeddings_and_vectordb.ipynb, SECTION 7 — THE CELL THAT OFTEN CANNOT RENDER</a:t>
            </a:r>
          </a:p>
        </p:txBody>
      </p:sp>
      <p:sp>
        <p:nvSpPr>
          <p:cNvPr id="10" name="TextBox 9"/>
          <p:cNvSpPr txBox="1"/>
          <p:nvPr/>
        </p:nvSpPr>
        <p:spPr>
          <a:xfrm>
            <a:off x="877824" y="5312664"/>
            <a:ext cx="5833872" cy="795528"/>
          </a:xfrm>
          <a:prstGeom prst="rect">
            <a:avLst/>
          </a:prstGeom>
          <a:noFill/>
        </p:spPr>
        <p:txBody>
          <a:bodyPr wrap="square" lIns="0" rIns="0" tIns="0" bIns="0">
            <a:spAutoFit/>
          </a:bodyPr>
          <a:lstStyle/>
          <a:p>
            <a:pPr>
              <a:lnSpc>
                <a:spcPct val="112000"/>
              </a:lnSpc>
              <a:spcAft>
                <a:spcPts val="100"/>
              </a:spcAft>
            </a:pPr>
            <a:r>
              <a:rPr sz="880" b="0" i="0">
                <a:solidFill>
                  <a:srgbClr val="D9A6CE"/>
                </a:solidFill>
                <a:latin typeface="Courier New"/>
              </a:rPr>
              <a:t>from</a:t>
            </a:r>
            <a:r>
              <a:rPr sz="880" b="0" i="0">
                <a:solidFill>
                  <a:srgbClr val="E4EDF2"/>
                </a:solidFill>
                <a:latin typeface="Courier New"/>
              </a:rPr>
              <a:t> </a:t>
            </a:r>
            <a:r>
              <a:rPr sz="880" b="0" i="0">
                <a:solidFill>
                  <a:srgbClr val="E4EDF2"/>
                </a:solidFill>
                <a:latin typeface="Courier New"/>
              </a:rPr>
              <a:t>sklearn</a:t>
            </a:r>
            <a:r>
              <a:rPr sz="880" b="0" i="0">
                <a:solidFill>
                  <a:srgbClr val="E4EDF2"/>
                </a:solidFill>
                <a:latin typeface="Courier New"/>
              </a:rPr>
              <a:t>.</a:t>
            </a:r>
            <a:r>
              <a:rPr sz="880" b="0" i="0">
                <a:solidFill>
                  <a:srgbClr val="E4EDF2"/>
                </a:solidFill>
                <a:latin typeface="Courier New"/>
              </a:rPr>
              <a:t>decomposition</a:t>
            </a:r>
            <a:r>
              <a:rPr sz="880" b="0" i="0">
                <a:solidFill>
                  <a:srgbClr val="E4EDF2"/>
                </a:solidFill>
                <a:latin typeface="Courier New"/>
              </a:rPr>
              <a:t> </a:t>
            </a:r>
            <a:r>
              <a:rPr sz="880" b="0" i="0">
                <a:solidFill>
                  <a:srgbClr val="D9A6CE"/>
                </a:solidFill>
                <a:latin typeface="Courier New"/>
              </a:rPr>
              <a:t>import</a:t>
            </a:r>
            <a:r>
              <a:rPr sz="880" b="0" i="0">
                <a:solidFill>
                  <a:srgbClr val="E4EDF2"/>
                </a:solidFill>
                <a:latin typeface="Courier New"/>
              </a:rPr>
              <a:t> </a:t>
            </a:r>
            <a:r>
              <a:rPr sz="880" b="0" i="0">
                <a:solidFill>
                  <a:srgbClr val="E4EDF2"/>
                </a:solidFill>
                <a:latin typeface="Courier New"/>
              </a:rPr>
              <a:t>PCA</a:t>
            </a:r>
          </a:p>
          <a:p>
            <a:pPr>
              <a:lnSpc>
                <a:spcPct val="112000"/>
              </a:lnSpc>
              <a:spcAft>
                <a:spcPts val="100"/>
              </a:spcAft>
            </a:pPr>
            <a:r>
              <a:rPr sz="880" b="0" i="0">
                <a:solidFill>
                  <a:srgbClr val="E4EDF2"/>
                </a:solidFill>
                <a:latin typeface="Courier New"/>
              </a:rPr>
              <a:t/>
            </a:r>
          </a:p>
          <a:p>
            <a:pPr>
              <a:lnSpc>
                <a:spcPct val="112000"/>
              </a:lnSpc>
              <a:spcAft>
                <a:spcPts val="100"/>
              </a:spcAft>
            </a:pPr>
            <a:r>
              <a:rPr sz="880" b="0" i="0">
                <a:solidFill>
                  <a:srgbClr val="76909F"/>
                </a:solidFill>
                <a:latin typeface="Courier New"/>
              </a:rPr>
              <a:t># squeeze each CVE vector down to 2 numbers so we can plot it</a:t>
            </a:r>
          </a:p>
          <a:p>
            <a:pPr>
              <a:lnSpc>
                <a:spcPct val="112000"/>
              </a:lnSpc>
              <a:spcAft>
                <a:spcPts val="100"/>
              </a:spcAft>
            </a:pPr>
            <a:r>
              <a:rPr sz="880" b="0" i="0">
                <a:solidFill>
                  <a:srgbClr val="E4EDF2"/>
                </a:solidFill>
                <a:latin typeface="Courier New"/>
              </a:rPr>
              <a:t>flat</a:t>
            </a:r>
            <a:r>
              <a:rPr sz="880" b="0" i="0">
                <a:solidFill>
                  <a:srgbClr val="E4EDF2"/>
                </a:solidFill>
                <a:latin typeface="Courier New"/>
              </a:rPr>
              <a:t> = </a:t>
            </a:r>
            <a:r>
              <a:rPr sz="880" b="0" i="0">
                <a:solidFill>
                  <a:srgbClr val="9FC4EE"/>
                </a:solidFill>
                <a:latin typeface="Courier New"/>
              </a:rPr>
              <a:t>PCA</a:t>
            </a:r>
            <a:r>
              <a:rPr sz="880" b="0" i="0">
                <a:solidFill>
                  <a:srgbClr val="E4EDF2"/>
                </a:solidFill>
                <a:latin typeface="Courier New"/>
              </a:rPr>
              <a:t>(</a:t>
            </a:r>
            <a:r>
              <a:rPr sz="880" b="0" i="0">
                <a:solidFill>
                  <a:srgbClr val="E4EDF2"/>
                </a:solidFill>
                <a:latin typeface="Courier New"/>
              </a:rPr>
              <a:t>n_components</a:t>
            </a:r>
            <a:r>
              <a:rPr sz="880" b="0" i="0">
                <a:solidFill>
                  <a:srgbClr val="E4EDF2"/>
                </a:solidFill>
                <a:latin typeface="Courier New"/>
              </a:rPr>
              <a:t>=</a:t>
            </a:r>
            <a:r>
              <a:rPr sz="880" b="0" i="0">
                <a:solidFill>
                  <a:srgbClr val="9FC4EE"/>
                </a:solidFill>
                <a:latin typeface="Courier New"/>
              </a:rPr>
              <a:t>2</a:t>
            </a:r>
            <a:r>
              <a:rPr sz="880" b="0" i="0">
                <a:solidFill>
                  <a:srgbClr val="E4EDF2"/>
                </a:solidFill>
                <a:latin typeface="Courier New"/>
              </a:rPr>
              <a:t>).</a:t>
            </a:r>
            <a:r>
              <a:rPr sz="880" b="0" i="0">
                <a:solidFill>
                  <a:srgbClr val="9FC4EE"/>
                </a:solidFill>
                <a:latin typeface="Courier New"/>
              </a:rPr>
              <a:t>fit_transform</a:t>
            </a:r>
            <a:r>
              <a:rPr sz="880" b="0" i="0">
                <a:solidFill>
                  <a:srgbClr val="E4EDF2"/>
                </a:solidFill>
                <a:latin typeface="Courier New"/>
              </a:rPr>
              <a:t>(</a:t>
            </a:r>
            <a:r>
              <a:rPr sz="880" b="0" i="0">
                <a:solidFill>
                  <a:srgbClr val="E4EDF2"/>
                </a:solidFill>
                <a:latin typeface="Courier New"/>
              </a:rPr>
              <a:t>cve_vectors</a:t>
            </a:r>
            <a:r>
              <a:rPr sz="880" b="0" i="0">
                <a:solidFill>
                  <a:srgbClr val="E4EDF2"/>
                </a:solidFill>
                <a:latin typeface="Courier New"/>
              </a:rPr>
              <a:t>)</a:t>
            </a:r>
          </a:p>
        </p:txBody>
      </p:sp>
      <p:sp>
        <p:nvSpPr>
          <p:cNvPr id="11" name="Rounded Rectangle 10"/>
          <p:cNvSpPr/>
          <p:nvPr/>
        </p:nvSpPr>
        <p:spPr>
          <a:xfrm>
            <a:off x="7068312" y="4919472"/>
            <a:ext cx="4480560" cy="1298448"/>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87768" y="5065776"/>
            <a:ext cx="4041648"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What you are looking for</a:t>
            </a:r>
          </a:p>
        </p:txBody>
      </p:sp>
      <p:sp>
        <p:nvSpPr>
          <p:cNvPr id="13" name="TextBox 12"/>
          <p:cNvSpPr txBox="1"/>
          <p:nvPr/>
        </p:nvSpPr>
        <p:spPr>
          <a:xfrm>
            <a:off x="7287768" y="5431536"/>
            <a:ext cx="4041648" cy="640080"/>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Structure. Severity separates cleanly; vulnerability class does not. If the vectors encoded what the CVE says, CWE would cluster too — and it does not.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EMBEDDINGS</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When embeddings collapse</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vectors shipped with this module have 8 dimensions, not 384. Here is exactly what that does to retrieval.</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13</a:t>
            </a:r>
          </a:p>
        </p:txBody>
      </p:sp>
      <p:pic>
        <p:nvPicPr>
          <p:cNvPr id="7" name="Picture 6" descr="dim_collapse.png"/>
          <p:cNvPicPr>
            <a:picLocks noChangeAspect="1"/>
          </p:cNvPicPr>
          <p:nvPr/>
        </p:nvPicPr>
        <p:blipFill>
          <a:blip r:embed="rId3"/>
          <a:stretch>
            <a:fillRect/>
          </a:stretch>
        </p:blipFill>
        <p:spPr>
          <a:xfrm>
            <a:off x="1794142" y="1664207"/>
            <a:ext cx="8600667" cy="3255264"/>
          </a:xfrm>
          <a:prstGeom prst="rect">
            <a:avLst/>
          </a:prstGeom>
        </p:spPr>
      </p:pic>
      <p:sp>
        <p:nvSpPr>
          <p:cNvPr id="8" name="Rounded Rectangle 7"/>
          <p:cNvSpPr/>
          <p:nvPr/>
        </p:nvSpPr>
        <p:spPr>
          <a:xfrm>
            <a:off x="640080" y="5029200"/>
            <a:ext cx="6309360" cy="1188720"/>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5148072"/>
            <a:ext cx="58338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lecture2_embeddings_and_vectordb.ipynb, SECTION 3 — ADD ONE LINE AND THE MYSTERY DISSOLVES</a:t>
            </a:r>
          </a:p>
        </p:txBody>
      </p:sp>
      <p:sp>
        <p:nvSpPr>
          <p:cNvPr id="10" name="TextBox 9"/>
          <p:cNvSpPr txBox="1"/>
          <p:nvPr/>
        </p:nvSpPr>
        <p:spPr>
          <a:xfrm>
            <a:off x="877824" y="5422392"/>
            <a:ext cx="5833872" cy="685800"/>
          </a:xfrm>
          <a:prstGeom prst="rect">
            <a:avLst/>
          </a:prstGeom>
          <a:noFill/>
        </p:spPr>
        <p:txBody>
          <a:bodyPr wrap="square" lIns="0" rIns="0" tIns="0" bIns="0">
            <a:spAutoFit/>
          </a:bodyPr>
          <a:lstStyle/>
          <a:p>
            <a:pPr>
              <a:lnSpc>
                <a:spcPct val="112000"/>
              </a:lnSpc>
              <a:spcAft>
                <a:spcPts val="100"/>
              </a:spcAft>
            </a:pPr>
            <a:r>
              <a:rPr sz="720" b="0" i="0">
                <a:solidFill>
                  <a:srgbClr val="E4EDF2"/>
                </a:solidFill>
                <a:latin typeface="Courier New"/>
              </a:rPr>
              <a:t>cve_vectors</a:t>
            </a:r>
            <a:r>
              <a:rPr sz="720" b="0" i="0">
                <a:solidFill>
                  <a:srgbClr val="E4EDF2"/>
                </a:solidFill>
                <a:latin typeface="Courier New"/>
              </a:rPr>
              <a:t> = </a:t>
            </a:r>
            <a:r>
              <a:rPr sz="720" b="0" i="0">
                <a:solidFill>
                  <a:srgbClr val="E4EDF2"/>
                </a:solidFill>
                <a:latin typeface="Courier New"/>
              </a:rPr>
              <a:t>np</a:t>
            </a:r>
            <a:r>
              <a:rPr sz="720" b="0" i="0">
                <a:solidFill>
                  <a:srgbClr val="E4EDF2"/>
                </a:solidFill>
                <a:latin typeface="Courier New"/>
              </a:rPr>
              <a:t>.</a:t>
            </a:r>
            <a:r>
              <a:rPr sz="720" b="0" i="0">
                <a:solidFill>
                  <a:srgbClr val="9FC4EE"/>
                </a:solidFill>
                <a:latin typeface="Courier New"/>
              </a:rPr>
              <a:t>loadtxt</a:t>
            </a:r>
            <a:r>
              <a:rPr sz="720" b="0" i="0">
                <a:solidFill>
                  <a:srgbClr val="E4EDF2"/>
                </a:solidFill>
                <a:latin typeface="Courier New"/>
              </a:rPr>
              <a:t>(</a:t>
            </a:r>
            <a:r>
              <a:rPr sz="720" b="0" i="0">
                <a:solidFill>
                  <a:srgbClr val="EBB183"/>
                </a:solidFill>
                <a:latin typeface="Courier New"/>
              </a:rPr>
              <a:t>"CVE_vectors_1000.tsv"</a:t>
            </a:r>
            <a:r>
              <a:rPr sz="720" b="0" i="0">
                <a:solidFill>
                  <a:srgbClr val="E4EDF2"/>
                </a:solidFill>
                <a:latin typeface="Courier New"/>
              </a:rPr>
              <a:t>, </a:t>
            </a:r>
            <a:r>
              <a:rPr sz="720" b="0" i="0">
                <a:solidFill>
                  <a:srgbClr val="E4EDF2"/>
                </a:solidFill>
                <a:latin typeface="Courier New"/>
              </a:rPr>
              <a:t>delimiter</a:t>
            </a:r>
            <a:r>
              <a:rPr sz="720" b="0" i="0">
                <a:solidFill>
                  <a:srgbClr val="E4EDF2"/>
                </a:solidFill>
                <a:latin typeface="Courier New"/>
              </a:rPr>
              <a:t>=</a:t>
            </a:r>
            <a:r>
              <a:rPr sz="720" b="0" i="0">
                <a:solidFill>
                  <a:srgbClr val="EBB183"/>
                </a:solidFill>
                <a:latin typeface="Courier New"/>
              </a:rPr>
              <a:t>"\t"</a:t>
            </a:r>
            <a:r>
              <a:rPr sz="720" b="0" i="0">
                <a:solidFill>
                  <a:srgbClr val="E4EDF2"/>
                </a:solidFill>
                <a:latin typeface="Courier New"/>
              </a:rPr>
              <a:t>)</a:t>
            </a:r>
          </a:p>
          <a:p>
            <a:pPr>
              <a:lnSpc>
                <a:spcPct val="112000"/>
              </a:lnSpc>
              <a:spcAft>
                <a:spcPts val="100"/>
              </a:spcAft>
            </a:pPr>
            <a:r>
              <a:rPr sz="720" b="0" i="0">
                <a:solidFill>
                  <a:srgbClr val="E4EDF2"/>
                </a:solidFill>
                <a:latin typeface="Courier New"/>
              </a:rPr>
              <a:t>cve_vectors</a:t>
            </a:r>
            <a:r>
              <a:rPr sz="720" b="0" i="0">
                <a:solidFill>
                  <a:srgbClr val="E4EDF2"/>
                </a:solidFill>
                <a:latin typeface="Courier New"/>
              </a:rPr>
              <a:t>.</a:t>
            </a:r>
            <a:r>
              <a:rPr sz="720" b="0" i="0">
                <a:solidFill>
                  <a:srgbClr val="E4EDF2"/>
                </a:solidFill>
                <a:latin typeface="Courier New"/>
              </a:rPr>
              <a:t>shape</a:t>
            </a:r>
            <a:r>
              <a:rPr sz="720" b="0" i="0">
                <a:solidFill>
                  <a:srgbClr val="E4EDF2"/>
                </a:solidFill>
                <a:latin typeface="Courier New"/>
              </a:rPr>
              <a:t>          </a:t>
            </a:r>
            <a:r>
              <a:rPr sz="720" b="0" i="0">
                <a:solidFill>
                  <a:srgbClr val="76909F"/>
                </a:solidFill>
                <a:latin typeface="Courier New"/>
              </a:rPr>
              <a:t># -&gt; (1000, 8)   not (1000, 384)</a:t>
            </a:r>
          </a:p>
          <a:p>
            <a:pPr>
              <a:lnSpc>
                <a:spcPct val="112000"/>
              </a:lnSpc>
              <a:spcAft>
                <a:spcPts val="100"/>
              </a:spcAft>
            </a:pPr>
            <a:r>
              <a:rPr sz="720" b="0" i="0">
                <a:solidFill>
                  <a:srgbClr val="E4EDF2"/>
                </a:solidFill>
                <a:latin typeface="Courier New"/>
              </a:rPr>
              <a:t/>
            </a:r>
          </a:p>
          <a:p>
            <a:pPr>
              <a:lnSpc>
                <a:spcPct val="112000"/>
              </a:lnSpc>
              <a:spcAft>
                <a:spcPts val="100"/>
              </a:spcAft>
            </a:pPr>
            <a:r>
              <a:rPr sz="720" b="0" i="0">
                <a:solidFill>
                  <a:srgbClr val="D9A6CE"/>
                </a:solidFill>
                <a:latin typeface="Courier New"/>
              </a:rPr>
              <a:t>for</a:t>
            </a:r>
            <a:r>
              <a:rPr sz="720" b="0" i="0">
                <a:solidFill>
                  <a:srgbClr val="E4EDF2"/>
                </a:solidFill>
                <a:latin typeface="Courier New"/>
              </a:rPr>
              <a:t> </a:t>
            </a:r>
            <a:r>
              <a:rPr sz="720" b="0" i="0">
                <a:solidFill>
                  <a:srgbClr val="E4EDF2"/>
                </a:solidFill>
                <a:latin typeface="Courier New"/>
              </a:rPr>
              <a:t>row</a:t>
            </a:r>
            <a:r>
              <a:rPr sz="720" b="0" i="0">
                <a:solidFill>
                  <a:srgbClr val="E4EDF2"/>
                </a:solidFill>
                <a:latin typeface="Courier New"/>
              </a:rPr>
              <a:t> </a:t>
            </a:r>
            <a:r>
              <a:rPr sz="720" b="0" i="0">
                <a:solidFill>
                  <a:srgbClr val="D9A6CE"/>
                </a:solidFill>
                <a:latin typeface="Courier New"/>
              </a:rPr>
              <a:t>in</a:t>
            </a:r>
            <a:r>
              <a:rPr sz="720" b="0" i="0">
                <a:solidFill>
                  <a:srgbClr val="E4EDF2"/>
                </a:solidFill>
                <a:latin typeface="Courier New"/>
              </a:rPr>
              <a:t> </a:t>
            </a:r>
            <a:r>
              <a:rPr sz="720" b="0" i="0">
                <a:solidFill>
                  <a:srgbClr val="9FC4EE"/>
                </a:solidFill>
                <a:latin typeface="Courier New"/>
              </a:rPr>
              <a:t>range</a:t>
            </a:r>
            <a:r>
              <a:rPr sz="720" b="0" i="0">
                <a:solidFill>
                  <a:srgbClr val="E4EDF2"/>
                </a:solidFill>
                <a:latin typeface="Courier New"/>
              </a:rPr>
              <a:t>(</a:t>
            </a:r>
            <a:r>
              <a:rPr sz="720" b="0" i="0">
                <a:solidFill>
                  <a:srgbClr val="9FC4EE"/>
                </a:solidFill>
                <a:latin typeface="Courier New"/>
              </a:rPr>
              <a:t>len</a:t>
            </a:r>
            <a:r>
              <a:rPr sz="720" b="0" i="0">
                <a:solidFill>
                  <a:srgbClr val="E4EDF2"/>
                </a:solidFill>
                <a:latin typeface="Courier New"/>
              </a:rPr>
              <a:t>(</a:t>
            </a:r>
            <a:r>
              <a:rPr sz="720" b="0" i="0">
                <a:solidFill>
                  <a:srgbClr val="E4EDF2"/>
                </a:solidFill>
                <a:latin typeface="Courier New"/>
              </a:rPr>
              <a:t>cve_vectors</a:t>
            </a:r>
            <a:r>
              <a:rPr sz="720" b="0" i="0">
                <a:solidFill>
                  <a:srgbClr val="E4EDF2"/>
                </a:solidFill>
                <a:latin typeface="Courier New"/>
              </a:rPr>
              <a:t>)):   </a:t>
            </a:r>
            <a:r>
              <a:rPr sz="720" b="0" i="0">
                <a:solidFill>
                  <a:srgbClr val="76909F"/>
                </a:solidFill>
                <a:latin typeface="Courier New"/>
              </a:rPr>
              <a:t># section 3, unchanged</a:t>
            </a:r>
          </a:p>
          <a:p>
            <a:pPr>
              <a:lnSpc>
                <a:spcPct val="112000"/>
              </a:lnSpc>
              <a:spcAft>
                <a:spcPts val="100"/>
              </a:spcAft>
            </a:pPr>
            <a:r>
              <a:rPr sz="720" b="0" i="0">
                <a:solidFill>
                  <a:srgbClr val="E4EDF2"/>
                </a:solidFill>
                <a:latin typeface="Courier New"/>
              </a:rPr>
              <a:t>    </a:t>
            </a:r>
            <a:r>
              <a:rPr sz="720" b="0" i="0">
                <a:solidFill>
                  <a:srgbClr val="E4EDF2"/>
                </a:solidFill>
                <a:latin typeface="Courier New"/>
              </a:rPr>
              <a:t>scored</a:t>
            </a:r>
            <a:r>
              <a:rPr sz="720" b="0" i="0">
                <a:solidFill>
                  <a:srgbClr val="E4EDF2"/>
                </a:solidFill>
                <a:latin typeface="Courier New"/>
              </a:rPr>
              <a:t>.</a:t>
            </a:r>
            <a:r>
              <a:rPr sz="720" b="0" i="0">
                <a:solidFill>
                  <a:srgbClr val="9FC4EE"/>
                </a:solidFill>
                <a:latin typeface="Courier New"/>
              </a:rPr>
              <a:t>append</a:t>
            </a:r>
            <a:r>
              <a:rPr sz="720" b="0" i="0">
                <a:solidFill>
                  <a:srgbClr val="E4EDF2"/>
                </a:solidFill>
                <a:latin typeface="Courier New"/>
              </a:rPr>
              <a:t>((</a:t>
            </a:r>
            <a:r>
              <a:rPr sz="720" b="0" i="0">
                <a:solidFill>
                  <a:srgbClr val="9FC4EE"/>
                </a:solidFill>
                <a:latin typeface="Courier New"/>
              </a:rPr>
              <a:t>similarity</a:t>
            </a:r>
            <a:r>
              <a:rPr sz="720" b="0" i="0">
                <a:solidFill>
                  <a:srgbClr val="E4EDF2"/>
                </a:solidFill>
                <a:latin typeface="Courier New"/>
              </a:rPr>
              <a:t>(</a:t>
            </a:r>
            <a:r>
              <a:rPr sz="720" b="0" i="0">
                <a:solidFill>
                  <a:srgbClr val="E4EDF2"/>
                </a:solidFill>
                <a:latin typeface="Courier New"/>
              </a:rPr>
              <a:t>cve_vectors</a:t>
            </a:r>
            <a:r>
              <a:rPr sz="720" b="0" i="0">
                <a:solidFill>
                  <a:srgbClr val="E4EDF2"/>
                </a:solidFill>
                <a:latin typeface="Courier New"/>
              </a:rPr>
              <a:t>[</a:t>
            </a:r>
            <a:r>
              <a:rPr sz="720" b="0" i="0">
                <a:solidFill>
                  <a:srgbClr val="9FC4EE"/>
                </a:solidFill>
                <a:latin typeface="Courier New"/>
              </a:rPr>
              <a:t>0</a:t>
            </a:r>
            <a:r>
              <a:rPr sz="720" b="0" i="0">
                <a:solidFill>
                  <a:srgbClr val="E4EDF2"/>
                </a:solidFill>
                <a:latin typeface="Courier New"/>
              </a:rPr>
              <a:t>], </a:t>
            </a:r>
            <a:r>
              <a:rPr sz="720" b="0" i="0">
                <a:solidFill>
                  <a:srgbClr val="E4EDF2"/>
                </a:solidFill>
                <a:latin typeface="Courier New"/>
              </a:rPr>
              <a:t>cve_vectors</a:t>
            </a:r>
            <a:r>
              <a:rPr sz="720" b="0" i="0">
                <a:solidFill>
                  <a:srgbClr val="E4EDF2"/>
                </a:solidFill>
                <a:latin typeface="Courier New"/>
              </a:rPr>
              <a:t>[</a:t>
            </a:r>
            <a:r>
              <a:rPr sz="720" b="0" i="0">
                <a:solidFill>
                  <a:srgbClr val="E4EDF2"/>
                </a:solidFill>
                <a:latin typeface="Courier New"/>
              </a:rPr>
              <a:t>row</a:t>
            </a:r>
            <a:r>
              <a:rPr sz="720" b="0" i="0">
                <a:solidFill>
                  <a:srgbClr val="E4EDF2"/>
                </a:solidFill>
                <a:latin typeface="Courier New"/>
              </a:rPr>
              <a:t>]), </a:t>
            </a:r>
            <a:r>
              <a:rPr sz="720" b="0" i="0">
                <a:solidFill>
                  <a:srgbClr val="E4EDF2"/>
                </a:solidFill>
                <a:latin typeface="Courier New"/>
              </a:rPr>
              <a:t>row</a:t>
            </a:r>
            <a:r>
              <a:rPr sz="720" b="0" i="0">
                <a:solidFill>
                  <a:srgbClr val="E4EDF2"/>
                </a:solidFill>
                <a:latin typeface="Courier New"/>
              </a:rPr>
              <a:t>))</a:t>
            </a:r>
          </a:p>
        </p:txBody>
      </p:sp>
      <p:sp>
        <p:nvSpPr>
          <p:cNvPr id="11" name="Rounded Rectangle 10"/>
          <p:cNvSpPr/>
          <p:nvPr/>
        </p:nvSpPr>
        <p:spPr>
          <a:xfrm>
            <a:off x="7068312" y="5029200"/>
            <a:ext cx="4480560" cy="1188720"/>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87768" y="5175504"/>
            <a:ext cx="4041648" cy="274320"/>
          </a:xfrm>
          <a:prstGeom prst="rect">
            <a:avLst/>
          </a:prstGeom>
          <a:noFill/>
        </p:spPr>
        <p:txBody>
          <a:bodyPr wrap="square" lIns="0" rIns="0" tIns="0" bIns="0">
            <a:spAutoFit/>
          </a:bodyPr>
          <a:lstStyle/>
          <a:p>
            <a:pPr>
              <a:spcAft>
                <a:spcPts val="200"/>
              </a:spcAft>
            </a:pPr>
            <a:r>
              <a:rPr sz="1300" b="1" i="0">
                <a:solidFill>
                  <a:srgbClr val="A4243B"/>
                </a:solidFill>
                <a:latin typeface="Calibri"/>
              </a:rPr>
              <a:t>“The neighbours look unrelated” is the right answer</a:t>
            </a:r>
          </a:p>
        </p:txBody>
      </p:sp>
      <p:sp>
        <p:nvSpPr>
          <p:cNvPr id="13" name="TextBox 12"/>
          <p:cNvSpPr txBox="1"/>
          <p:nvPr/>
        </p:nvSpPr>
        <p:spPr>
          <a:xfrm>
            <a:off x="7287768" y="5541264"/>
            <a:ext cx="4041648" cy="530352"/>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Report it, and say why. Re-embedding the descriptions with MiniLM and showing the difference goes beyond the rubric.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VECTOR DB &amp; CHUNKING</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vector database landscape</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Ten systems you will meet. The choice turns on scale, deployment model, and what your team already runs.</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17</a:t>
            </a:r>
          </a:p>
        </p:txBody>
      </p:sp>
      <p:graphicFrame>
        <p:nvGraphicFramePr>
          <p:cNvPr id="7" name="Table 6"/>
          <p:cNvGraphicFramePr>
            <a:graphicFrameLocks noGrp="1"/>
          </p:cNvGraphicFramePr>
          <p:nvPr/>
        </p:nvGraphicFramePr>
        <p:xfrm>
          <a:off x="640080" y="1737360"/>
          <a:ext cx="10908791" cy="3346695"/>
        </p:xfrm>
        <a:graphic>
          <a:graphicData uri="http://schemas.openxmlformats.org/drawingml/2006/table">
            <a:tbl>
              <a:tblPr firstRow="1" bandRow="1">
                <a:tableStyleId>{5C22544A-7EE6-4342-B048-85BDC9FD1C3A}</a:tableStyleId>
              </a:tblPr>
              <a:tblGrid>
                <a:gridCol w="1832677"/>
                <a:gridCol w="1745406"/>
                <a:gridCol w="7330708"/>
              </a:tblGrid>
              <a:tr h="304245">
                <a:tc>
                  <a:txBody>
                    <a:bodyPr wrap="square"/>
                    <a:lstStyle/>
                    <a:p>
                      <a:r>
                        <a:rPr sz="880" b="1">
                          <a:solidFill>
                            <a:srgbClr val="73305F"/>
                          </a:solidFill>
                          <a:latin typeface="Calibri"/>
                        </a:rPr>
                        <a:t>Database</a:t>
                      </a:r>
                    </a:p>
                  </a:txBody>
                  <a:tcPr marL="91440" marR="73152" marT="36576" marB="36576" anchor="ctr">
                    <a:solidFill>
                      <a:srgbClr val="F1E4ED"/>
                    </a:solidFill>
                  </a:tcPr>
                </a:tc>
                <a:tc>
                  <a:txBody>
                    <a:bodyPr wrap="square"/>
                    <a:lstStyle/>
                    <a:p>
                      <a:r>
                        <a:rPr sz="880" b="1">
                          <a:solidFill>
                            <a:srgbClr val="73305F"/>
                          </a:solidFill>
                          <a:latin typeface="Calibri"/>
                        </a:rPr>
                        <a:t>Type</a:t>
                      </a:r>
                    </a:p>
                  </a:txBody>
                  <a:tcPr marL="91440" marR="73152" marT="36576" marB="36576" anchor="ctr">
                    <a:solidFill>
                      <a:srgbClr val="F1E4ED"/>
                    </a:solidFill>
                  </a:tcPr>
                </a:tc>
                <a:tc>
                  <a:txBody>
                    <a:bodyPr wrap="square"/>
                    <a:lstStyle/>
                    <a:p>
                      <a:r>
                        <a:rPr sz="880" b="1">
                          <a:solidFill>
                            <a:srgbClr val="73305F"/>
                          </a:solidFill>
                          <a:latin typeface="Calibri"/>
                        </a:rPr>
                        <a:t>Key characteristics / best for</a:t>
                      </a:r>
                    </a:p>
                  </a:txBody>
                  <a:tcPr marL="91440" marR="73152" marT="36576" marB="36576" anchor="ctr">
                    <a:solidFill>
                      <a:srgbClr val="F1E4ED"/>
                    </a:solidFill>
                  </a:tcPr>
                </a:tc>
              </a:tr>
              <a:tr h="304245">
                <a:tc>
                  <a:txBody>
                    <a:bodyPr wrap="square"/>
                    <a:lstStyle/>
                    <a:p>
                      <a:r>
                        <a:rPr sz="860" b="0">
                          <a:solidFill>
                            <a:srgbClr val="1B2B36"/>
                          </a:solidFill>
                          <a:latin typeface="Calibri"/>
                        </a:rPr>
                        <a:t>Chroma</a:t>
                      </a:r>
                    </a:p>
                  </a:txBody>
                  <a:tcPr marL="91440" marR="73152" marT="36576" marB="36576" anchor="ctr">
                    <a:solidFill>
                      <a:srgbClr val="FFFFFF"/>
                    </a:solidFill>
                  </a:tcPr>
                </a:tc>
                <a:tc>
                  <a:txBody>
                    <a:bodyPr wrap="square"/>
                    <a:lstStyle/>
                    <a:p>
                      <a:r>
                        <a:rPr sz="860" b="0">
                          <a:solidFill>
                            <a:srgbClr val="1B2B36"/>
                          </a:solidFill>
                          <a:latin typeface="Calibri"/>
                        </a:rPr>
                        <a:t>Open source</a:t>
                      </a:r>
                    </a:p>
                  </a:txBody>
                  <a:tcPr marL="91440" marR="73152" marT="36576" marB="36576" anchor="ctr">
                    <a:solidFill>
                      <a:srgbClr val="FFFFFF"/>
                    </a:solidFill>
                  </a:tcPr>
                </a:tc>
                <a:tc>
                  <a:txBody>
                    <a:bodyPr wrap="square"/>
                    <a:lstStyle/>
                    <a:p>
                      <a:r>
                        <a:rPr sz="860" b="0">
                          <a:solidFill>
                            <a:srgbClr val="1B2B36"/>
                          </a:solidFill>
                          <a:latin typeface="Calibri"/>
                        </a:rPr>
                        <a:t>Lightweight and developer-friendly. Local prototyping and small-to-medium RAG — what we use.</a:t>
                      </a:r>
                    </a:p>
                  </a:txBody>
                  <a:tcPr marL="91440" marR="73152" marT="36576" marB="36576" anchor="ctr">
                    <a:solidFill>
                      <a:srgbClr val="FFFFFF"/>
                    </a:solidFill>
                  </a:tcPr>
                </a:tc>
              </a:tr>
              <a:tr h="304245">
                <a:tc>
                  <a:txBody>
                    <a:bodyPr wrap="square"/>
                    <a:lstStyle/>
                    <a:p>
                      <a:r>
                        <a:rPr sz="860" b="0">
                          <a:solidFill>
                            <a:srgbClr val="1B2B36"/>
                          </a:solidFill>
                          <a:latin typeface="Calibri"/>
                        </a:rPr>
                        <a:t>FAISS (Meta)</a:t>
                      </a:r>
                    </a:p>
                  </a:txBody>
                  <a:tcPr marL="91440" marR="73152" marT="36576" marB="36576" anchor="ctr">
                    <a:solidFill>
                      <a:srgbClr val="F1F5F8"/>
                    </a:solidFill>
                  </a:tcPr>
                </a:tc>
                <a:tc>
                  <a:txBody>
                    <a:bodyPr wrap="square"/>
                    <a:lstStyle/>
                    <a:p>
                      <a:r>
                        <a:rPr sz="860" b="0">
                          <a:solidFill>
                            <a:srgbClr val="1B2B36"/>
                          </a:solidFill>
                          <a:latin typeface="Calibri"/>
                        </a:rPr>
                        <a:t>Library</a:t>
                      </a:r>
                    </a:p>
                  </a:txBody>
                  <a:tcPr marL="91440" marR="73152" marT="36576" marB="36576" anchor="ctr">
                    <a:solidFill>
                      <a:srgbClr val="F1F5F8"/>
                    </a:solidFill>
                  </a:tcPr>
                </a:tc>
                <a:tc>
                  <a:txBody>
                    <a:bodyPr wrap="square"/>
                    <a:lstStyle/>
                    <a:p>
                      <a:r>
                        <a:rPr sz="860" b="0">
                          <a:solidFill>
                            <a:srgbClr val="1B2B36"/>
                          </a:solidFill>
                          <a:latin typeface="Calibri"/>
                        </a:rPr>
                        <a:t>Not a database: the similarity-search library underneath many other systems. Custom infrastructure.</a:t>
                      </a:r>
                    </a:p>
                  </a:txBody>
                  <a:tcPr marL="91440" marR="73152" marT="36576" marB="36576" anchor="ctr">
                    <a:solidFill>
                      <a:srgbClr val="F1F5F8"/>
                    </a:solidFill>
                  </a:tcPr>
                </a:tc>
              </a:tr>
              <a:tr h="304245">
                <a:tc>
                  <a:txBody>
                    <a:bodyPr wrap="square"/>
                    <a:lstStyle/>
                    <a:p>
                      <a:r>
                        <a:rPr sz="860" b="0">
                          <a:solidFill>
                            <a:srgbClr val="1B2B36"/>
                          </a:solidFill>
                          <a:latin typeface="Calibri"/>
                        </a:rPr>
                        <a:t>Milvus</a:t>
                      </a:r>
                    </a:p>
                  </a:txBody>
                  <a:tcPr marL="91440" marR="73152" marT="36576" marB="36576" anchor="ctr">
                    <a:solidFill>
                      <a:srgbClr val="FFFFFF"/>
                    </a:solidFill>
                  </a:tcPr>
                </a:tc>
                <a:tc>
                  <a:txBody>
                    <a:bodyPr wrap="square"/>
                    <a:lstStyle/>
                    <a:p>
                      <a:r>
                        <a:rPr sz="860" b="0">
                          <a:solidFill>
                            <a:srgbClr val="1B2B36"/>
                          </a:solidFill>
                          <a:latin typeface="Calibri"/>
                        </a:rPr>
                        <a:t>Open source</a:t>
                      </a:r>
                    </a:p>
                  </a:txBody>
                  <a:tcPr marL="91440" marR="73152" marT="36576" marB="36576" anchor="ctr">
                    <a:solidFill>
                      <a:srgbClr val="FFFFFF"/>
                    </a:solidFill>
                  </a:tcPr>
                </a:tc>
                <a:tc>
                  <a:txBody>
                    <a:bodyPr wrap="square"/>
                    <a:lstStyle/>
                    <a:p>
                      <a:r>
                        <a:rPr sz="860" b="0">
                          <a:solidFill>
                            <a:srgbClr val="1B2B36"/>
                          </a:solidFill>
                          <a:latin typeface="Calibri"/>
                        </a:rPr>
                        <a:t>Billion-scale vector search, highly configurable. Large enterprise deployments needing fine control.</a:t>
                      </a:r>
                    </a:p>
                  </a:txBody>
                  <a:tcPr marL="91440" marR="73152" marT="36576" marB="36576" anchor="ctr">
                    <a:solidFill>
                      <a:srgbClr val="FFFFFF"/>
                    </a:solidFill>
                  </a:tcPr>
                </a:tc>
              </a:tr>
              <a:tr h="304245">
                <a:tc>
                  <a:txBody>
                    <a:bodyPr wrap="square"/>
                    <a:lstStyle/>
                    <a:p>
                      <a:r>
                        <a:rPr sz="860" b="0">
                          <a:solidFill>
                            <a:srgbClr val="1B2B36"/>
                          </a:solidFill>
                          <a:latin typeface="Calibri"/>
                        </a:rPr>
                        <a:t>Qdrant</a:t>
                      </a:r>
                    </a:p>
                  </a:txBody>
                  <a:tcPr marL="91440" marR="73152" marT="36576" marB="36576" anchor="ctr">
                    <a:solidFill>
                      <a:srgbClr val="F1F5F8"/>
                    </a:solidFill>
                  </a:tcPr>
                </a:tc>
                <a:tc>
                  <a:txBody>
                    <a:bodyPr wrap="square"/>
                    <a:lstStyle/>
                    <a:p>
                      <a:r>
                        <a:rPr sz="860" b="0">
                          <a:solidFill>
                            <a:srgbClr val="1B2B36"/>
                          </a:solidFill>
                          <a:latin typeface="Calibri"/>
                        </a:rPr>
                        <a:t>Open source</a:t>
                      </a:r>
                    </a:p>
                  </a:txBody>
                  <a:tcPr marL="91440" marR="73152" marT="36576" marB="36576" anchor="ctr">
                    <a:solidFill>
                      <a:srgbClr val="F1F5F8"/>
                    </a:solidFill>
                  </a:tcPr>
                </a:tc>
                <a:tc>
                  <a:txBody>
                    <a:bodyPr wrap="square"/>
                    <a:lstStyle/>
                    <a:p>
                      <a:r>
                        <a:rPr sz="860" b="0">
                          <a:solidFill>
                            <a:srgbClr val="1B2B36"/>
                          </a:solidFill>
                          <a:latin typeface="Calibri"/>
                        </a:rPr>
                        <a:t>Written in Rust. Advanced filtering and payload management. Performance-critical self-hosted work.</a:t>
                      </a:r>
                    </a:p>
                  </a:txBody>
                  <a:tcPr marL="91440" marR="73152" marT="36576" marB="36576" anchor="ctr">
                    <a:solidFill>
                      <a:srgbClr val="F1F5F8"/>
                    </a:solidFill>
                  </a:tcPr>
                </a:tc>
              </a:tr>
              <a:tr h="304245">
                <a:tc>
                  <a:txBody>
                    <a:bodyPr wrap="square"/>
                    <a:lstStyle/>
                    <a:p>
                      <a:r>
                        <a:rPr sz="860" b="0">
                          <a:solidFill>
                            <a:srgbClr val="1B2B36"/>
                          </a:solidFill>
                          <a:latin typeface="Calibri"/>
                        </a:rPr>
                        <a:t>Weaviate</a:t>
                      </a:r>
                    </a:p>
                  </a:txBody>
                  <a:tcPr marL="91440" marR="73152" marT="36576" marB="36576" anchor="ctr">
                    <a:solidFill>
                      <a:srgbClr val="FFFFFF"/>
                    </a:solidFill>
                  </a:tcPr>
                </a:tc>
                <a:tc>
                  <a:txBody>
                    <a:bodyPr wrap="square"/>
                    <a:lstStyle/>
                    <a:p>
                      <a:r>
                        <a:rPr sz="860" b="0">
                          <a:solidFill>
                            <a:srgbClr val="1B2B36"/>
                          </a:solidFill>
                          <a:latin typeface="Calibri"/>
                        </a:rPr>
                        <a:t>Open source</a:t>
                      </a:r>
                    </a:p>
                  </a:txBody>
                  <a:tcPr marL="91440" marR="73152" marT="36576" marB="36576" anchor="ctr">
                    <a:solidFill>
                      <a:srgbClr val="FFFFFF"/>
                    </a:solidFill>
                  </a:tcPr>
                </a:tc>
                <a:tc>
                  <a:txBody>
                    <a:bodyPr wrap="square"/>
                    <a:lstStyle/>
                    <a:p>
                      <a:r>
                        <a:rPr sz="860" b="0">
                          <a:solidFill>
                            <a:srgbClr val="1B2B36"/>
                          </a:solidFill>
                          <a:latin typeface="Calibri"/>
                        </a:rPr>
                        <a:t>AI-native with built-in vectorisation modules and GraphQL. Multi-modal search and knowledge graphs.</a:t>
                      </a:r>
                    </a:p>
                  </a:txBody>
                  <a:tcPr marL="91440" marR="73152" marT="36576" marB="36576" anchor="ctr">
                    <a:solidFill>
                      <a:srgbClr val="FFFFFF"/>
                    </a:solidFill>
                  </a:tcPr>
                </a:tc>
              </a:tr>
              <a:tr h="304245">
                <a:tc>
                  <a:txBody>
                    <a:bodyPr wrap="square"/>
                    <a:lstStyle/>
                    <a:p>
                      <a:r>
                        <a:rPr sz="860" b="0">
                          <a:solidFill>
                            <a:srgbClr val="1B2B36"/>
                          </a:solidFill>
                          <a:latin typeface="Calibri"/>
                        </a:rPr>
                        <a:t>pgvector</a:t>
                      </a:r>
                    </a:p>
                  </a:txBody>
                  <a:tcPr marL="91440" marR="73152" marT="36576" marB="36576" anchor="ctr">
                    <a:solidFill>
                      <a:srgbClr val="F1F5F8"/>
                    </a:solidFill>
                  </a:tcPr>
                </a:tc>
                <a:tc>
                  <a:txBody>
                    <a:bodyPr wrap="square"/>
                    <a:lstStyle/>
                    <a:p>
                      <a:r>
                        <a:rPr sz="860" b="0">
                          <a:solidFill>
                            <a:srgbClr val="1B2B36"/>
                          </a:solidFill>
                          <a:latin typeface="Calibri"/>
                        </a:rPr>
                        <a:t>Postgres extension</a:t>
                      </a:r>
                    </a:p>
                  </a:txBody>
                  <a:tcPr marL="91440" marR="73152" marT="36576" marB="36576" anchor="ctr">
                    <a:solidFill>
                      <a:srgbClr val="F1F5F8"/>
                    </a:solidFill>
                  </a:tcPr>
                </a:tc>
                <a:tc>
                  <a:txBody>
                    <a:bodyPr wrap="square"/>
                    <a:lstStyle/>
                    <a:p>
                      <a:r>
                        <a:rPr sz="860" b="0">
                          <a:solidFill>
                            <a:srgbClr val="1B2B36"/>
                          </a:solidFill>
                          <a:latin typeface="Calibri"/>
                        </a:rPr>
                        <a:t>Adds vector search to an existing PostgreSQL database. The obvious pick if you already run Postgres.</a:t>
                      </a:r>
                    </a:p>
                  </a:txBody>
                  <a:tcPr marL="91440" marR="73152" marT="36576" marB="36576" anchor="ctr">
                    <a:solidFill>
                      <a:srgbClr val="F1F5F8"/>
                    </a:solidFill>
                  </a:tcPr>
                </a:tc>
              </a:tr>
              <a:tr h="304245">
                <a:tc>
                  <a:txBody>
                    <a:bodyPr wrap="square"/>
                    <a:lstStyle/>
                    <a:p>
                      <a:r>
                        <a:rPr sz="860" b="0">
                          <a:solidFill>
                            <a:srgbClr val="1B2B36"/>
                          </a:solidFill>
                          <a:latin typeface="Calibri"/>
                        </a:rPr>
                        <a:t>Pinecone</a:t>
                      </a:r>
                    </a:p>
                  </a:txBody>
                  <a:tcPr marL="91440" marR="73152" marT="36576" marB="36576" anchor="ctr">
                    <a:solidFill>
                      <a:srgbClr val="FFFFFF"/>
                    </a:solidFill>
                  </a:tcPr>
                </a:tc>
                <a:tc>
                  <a:txBody>
                    <a:bodyPr wrap="square"/>
                    <a:lstStyle/>
                    <a:p>
                      <a:r>
                        <a:rPr sz="860" b="0">
                          <a:solidFill>
                            <a:srgbClr val="1B2B36"/>
                          </a:solidFill>
                          <a:latin typeface="Calibri"/>
                        </a:rPr>
                        <a:t>Managed service</a:t>
                      </a:r>
                    </a:p>
                  </a:txBody>
                  <a:tcPr marL="91440" marR="73152" marT="36576" marB="36576" anchor="ctr">
                    <a:solidFill>
                      <a:srgbClr val="FFFFFF"/>
                    </a:solidFill>
                  </a:tcPr>
                </a:tc>
                <a:tc>
                  <a:txBody>
                    <a:bodyPr wrap="square"/>
                    <a:lstStyle/>
                    <a:p>
                      <a:r>
                        <a:rPr sz="860" b="0">
                          <a:solidFill>
                            <a:srgbClr val="1B2B36"/>
                          </a:solidFill>
                          <a:latin typeface="Calibri"/>
                        </a:rPr>
                        <a:t>Serverless and fully managed. Teams that want to ship without operating infrastructure.</a:t>
                      </a:r>
                    </a:p>
                  </a:txBody>
                  <a:tcPr marL="91440" marR="73152" marT="36576" marB="36576" anchor="ctr">
                    <a:solidFill>
                      <a:srgbClr val="FFFFFF"/>
                    </a:solidFill>
                  </a:tcPr>
                </a:tc>
              </a:tr>
              <a:tr h="304245">
                <a:tc>
                  <a:txBody>
                    <a:bodyPr wrap="square"/>
                    <a:lstStyle/>
                    <a:p>
                      <a:r>
                        <a:rPr sz="860" b="0">
                          <a:solidFill>
                            <a:srgbClr val="1B2B36"/>
                          </a:solidFill>
                          <a:latin typeface="Calibri"/>
                        </a:rPr>
                        <a:t>MongoDB Atlas</a:t>
                      </a:r>
                    </a:p>
                  </a:txBody>
                  <a:tcPr marL="91440" marR="73152" marT="36576" marB="36576" anchor="ctr">
                    <a:solidFill>
                      <a:srgbClr val="F1F5F8"/>
                    </a:solidFill>
                  </a:tcPr>
                </a:tc>
                <a:tc>
                  <a:txBody>
                    <a:bodyPr wrap="square"/>
                    <a:lstStyle/>
                    <a:p>
                      <a:r>
                        <a:rPr sz="860" b="0">
                          <a:solidFill>
                            <a:srgbClr val="1B2B36"/>
                          </a:solidFill>
                          <a:latin typeface="Calibri"/>
                        </a:rPr>
                        <a:t>General-purpose DB</a:t>
                      </a:r>
                    </a:p>
                  </a:txBody>
                  <a:tcPr marL="91440" marR="73152" marT="36576" marB="36576" anchor="ctr">
                    <a:solidFill>
                      <a:srgbClr val="F1F5F8"/>
                    </a:solidFill>
                  </a:tcPr>
                </a:tc>
                <a:tc>
                  <a:txBody>
                    <a:bodyPr wrap="square"/>
                    <a:lstStyle/>
                    <a:p>
                      <a:r>
                        <a:rPr sz="860" b="0">
                          <a:solidFill>
                            <a:srgbClr val="1B2B36"/>
                          </a:solidFill>
                          <a:latin typeface="Calibri"/>
                        </a:rPr>
                        <a:t>Integrated vector search inside the document database. Natural for existing Mongo applications.</a:t>
                      </a:r>
                    </a:p>
                  </a:txBody>
                  <a:tcPr marL="91440" marR="73152" marT="36576" marB="36576" anchor="ctr">
                    <a:solidFill>
                      <a:srgbClr val="F1F5F8"/>
                    </a:solidFill>
                  </a:tcPr>
                </a:tc>
              </a:tr>
              <a:tr h="304245">
                <a:tc>
                  <a:txBody>
                    <a:bodyPr wrap="square"/>
                    <a:lstStyle/>
                    <a:p>
                      <a:r>
                        <a:rPr sz="860" b="0">
                          <a:solidFill>
                            <a:srgbClr val="1B2B36"/>
                          </a:solidFill>
                          <a:latin typeface="Calibri"/>
                        </a:rPr>
                        <a:t>Vespa</a:t>
                      </a:r>
                    </a:p>
                  </a:txBody>
                  <a:tcPr marL="91440" marR="73152" marT="36576" marB="36576" anchor="ctr">
                    <a:solidFill>
                      <a:srgbClr val="FFFFFF"/>
                    </a:solidFill>
                  </a:tcPr>
                </a:tc>
                <a:tc>
                  <a:txBody>
                    <a:bodyPr wrap="square"/>
                    <a:lstStyle/>
                    <a:p>
                      <a:r>
                        <a:rPr sz="860" b="0">
                          <a:solidFill>
                            <a:srgbClr val="1B2B36"/>
                          </a:solidFill>
                          <a:latin typeface="Calibri"/>
                        </a:rPr>
                        <a:t>Open source</a:t>
                      </a:r>
                    </a:p>
                  </a:txBody>
                  <a:tcPr marL="91440" marR="73152" marT="36576" marB="36576" anchor="ctr">
                    <a:solidFill>
                      <a:srgbClr val="FFFFFF"/>
                    </a:solidFill>
                  </a:tcPr>
                </a:tc>
                <a:tc>
                  <a:txBody>
                    <a:bodyPr wrap="square"/>
                    <a:lstStyle/>
                    <a:p>
                      <a:r>
                        <a:rPr sz="860" b="0">
                          <a:solidFill>
                            <a:srgbClr val="1B2B36"/>
                          </a:solidFill>
                          <a:latin typeface="Calibri"/>
                        </a:rPr>
                        <a:t>Low-latency serving of search, ranking and recommendation together, including vectors.</a:t>
                      </a:r>
                    </a:p>
                  </a:txBody>
                  <a:tcPr marL="91440" marR="73152" marT="36576" marB="36576" anchor="ctr">
                    <a:solidFill>
                      <a:srgbClr val="FFFFFF"/>
                    </a:solidFill>
                  </a:tcPr>
                </a:tc>
              </a:tr>
              <a:tr h="304245">
                <a:tc>
                  <a:txBody>
                    <a:bodyPr wrap="square"/>
                    <a:lstStyle/>
                    <a:p>
                      <a:r>
                        <a:rPr sz="860" b="0">
                          <a:solidFill>
                            <a:srgbClr val="1B2B36"/>
                          </a:solidFill>
                          <a:latin typeface="Calibri"/>
                        </a:rPr>
                        <a:t>AWS S3 Vectors</a:t>
                      </a:r>
                    </a:p>
                  </a:txBody>
                  <a:tcPr marL="91440" marR="73152" marT="36576" marB="36576" anchor="ctr">
                    <a:solidFill>
                      <a:srgbClr val="F1F5F8"/>
                    </a:solidFill>
                  </a:tcPr>
                </a:tc>
                <a:tc>
                  <a:txBody>
                    <a:bodyPr wrap="square"/>
                    <a:lstStyle/>
                    <a:p>
                      <a:r>
                        <a:rPr sz="860" b="0">
                          <a:solidFill>
                            <a:srgbClr val="1B2B36"/>
                          </a:solidFill>
                          <a:latin typeface="Calibri"/>
                        </a:rPr>
                        <a:t>Object storage</a:t>
                      </a:r>
                    </a:p>
                  </a:txBody>
                  <a:tcPr marL="91440" marR="73152" marT="36576" marB="36576" anchor="ctr">
                    <a:solidFill>
                      <a:srgbClr val="F1F5F8"/>
                    </a:solidFill>
                  </a:tcPr>
                </a:tc>
                <a:tc>
                  <a:txBody>
                    <a:bodyPr wrap="square"/>
                    <a:lstStyle/>
                    <a:p>
                      <a:r>
                        <a:rPr sz="860" b="0">
                          <a:solidFill>
                            <a:srgbClr val="1B2B36"/>
                          </a:solidFill>
                          <a:latin typeface="Calibri"/>
                        </a:rPr>
                        <a:t>Cheap durable storage for very large vector sets, loaded into a search library for querying.</a:t>
                      </a:r>
                    </a:p>
                  </a:txBody>
                  <a:tcPr marL="91440" marR="73152" marT="36576" marB="36576" anchor="ctr">
                    <a:solidFill>
                      <a:srgbClr val="F1F5F8"/>
                    </a:solidFill>
                  </a:tcPr>
                </a:tc>
              </a:tr>
            </a:tbl>
          </a:graphicData>
        </a:graphic>
      </p:graphicFrame>
      <p:sp>
        <p:nvSpPr>
          <p:cNvPr id="8" name="Rounded Rectangle 7"/>
          <p:cNvSpPr/>
          <p:nvPr/>
        </p:nvSpPr>
        <p:spPr>
          <a:xfrm>
            <a:off x="640080" y="5175504"/>
            <a:ext cx="6675120" cy="1042415"/>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5294376"/>
            <a:ext cx="6199631"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THE ENTIRE SETUP — lecture2_embeddings_and_vectordb.ipynb, SECTION 5</a:t>
            </a:r>
          </a:p>
        </p:txBody>
      </p:sp>
      <p:sp>
        <p:nvSpPr>
          <p:cNvPr id="10" name="TextBox 9"/>
          <p:cNvSpPr txBox="1"/>
          <p:nvPr/>
        </p:nvSpPr>
        <p:spPr>
          <a:xfrm>
            <a:off x="877824" y="5568696"/>
            <a:ext cx="6199631" cy="539496"/>
          </a:xfrm>
          <a:prstGeom prst="rect">
            <a:avLst/>
          </a:prstGeom>
          <a:noFill/>
        </p:spPr>
        <p:txBody>
          <a:bodyPr wrap="square" lIns="0" rIns="0" tIns="0" bIns="0">
            <a:spAutoFit/>
          </a:bodyPr>
          <a:lstStyle/>
          <a:p>
            <a:pPr>
              <a:lnSpc>
                <a:spcPct val="112000"/>
              </a:lnSpc>
              <a:spcAft>
                <a:spcPts val="100"/>
              </a:spcAft>
            </a:pPr>
            <a:r>
              <a:rPr sz="860" b="0" i="0">
                <a:solidFill>
                  <a:srgbClr val="E4EDF2"/>
                </a:solidFill>
                <a:latin typeface="Courier New"/>
              </a:rPr>
              <a:t>client</a:t>
            </a:r>
            <a:r>
              <a:rPr sz="860" b="0" i="0">
                <a:solidFill>
                  <a:srgbClr val="E4EDF2"/>
                </a:solidFill>
                <a:latin typeface="Courier New"/>
              </a:rPr>
              <a:t> = </a:t>
            </a:r>
            <a:r>
              <a:rPr sz="860" b="0" i="0">
                <a:solidFill>
                  <a:srgbClr val="E4EDF2"/>
                </a:solidFill>
                <a:latin typeface="Courier New"/>
              </a:rPr>
              <a:t>chromadb</a:t>
            </a:r>
            <a:r>
              <a:rPr sz="860" b="0" i="0">
                <a:solidFill>
                  <a:srgbClr val="E4EDF2"/>
                </a:solidFill>
                <a:latin typeface="Courier New"/>
              </a:rPr>
              <a:t>.</a:t>
            </a:r>
            <a:r>
              <a:rPr sz="860" b="0" i="0">
                <a:solidFill>
                  <a:srgbClr val="9FC4EE"/>
                </a:solidFill>
                <a:latin typeface="Courier New"/>
              </a:rPr>
              <a:t>EphemeralClient</a:t>
            </a:r>
            <a:r>
              <a:rPr sz="860" b="0" i="0">
                <a:solidFill>
                  <a:srgbClr val="E4EDF2"/>
                </a:solidFill>
                <a:latin typeface="Courier New"/>
              </a:rPr>
              <a:t>()          </a:t>
            </a:r>
            <a:r>
              <a:rPr sz="860" b="0" i="0">
                <a:solidFill>
                  <a:srgbClr val="76909F"/>
                </a:solidFill>
                <a:latin typeface="Courier New"/>
              </a:rPr>
              <a:t># in memory, no server</a:t>
            </a:r>
          </a:p>
          <a:p>
            <a:pPr>
              <a:lnSpc>
                <a:spcPct val="112000"/>
              </a:lnSpc>
              <a:spcAft>
                <a:spcPts val="100"/>
              </a:spcAft>
            </a:pPr>
            <a:r>
              <a:rPr sz="860" b="0" i="0">
                <a:solidFill>
                  <a:srgbClr val="76909F"/>
                </a:solidFill>
                <a:latin typeface="Courier New"/>
              </a:rPr>
              <a:t># client = chromadb.PersistentClient(path="my_database_folder")</a:t>
            </a:r>
          </a:p>
          <a:p>
            <a:pPr>
              <a:lnSpc>
                <a:spcPct val="112000"/>
              </a:lnSpc>
              <a:spcAft>
                <a:spcPts val="100"/>
              </a:spcAft>
            </a:pPr>
            <a:r>
              <a:rPr sz="860" b="0" i="0">
                <a:solidFill>
                  <a:srgbClr val="E4EDF2"/>
                </a:solidFill>
                <a:latin typeface="Courier New"/>
              </a:rPr>
              <a:t>collection</a:t>
            </a:r>
            <a:r>
              <a:rPr sz="860" b="0" i="0">
                <a:solidFill>
                  <a:srgbClr val="E4EDF2"/>
                </a:solidFill>
                <a:latin typeface="Courier New"/>
              </a:rPr>
              <a:t> = </a:t>
            </a:r>
            <a:r>
              <a:rPr sz="860" b="0" i="0">
                <a:solidFill>
                  <a:srgbClr val="E4EDF2"/>
                </a:solidFill>
                <a:latin typeface="Courier New"/>
              </a:rPr>
              <a:t>client</a:t>
            </a:r>
            <a:r>
              <a:rPr sz="860" b="0" i="0">
                <a:solidFill>
                  <a:srgbClr val="E4EDF2"/>
                </a:solidFill>
                <a:latin typeface="Courier New"/>
              </a:rPr>
              <a:t>.</a:t>
            </a:r>
            <a:r>
              <a:rPr sz="860" b="0" i="0">
                <a:solidFill>
                  <a:srgbClr val="9FC4EE"/>
                </a:solidFill>
                <a:latin typeface="Courier New"/>
              </a:rPr>
              <a:t>get_or_create_collection</a:t>
            </a:r>
            <a:r>
              <a:rPr sz="860" b="0" i="0">
                <a:solidFill>
                  <a:srgbClr val="E4EDF2"/>
                </a:solidFill>
                <a:latin typeface="Courier New"/>
              </a:rPr>
              <a:t>(</a:t>
            </a:r>
            <a:r>
              <a:rPr sz="860" b="0" i="0">
                <a:solidFill>
                  <a:srgbClr val="EBB183"/>
                </a:solidFill>
                <a:latin typeface="Courier New"/>
              </a:rPr>
              <a:t>"ssrf_kb"</a:t>
            </a:r>
            <a:r>
              <a:rPr sz="860" b="0" i="0">
                <a:solidFill>
                  <a:srgbClr val="E4EDF2"/>
                </a:solidFill>
                <a:latin typeface="Courier New"/>
              </a:rPr>
              <a:t>)</a:t>
            </a:r>
          </a:p>
        </p:txBody>
      </p:sp>
      <p:sp>
        <p:nvSpPr>
          <p:cNvPr id="11" name="Rounded Rectangle 10"/>
          <p:cNvSpPr/>
          <p:nvPr/>
        </p:nvSpPr>
        <p:spPr>
          <a:xfrm>
            <a:off x="7434072" y="5175504"/>
            <a:ext cx="4114800" cy="1042415"/>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53528" y="5321808"/>
            <a:ext cx="3675887"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Adapted from textbook Table 2-1</a:t>
            </a:r>
          </a:p>
        </p:txBody>
      </p:sp>
      <p:sp>
        <p:nvSpPr>
          <p:cNvPr id="13" name="TextBox 12"/>
          <p:cNvSpPr txBox="1"/>
          <p:nvPr/>
        </p:nvSpPr>
        <p:spPr>
          <a:xfrm>
            <a:off x="7653528" y="5687568"/>
            <a:ext cx="3675887" cy="384047"/>
          </a:xfrm>
          <a:prstGeom prst="rect">
            <a:avLst/>
          </a:prstGeom>
          <a:noFill/>
        </p:spPr>
        <p:txBody>
          <a:bodyPr wrap="square" lIns="0" rIns="0" tIns="0" bIns="0">
            <a:spAutoFit/>
          </a:bodyPr>
          <a:lstStyle/>
          <a:p>
            <a:pPr>
              <a:lnSpc>
                <a:spcPct val="114000"/>
              </a:lnSpc>
              <a:spcAft>
                <a:spcPts val="300"/>
              </a:spcAft>
            </a:pPr>
            <a:r>
              <a:rPr sz="860" b="0" i="0">
                <a:solidFill>
                  <a:srgbClr val="1B2B36"/>
                </a:solidFill>
                <a:latin typeface="Calibri"/>
              </a:rPr>
              <a:t>Santos, Agentic AI for Cybersecurity. We use Chroma because it runs in-process; the concepts transfer unchanged.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VECTOR DB &amp; CHUNKING</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Why the database is fast</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You wrote the brute-force loop yourself. A vector database builds an approximate nearest-neighbour index instead.</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18</a:t>
            </a:r>
          </a:p>
        </p:txBody>
      </p:sp>
      <p:pic>
        <p:nvPicPr>
          <p:cNvPr id="7" name="Picture 6" descr="hnsw_vs_brute.png"/>
          <p:cNvPicPr>
            <a:picLocks noChangeAspect="1"/>
          </p:cNvPicPr>
          <p:nvPr/>
        </p:nvPicPr>
        <p:blipFill>
          <a:blip r:embed="rId3"/>
          <a:stretch>
            <a:fillRect/>
          </a:stretch>
        </p:blipFill>
        <p:spPr>
          <a:xfrm>
            <a:off x="919834" y="1719072"/>
            <a:ext cx="10349282" cy="2798064"/>
          </a:xfrm>
          <a:prstGeom prst="rect">
            <a:avLst/>
          </a:prstGeom>
        </p:spPr>
      </p:pic>
      <p:sp>
        <p:nvSpPr>
          <p:cNvPr id="8" name="Rounded Rectangle 7"/>
          <p:cNvSpPr/>
          <p:nvPr/>
        </p:nvSpPr>
        <p:spPr>
          <a:xfrm>
            <a:off x="640080" y="4626864"/>
            <a:ext cx="5989320" cy="1316736"/>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4745736"/>
            <a:ext cx="5513831"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lecture2_embeddings_and_vectordb.ipynb, SECTION 6 — THE WHOLE COMPARISON</a:t>
            </a:r>
          </a:p>
        </p:txBody>
      </p:sp>
      <p:sp>
        <p:nvSpPr>
          <p:cNvPr id="10" name="TextBox 9"/>
          <p:cNvSpPr txBox="1"/>
          <p:nvPr/>
        </p:nvSpPr>
        <p:spPr>
          <a:xfrm>
            <a:off x="877824" y="5020055"/>
            <a:ext cx="5513831" cy="813816"/>
          </a:xfrm>
          <a:prstGeom prst="rect">
            <a:avLst/>
          </a:prstGeom>
          <a:noFill/>
        </p:spPr>
        <p:txBody>
          <a:bodyPr wrap="square" lIns="0" rIns="0" tIns="0" bIns="0">
            <a:spAutoFit/>
          </a:bodyPr>
          <a:lstStyle/>
          <a:p>
            <a:pPr>
              <a:lnSpc>
                <a:spcPct val="112000"/>
              </a:lnSpc>
              <a:spcAft>
                <a:spcPts val="100"/>
              </a:spcAft>
            </a:pPr>
            <a:r>
              <a:rPr sz="840" b="0" i="0">
                <a:solidFill>
                  <a:srgbClr val="E4EDF2"/>
                </a:solidFill>
                <a:latin typeface="Courier New"/>
              </a:rPr>
              <a:t>start_time</a:t>
            </a:r>
            <a:r>
              <a:rPr sz="840" b="0" i="0">
                <a:solidFill>
                  <a:srgbClr val="E4EDF2"/>
                </a:solidFill>
                <a:latin typeface="Courier New"/>
              </a:rPr>
              <a:t> = </a:t>
            </a:r>
            <a:r>
              <a:rPr sz="840" b="0" i="0">
                <a:solidFill>
                  <a:srgbClr val="E4EDF2"/>
                </a:solidFill>
                <a:latin typeface="Courier New"/>
              </a:rPr>
              <a:t>time</a:t>
            </a:r>
            <a:r>
              <a:rPr sz="840" b="0" i="0">
                <a:solidFill>
                  <a:srgbClr val="E4EDF2"/>
                </a:solidFill>
                <a:latin typeface="Courier New"/>
              </a:rPr>
              <a:t>.</a:t>
            </a:r>
            <a:r>
              <a:rPr sz="840" b="0" i="0">
                <a:solidFill>
                  <a:srgbClr val="9FC4EE"/>
                </a:solidFill>
                <a:latin typeface="Courier New"/>
              </a:rPr>
              <a:t>time</a:t>
            </a:r>
            <a:r>
              <a:rPr sz="840" b="0" i="0">
                <a:solidFill>
                  <a:srgbClr val="E4EDF2"/>
                </a:solidFill>
                <a:latin typeface="Courier New"/>
              </a:rPr>
              <a:t>()</a:t>
            </a:r>
          </a:p>
          <a:p>
            <a:pPr>
              <a:lnSpc>
                <a:spcPct val="112000"/>
              </a:lnSpc>
              <a:spcAft>
                <a:spcPts val="100"/>
              </a:spcAft>
            </a:pPr>
            <a:r>
              <a:rPr sz="840" b="0" i="0">
                <a:solidFill>
                  <a:srgbClr val="E4EDF2"/>
                </a:solidFill>
                <a:latin typeface="Courier New"/>
              </a:rPr>
              <a:t>hand_scores</a:t>
            </a:r>
            <a:r>
              <a:rPr sz="840" b="0" i="0">
                <a:solidFill>
                  <a:srgbClr val="E4EDF2"/>
                </a:solidFill>
                <a:latin typeface="Courier New"/>
              </a:rPr>
              <a:t> = []</a:t>
            </a:r>
          </a:p>
          <a:p>
            <a:pPr>
              <a:lnSpc>
                <a:spcPct val="112000"/>
              </a:lnSpc>
              <a:spcAft>
                <a:spcPts val="100"/>
              </a:spcAft>
            </a:pPr>
            <a:r>
              <a:rPr sz="840" b="0" i="0">
                <a:solidFill>
                  <a:srgbClr val="D9A6CE"/>
                </a:solidFill>
                <a:latin typeface="Courier New"/>
              </a:rPr>
              <a:t>for</a:t>
            </a:r>
            <a:r>
              <a:rPr sz="840" b="0" i="0">
                <a:solidFill>
                  <a:srgbClr val="E4EDF2"/>
                </a:solidFill>
                <a:latin typeface="Courier New"/>
              </a:rPr>
              <a:t> </a:t>
            </a:r>
            <a:r>
              <a:rPr sz="840" b="0" i="0">
                <a:solidFill>
                  <a:srgbClr val="E4EDF2"/>
                </a:solidFill>
                <a:latin typeface="Courier New"/>
              </a:rPr>
              <a:t>row</a:t>
            </a:r>
            <a:r>
              <a:rPr sz="840" b="0" i="0">
                <a:solidFill>
                  <a:srgbClr val="E4EDF2"/>
                </a:solidFill>
                <a:latin typeface="Courier New"/>
              </a:rPr>
              <a:t> </a:t>
            </a:r>
            <a:r>
              <a:rPr sz="840" b="0" i="0">
                <a:solidFill>
                  <a:srgbClr val="D9A6CE"/>
                </a:solidFill>
                <a:latin typeface="Courier New"/>
              </a:rPr>
              <a:t>in</a:t>
            </a:r>
            <a:r>
              <a:rPr sz="840" b="0" i="0">
                <a:solidFill>
                  <a:srgbClr val="E4EDF2"/>
                </a:solidFill>
                <a:latin typeface="Courier New"/>
              </a:rPr>
              <a:t> </a:t>
            </a:r>
            <a:r>
              <a:rPr sz="840" b="0" i="0">
                <a:solidFill>
                  <a:srgbClr val="9FC4EE"/>
                </a:solidFill>
                <a:latin typeface="Courier New"/>
              </a:rPr>
              <a:t>range</a:t>
            </a:r>
            <a:r>
              <a:rPr sz="840" b="0" i="0">
                <a:solidFill>
                  <a:srgbClr val="E4EDF2"/>
                </a:solidFill>
                <a:latin typeface="Courier New"/>
              </a:rPr>
              <a:t>(</a:t>
            </a:r>
            <a:r>
              <a:rPr sz="840" b="0" i="0">
                <a:solidFill>
                  <a:srgbClr val="9FC4EE"/>
                </a:solidFill>
                <a:latin typeface="Courier New"/>
              </a:rPr>
              <a:t>len</a:t>
            </a:r>
            <a:r>
              <a:rPr sz="840" b="0" i="0">
                <a:solidFill>
                  <a:srgbClr val="E4EDF2"/>
                </a:solidFill>
                <a:latin typeface="Courier New"/>
              </a:rPr>
              <a:t>(</a:t>
            </a:r>
            <a:r>
              <a:rPr sz="840" b="0" i="0">
                <a:solidFill>
                  <a:srgbClr val="E4EDF2"/>
                </a:solidFill>
                <a:latin typeface="Courier New"/>
              </a:rPr>
              <a:t>cve_vectors</a:t>
            </a:r>
            <a:r>
              <a:rPr sz="840" b="0" i="0">
                <a:solidFill>
                  <a:srgbClr val="E4EDF2"/>
                </a:solidFill>
                <a:latin typeface="Courier New"/>
              </a:rPr>
              <a:t>)):</a:t>
            </a:r>
          </a:p>
          <a:p>
            <a:pPr>
              <a:lnSpc>
                <a:spcPct val="112000"/>
              </a:lnSpc>
              <a:spcAft>
                <a:spcPts val="100"/>
              </a:spcAft>
            </a:pPr>
            <a:r>
              <a:rPr sz="840" b="0" i="0">
                <a:solidFill>
                  <a:srgbClr val="E4EDF2"/>
                </a:solidFill>
                <a:latin typeface="Courier New"/>
              </a:rPr>
              <a:t>    </a:t>
            </a:r>
            <a:r>
              <a:rPr sz="840" b="0" i="0">
                <a:solidFill>
                  <a:srgbClr val="E4EDF2"/>
                </a:solidFill>
                <a:latin typeface="Courier New"/>
              </a:rPr>
              <a:t>hand_scores</a:t>
            </a:r>
            <a:r>
              <a:rPr sz="840" b="0" i="0">
                <a:solidFill>
                  <a:srgbClr val="E4EDF2"/>
                </a:solidFill>
                <a:latin typeface="Courier New"/>
              </a:rPr>
              <a:t>.</a:t>
            </a:r>
            <a:r>
              <a:rPr sz="840" b="0" i="0">
                <a:solidFill>
                  <a:srgbClr val="9FC4EE"/>
                </a:solidFill>
                <a:latin typeface="Courier New"/>
              </a:rPr>
              <a:t>append</a:t>
            </a:r>
            <a:r>
              <a:rPr sz="840" b="0" i="0">
                <a:solidFill>
                  <a:srgbClr val="E4EDF2"/>
                </a:solidFill>
                <a:latin typeface="Courier New"/>
              </a:rPr>
              <a:t>(</a:t>
            </a:r>
            <a:r>
              <a:rPr sz="840" b="0" i="0">
                <a:solidFill>
                  <a:srgbClr val="9FC4EE"/>
                </a:solidFill>
                <a:latin typeface="Courier New"/>
              </a:rPr>
              <a:t>similarity</a:t>
            </a:r>
            <a:r>
              <a:rPr sz="840" b="0" i="0">
                <a:solidFill>
                  <a:srgbClr val="E4EDF2"/>
                </a:solidFill>
                <a:latin typeface="Courier New"/>
              </a:rPr>
              <a:t>(</a:t>
            </a:r>
            <a:r>
              <a:rPr sz="840" b="0" i="0">
                <a:solidFill>
                  <a:srgbClr val="E4EDF2"/>
                </a:solidFill>
                <a:latin typeface="Courier New"/>
              </a:rPr>
              <a:t>cve_vectors</a:t>
            </a:r>
            <a:r>
              <a:rPr sz="840" b="0" i="0">
                <a:solidFill>
                  <a:srgbClr val="E4EDF2"/>
                </a:solidFill>
                <a:latin typeface="Courier New"/>
              </a:rPr>
              <a:t>[</a:t>
            </a:r>
            <a:r>
              <a:rPr sz="840" b="0" i="0">
                <a:solidFill>
                  <a:srgbClr val="9FC4EE"/>
                </a:solidFill>
                <a:latin typeface="Courier New"/>
              </a:rPr>
              <a:t>0</a:t>
            </a:r>
            <a:r>
              <a:rPr sz="840" b="0" i="0">
                <a:solidFill>
                  <a:srgbClr val="E4EDF2"/>
                </a:solidFill>
                <a:latin typeface="Courier New"/>
              </a:rPr>
              <a:t>], </a:t>
            </a:r>
            <a:r>
              <a:rPr sz="840" b="0" i="0">
                <a:solidFill>
                  <a:srgbClr val="E4EDF2"/>
                </a:solidFill>
                <a:latin typeface="Courier New"/>
              </a:rPr>
              <a:t>cve_vectors</a:t>
            </a:r>
            <a:r>
              <a:rPr sz="840" b="0" i="0">
                <a:solidFill>
                  <a:srgbClr val="E4EDF2"/>
                </a:solidFill>
                <a:latin typeface="Courier New"/>
              </a:rPr>
              <a:t>[</a:t>
            </a:r>
            <a:r>
              <a:rPr sz="840" b="0" i="0">
                <a:solidFill>
                  <a:srgbClr val="E4EDF2"/>
                </a:solidFill>
                <a:latin typeface="Courier New"/>
              </a:rPr>
              <a:t>row</a:t>
            </a:r>
            <a:r>
              <a:rPr sz="840" b="0" i="0">
                <a:solidFill>
                  <a:srgbClr val="E4EDF2"/>
                </a:solidFill>
                <a:latin typeface="Courier New"/>
              </a:rPr>
              <a:t>]))</a:t>
            </a:r>
          </a:p>
          <a:p>
            <a:pPr>
              <a:lnSpc>
                <a:spcPct val="112000"/>
              </a:lnSpc>
              <a:spcAft>
                <a:spcPts val="100"/>
              </a:spcAft>
            </a:pPr>
            <a:r>
              <a:rPr sz="840" b="0" i="0">
                <a:solidFill>
                  <a:srgbClr val="E4EDF2"/>
                </a:solidFill>
                <a:latin typeface="Courier New"/>
              </a:rPr>
              <a:t>elapsed_ms</a:t>
            </a:r>
            <a:r>
              <a:rPr sz="840" b="0" i="0">
                <a:solidFill>
                  <a:srgbClr val="E4EDF2"/>
                </a:solidFill>
                <a:latin typeface="Courier New"/>
              </a:rPr>
              <a:t> = (</a:t>
            </a:r>
            <a:r>
              <a:rPr sz="840" b="0" i="0">
                <a:solidFill>
                  <a:srgbClr val="E4EDF2"/>
                </a:solidFill>
                <a:latin typeface="Courier New"/>
              </a:rPr>
              <a:t>time</a:t>
            </a:r>
            <a:r>
              <a:rPr sz="840" b="0" i="0">
                <a:solidFill>
                  <a:srgbClr val="E4EDF2"/>
                </a:solidFill>
                <a:latin typeface="Courier New"/>
              </a:rPr>
              <a:t>.</a:t>
            </a:r>
            <a:r>
              <a:rPr sz="840" b="0" i="0">
                <a:solidFill>
                  <a:srgbClr val="9FC4EE"/>
                </a:solidFill>
                <a:latin typeface="Courier New"/>
              </a:rPr>
              <a:t>time</a:t>
            </a:r>
            <a:r>
              <a:rPr sz="840" b="0" i="0">
                <a:solidFill>
                  <a:srgbClr val="E4EDF2"/>
                </a:solidFill>
                <a:latin typeface="Courier New"/>
              </a:rPr>
              <a:t>() - </a:t>
            </a:r>
            <a:r>
              <a:rPr sz="840" b="0" i="0">
                <a:solidFill>
                  <a:srgbClr val="E4EDF2"/>
                </a:solidFill>
                <a:latin typeface="Courier New"/>
              </a:rPr>
              <a:t>start_time</a:t>
            </a:r>
            <a:r>
              <a:rPr sz="840" b="0" i="0">
                <a:solidFill>
                  <a:srgbClr val="E4EDF2"/>
                </a:solidFill>
                <a:latin typeface="Courier New"/>
              </a:rPr>
              <a:t>) * </a:t>
            </a:r>
            <a:r>
              <a:rPr sz="840" b="0" i="0">
                <a:solidFill>
                  <a:srgbClr val="9FC4EE"/>
                </a:solidFill>
                <a:latin typeface="Courier New"/>
              </a:rPr>
              <a:t>1000</a:t>
            </a:r>
            <a:r>
              <a:rPr sz="840" b="0" i="0">
                <a:solidFill>
                  <a:srgbClr val="E4EDF2"/>
                </a:solidFill>
                <a:latin typeface="Courier New"/>
              </a:rPr>
              <a:t>     </a:t>
            </a:r>
            <a:r>
              <a:rPr sz="840" b="0" i="0">
                <a:solidFill>
                  <a:srgbClr val="76909F"/>
                </a:solidFill>
                <a:latin typeface="Courier New"/>
              </a:rPr>
              <a:t># -&gt; 11.5 ms</a:t>
            </a:r>
          </a:p>
        </p:txBody>
      </p:sp>
      <p:sp>
        <p:nvSpPr>
          <p:cNvPr id="11" name="Rounded Rectangle 10"/>
          <p:cNvSpPr/>
          <p:nvPr/>
        </p:nvSpPr>
        <p:spPr>
          <a:xfrm>
            <a:off x="6748272" y="4626864"/>
            <a:ext cx="4800600" cy="1316736"/>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67728" y="4773168"/>
            <a:ext cx="4361688"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At our scale you do not need an index</a:t>
            </a:r>
          </a:p>
        </p:txBody>
      </p:sp>
      <p:sp>
        <p:nvSpPr>
          <p:cNvPr id="13" name="TextBox 12"/>
          <p:cNvSpPr txBox="1"/>
          <p:nvPr/>
        </p:nvSpPr>
        <p:spPr>
          <a:xfrm>
            <a:off x="6967728" y="5138927"/>
            <a:ext cx="4361688" cy="658368"/>
          </a:xfrm>
          <a:prstGeom prst="rect">
            <a:avLst/>
          </a:prstGeom>
          <a:noFill/>
        </p:spPr>
        <p:txBody>
          <a:bodyPr wrap="square" lIns="0" rIns="0" tIns="0" bIns="0">
            <a:spAutoFit/>
          </a:bodyPr>
          <a:lstStyle/>
          <a:p>
            <a:pPr>
              <a:lnSpc>
                <a:spcPct val="114000"/>
              </a:lnSpc>
              <a:spcAft>
                <a:spcPts val="300"/>
              </a:spcAft>
            </a:pPr>
            <a:r>
              <a:rPr sz="880" b="0" i="0">
                <a:solidFill>
                  <a:srgbClr val="1B2B36"/>
                </a:solidFill>
                <a:latin typeface="Calibri"/>
              </a:rPr>
              <a:t>Eleven milliseconds over a thousand vectors is fine — do not add one to the mini-project. Understand HNSW anyway: a production corpus is millions of chunks, and a linear scan there is not a slower answer, it is no answer.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VECTOR DB &amp; CHUNKING</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Chunking: where the cuts land</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Size is not the only decision. The boundary determines whether a retrieved chunk can answer anything at all.</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20</a:t>
            </a:r>
          </a:p>
        </p:txBody>
      </p:sp>
      <p:pic>
        <p:nvPicPr>
          <p:cNvPr id="7" name="Picture 6" descr="chunk_boundaries.png"/>
          <p:cNvPicPr>
            <a:picLocks noChangeAspect="1"/>
          </p:cNvPicPr>
          <p:nvPr/>
        </p:nvPicPr>
        <p:blipFill>
          <a:blip r:embed="rId3"/>
          <a:stretch>
            <a:fillRect/>
          </a:stretch>
        </p:blipFill>
        <p:spPr>
          <a:xfrm>
            <a:off x="1347448" y="1700784"/>
            <a:ext cx="9494054" cy="3200400"/>
          </a:xfrm>
          <a:prstGeom prst="rect">
            <a:avLst/>
          </a:prstGeom>
        </p:spPr>
      </p:pic>
      <p:sp>
        <p:nvSpPr>
          <p:cNvPr id="8" name="Rounded Rectangle 7"/>
          <p:cNvSpPr/>
          <p:nvPr/>
        </p:nvSpPr>
        <p:spPr>
          <a:xfrm>
            <a:off x="640080" y="5010912"/>
            <a:ext cx="10908792" cy="120700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5129784"/>
            <a:ext cx="10433304"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lecture2_embeddings_and_vectordb.ipynb, SECTION 4 — CHARACTER COUNTING, NOTHING MORE</a:t>
            </a:r>
          </a:p>
        </p:txBody>
      </p:sp>
      <p:sp>
        <p:nvSpPr>
          <p:cNvPr id="10" name="TextBox 9"/>
          <p:cNvSpPr txBox="1"/>
          <p:nvPr/>
        </p:nvSpPr>
        <p:spPr>
          <a:xfrm>
            <a:off x="877824" y="5404104"/>
            <a:ext cx="10433304" cy="704088"/>
          </a:xfrm>
          <a:prstGeom prst="rect">
            <a:avLst/>
          </a:prstGeom>
          <a:noFill/>
        </p:spPr>
        <p:txBody>
          <a:bodyPr wrap="square" lIns="0" rIns="0" tIns="0" bIns="0">
            <a:spAutoFit/>
          </a:bodyPr>
          <a:lstStyle/>
          <a:p>
            <a:pPr>
              <a:lnSpc>
                <a:spcPct val="112000"/>
              </a:lnSpc>
              <a:spcAft>
                <a:spcPts val="100"/>
              </a:spcAft>
            </a:pPr>
            <a:r>
              <a:rPr sz="880" b="0" i="0">
                <a:solidFill>
                  <a:srgbClr val="D9A6CE"/>
                </a:solidFill>
                <a:latin typeface="Courier New"/>
              </a:rPr>
              <a:t>while</a:t>
            </a:r>
            <a:r>
              <a:rPr sz="880" b="0" i="0">
                <a:solidFill>
                  <a:srgbClr val="E4EDF2"/>
                </a:solidFill>
                <a:latin typeface="Courier New"/>
              </a:rPr>
              <a:t> </a:t>
            </a:r>
            <a:r>
              <a:rPr sz="880" b="0" i="0">
                <a:solidFill>
                  <a:srgbClr val="E4EDF2"/>
                </a:solidFill>
                <a:latin typeface="Courier New"/>
              </a:rPr>
              <a:t>start</a:t>
            </a:r>
            <a:r>
              <a:rPr sz="880" b="0" i="0">
                <a:solidFill>
                  <a:srgbClr val="E4EDF2"/>
                </a:solidFill>
                <a:latin typeface="Courier New"/>
              </a:rPr>
              <a:t> &lt; </a:t>
            </a:r>
            <a:r>
              <a:rPr sz="880" b="0" i="0">
                <a:solidFill>
                  <a:srgbClr val="9FC4EE"/>
                </a:solidFill>
                <a:latin typeface="Courier New"/>
              </a:rPr>
              <a:t>len</a:t>
            </a:r>
            <a:r>
              <a:rPr sz="880" b="0" i="0">
                <a:solidFill>
                  <a:srgbClr val="E4EDF2"/>
                </a:solidFill>
                <a:latin typeface="Courier New"/>
              </a:rPr>
              <a:t>(</a:t>
            </a:r>
            <a:r>
              <a:rPr sz="880" b="0" i="0">
                <a:solidFill>
                  <a:srgbClr val="E4EDF2"/>
                </a:solidFill>
                <a:latin typeface="Courier New"/>
              </a:rPr>
              <a:t>document</a:t>
            </a:r>
            <a:r>
              <a:rPr sz="880" b="0" i="0">
                <a:solidFill>
                  <a:srgbClr val="E4EDF2"/>
                </a:solidFill>
                <a:latin typeface="Courier New"/>
              </a:rPr>
              <a:t>):</a:t>
            </a:r>
          </a:p>
          <a:p>
            <a:pPr>
              <a:lnSpc>
                <a:spcPct val="112000"/>
              </a:lnSpc>
              <a:spcAft>
                <a:spcPts val="100"/>
              </a:spcAft>
            </a:pPr>
            <a:r>
              <a:rPr sz="880" b="0" i="0">
                <a:solidFill>
                  <a:srgbClr val="E4EDF2"/>
                </a:solidFill>
                <a:latin typeface="Courier New"/>
              </a:rPr>
              <a:t>    </a:t>
            </a:r>
            <a:r>
              <a:rPr sz="880" b="0" i="0">
                <a:solidFill>
                  <a:srgbClr val="E4EDF2"/>
                </a:solidFill>
                <a:latin typeface="Courier New"/>
              </a:rPr>
              <a:t>piece</a:t>
            </a:r>
            <a:r>
              <a:rPr sz="880" b="0" i="0">
                <a:solidFill>
                  <a:srgbClr val="E4EDF2"/>
                </a:solidFill>
                <a:latin typeface="Courier New"/>
              </a:rPr>
              <a:t> = </a:t>
            </a:r>
            <a:r>
              <a:rPr sz="880" b="0" i="0">
                <a:solidFill>
                  <a:srgbClr val="E4EDF2"/>
                </a:solidFill>
                <a:latin typeface="Courier New"/>
              </a:rPr>
              <a:t>document</a:t>
            </a:r>
            <a:r>
              <a:rPr sz="880" b="0" i="0">
                <a:solidFill>
                  <a:srgbClr val="E4EDF2"/>
                </a:solidFill>
                <a:latin typeface="Courier New"/>
              </a:rPr>
              <a:t>[</a:t>
            </a:r>
            <a:r>
              <a:rPr sz="880" b="0" i="0">
                <a:solidFill>
                  <a:srgbClr val="E4EDF2"/>
                </a:solidFill>
                <a:latin typeface="Courier New"/>
              </a:rPr>
              <a:t>start</a:t>
            </a:r>
            <a:r>
              <a:rPr sz="880" b="0" i="0">
                <a:solidFill>
                  <a:srgbClr val="E4EDF2"/>
                </a:solidFill>
                <a:latin typeface="Courier New"/>
              </a:rPr>
              <a:t> : </a:t>
            </a:r>
            <a:r>
              <a:rPr sz="880" b="0" i="0">
                <a:solidFill>
                  <a:srgbClr val="E4EDF2"/>
                </a:solidFill>
                <a:latin typeface="Courier New"/>
              </a:rPr>
              <a:t>start</a:t>
            </a:r>
            <a:r>
              <a:rPr sz="880" b="0" i="0">
                <a:solidFill>
                  <a:srgbClr val="E4EDF2"/>
                </a:solidFill>
                <a:latin typeface="Courier New"/>
              </a:rPr>
              <a:t> + </a:t>
            </a:r>
            <a:r>
              <a:rPr sz="880" b="0" i="0">
                <a:solidFill>
                  <a:srgbClr val="E4EDF2"/>
                </a:solidFill>
                <a:latin typeface="Courier New"/>
              </a:rPr>
              <a:t>chunk_size</a:t>
            </a:r>
            <a:r>
              <a:rPr sz="880" b="0" i="0">
                <a:solidFill>
                  <a:srgbClr val="E4EDF2"/>
                </a:solidFill>
                <a:latin typeface="Courier New"/>
              </a:rPr>
              <a:t>].</a:t>
            </a:r>
            <a:r>
              <a:rPr sz="880" b="0" i="0">
                <a:solidFill>
                  <a:srgbClr val="9FC4EE"/>
                </a:solidFill>
                <a:latin typeface="Courier New"/>
              </a:rPr>
              <a:t>strip</a:t>
            </a:r>
            <a:r>
              <a:rPr sz="880" b="0" i="0">
                <a:solidFill>
                  <a:srgbClr val="E4EDF2"/>
                </a:solidFill>
                <a:latin typeface="Courier New"/>
              </a:rPr>
              <a:t>()   </a:t>
            </a:r>
            <a:r>
              <a:rPr sz="880" b="0" i="0">
                <a:solidFill>
                  <a:srgbClr val="76909F"/>
                </a:solidFill>
                <a:latin typeface="Courier New"/>
              </a:rPr>
              <a:t># 600 characters, blind to words</a:t>
            </a:r>
          </a:p>
          <a:p>
            <a:pPr>
              <a:lnSpc>
                <a:spcPct val="112000"/>
              </a:lnSpc>
              <a:spcAft>
                <a:spcPts val="100"/>
              </a:spcAft>
            </a:pPr>
            <a:r>
              <a:rPr sz="880" b="0" i="0">
                <a:solidFill>
                  <a:srgbClr val="E4EDF2"/>
                </a:solidFill>
                <a:latin typeface="Courier New"/>
              </a:rPr>
              <a:t>    </a:t>
            </a:r>
            <a:r>
              <a:rPr sz="880" b="0" i="0">
                <a:solidFill>
                  <a:srgbClr val="D9A6CE"/>
                </a:solidFill>
                <a:latin typeface="Courier New"/>
              </a:rPr>
              <a:t>if</a:t>
            </a:r>
            <a:r>
              <a:rPr sz="880" b="0" i="0">
                <a:solidFill>
                  <a:srgbClr val="E4EDF2"/>
                </a:solidFill>
                <a:latin typeface="Courier New"/>
              </a:rPr>
              <a:t> </a:t>
            </a:r>
            <a:r>
              <a:rPr sz="880" b="0" i="0">
                <a:solidFill>
                  <a:srgbClr val="E4EDF2"/>
                </a:solidFill>
                <a:latin typeface="Courier New"/>
              </a:rPr>
              <a:t>piece</a:t>
            </a:r>
            <a:r>
              <a:rPr sz="880" b="0" i="0">
                <a:solidFill>
                  <a:srgbClr val="E4EDF2"/>
                </a:solidFill>
                <a:latin typeface="Courier New"/>
              </a:rPr>
              <a:t> != </a:t>
            </a:r>
            <a:r>
              <a:rPr sz="880" b="0" i="0">
                <a:solidFill>
                  <a:srgbClr val="EBB183"/>
                </a:solidFill>
                <a:latin typeface="Courier New"/>
              </a:rPr>
              <a:t>""</a:t>
            </a:r>
            <a:r>
              <a:rPr sz="880" b="0" i="0">
                <a:solidFill>
                  <a:srgbClr val="E4EDF2"/>
                </a:solidFill>
                <a:latin typeface="Courier New"/>
              </a:rPr>
              <a:t>: </a:t>
            </a:r>
            <a:r>
              <a:rPr sz="880" b="0" i="0">
                <a:solidFill>
                  <a:srgbClr val="E4EDF2"/>
                </a:solidFill>
                <a:latin typeface="Courier New"/>
              </a:rPr>
              <a:t>chunks</a:t>
            </a:r>
            <a:r>
              <a:rPr sz="880" b="0" i="0">
                <a:solidFill>
                  <a:srgbClr val="E4EDF2"/>
                </a:solidFill>
                <a:latin typeface="Courier New"/>
              </a:rPr>
              <a:t>.</a:t>
            </a:r>
            <a:r>
              <a:rPr sz="880" b="0" i="0">
                <a:solidFill>
                  <a:srgbClr val="9FC4EE"/>
                </a:solidFill>
                <a:latin typeface="Courier New"/>
              </a:rPr>
              <a:t>append</a:t>
            </a:r>
            <a:r>
              <a:rPr sz="880" b="0" i="0">
                <a:solidFill>
                  <a:srgbClr val="E4EDF2"/>
                </a:solidFill>
                <a:latin typeface="Courier New"/>
              </a:rPr>
              <a:t>(</a:t>
            </a:r>
            <a:r>
              <a:rPr sz="880" b="0" i="0">
                <a:solidFill>
                  <a:srgbClr val="E4EDF2"/>
                </a:solidFill>
                <a:latin typeface="Courier New"/>
              </a:rPr>
              <a:t>piece</a:t>
            </a:r>
            <a:r>
              <a:rPr sz="880" b="0" i="0">
                <a:solidFill>
                  <a:srgbClr val="E4EDF2"/>
                </a:solidFill>
                <a:latin typeface="Courier New"/>
              </a:rPr>
              <a:t>)</a:t>
            </a:r>
          </a:p>
          <a:p>
            <a:pPr>
              <a:lnSpc>
                <a:spcPct val="112000"/>
              </a:lnSpc>
              <a:spcAft>
                <a:spcPts val="100"/>
              </a:spcAft>
            </a:pPr>
            <a:r>
              <a:rPr sz="880" b="0" i="0">
                <a:solidFill>
                  <a:srgbClr val="E4EDF2"/>
                </a:solidFill>
                <a:latin typeface="Courier New"/>
              </a:rPr>
              <a:t>    </a:t>
            </a:r>
            <a:r>
              <a:rPr sz="880" b="0" i="0">
                <a:solidFill>
                  <a:srgbClr val="E4EDF2"/>
                </a:solidFill>
                <a:latin typeface="Courier New"/>
              </a:rPr>
              <a:t>start</a:t>
            </a:r>
            <a:r>
              <a:rPr sz="880" b="0" i="0">
                <a:solidFill>
                  <a:srgbClr val="E4EDF2"/>
                </a:solidFill>
                <a:latin typeface="Courier New"/>
              </a:rPr>
              <a:t> = </a:t>
            </a:r>
            <a:r>
              <a:rPr sz="880" b="0" i="0">
                <a:solidFill>
                  <a:srgbClr val="E4EDF2"/>
                </a:solidFill>
                <a:latin typeface="Courier New"/>
              </a:rPr>
              <a:t>start</a:t>
            </a:r>
            <a:r>
              <a:rPr sz="880" b="0" i="0">
                <a:solidFill>
                  <a:srgbClr val="E4EDF2"/>
                </a:solidFill>
                <a:latin typeface="Courier New"/>
              </a:rPr>
              <a:t> + </a:t>
            </a:r>
            <a:r>
              <a:rPr sz="880" b="0" i="0">
                <a:solidFill>
                  <a:srgbClr val="E4EDF2"/>
                </a:solidFill>
                <a:latin typeface="Courier New"/>
              </a:rPr>
              <a:t>chunk_size</a:t>
            </a:r>
            <a:r>
              <a:rPr sz="880" b="0" i="0">
                <a:solidFill>
                  <a:srgbClr val="E4EDF2"/>
                </a:solidFill>
                <a:latin typeface="Courier New"/>
              </a:rPr>
              <a:t> - </a:t>
            </a:r>
            <a:r>
              <a:rPr sz="880" b="0" i="0">
                <a:solidFill>
                  <a:srgbClr val="E4EDF2"/>
                </a:solidFill>
                <a:latin typeface="Courier New"/>
              </a:rPr>
              <a:t>overlap</a:t>
            </a:r>
            <a:r>
              <a:rPr sz="880" b="0" i="0">
                <a:solidFill>
                  <a:srgbClr val="E4EDF2"/>
                </a:solidFill>
                <a:latin typeface="Courier New"/>
              </a:rPr>
              <a:t>                   </a:t>
            </a:r>
            <a:r>
              <a:rPr sz="880" b="0" i="0">
                <a:solidFill>
                  <a:srgbClr val="76909F"/>
                </a:solidFill>
                <a:latin typeface="Courier New"/>
              </a:rPr>
              <a:t># advance 500, take the next 600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VECTOR DB &amp; CHUNKING</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Chunk size, chunk count — and one trap</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count follows from arithmetic. The trap hangs your notebook with no error message at all.</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21</a:t>
            </a:r>
          </a:p>
        </p:txBody>
      </p:sp>
      <p:pic>
        <p:nvPicPr>
          <p:cNvPr id="7" name="Picture 6" descr="chunk_size_count.png"/>
          <p:cNvPicPr>
            <a:picLocks noChangeAspect="1"/>
          </p:cNvPicPr>
          <p:nvPr/>
        </p:nvPicPr>
        <p:blipFill>
          <a:blip r:embed="rId3"/>
          <a:stretch>
            <a:fillRect/>
          </a:stretch>
        </p:blipFill>
        <p:spPr>
          <a:xfrm>
            <a:off x="640080" y="2120727"/>
            <a:ext cx="5669280" cy="3256625"/>
          </a:xfrm>
          <a:prstGeom prst="rect">
            <a:avLst/>
          </a:prstGeom>
        </p:spPr>
      </p:pic>
      <p:sp>
        <p:nvSpPr>
          <p:cNvPr id="8" name="Rounded Rectangle 7"/>
          <p:cNvSpPr/>
          <p:nvPr/>
        </p:nvSpPr>
        <p:spPr>
          <a:xfrm>
            <a:off x="6492240" y="1783080"/>
            <a:ext cx="5056632" cy="1700784"/>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729983" y="1901952"/>
            <a:ext cx="4581144"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lecture3_rag_pipeline.ipynb, STEP 1 — NOTE WHAT GUARDS THE STRIDE</a:t>
            </a:r>
          </a:p>
        </p:txBody>
      </p:sp>
      <p:sp>
        <p:nvSpPr>
          <p:cNvPr id="10" name="TextBox 9"/>
          <p:cNvSpPr txBox="1"/>
          <p:nvPr/>
        </p:nvSpPr>
        <p:spPr>
          <a:xfrm>
            <a:off x="6729983" y="2176272"/>
            <a:ext cx="4581144" cy="1197864"/>
          </a:xfrm>
          <a:prstGeom prst="rect">
            <a:avLst/>
          </a:prstGeom>
          <a:noFill/>
        </p:spPr>
        <p:txBody>
          <a:bodyPr wrap="square" lIns="0" rIns="0" tIns="0" bIns="0">
            <a:spAutoFit/>
          </a:bodyPr>
          <a:lstStyle/>
          <a:p>
            <a:pPr>
              <a:lnSpc>
                <a:spcPct val="112000"/>
              </a:lnSpc>
              <a:spcAft>
                <a:spcPts val="100"/>
              </a:spcAft>
            </a:pPr>
            <a:r>
              <a:rPr sz="860" b="0" i="0">
                <a:solidFill>
                  <a:srgbClr val="D9A6CE"/>
                </a:solidFill>
                <a:latin typeface="Courier New"/>
              </a:rPr>
              <a:t>def</a:t>
            </a:r>
            <a:r>
              <a:rPr sz="860" b="0" i="0">
                <a:solidFill>
                  <a:srgbClr val="E4EDF2"/>
                </a:solidFill>
                <a:latin typeface="Courier New"/>
              </a:rPr>
              <a:t> </a:t>
            </a:r>
            <a:r>
              <a:rPr sz="860" b="0" i="0">
                <a:solidFill>
                  <a:srgbClr val="9FC4EE"/>
                </a:solidFill>
                <a:latin typeface="Courier New"/>
              </a:rPr>
              <a:t>split_into_chunks</a:t>
            </a:r>
            <a:r>
              <a:rPr sz="860" b="0" i="0">
                <a:solidFill>
                  <a:srgbClr val="E4EDF2"/>
                </a:solidFill>
                <a:latin typeface="Courier New"/>
              </a:rPr>
              <a:t>(</a:t>
            </a:r>
            <a:r>
              <a:rPr sz="860" b="0" i="0">
                <a:solidFill>
                  <a:srgbClr val="E4EDF2"/>
                </a:solidFill>
                <a:latin typeface="Courier New"/>
              </a:rPr>
              <a:t>text</a:t>
            </a:r>
            <a:r>
              <a:rPr sz="860" b="0" i="0">
                <a:solidFill>
                  <a:srgbClr val="E4EDF2"/>
                </a:solidFill>
                <a:latin typeface="Courier New"/>
              </a:rPr>
              <a:t>, </a:t>
            </a:r>
            <a:r>
              <a:rPr sz="860" b="0" i="0">
                <a:solidFill>
                  <a:srgbClr val="E4EDF2"/>
                </a:solidFill>
                <a:latin typeface="Courier New"/>
              </a:rPr>
              <a:t>chunk_size</a:t>
            </a:r>
            <a:r>
              <a:rPr sz="860" b="0" i="0">
                <a:solidFill>
                  <a:srgbClr val="E4EDF2"/>
                </a:solidFill>
                <a:latin typeface="Courier New"/>
              </a:rPr>
              <a:t>=</a:t>
            </a:r>
            <a:r>
              <a:rPr sz="860" b="0" i="0">
                <a:solidFill>
                  <a:srgbClr val="9FC4EE"/>
                </a:solidFill>
                <a:latin typeface="Courier New"/>
              </a:rPr>
              <a:t>600</a:t>
            </a:r>
            <a:r>
              <a:rPr sz="860" b="0" i="0">
                <a:solidFill>
                  <a:srgbClr val="E4EDF2"/>
                </a:solidFill>
                <a:latin typeface="Courier New"/>
              </a:rPr>
              <a:t>, </a:t>
            </a:r>
            <a:r>
              <a:rPr sz="860" b="0" i="0">
                <a:solidFill>
                  <a:srgbClr val="E4EDF2"/>
                </a:solidFill>
                <a:latin typeface="Courier New"/>
              </a:rPr>
              <a:t>overlap</a:t>
            </a:r>
            <a:r>
              <a:rPr sz="860" b="0" i="0">
                <a:solidFill>
                  <a:srgbClr val="E4EDF2"/>
                </a:solidFill>
                <a:latin typeface="Courier New"/>
              </a:rPr>
              <a:t>=</a:t>
            </a:r>
            <a:r>
              <a:rPr sz="860" b="0" i="0">
                <a:solidFill>
                  <a:srgbClr val="9FC4EE"/>
                </a:solidFill>
                <a:latin typeface="Courier New"/>
              </a:rPr>
              <a:t>100</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pieces</a:t>
            </a:r>
            <a:r>
              <a:rPr sz="860" b="0" i="0">
                <a:solidFill>
                  <a:srgbClr val="E4EDF2"/>
                </a:solidFill>
                <a:latin typeface="Courier New"/>
              </a:rPr>
              <a:t>, </a:t>
            </a:r>
            <a:r>
              <a:rPr sz="860" b="0" i="0">
                <a:solidFill>
                  <a:srgbClr val="E4EDF2"/>
                </a:solidFill>
                <a:latin typeface="Courier New"/>
              </a:rPr>
              <a:t>start</a:t>
            </a:r>
            <a:r>
              <a:rPr sz="860" b="0" i="0">
                <a:solidFill>
                  <a:srgbClr val="E4EDF2"/>
                </a:solidFill>
                <a:latin typeface="Courier New"/>
              </a:rPr>
              <a:t> = [], </a:t>
            </a:r>
            <a:r>
              <a:rPr sz="860" b="0" i="0">
                <a:solidFill>
                  <a:srgbClr val="9FC4EE"/>
                </a:solidFill>
                <a:latin typeface="Courier New"/>
              </a:rPr>
              <a:t>0</a:t>
            </a:r>
          </a:p>
          <a:p>
            <a:pPr>
              <a:lnSpc>
                <a:spcPct val="112000"/>
              </a:lnSpc>
              <a:spcAft>
                <a:spcPts val="100"/>
              </a:spcAft>
            </a:pPr>
            <a:r>
              <a:rPr sz="860" b="0" i="0">
                <a:solidFill>
                  <a:srgbClr val="E4EDF2"/>
                </a:solidFill>
                <a:latin typeface="Courier New"/>
              </a:rPr>
              <a:t>    </a:t>
            </a:r>
            <a:r>
              <a:rPr sz="860" b="0" i="0">
                <a:solidFill>
                  <a:srgbClr val="D9A6CE"/>
                </a:solidFill>
                <a:latin typeface="Courier New"/>
              </a:rPr>
              <a:t>while</a:t>
            </a:r>
            <a:r>
              <a:rPr sz="860" b="0" i="0">
                <a:solidFill>
                  <a:srgbClr val="E4EDF2"/>
                </a:solidFill>
                <a:latin typeface="Courier New"/>
              </a:rPr>
              <a:t> </a:t>
            </a:r>
            <a:r>
              <a:rPr sz="860" b="0" i="0">
                <a:solidFill>
                  <a:srgbClr val="E4EDF2"/>
                </a:solidFill>
                <a:latin typeface="Courier New"/>
              </a:rPr>
              <a:t>start</a:t>
            </a:r>
            <a:r>
              <a:rPr sz="860" b="0" i="0">
                <a:solidFill>
                  <a:srgbClr val="E4EDF2"/>
                </a:solidFill>
                <a:latin typeface="Courier New"/>
              </a:rPr>
              <a:t> &lt; </a:t>
            </a:r>
            <a:r>
              <a:rPr sz="860" b="0" i="0">
                <a:solidFill>
                  <a:srgbClr val="9FC4EE"/>
                </a:solidFill>
                <a:latin typeface="Courier New"/>
              </a:rPr>
              <a:t>len</a:t>
            </a:r>
            <a:r>
              <a:rPr sz="860" b="0" i="0">
                <a:solidFill>
                  <a:srgbClr val="E4EDF2"/>
                </a:solidFill>
                <a:latin typeface="Courier New"/>
              </a:rPr>
              <a:t>(</a:t>
            </a:r>
            <a:r>
              <a:rPr sz="860" b="0" i="0">
                <a:solidFill>
                  <a:srgbClr val="E4EDF2"/>
                </a:solidFill>
                <a:latin typeface="Courier New"/>
              </a:rPr>
              <a:t>text</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pieces</a:t>
            </a:r>
            <a:r>
              <a:rPr sz="860" b="0" i="0">
                <a:solidFill>
                  <a:srgbClr val="E4EDF2"/>
                </a:solidFill>
                <a:latin typeface="Courier New"/>
              </a:rPr>
              <a:t>.</a:t>
            </a:r>
            <a:r>
              <a:rPr sz="860" b="0" i="0">
                <a:solidFill>
                  <a:srgbClr val="9FC4EE"/>
                </a:solidFill>
                <a:latin typeface="Courier New"/>
              </a:rPr>
              <a:t>append</a:t>
            </a:r>
            <a:r>
              <a:rPr sz="860" b="0" i="0">
                <a:solidFill>
                  <a:srgbClr val="E4EDF2"/>
                </a:solidFill>
                <a:latin typeface="Courier New"/>
              </a:rPr>
              <a:t>(</a:t>
            </a:r>
            <a:r>
              <a:rPr sz="860" b="0" i="0">
                <a:solidFill>
                  <a:srgbClr val="E4EDF2"/>
                </a:solidFill>
                <a:latin typeface="Courier New"/>
              </a:rPr>
              <a:t>text</a:t>
            </a:r>
            <a:r>
              <a:rPr sz="860" b="0" i="0">
                <a:solidFill>
                  <a:srgbClr val="E4EDF2"/>
                </a:solidFill>
                <a:latin typeface="Courier New"/>
              </a:rPr>
              <a:t>[</a:t>
            </a:r>
            <a:r>
              <a:rPr sz="860" b="0" i="0">
                <a:solidFill>
                  <a:srgbClr val="E4EDF2"/>
                </a:solidFill>
                <a:latin typeface="Courier New"/>
              </a:rPr>
              <a:t>start</a:t>
            </a:r>
            <a:r>
              <a:rPr sz="860" b="0" i="0">
                <a:solidFill>
                  <a:srgbClr val="E4EDF2"/>
                </a:solidFill>
                <a:latin typeface="Courier New"/>
              </a:rPr>
              <a:t> : </a:t>
            </a:r>
            <a:r>
              <a:rPr sz="860" b="0" i="0">
                <a:solidFill>
                  <a:srgbClr val="E4EDF2"/>
                </a:solidFill>
                <a:latin typeface="Courier New"/>
              </a:rPr>
              <a:t>start</a:t>
            </a:r>
            <a:r>
              <a:rPr sz="860" b="0" i="0">
                <a:solidFill>
                  <a:srgbClr val="E4EDF2"/>
                </a:solidFill>
                <a:latin typeface="Courier New"/>
              </a:rPr>
              <a:t> + </a:t>
            </a:r>
            <a:r>
              <a:rPr sz="860" b="0" i="0">
                <a:solidFill>
                  <a:srgbClr val="E4EDF2"/>
                </a:solidFill>
                <a:latin typeface="Courier New"/>
              </a:rPr>
              <a:t>chunk_size</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start</a:t>
            </a:r>
            <a:r>
              <a:rPr sz="860" b="0" i="0">
                <a:solidFill>
                  <a:srgbClr val="E4EDF2"/>
                </a:solidFill>
                <a:latin typeface="Courier New"/>
              </a:rPr>
              <a:t> = </a:t>
            </a:r>
            <a:r>
              <a:rPr sz="860" b="0" i="0">
                <a:solidFill>
                  <a:srgbClr val="E4EDF2"/>
                </a:solidFill>
                <a:latin typeface="Courier New"/>
              </a:rPr>
              <a:t>start</a:t>
            </a:r>
            <a:r>
              <a:rPr sz="860" b="0" i="0">
                <a:solidFill>
                  <a:srgbClr val="E4EDF2"/>
                </a:solidFill>
                <a:latin typeface="Courier New"/>
              </a:rPr>
              <a:t> + </a:t>
            </a:r>
            <a:r>
              <a:rPr sz="860" b="0" i="0">
                <a:solidFill>
                  <a:srgbClr val="E4EDF2"/>
                </a:solidFill>
                <a:latin typeface="Courier New"/>
              </a:rPr>
              <a:t>chunk_size</a:t>
            </a:r>
            <a:r>
              <a:rPr sz="860" b="0" i="0">
                <a:solidFill>
                  <a:srgbClr val="E4EDF2"/>
                </a:solidFill>
                <a:latin typeface="Courier New"/>
              </a:rPr>
              <a:t> - </a:t>
            </a:r>
            <a:r>
              <a:rPr sz="860" b="0" i="0">
                <a:solidFill>
                  <a:srgbClr val="E4EDF2"/>
                </a:solidFill>
                <a:latin typeface="Courier New"/>
              </a:rPr>
              <a:t>overlap</a:t>
            </a:r>
          </a:p>
        </p:txBody>
      </p:sp>
      <p:sp>
        <p:nvSpPr>
          <p:cNvPr id="11" name="Rounded Rectangle 10"/>
          <p:cNvSpPr/>
          <p:nvPr/>
        </p:nvSpPr>
        <p:spPr>
          <a:xfrm>
            <a:off x="6492240" y="3639312"/>
            <a:ext cx="5056632" cy="1371600"/>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711696" y="3785615"/>
            <a:ext cx="4617720" cy="274320"/>
          </a:xfrm>
          <a:prstGeom prst="rect">
            <a:avLst/>
          </a:prstGeom>
          <a:noFill/>
        </p:spPr>
        <p:txBody>
          <a:bodyPr wrap="square" lIns="0" rIns="0" tIns="0" bIns="0">
            <a:spAutoFit/>
          </a:bodyPr>
          <a:lstStyle/>
          <a:p>
            <a:pPr>
              <a:spcAft>
                <a:spcPts val="200"/>
              </a:spcAft>
            </a:pPr>
            <a:r>
              <a:rPr sz="1300" b="1" i="0">
                <a:solidFill>
                  <a:srgbClr val="A4243B"/>
                </a:solidFill>
                <a:latin typeface="Calibri"/>
              </a:rPr>
              <a:t>overlap ≥ chunk_size  →  the cell never finishes</a:t>
            </a:r>
          </a:p>
        </p:txBody>
      </p:sp>
      <p:sp>
        <p:nvSpPr>
          <p:cNvPr id="13" name="TextBox 12"/>
          <p:cNvSpPr txBox="1"/>
          <p:nvPr/>
        </p:nvSpPr>
        <p:spPr>
          <a:xfrm>
            <a:off x="6711696" y="4151376"/>
            <a:ext cx="4617720" cy="713232"/>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The stride is chunk_size − overlap. Set overlap to 600 with a chunk_size of 600 and the stride is zero: start never advances and the loop runs forever. No exception, no output. A hung cell in this module is almost always this.</a:t>
            </a:r>
          </a:p>
        </p:txBody>
      </p:sp>
      <p:sp>
        <p:nvSpPr>
          <p:cNvPr id="14" name="Rounded Rectangle 13"/>
          <p:cNvSpPr/>
          <p:nvPr/>
        </p:nvSpPr>
        <p:spPr>
          <a:xfrm>
            <a:off x="6492240" y="5138928"/>
            <a:ext cx="5056632" cy="1078992"/>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29983" y="5257800"/>
            <a:ext cx="4581144"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TWO LINES THAT TURN A HANG INTO AN ERROR MESSAGE</a:t>
            </a:r>
          </a:p>
        </p:txBody>
      </p:sp>
      <p:sp>
        <p:nvSpPr>
          <p:cNvPr id="16" name="TextBox 15"/>
          <p:cNvSpPr txBox="1"/>
          <p:nvPr/>
        </p:nvSpPr>
        <p:spPr>
          <a:xfrm>
            <a:off x="6729983" y="5532120"/>
            <a:ext cx="4581144" cy="576072"/>
          </a:xfrm>
          <a:prstGeom prst="rect">
            <a:avLst/>
          </a:prstGeom>
          <a:noFill/>
        </p:spPr>
        <p:txBody>
          <a:bodyPr wrap="square" lIns="0" rIns="0" tIns="0" bIns="0">
            <a:spAutoFit/>
          </a:bodyPr>
          <a:lstStyle/>
          <a:p>
            <a:pPr>
              <a:lnSpc>
                <a:spcPct val="112000"/>
              </a:lnSpc>
              <a:spcAft>
                <a:spcPts val="100"/>
              </a:spcAft>
            </a:pPr>
            <a:r>
              <a:rPr sz="860" b="0" i="0">
                <a:solidFill>
                  <a:srgbClr val="E4EDF2"/>
                </a:solidFill>
                <a:latin typeface="Courier New"/>
              </a:rPr>
              <a:t>    </a:t>
            </a:r>
            <a:r>
              <a:rPr sz="860" b="0" i="0">
                <a:solidFill>
                  <a:srgbClr val="D9A6CE"/>
                </a:solidFill>
                <a:latin typeface="Courier New"/>
              </a:rPr>
              <a:t>if</a:t>
            </a:r>
            <a:r>
              <a:rPr sz="860" b="0" i="0">
                <a:solidFill>
                  <a:srgbClr val="E4EDF2"/>
                </a:solidFill>
                <a:latin typeface="Courier New"/>
              </a:rPr>
              <a:t> </a:t>
            </a:r>
            <a:r>
              <a:rPr sz="860" b="0" i="0">
                <a:solidFill>
                  <a:srgbClr val="E4EDF2"/>
                </a:solidFill>
                <a:latin typeface="Courier New"/>
              </a:rPr>
              <a:t>chunk_size</a:t>
            </a:r>
            <a:r>
              <a:rPr sz="860" b="0" i="0">
                <a:solidFill>
                  <a:srgbClr val="E4EDF2"/>
                </a:solidFill>
                <a:latin typeface="Courier New"/>
              </a:rPr>
              <a:t> &lt;= </a:t>
            </a:r>
            <a:r>
              <a:rPr sz="860" b="0" i="0">
                <a:solidFill>
                  <a:srgbClr val="E4EDF2"/>
                </a:solidFill>
                <a:latin typeface="Courier New"/>
              </a:rPr>
              <a:t>overlap</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raise</a:t>
            </a:r>
            <a:r>
              <a:rPr sz="860" b="0" i="0">
                <a:solidFill>
                  <a:srgbClr val="E4EDF2"/>
                </a:solidFill>
                <a:latin typeface="Courier New"/>
              </a:rPr>
              <a:t> </a:t>
            </a:r>
            <a:r>
              <a:rPr sz="860" b="0" i="0">
                <a:solidFill>
                  <a:srgbClr val="9FC4EE"/>
                </a:solidFill>
                <a:latin typeface="Courier New"/>
              </a:rPr>
              <a:t>ValueError</a:t>
            </a:r>
            <a:r>
              <a:rPr sz="860" b="0" i="0">
                <a:solidFill>
                  <a:srgbClr val="E4EDF2"/>
                </a:solidFill>
                <a:latin typeface="Courier New"/>
              </a:rPr>
              <a:t>(</a:t>
            </a:r>
            <a:r>
              <a:rPr sz="860" b="0" i="0">
                <a:solidFill>
                  <a:srgbClr val="EBB183"/>
                </a:solidFill>
                <a:latin typeface="Courier New"/>
              </a:rPr>
              <a:t>"overlap must be smaller than chunk_size"</a:t>
            </a:r>
            <a:r>
              <a:rPr sz="860" b="0" i="0">
                <a:solidFill>
                  <a:srgbClr val="E4EDF2"/>
                </a:solidFill>
                <a:latin typeface="Courier New"/>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4 · THE RAG RECIPE &amp; TRUST</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gate: [RAG] or [LLM]</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Retrieval does not just supply the context. It decides whether the model is allowed to answer at all.</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26</a:t>
            </a:r>
          </a:p>
        </p:txBody>
      </p:sp>
      <p:pic>
        <p:nvPicPr>
          <p:cNvPr id="7" name="Picture 6" descr="decision_gate.png"/>
          <p:cNvPicPr>
            <a:picLocks noChangeAspect="1"/>
          </p:cNvPicPr>
          <p:nvPr/>
        </p:nvPicPr>
        <p:blipFill>
          <a:blip r:embed="rId3"/>
          <a:stretch>
            <a:fillRect/>
          </a:stretch>
        </p:blipFill>
        <p:spPr>
          <a:xfrm>
            <a:off x="1442742" y="1700784"/>
            <a:ext cx="9303466" cy="2980944"/>
          </a:xfrm>
          <a:prstGeom prst="rect">
            <a:avLst/>
          </a:prstGeom>
        </p:spPr>
      </p:pic>
      <p:sp>
        <p:nvSpPr>
          <p:cNvPr id="8" name="Rounded Rectangle 7"/>
          <p:cNvSpPr/>
          <p:nvPr/>
        </p:nvSpPr>
        <p:spPr>
          <a:xfrm>
            <a:off x="640080" y="4773168"/>
            <a:ext cx="5394960" cy="1444752"/>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4892040"/>
            <a:ext cx="49194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lecture3_rag_pipeline.ipynb, STEP 3 — THE FILTER IS THE GATE</a:t>
            </a:r>
          </a:p>
        </p:txBody>
      </p:sp>
      <p:sp>
        <p:nvSpPr>
          <p:cNvPr id="10" name="TextBox 9"/>
          <p:cNvSpPr txBox="1"/>
          <p:nvPr/>
        </p:nvSpPr>
        <p:spPr>
          <a:xfrm>
            <a:off x="877824" y="5166359"/>
            <a:ext cx="4919472" cy="941832"/>
          </a:xfrm>
          <a:prstGeom prst="rect">
            <a:avLst/>
          </a:prstGeom>
          <a:noFill/>
        </p:spPr>
        <p:txBody>
          <a:bodyPr wrap="square" lIns="0" rIns="0" tIns="0" bIns="0">
            <a:spAutoFit/>
          </a:bodyPr>
          <a:lstStyle/>
          <a:p>
            <a:pPr>
              <a:lnSpc>
                <a:spcPct val="112000"/>
              </a:lnSpc>
              <a:spcAft>
                <a:spcPts val="100"/>
              </a:spcAft>
            </a:pPr>
            <a:r>
              <a:rPr sz="860" b="0" i="0">
                <a:solidFill>
                  <a:srgbClr val="D9A6CE"/>
                </a:solidFill>
                <a:latin typeface="Courier New"/>
              </a:rPr>
              <a:t>def</a:t>
            </a:r>
            <a:r>
              <a:rPr sz="860" b="0" i="0">
                <a:solidFill>
                  <a:srgbClr val="E4EDF2"/>
                </a:solidFill>
                <a:latin typeface="Courier New"/>
              </a:rPr>
              <a:t> </a:t>
            </a:r>
            <a:r>
              <a:rPr sz="860" b="0" i="0">
                <a:solidFill>
                  <a:srgbClr val="9FC4EE"/>
                </a:solidFill>
                <a:latin typeface="Courier New"/>
              </a:rPr>
              <a:t>retrieve</a:t>
            </a:r>
            <a:r>
              <a:rPr sz="860" b="0" i="0">
                <a:solidFill>
                  <a:srgbClr val="E4EDF2"/>
                </a:solidFill>
                <a:latin typeface="Courier New"/>
              </a:rPr>
              <a:t>(</a:t>
            </a:r>
            <a:r>
              <a:rPr sz="860" b="0" i="0">
                <a:solidFill>
                  <a:srgbClr val="E4EDF2"/>
                </a:solidFill>
                <a:latin typeface="Courier New"/>
              </a:rPr>
              <a:t>query</a:t>
            </a:r>
            <a:r>
              <a:rPr sz="860" b="0" i="0">
                <a:solidFill>
                  <a:srgbClr val="E4EDF2"/>
                </a:solidFill>
                <a:latin typeface="Courier New"/>
              </a:rPr>
              <a:t>, </a:t>
            </a:r>
            <a:r>
              <a:rPr sz="860" b="0" i="0">
                <a:solidFill>
                  <a:srgbClr val="E4EDF2"/>
                </a:solidFill>
                <a:latin typeface="Courier New"/>
              </a:rPr>
              <a:t>how_many</a:t>
            </a:r>
            <a:r>
              <a:rPr sz="860" b="0" i="0">
                <a:solidFill>
                  <a:srgbClr val="E4EDF2"/>
                </a:solidFill>
                <a:latin typeface="Courier New"/>
              </a:rPr>
              <a:t>=</a:t>
            </a:r>
            <a:r>
              <a:rPr sz="860" b="0" i="0">
                <a:solidFill>
                  <a:srgbClr val="9FC4EE"/>
                </a:solidFill>
                <a:latin typeface="Courier New"/>
              </a:rPr>
              <a:t>4</a:t>
            </a:r>
            <a:r>
              <a:rPr sz="860" b="0" i="0">
                <a:solidFill>
                  <a:srgbClr val="E4EDF2"/>
                </a:solidFill>
                <a:latin typeface="Courier New"/>
              </a:rPr>
              <a:t>, </a:t>
            </a:r>
            <a:r>
              <a:rPr sz="860" b="0" i="0">
                <a:solidFill>
                  <a:srgbClr val="E4EDF2"/>
                </a:solidFill>
                <a:latin typeface="Courier New"/>
              </a:rPr>
              <a:t>max_distance</a:t>
            </a:r>
            <a:r>
              <a:rPr sz="860" b="0" i="0">
                <a:solidFill>
                  <a:srgbClr val="E4EDF2"/>
                </a:solidFill>
                <a:latin typeface="Courier New"/>
              </a:rPr>
              <a:t>=</a:t>
            </a:r>
            <a:r>
              <a:rPr sz="860" b="0" i="0">
                <a:solidFill>
                  <a:srgbClr val="9FC4EE"/>
                </a:solidFill>
                <a:latin typeface="Courier New"/>
              </a:rPr>
              <a:t>0.75</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p>
          <a:p>
            <a:pPr>
              <a:lnSpc>
                <a:spcPct val="112000"/>
              </a:lnSpc>
              <a:spcAft>
                <a:spcPts val="100"/>
              </a:spcAft>
            </a:pPr>
            <a:r>
              <a:rPr sz="860" b="0" i="0">
                <a:solidFill>
                  <a:srgbClr val="E4EDF2"/>
                </a:solidFill>
                <a:latin typeface="Courier New"/>
              </a:rPr>
              <a:t>    </a:t>
            </a:r>
            <a:r>
              <a:rPr sz="860" b="0" i="0">
                <a:solidFill>
                  <a:srgbClr val="D9A6CE"/>
                </a:solidFill>
                <a:latin typeface="Courier New"/>
              </a:rPr>
              <a:t>for</a:t>
            </a:r>
            <a:r>
              <a:rPr sz="860" b="0" i="0">
                <a:solidFill>
                  <a:srgbClr val="E4EDF2"/>
                </a:solidFill>
                <a:latin typeface="Courier New"/>
              </a:rPr>
              <a:t> </a:t>
            </a:r>
            <a:r>
              <a:rPr sz="860" b="0" i="0">
                <a:solidFill>
                  <a:srgbClr val="E4EDF2"/>
                </a:solidFill>
                <a:latin typeface="Courier New"/>
              </a:rPr>
              <a:t>k</a:t>
            </a:r>
            <a:r>
              <a:rPr sz="860" b="0" i="0">
                <a:solidFill>
                  <a:srgbClr val="E4EDF2"/>
                </a:solidFill>
                <a:latin typeface="Courier New"/>
              </a:rPr>
              <a:t> </a:t>
            </a:r>
            <a:r>
              <a:rPr sz="860" b="0" i="0">
                <a:solidFill>
                  <a:srgbClr val="D9A6CE"/>
                </a:solidFill>
                <a:latin typeface="Courier New"/>
              </a:rPr>
              <a:t>in</a:t>
            </a:r>
            <a:r>
              <a:rPr sz="860" b="0" i="0">
                <a:solidFill>
                  <a:srgbClr val="E4EDF2"/>
                </a:solidFill>
                <a:latin typeface="Courier New"/>
              </a:rPr>
              <a:t> </a:t>
            </a:r>
            <a:r>
              <a:rPr sz="860" b="0" i="0">
                <a:solidFill>
                  <a:srgbClr val="9FC4EE"/>
                </a:solidFill>
                <a:latin typeface="Courier New"/>
              </a:rPr>
              <a:t>range</a:t>
            </a:r>
            <a:r>
              <a:rPr sz="860" b="0" i="0">
                <a:solidFill>
                  <a:srgbClr val="E4EDF2"/>
                </a:solidFill>
                <a:latin typeface="Courier New"/>
              </a:rPr>
              <a:t>(</a:t>
            </a:r>
            <a:r>
              <a:rPr sz="860" b="0" i="0">
                <a:solidFill>
                  <a:srgbClr val="9FC4EE"/>
                </a:solidFill>
                <a:latin typeface="Courier New"/>
              </a:rPr>
              <a:t>len</a:t>
            </a:r>
            <a:r>
              <a:rPr sz="860" b="0" i="0">
                <a:solidFill>
                  <a:srgbClr val="E4EDF2"/>
                </a:solidFill>
                <a:latin typeface="Courier New"/>
              </a:rPr>
              <a:t>(</a:t>
            </a:r>
            <a:r>
              <a:rPr sz="860" b="0" i="0">
                <a:solidFill>
                  <a:srgbClr val="E4EDF2"/>
                </a:solidFill>
                <a:latin typeface="Courier New"/>
              </a:rPr>
              <a:t>found_docs</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D9A6CE"/>
                </a:solidFill>
                <a:latin typeface="Courier New"/>
              </a:rPr>
              <a:t>if</a:t>
            </a:r>
            <a:r>
              <a:rPr sz="860" b="0" i="0">
                <a:solidFill>
                  <a:srgbClr val="E4EDF2"/>
                </a:solidFill>
                <a:latin typeface="Courier New"/>
              </a:rPr>
              <a:t> </a:t>
            </a:r>
            <a:r>
              <a:rPr sz="860" b="0" i="0">
                <a:solidFill>
                  <a:srgbClr val="E4EDF2"/>
                </a:solidFill>
                <a:latin typeface="Courier New"/>
              </a:rPr>
              <a:t>found_dists</a:t>
            </a:r>
            <a:r>
              <a:rPr sz="860" b="0" i="0">
                <a:solidFill>
                  <a:srgbClr val="E4EDF2"/>
                </a:solidFill>
                <a:latin typeface="Courier New"/>
              </a:rPr>
              <a:t>[</a:t>
            </a:r>
            <a:r>
              <a:rPr sz="860" b="0" i="0">
                <a:solidFill>
                  <a:srgbClr val="E4EDF2"/>
                </a:solidFill>
                <a:latin typeface="Courier New"/>
              </a:rPr>
              <a:t>k</a:t>
            </a:r>
            <a:r>
              <a:rPr sz="860" b="0" i="0">
                <a:solidFill>
                  <a:srgbClr val="E4EDF2"/>
                </a:solidFill>
                <a:latin typeface="Courier New"/>
              </a:rPr>
              <a:t>] &lt;= </a:t>
            </a:r>
            <a:r>
              <a:rPr sz="860" b="0" i="0">
                <a:solidFill>
                  <a:srgbClr val="E4EDF2"/>
                </a:solidFill>
                <a:latin typeface="Courier New"/>
              </a:rPr>
              <a:t>max_distance</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good_hits</a:t>
            </a:r>
            <a:r>
              <a:rPr sz="860" b="0" i="0">
                <a:solidFill>
                  <a:srgbClr val="E4EDF2"/>
                </a:solidFill>
                <a:latin typeface="Courier New"/>
              </a:rPr>
              <a:t>.</a:t>
            </a:r>
            <a:r>
              <a:rPr sz="860" b="0" i="0">
                <a:solidFill>
                  <a:srgbClr val="9FC4EE"/>
                </a:solidFill>
                <a:latin typeface="Courier New"/>
              </a:rPr>
              <a:t>append</a:t>
            </a:r>
            <a:r>
              <a:rPr sz="860" b="0" i="0">
                <a:solidFill>
                  <a:srgbClr val="E4EDF2"/>
                </a:solidFill>
                <a:latin typeface="Courier New"/>
              </a:rPr>
              <a:t>(...)      </a:t>
            </a:r>
            <a:r>
              <a:rPr sz="860" b="0" i="0">
                <a:solidFill>
                  <a:srgbClr val="76909F"/>
                </a:solidFill>
                <a:latin typeface="Courier New"/>
              </a:rPr>
              <a:t># else: nothing</a:t>
            </a:r>
          </a:p>
        </p:txBody>
      </p:sp>
      <p:sp>
        <p:nvSpPr>
          <p:cNvPr id="11" name="Rounded Rectangle 10"/>
          <p:cNvSpPr/>
          <p:nvPr/>
        </p:nvSpPr>
        <p:spPr>
          <a:xfrm>
            <a:off x="6153912" y="4773168"/>
            <a:ext cx="5394960" cy="1444752"/>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91656" y="4892040"/>
            <a:ext cx="49194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lecture3_rag_pipeline.ipynb, STEP 4 — THE PROMPT ENFORCES IT</a:t>
            </a:r>
          </a:p>
        </p:txBody>
      </p:sp>
      <p:sp>
        <p:nvSpPr>
          <p:cNvPr id="13" name="TextBox 12"/>
          <p:cNvSpPr txBox="1"/>
          <p:nvPr/>
        </p:nvSpPr>
        <p:spPr>
          <a:xfrm>
            <a:off x="6391656" y="5166359"/>
            <a:ext cx="4919472" cy="941832"/>
          </a:xfrm>
          <a:prstGeom prst="rect">
            <a:avLst/>
          </a:prstGeom>
          <a:noFill/>
        </p:spPr>
        <p:txBody>
          <a:bodyPr wrap="square" lIns="0" rIns="0" tIns="0" bIns="0">
            <a:spAutoFit/>
          </a:bodyPr>
          <a:lstStyle/>
          <a:p>
            <a:pPr>
              <a:lnSpc>
                <a:spcPct val="112000"/>
              </a:lnSpc>
              <a:spcAft>
                <a:spcPts val="100"/>
              </a:spcAft>
            </a:pPr>
            <a:r>
              <a:rPr sz="860" b="0" i="0">
                <a:solidFill>
                  <a:srgbClr val="E4EDF2"/>
                </a:solidFill>
                <a:latin typeface="Courier New"/>
              </a:rPr>
              <a:t>SYSTEM</a:t>
            </a:r>
            <a:r>
              <a:rPr sz="860" b="0" i="0">
                <a:solidFill>
                  <a:srgbClr val="E4EDF2"/>
                </a:solidFill>
                <a:latin typeface="Courier New"/>
              </a:rPr>
              <a:t> = (</a:t>
            </a:r>
          </a:p>
          <a:p>
            <a:pPr>
              <a:lnSpc>
                <a:spcPct val="112000"/>
              </a:lnSpc>
              <a:spcAft>
                <a:spcPts val="100"/>
              </a:spcAft>
            </a:pPr>
            <a:r>
              <a:rPr sz="860" b="0" i="0">
                <a:solidFill>
                  <a:srgbClr val="E4EDF2"/>
                </a:solidFill>
                <a:latin typeface="Courier New"/>
              </a:rPr>
              <a:t> </a:t>
            </a:r>
            <a:r>
              <a:rPr sz="860" b="0" i="0">
                <a:solidFill>
                  <a:srgbClr val="EBB183"/>
                </a:solidFill>
                <a:latin typeface="Courier New"/>
              </a:rPr>
              <a:t>"Answer the question using ONLY the context below.\n"</a:t>
            </a:r>
          </a:p>
          <a:p>
            <a:pPr>
              <a:lnSpc>
                <a:spcPct val="112000"/>
              </a:lnSpc>
              <a:spcAft>
                <a:spcPts val="100"/>
              </a:spcAft>
            </a:pPr>
            <a:r>
              <a:rPr sz="860" b="0" i="0">
                <a:solidFill>
                  <a:srgbClr val="E4EDF2"/>
                </a:solidFill>
                <a:latin typeface="Courier New"/>
              </a:rPr>
              <a:t> </a:t>
            </a:r>
            <a:r>
              <a:rPr sz="860" b="0" i="0">
                <a:solidFill>
                  <a:srgbClr val="EBB183"/>
                </a:solidFill>
                <a:latin typeface="Courier New"/>
              </a:rPr>
              <a:t>"If the answer is in the context, prefix [RAG]."</a:t>
            </a:r>
          </a:p>
          <a:p>
            <a:pPr>
              <a:lnSpc>
                <a:spcPct val="112000"/>
              </a:lnSpc>
              <a:spcAft>
                <a:spcPts val="100"/>
              </a:spcAft>
            </a:pPr>
            <a:r>
              <a:rPr sz="860" b="0" i="0">
                <a:solidFill>
                  <a:srgbClr val="E4EDF2"/>
                </a:solidFill>
                <a:latin typeface="Courier New"/>
              </a:rPr>
              <a:t> </a:t>
            </a:r>
            <a:r>
              <a:rPr sz="860" b="0" i="0">
                <a:solidFill>
                  <a:srgbClr val="EBB183"/>
                </a:solidFill>
                <a:latin typeface="Courier New"/>
              </a:rPr>
              <a:t>"If the context is empty, say so and prefix [LLM]."</a:t>
            </a:r>
          </a:p>
          <a:p>
            <a:pPr>
              <a:lnSpc>
                <a:spcPct val="112000"/>
              </a:lnSpc>
              <a:spcAft>
                <a:spcPts val="100"/>
              </a:spcAft>
            </a:pPr>
            <a:r>
              <a:rPr sz="860" b="0" i="0">
                <a:solidFill>
                  <a:srgbClr val="E4EDF2"/>
                </a:solidFill>
                <a:latin typeface="Courier New"/>
              </a:rPr>
              <a:t> </a:t>
            </a:r>
            <a:r>
              <a:rPr sz="860" b="0" i="0">
                <a:solidFill>
                  <a:srgbClr val="EBB183"/>
                </a:solidFill>
                <a:latin typeface="Courier New"/>
              </a:rPr>
              <a:t>"\n\n# Context\n{context}"</a:t>
            </a:r>
            <a:r>
              <a:rPr sz="860" b="0" i="0">
                <a:solidFill>
                  <a:srgbClr val="E4EDF2"/>
                </a:solidFill>
                <a:latin typeface="Courier New"/>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4 · THE RAG RECIPE &amp; TRUST</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Tuning the threshold is not guesswork</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Plot the distances you actually measured, and the right cut-off becomes something you can see.</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27</a:t>
            </a:r>
          </a:p>
        </p:txBody>
      </p:sp>
      <p:pic>
        <p:nvPicPr>
          <p:cNvPr id="7" name="Picture 6" descr="separation_band.png"/>
          <p:cNvPicPr>
            <a:picLocks noChangeAspect="1"/>
          </p:cNvPicPr>
          <p:nvPr/>
        </p:nvPicPr>
        <p:blipFill>
          <a:blip r:embed="rId3"/>
          <a:stretch>
            <a:fillRect/>
          </a:stretch>
        </p:blipFill>
        <p:spPr>
          <a:xfrm>
            <a:off x="2000898" y="1682496"/>
            <a:ext cx="8187155" cy="2834640"/>
          </a:xfrm>
          <a:prstGeom prst="rect">
            <a:avLst/>
          </a:prstGeom>
        </p:spPr>
      </p:pic>
      <p:sp>
        <p:nvSpPr>
          <p:cNvPr id="8" name="Rounded Rectangle 7"/>
          <p:cNvSpPr/>
          <p:nvPr/>
        </p:nvSpPr>
        <p:spPr>
          <a:xfrm>
            <a:off x="640080" y="4608576"/>
            <a:ext cx="5120640" cy="1188720"/>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4727448"/>
            <a:ext cx="464515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THE FIFTEEN-MINUTE EXPERIMENT</a:t>
            </a:r>
          </a:p>
        </p:txBody>
      </p:sp>
      <p:sp>
        <p:nvSpPr>
          <p:cNvPr id="10" name="TextBox 9"/>
          <p:cNvSpPr txBox="1"/>
          <p:nvPr/>
        </p:nvSpPr>
        <p:spPr>
          <a:xfrm>
            <a:off x="877824" y="5001768"/>
            <a:ext cx="4645152" cy="685800"/>
          </a:xfrm>
          <a:prstGeom prst="rect">
            <a:avLst/>
          </a:prstGeom>
          <a:noFill/>
        </p:spPr>
        <p:txBody>
          <a:bodyPr wrap="square" lIns="0" rIns="0" tIns="0" bIns="0">
            <a:spAutoFit/>
          </a:bodyPr>
          <a:lstStyle/>
          <a:p>
            <a:pPr>
              <a:lnSpc>
                <a:spcPct val="112000"/>
              </a:lnSpc>
              <a:spcAft>
                <a:spcPts val="100"/>
              </a:spcAft>
            </a:pPr>
            <a:r>
              <a:rPr sz="840" b="0" i="0">
                <a:solidFill>
                  <a:srgbClr val="D9A6CE"/>
                </a:solidFill>
                <a:latin typeface="Courier New"/>
              </a:rPr>
              <a:t>for</a:t>
            </a:r>
            <a:r>
              <a:rPr sz="840" b="0" i="0">
                <a:solidFill>
                  <a:srgbClr val="E4EDF2"/>
                </a:solidFill>
                <a:latin typeface="Courier New"/>
              </a:rPr>
              <a:t> </a:t>
            </a:r>
            <a:r>
              <a:rPr sz="840" b="0" i="0">
                <a:solidFill>
                  <a:srgbClr val="E4EDF2"/>
                </a:solidFill>
                <a:latin typeface="Courier New"/>
              </a:rPr>
              <a:t>q</a:t>
            </a:r>
            <a:r>
              <a:rPr sz="840" b="0" i="0">
                <a:solidFill>
                  <a:srgbClr val="E4EDF2"/>
                </a:solidFill>
                <a:latin typeface="Courier New"/>
              </a:rPr>
              <a:t> </a:t>
            </a:r>
            <a:r>
              <a:rPr sz="840" b="0" i="0">
                <a:solidFill>
                  <a:srgbClr val="D9A6CE"/>
                </a:solidFill>
                <a:latin typeface="Courier New"/>
              </a:rPr>
              <a:t>in</a:t>
            </a:r>
            <a:r>
              <a:rPr sz="840" b="0" i="0">
                <a:solidFill>
                  <a:srgbClr val="E4EDF2"/>
                </a:solidFill>
                <a:latin typeface="Courier New"/>
              </a:rPr>
              <a:t> </a:t>
            </a:r>
            <a:r>
              <a:rPr sz="840" b="0" i="0">
                <a:solidFill>
                  <a:srgbClr val="E4EDF2"/>
                </a:solidFill>
                <a:latin typeface="Courier New"/>
              </a:rPr>
              <a:t>in_scope</a:t>
            </a:r>
            <a:r>
              <a:rPr sz="840" b="0" i="0">
                <a:solidFill>
                  <a:srgbClr val="E4EDF2"/>
                </a:solidFill>
                <a:latin typeface="Courier New"/>
              </a:rPr>
              <a:t> + </a:t>
            </a:r>
            <a:r>
              <a:rPr sz="840" b="0" i="0">
                <a:solidFill>
                  <a:srgbClr val="E4EDF2"/>
                </a:solidFill>
                <a:latin typeface="Courier New"/>
              </a:rPr>
              <a:t>out_of_scope</a:t>
            </a:r>
            <a:r>
              <a:rPr sz="840" b="0" i="0">
                <a:solidFill>
                  <a:srgbClr val="E4EDF2"/>
                </a:solidFill>
                <a:latin typeface="Courier New"/>
              </a:rPr>
              <a:t>:</a:t>
            </a:r>
          </a:p>
          <a:p>
            <a:pPr>
              <a:lnSpc>
                <a:spcPct val="112000"/>
              </a:lnSpc>
              <a:spcAft>
                <a:spcPts val="100"/>
              </a:spcAft>
            </a:pPr>
            <a:r>
              <a:rPr sz="840" b="0" i="0">
                <a:solidFill>
                  <a:srgbClr val="E4EDF2"/>
                </a:solidFill>
                <a:latin typeface="Courier New"/>
              </a:rPr>
              <a:t>    </a:t>
            </a:r>
            <a:r>
              <a:rPr sz="840" b="0" i="0">
                <a:solidFill>
                  <a:srgbClr val="E4EDF2"/>
                </a:solidFill>
                <a:latin typeface="Courier New"/>
              </a:rPr>
              <a:t>hits</a:t>
            </a:r>
            <a:r>
              <a:rPr sz="840" b="0" i="0">
                <a:solidFill>
                  <a:srgbClr val="E4EDF2"/>
                </a:solidFill>
                <a:latin typeface="Courier New"/>
              </a:rPr>
              <a:t> = </a:t>
            </a:r>
            <a:r>
              <a:rPr sz="840" b="0" i="0">
                <a:solidFill>
                  <a:srgbClr val="E4EDF2"/>
                </a:solidFill>
                <a:latin typeface="Courier New"/>
              </a:rPr>
              <a:t>collection</a:t>
            </a:r>
            <a:r>
              <a:rPr sz="840" b="0" i="0">
                <a:solidFill>
                  <a:srgbClr val="E4EDF2"/>
                </a:solidFill>
                <a:latin typeface="Courier New"/>
              </a:rPr>
              <a:t>.</a:t>
            </a:r>
            <a:r>
              <a:rPr sz="840" b="0" i="0">
                <a:solidFill>
                  <a:srgbClr val="9FC4EE"/>
                </a:solidFill>
                <a:latin typeface="Courier New"/>
              </a:rPr>
              <a:t>query</a:t>
            </a:r>
            <a:r>
              <a:rPr sz="840" b="0" i="0">
                <a:solidFill>
                  <a:srgbClr val="E4EDF2"/>
                </a:solidFill>
                <a:latin typeface="Courier New"/>
              </a:rPr>
              <a:t>(</a:t>
            </a:r>
          </a:p>
          <a:p>
            <a:pPr>
              <a:lnSpc>
                <a:spcPct val="112000"/>
              </a:lnSpc>
              <a:spcAft>
                <a:spcPts val="100"/>
              </a:spcAft>
            </a:pPr>
            <a:r>
              <a:rPr sz="840" b="0" i="0">
                <a:solidFill>
                  <a:srgbClr val="E4EDF2"/>
                </a:solidFill>
                <a:latin typeface="Courier New"/>
              </a:rPr>
              <a:t>        </a:t>
            </a:r>
            <a:r>
              <a:rPr sz="840" b="0" i="0">
                <a:solidFill>
                  <a:srgbClr val="E4EDF2"/>
                </a:solidFill>
                <a:latin typeface="Courier New"/>
              </a:rPr>
              <a:t>query_embeddings</a:t>
            </a:r>
            <a:r>
              <a:rPr sz="840" b="0" i="0">
                <a:solidFill>
                  <a:srgbClr val="E4EDF2"/>
                </a:solidFill>
                <a:latin typeface="Courier New"/>
              </a:rPr>
              <a:t>=</a:t>
            </a:r>
            <a:r>
              <a:rPr sz="840" b="0" i="0">
                <a:solidFill>
                  <a:srgbClr val="9FC4EE"/>
                </a:solidFill>
                <a:latin typeface="Courier New"/>
              </a:rPr>
              <a:t>embed</a:t>
            </a:r>
            <a:r>
              <a:rPr sz="840" b="0" i="0">
                <a:solidFill>
                  <a:srgbClr val="E4EDF2"/>
                </a:solidFill>
                <a:latin typeface="Courier New"/>
              </a:rPr>
              <a:t>([</a:t>
            </a:r>
            <a:r>
              <a:rPr sz="840" b="0" i="0">
                <a:solidFill>
                  <a:srgbClr val="E4EDF2"/>
                </a:solidFill>
                <a:latin typeface="Courier New"/>
              </a:rPr>
              <a:t>q</a:t>
            </a:r>
            <a:r>
              <a:rPr sz="840" b="0" i="0">
                <a:solidFill>
                  <a:srgbClr val="E4EDF2"/>
                </a:solidFill>
                <a:latin typeface="Courier New"/>
              </a:rPr>
              <a:t>]), </a:t>
            </a:r>
            <a:r>
              <a:rPr sz="840" b="0" i="0">
                <a:solidFill>
                  <a:srgbClr val="E4EDF2"/>
                </a:solidFill>
                <a:latin typeface="Courier New"/>
              </a:rPr>
              <a:t>n_results</a:t>
            </a:r>
            <a:r>
              <a:rPr sz="840" b="0" i="0">
                <a:solidFill>
                  <a:srgbClr val="E4EDF2"/>
                </a:solidFill>
                <a:latin typeface="Courier New"/>
              </a:rPr>
              <a:t>=</a:t>
            </a:r>
            <a:r>
              <a:rPr sz="840" b="0" i="0">
                <a:solidFill>
                  <a:srgbClr val="9FC4EE"/>
                </a:solidFill>
                <a:latin typeface="Courier New"/>
              </a:rPr>
              <a:t>1</a:t>
            </a:r>
            <a:r>
              <a:rPr sz="840" b="0" i="0">
                <a:solidFill>
                  <a:srgbClr val="E4EDF2"/>
                </a:solidFill>
                <a:latin typeface="Courier New"/>
              </a:rPr>
              <a:t>)</a:t>
            </a:r>
          </a:p>
          <a:p>
            <a:pPr>
              <a:lnSpc>
                <a:spcPct val="112000"/>
              </a:lnSpc>
              <a:spcAft>
                <a:spcPts val="100"/>
              </a:spcAft>
            </a:pPr>
            <a:r>
              <a:rPr sz="840" b="0" i="0">
                <a:solidFill>
                  <a:srgbClr val="E4EDF2"/>
                </a:solidFill>
                <a:latin typeface="Courier New"/>
              </a:rPr>
              <a:t>    </a:t>
            </a:r>
            <a:r>
              <a:rPr sz="840" b="0" i="0">
                <a:solidFill>
                  <a:srgbClr val="9FC4EE"/>
                </a:solidFill>
                <a:latin typeface="Courier New"/>
              </a:rPr>
              <a:t>print</a:t>
            </a:r>
            <a:r>
              <a:rPr sz="840" b="0" i="0">
                <a:solidFill>
                  <a:srgbClr val="E4EDF2"/>
                </a:solidFill>
                <a:latin typeface="Courier New"/>
              </a:rPr>
              <a:t>(</a:t>
            </a:r>
            <a:r>
              <a:rPr sz="840" b="0" i="0">
                <a:solidFill>
                  <a:srgbClr val="E4EDF2"/>
                </a:solidFill>
                <a:latin typeface="Courier New"/>
              </a:rPr>
              <a:t>q</a:t>
            </a:r>
            <a:r>
              <a:rPr sz="840" b="0" i="0">
                <a:solidFill>
                  <a:srgbClr val="E4EDF2"/>
                </a:solidFill>
                <a:latin typeface="Courier New"/>
              </a:rPr>
              <a:t>, </a:t>
            </a:r>
            <a:r>
              <a:rPr sz="840" b="0" i="0">
                <a:solidFill>
                  <a:srgbClr val="9FC4EE"/>
                </a:solidFill>
                <a:latin typeface="Courier New"/>
              </a:rPr>
              <a:t>round</a:t>
            </a:r>
            <a:r>
              <a:rPr sz="840" b="0" i="0">
                <a:solidFill>
                  <a:srgbClr val="E4EDF2"/>
                </a:solidFill>
                <a:latin typeface="Courier New"/>
              </a:rPr>
              <a:t>(</a:t>
            </a:r>
            <a:r>
              <a:rPr sz="840" b="0" i="0">
                <a:solidFill>
                  <a:srgbClr val="E4EDF2"/>
                </a:solidFill>
                <a:latin typeface="Courier New"/>
              </a:rPr>
              <a:t>hits</a:t>
            </a:r>
            <a:r>
              <a:rPr sz="840" b="0" i="0">
                <a:solidFill>
                  <a:srgbClr val="E4EDF2"/>
                </a:solidFill>
                <a:latin typeface="Courier New"/>
              </a:rPr>
              <a:t>[</a:t>
            </a:r>
            <a:r>
              <a:rPr sz="840" b="0" i="0">
                <a:solidFill>
                  <a:srgbClr val="EBB183"/>
                </a:solidFill>
                <a:latin typeface="Courier New"/>
              </a:rPr>
              <a:t>"distances"</a:t>
            </a:r>
            <a:r>
              <a:rPr sz="840" b="0" i="0">
                <a:solidFill>
                  <a:srgbClr val="E4EDF2"/>
                </a:solidFill>
                <a:latin typeface="Courier New"/>
              </a:rPr>
              <a:t>][</a:t>
            </a:r>
            <a:r>
              <a:rPr sz="840" b="0" i="0">
                <a:solidFill>
                  <a:srgbClr val="9FC4EE"/>
                </a:solidFill>
                <a:latin typeface="Courier New"/>
              </a:rPr>
              <a:t>0</a:t>
            </a:r>
            <a:r>
              <a:rPr sz="840" b="0" i="0">
                <a:solidFill>
                  <a:srgbClr val="E4EDF2"/>
                </a:solidFill>
                <a:latin typeface="Courier New"/>
              </a:rPr>
              <a:t>][</a:t>
            </a:r>
            <a:r>
              <a:rPr sz="840" b="0" i="0">
                <a:solidFill>
                  <a:srgbClr val="9FC4EE"/>
                </a:solidFill>
                <a:latin typeface="Courier New"/>
              </a:rPr>
              <a:t>0</a:t>
            </a:r>
            <a:r>
              <a:rPr sz="840" b="0" i="0">
                <a:solidFill>
                  <a:srgbClr val="E4EDF2"/>
                </a:solidFill>
                <a:latin typeface="Courier New"/>
              </a:rPr>
              <a:t>], </a:t>
            </a:r>
            <a:r>
              <a:rPr sz="840" b="0" i="0">
                <a:solidFill>
                  <a:srgbClr val="9FC4EE"/>
                </a:solidFill>
                <a:latin typeface="Courier New"/>
              </a:rPr>
              <a:t>3</a:t>
            </a:r>
            <a:r>
              <a:rPr sz="840" b="0" i="0">
                <a:solidFill>
                  <a:srgbClr val="E4EDF2"/>
                </a:solidFill>
                <a:latin typeface="Courier New"/>
              </a:rPr>
              <a:t>))</a:t>
            </a:r>
          </a:p>
        </p:txBody>
      </p:sp>
      <p:sp>
        <p:nvSpPr>
          <p:cNvPr id="11" name="Rounded Rectangle 10"/>
          <p:cNvSpPr/>
          <p:nvPr/>
        </p:nvSpPr>
        <p:spPr>
          <a:xfrm>
            <a:off x="5897880" y="4608576"/>
            <a:ext cx="1847088" cy="1609344"/>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897880" y="4718304"/>
            <a:ext cx="1847088" cy="310896"/>
          </a:xfrm>
          <a:prstGeom prst="rect">
            <a:avLst/>
          </a:prstGeom>
          <a:noFill/>
        </p:spPr>
        <p:txBody>
          <a:bodyPr wrap="square" lIns="0" rIns="0" tIns="0" bIns="0">
            <a:spAutoFit/>
          </a:bodyPr>
          <a:lstStyle/>
          <a:p>
            <a:pPr algn="ctr">
              <a:spcAft>
                <a:spcPts val="200"/>
              </a:spcAft>
            </a:pPr>
            <a:r>
              <a:rPr sz="1700" b="1" i="0">
                <a:solidFill>
                  <a:srgbClr val="A4243B"/>
                </a:solidFill>
                <a:latin typeface="Cambria"/>
              </a:rPr>
              <a:t>0.50</a:t>
            </a:r>
          </a:p>
        </p:txBody>
      </p:sp>
      <p:sp>
        <p:nvSpPr>
          <p:cNvPr id="13" name="TextBox 12"/>
          <p:cNvSpPr txBox="1"/>
          <p:nvPr/>
        </p:nvSpPr>
        <p:spPr>
          <a:xfrm>
            <a:off x="5897880" y="5084064"/>
            <a:ext cx="1847088" cy="219456"/>
          </a:xfrm>
          <a:prstGeom prst="rect">
            <a:avLst/>
          </a:prstGeom>
          <a:noFill/>
        </p:spPr>
        <p:txBody>
          <a:bodyPr wrap="square" lIns="0" rIns="0" tIns="0" bIns="0">
            <a:spAutoFit/>
          </a:bodyPr>
          <a:lstStyle/>
          <a:p>
            <a:pPr algn="ctr">
              <a:spcAft>
                <a:spcPts val="200"/>
              </a:spcAft>
            </a:pPr>
            <a:r>
              <a:rPr sz="1000" b="1" i="0">
                <a:solidFill>
                  <a:srgbClr val="A4243B"/>
                </a:solidFill>
                <a:latin typeface="Calibri"/>
              </a:rPr>
              <a:t>4 / 5 answered</a:t>
            </a:r>
          </a:p>
        </p:txBody>
      </p:sp>
      <p:sp>
        <p:nvSpPr>
          <p:cNvPr id="14" name="TextBox 13"/>
          <p:cNvSpPr txBox="1"/>
          <p:nvPr/>
        </p:nvSpPr>
        <p:spPr>
          <a:xfrm>
            <a:off x="6044184" y="5358384"/>
            <a:ext cx="1554480" cy="768096"/>
          </a:xfrm>
          <a:prstGeom prst="rect">
            <a:avLst/>
          </a:prstGeom>
          <a:noFill/>
        </p:spPr>
        <p:txBody>
          <a:bodyPr wrap="square" lIns="0" rIns="0" tIns="0" bIns="0">
            <a:spAutoFit/>
          </a:bodyPr>
          <a:lstStyle/>
          <a:p>
            <a:pPr algn="ctr">
              <a:lnSpc>
                <a:spcPct val="114000"/>
              </a:lnSpc>
              <a:spcAft>
                <a:spcPts val="200"/>
              </a:spcAft>
            </a:pPr>
            <a:r>
              <a:rPr sz="840" b="0" i="0">
                <a:solidFill>
                  <a:srgbClr val="1B2B36"/>
                </a:solidFill>
                <a:latin typeface="Calibri"/>
              </a:rPr>
              <a:t>too tight — the IDS vs IPS question is wrongly declined</a:t>
            </a:r>
          </a:p>
        </p:txBody>
      </p:sp>
      <p:sp>
        <p:nvSpPr>
          <p:cNvPr id="15" name="Rounded Rectangle 14"/>
          <p:cNvSpPr/>
          <p:nvPr/>
        </p:nvSpPr>
        <p:spPr>
          <a:xfrm>
            <a:off x="7799831" y="4608576"/>
            <a:ext cx="1847088" cy="1609344"/>
          </a:xfrm>
          <a:prstGeom prst="roundRect">
            <a:avLst>
              <a:gd name="adj" fmla="val 3500"/>
            </a:avLst>
          </a:prstGeom>
          <a:solidFill>
            <a:srgbClr val="E1EFE7"/>
          </a:solidFill>
          <a:ln w="12700">
            <a:solidFill>
              <a:srgbClr val="1F6B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99831" y="4718304"/>
            <a:ext cx="1847088" cy="310896"/>
          </a:xfrm>
          <a:prstGeom prst="rect">
            <a:avLst/>
          </a:prstGeom>
          <a:noFill/>
        </p:spPr>
        <p:txBody>
          <a:bodyPr wrap="square" lIns="0" rIns="0" tIns="0" bIns="0">
            <a:spAutoFit/>
          </a:bodyPr>
          <a:lstStyle/>
          <a:p>
            <a:pPr algn="ctr">
              <a:spcAft>
                <a:spcPts val="200"/>
              </a:spcAft>
            </a:pPr>
            <a:r>
              <a:rPr sz="1700" b="1" i="0">
                <a:solidFill>
                  <a:srgbClr val="1F6B4A"/>
                </a:solidFill>
                <a:latin typeface="Cambria"/>
              </a:rPr>
              <a:t>0.70</a:t>
            </a:r>
          </a:p>
        </p:txBody>
      </p:sp>
      <p:sp>
        <p:nvSpPr>
          <p:cNvPr id="17" name="TextBox 16"/>
          <p:cNvSpPr txBox="1"/>
          <p:nvPr/>
        </p:nvSpPr>
        <p:spPr>
          <a:xfrm>
            <a:off x="7799831" y="5084064"/>
            <a:ext cx="1847088" cy="219456"/>
          </a:xfrm>
          <a:prstGeom prst="rect">
            <a:avLst/>
          </a:prstGeom>
          <a:noFill/>
        </p:spPr>
        <p:txBody>
          <a:bodyPr wrap="square" lIns="0" rIns="0" tIns="0" bIns="0">
            <a:spAutoFit/>
          </a:bodyPr>
          <a:lstStyle/>
          <a:p>
            <a:pPr algn="ctr">
              <a:spcAft>
                <a:spcPts val="200"/>
              </a:spcAft>
            </a:pPr>
            <a:r>
              <a:rPr sz="1000" b="1" i="0">
                <a:solidFill>
                  <a:srgbClr val="1F6B4A"/>
                </a:solidFill>
                <a:latin typeface="Calibri"/>
              </a:rPr>
              <a:t>5 / 5 · 0 leaks</a:t>
            </a:r>
          </a:p>
        </p:txBody>
      </p:sp>
      <p:sp>
        <p:nvSpPr>
          <p:cNvPr id="18" name="TextBox 17"/>
          <p:cNvSpPr txBox="1"/>
          <p:nvPr/>
        </p:nvSpPr>
        <p:spPr>
          <a:xfrm>
            <a:off x="7946136" y="5358384"/>
            <a:ext cx="1554480" cy="768096"/>
          </a:xfrm>
          <a:prstGeom prst="rect">
            <a:avLst/>
          </a:prstGeom>
          <a:noFill/>
        </p:spPr>
        <p:txBody>
          <a:bodyPr wrap="square" lIns="0" rIns="0" tIns="0" bIns="0">
            <a:spAutoFit/>
          </a:bodyPr>
          <a:lstStyle/>
          <a:p>
            <a:pPr algn="ctr">
              <a:lnSpc>
                <a:spcPct val="114000"/>
              </a:lnSpc>
              <a:spcAft>
                <a:spcPts val="200"/>
              </a:spcAft>
            </a:pPr>
            <a:r>
              <a:rPr sz="840" b="0" i="0">
                <a:solidFill>
                  <a:srgbClr val="1B2B36"/>
                </a:solidFill>
                <a:latin typeface="Calibri"/>
              </a:rPr>
              <a:t>inside the empty band — the tuned recommendation</a:t>
            </a:r>
          </a:p>
        </p:txBody>
      </p:sp>
      <p:sp>
        <p:nvSpPr>
          <p:cNvPr id="19" name="Rounded Rectangle 18"/>
          <p:cNvSpPr/>
          <p:nvPr/>
        </p:nvSpPr>
        <p:spPr>
          <a:xfrm>
            <a:off x="9701784" y="4608576"/>
            <a:ext cx="1847088" cy="1609344"/>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701784" y="4718304"/>
            <a:ext cx="1847088" cy="310896"/>
          </a:xfrm>
          <a:prstGeom prst="rect">
            <a:avLst/>
          </a:prstGeom>
          <a:noFill/>
        </p:spPr>
        <p:txBody>
          <a:bodyPr wrap="square" lIns="0" rIns="0" tIns="0" bIns="0">
            <a:spAutoFit/>
          </a:bodyPr>
          <a:lstStyle/>
          <a:p>
            <a:pPr algn="ctr">
              <a:spcAft>
                <a:spcPts val="200"/>
              </a:spcAft>
            </a:pPr>
            <a:r>
              <a:rPr sz="1700" b="1" i="0">
                <a:solidFill>
                  <a:srgbClr val="A4243B"/>
                </a:solidFill>
                <a:latin typeface="Cambria"/>
              </a:rPr>
              <a:t>0.75</a:t>
            </a:r>
          </a:p>
        </p:txBody>
      </p:sp>
      <p:sp>
        <p:nvSpPr>
          <p:cNvPr id="21" name="TextBox 20"/>
          <p:cNvSpPr txBox="1"/>
          <p:nvPr/>
        </p:nvSpPr>
        <p:spPr>
          <a:xfrm>
            <a:off x="9701784" y="5084064"/>
            <a:ext cx="1847088" cy="219456"/>
          </a:xfrm>
          <a:prstGeom prst="rect">
            <a:avLst/>
          </a:prstGeom>
          <a:noFill/>
        </p:spPr>
        <p:txBody>
          <a:bodyPr wrap="square" lIns="0" rIns="0" tIns="0" bIns="0">
            <a:spAutoFit/>
          </a:bodyPr>
          <a:lstStyle/>
          <a:p>
            <a:pPr algn="ctr">
              <a:spcAft>
                <a:spcPts val="200"/>
              </a:spcAft>
            </a:pPr>
            <a:r>
              <a:rPr sz="1000" b="1" i="0">
                <a:solidFill>
                  <a:srgbClr val="A4243B"/>
                </a:solidFill>
                <a:latin typeface="Calibri"/>
              </a:rPr>
              <a:t>5 / 5 · 1 leak</a:t>
            </a:r>
          </a:p>
        </p:txBody>
      </p:sp>
      <p:sp>
        <p:nvSpPr>
          <p:cNvPr id="22" name="TextBox 21"/>
          <p:cNvSpPr txBox="1"/>
          <p:nvPr/>
        </p:nvSpPr>
        <p:spPr>
          <a:xfrm>
            <a:off x="9848088" y="5358384"/>
            <a:ext cx="1554480" cy="768096"/>
          </a:xfrm>
          <a:prstGeom prst="rect">
            <a:avLst/>
          </a:prstGeom>
          <a:noFill/>
        </p:spPr>
        <p:txBody>
          <a:bodyPr wrap="square" lIns="0" rIns="0" tIns="0" bIns="0">
            <a:spAutoFit/>
          </a:bodyPr>
          <a:lstStyle/>
          <a:p>
            <a:pPr algn="ctr">
              <a:lnSpc>
                <a:spcPct val="114000"/>
              </a:lnSpc>
              <a:spcAft>
                <a:spcPts val="200"/>
              </a:spcAft>
            </a:pPr>
            <a:r>
              <a:rPr sz="840" b="0" i="0">
                <a:solidFill>
                  <a:srgbClr val="1B2B36"/>
                </a:solidFill>
                <a:latin typeface="Calibri"/>
              </a:rPr>
              <a:t>the lecture default — answers the Kubernetes question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4 · THE RAG RECIPE &amp; TRUST</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How much context is enough?</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On a corpus this size k is a cost dial, not a quality dial. Say that with numbers rather than a shrug.</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28</a:t>
            </a:r>
          </a:p>
        </p:txBody>
      </p:sp>
      <p:pic>
        <p:nvPicPr>
          <p:cNvPr id="7" name="Picture 6" descr="k_cost.png"/>
          <p:cNvPicPr>
            <a:picLocks noChangeAspect="1"/>
          </p:cNvPicPr>
          <p:nvPr/>
        </p:nvPicPr>
        <p:blipFill>
          <a:blip r:embed="rId3"/>
          <a:stretch>
            <a:fillRect/>
          </a:stretch>
        </p:blipFill>
        <p:spPr>
          <a:xfrm>
            <a:off x="640080" y="2137075"/>
            <a:ext cx="5760720" cy="3223928"/>
          </a:xfrm>
          <a:prstGeom prst="rect">
            <a:avLst/>
          </a:prstGeom>
        </p:spPr>
      </p:pic>
      <p:sp>
        <p:nvSpPr>
          <p:cNvPr id="8" name="Rounded Rectangle 7"/>
          <p:cNvSpPr/>
          <p:nvPr/>
        </p:nvSpPr>
        <p:spPr>
          <a:xfrm>
            <a:off x="640080" y="5779008"/>
            <a:ext cx="5760720" cy="438912"/>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5897880"/>
            <a:ext cx="5285231" cy="210312"/>
          </a:xfrm>
          <a:prstGeom prst="rect">
            <a:avLst/>
          </a:prstGeom>
          <a:noFill/>
        </p:spPr>
        <p:txBody>
          <a:bodyPr wrap="square" lIns="0" rIns="0" tIns="0" bIns="0">
            <a:spAutoFit/>
          </a:bodyPr>
          <a:lstStyle/>
          <a:p>
            <a:pPr>
              <a:lnSpc>
                <a:spcPct val="112000"/>
              </a:lnSpc>
              <a:spcAft>
                <a:spcPts val="100"/>
              </a:spcAft>
            </a:pPr>
            <a:r>
              <a:rPr sz="840" b="0" i="0">
                <a:solidFill>
                  <a:srgbClr val="D9A6CE"/>
                </a:solidFill>
                <a:latin typeface="Courier New"/>
              </a:rPr>
              <a:t>for</a:t>
            </a:r>
            <a:r>
              <a:rPr sz="840" b="0" i="0">
                <a:solidFill>
                  <a:srgbClr val="E4EDF2"/>
                </a:solidFill>
                <a:latin typeface="Courier New"/>
              </a:rPr>
              <a:t> </a:t>
            </a:r>
            <a:r>
              <a:rPr sz="840" b="0" i="0">
                <a:solidFill>
                  <a:srgbClr val="E4EDF2"/>
                </a:solidFill>
                <a:latin typeface="Courier New"/>
              </a:rPr>
              <a:t>k</a:t>
            </a:r>
            <a:r>
              <a:rPr sz="840" b="0" i="0">
                <a:solidFill>
                  <a:srgbClr val="E4EDF2"/>
                </a:solidFill>
                <a:latin typeface="Courier New"/>
              </a:rPr>
              <a:t> </a:t>
            </a:r>
            <a:r>
              <a:rPr sz="840" b="0" i="0">
                <a:solidFill>
                  <a:srgbClr val="D9A6CE"/>
                </a:solidFill>
                <a:latin typeface="Courier New"/>
              </a:rPr>
              <a:t>in</a:t>
            </a:r>
            <a:r>
              <a:rPr sz="840" b="0" i="0">
                <a:solidFill>
                  <a:srgbClr val="E4EDF2"/>
                </a:solidFill>
                <a:latin typeface="Courier New"/>
              </a:rPr>
              <a:t> [</a:t>
            </a:r>
            <a:r>
              <a:rPr sz="840" b="0" i="0">
                <a:solidFill>
                  <a:srgbClr val="9FC4EE"/>
                </a:solidFill>
                <a:latin typeface="Courier New"/>
              </a:rPr>
              <a:t>1</a:t>
            </a:r>
            <a:r>
              <a:rPr sz="840" b="0" i="0">
                <a:solidFill>
                  <a:srgbClr val="E4EDF2"/>
                </a:solidFill>
                <a:latin typeface="Courier New"/>
              </a:rPr>
              <a:t>, </a:t>
            </a:r>
            <a:r>
              <a:rPr sz="840" b="0" i="0">
                <a:solidFill>
                  <a:srgbClr val="9FC4EE"/>
                </a:solidFill>
                <a:latin typeface="Courier New"/>
              </a:rPr>
              <a:t>2</a:t>
            </a:r>
            <a:r>
              <a:rPr sz="840" b="0" i="0">
                <a:solidFill>
                  <a:srgbClr val="E4EDF2"/>
                </a:solidFill>
                <a:latin typeface="Courier New"/>
              </a:rPr>
              <a:t>, </a:t>
            </a:r>
            <a:r>
              <a:rPr sz="840" b="0" i="0">
                <a:solidFill>
                  <a:srgbClr val="9FC4EE"/>
                </a:solidFill>
                <a:latin typeface="Courier New"/>
              </a:rPr>
              <a:t>3</a:t>
            </a:r>
            <a:r>
              <a:rPr sz="840" b="0" i="0">
                <a:solidFill>
                  <a:srgbClr val="E4EDF2"/>
                </a:solidFill>
                <a:latin typeface="Courier New"/>
              </a:rPr>
              <a:t>, </a:t>
            </a:r>
            <a:r>
              <a:rPr sz="840" b="0" i="0">
                <a:solidFill>
                  <a:srgbClr val="9FC4EE"/>
                </a:solidFill>
                <a:latin typeface="Courier New"/>
              </a:rPr>
              <a:t>4</a:t>
            </a:r>
            <a:r>
              <a:rPr sz="840" b="0" i="0">
                <a:solidFill>
                  <a:srgbClr val="E4EDF2"/>
                </a:solidFill>
                <a:latin typeface="Courier New"/>
              </a:rPr>
              <a:t>, </a:t>
            </a:r>
            <a:r>
              <a:rPr sz="840" b="0" i="0">
                <a:solidFill>
                  <a:srgbClr val="9FC4EE"/>
                </a:solidFill>
                <a:latin typeface="Courier New"/>
              </a:rPr>
              <a:t>6</a:t>
            </a:r>
            <a:r>
              <a:rPr sz="840" b="0" i="0">
                <a:solidFill>
                  <a:srgbClr val="E4EDF2"/>
                </a:solidFill>
                <a:latin typeface="Courier New"/>
              </a:rPr>
              <a:t>, </a:t>
            </a:r>
            <a:r>
              <a:rPr sz="840" b="0" i="0">
                <a:solidFill>
                  <a:srgbClr val="9FC4EE"/>
                </a:solidFill>
                <a:latin typeface="Courier New"/>
              </a:rPr>
              <a:t>8</a:t>
            </a:r>
            <a:r>
              <a:rPr sz="840" b="0" i="0">
                <a:solidFill>
                  <a:srgbClr val="E4EDF2"/>
                </a:solidFill>
                <a:latin typeface="Courier New"/>
              </a:rPr>
              <a:t>]:  </a:t>
            </a:r>
            <a:r>
              <a:rPr sz="840" b="0" i="0">
                <a:solidFill>
                  <a:srgbClr val="E4EDF2"/>
                </a:solidFill>
                <a:latin typeface="Courier New"/>
              </a:rPr>
              <a:t>hits</a:t>
            </a:r>
            <a:r>
              <a:rPr sz="840" b="0" i="0">
                <a:solidFill>
                  <a:srgbClr val="E4EDF2"/>
                </a:solidFill>
                <a:latin typeface="Courier New"/>
              </a:rPr>
              <a:t> = </a:t>
            </a:r>
            <a:r>
              <a:rPr sz="840" b="0" i="0">
                <a:solidFill>
                  <a:srgbClr val="9FC4EE"/>
                </a:solidFill>
                <a:latin typeface="Courier New"/>
              </a:rPr>
              <a:t>retrieve</a:t>
            </a:r>
            <a:r>
              <a:rPr sz="840" b="0" i="0">
                <a:solidFill>
                  <a:srgbClr val="E4EDF2"/>
                </a:solidFill>
                <a:latin typeface="Courier New"/>
              </a:rPr>
              <a:t>(</a:t>
            </a:r>
            <a:r>
              <a:rPr sz="840" b="0" i="0">
                <a:solidFill>
                  <a:srgbClr val="E4EDF2"/>
                </a:solidFill>
                <a:latin typeface="Courier New"/>
              </a:rPr>
              <a:t>query</a:t>
            </a:r>
            <a:r>
              <a:rPr sz="840" b="0" i="0">
                <a:solidFill>
                  <a:srgbClr val="E4EDF2"/>
                </a:solidFill>
                <a:latin typeface="Courier New"/>
              </a:rPr>
              <a:t>, </a:t>
            </a:r>
            <a:r>
              <a:rPr sz="840" b="0" i="0">
                <a:solidFill>
                  <a:srgbClr val="E4EDF2"/>
                </a:solidFill>
                <a:latin typeface="Courier New"/>
              </a:rPr>
              <a:t>how_many</a:t>
            </a:r>
            <a:r>
              <a:rPr sz="840" b="0" i="0">
                <a:solidFill>
                  <a:srgbClr val="E4EDF2"/>
                </a:solidFill>
                <a:latin typeface="Courier New"/>
              </a:rPr>
              <a:t>=</a:t>
            </a:r>
            <a:r>
              <a:rPr sz="840" b="0" i="0">
                <a:solidFill>
                  <a:srgbClr val="E4EDF2"/>
                </a:solidFill>
                <a:latin typeface="Courier New"/>
              </a:rPr>
              <a:t>k</a:t>
            </a:r>
            <a:r>
              <a:rPr sz="840" b="0" i="0">
                <a:solidFill>
                  <a:srgbClr val="E4EDF2"/>
                </a:solidFill>
                <a:latin typeface="Courier New"/>
              </a:rPr>
              <a:t>)</a:t>
            </a:r>
          </a:p>
        </p:txBody>
      </p:sp>
      <p:graphicFrame>
        <p:nvGraphicFramePr>
          <p:cNvPr id="10" name="Table 9"/>
          <p:cNvGraphicFramePr>
            <a:graphicFrameLocks noGrp="1"/>
          </p:cNvGraphicFramePr>
          <p:nvPr/>
        </p:nvGraphicFramePr>
        <p:xfrm>
          <a:off x="6583680" y="1828800"/>
          <a:ext cx="4965191" cy="1783080"/>
        </p:xfrm>
        <a:graphic>
          <a:graphicData uri="http://schemas.openxmlformats.org/drawingml/2006/table">
            <a:tbl>
              <a:tblPr firstRow="1" bandRow="1">
                <a:tableStyleId>{5C22544A-7EE6-4342-B048-85BDC9FD1C3A}</a:tableStyleId>
              </a:tblPr>
              <a:tblGrid>
                <a:gridCol w="709313"/>
                <a:gridCol w="1950611"/>
                <a:gridCol w="1418626"/>
                <a:gridCol w="886641"/>
              </a:tblGrid>
              <a:tr h="356616">
                <a:tc>
                  <a:txBody>
                    <a:bodyPr wrap="square"/>
                    <a:lstStyle/>
                    <a:p>
                      <a:r>
                        <a:rPr sz="950" b="1">
                          <a:solidFill>
                            <a:srgbClr val="73305F"/>
                          </a:solidFill>
                          <a:latin typeface="Calibri"/>
                        </a:rPr>
                        <a:t>k</a:t>
                      </a:r>
                    </a:p>
                  </a:txBody>
                  <a:tcPr marL="91440" marR="73152" marT="36576" marB="36576" anchor="ctr">
                    <a:solidFill>
                      <a:srgbClr val="F1E4ED"/>
                    </a:solidFill>
                  </a:tcPr>
                </a:tc>
                <a:tc>
                  <a:txBody>
                    <a:bodyPr wrap="square"/>
                    <a:lstStyle/>
                    <a:p>
                      <a:r>
                        <a:rPr sz="950" b="1">
                          <a:solidFill>
                            <a:srgbClr val="73305F"/>
                          </a:solidFill>
                          <a:latin typeface="Calibri"/>
                        </a:rPr>
                        <a:t>context chars</a:t>
                      </a:r>
                    </a:p>
                  </a:txBody>
                  <a:tcPr marL="91440" marR="73152" marT="36576" marB="36576" anchor="ctr">
                    <a:solidFill>
                      <a:srgbClr val="F1E4ED"/>
                    </a:solidFill>
                  </a:tcPr>
                </a:tc>
                <a:tc>
                  <a:txBody>
                    <a:bodyPr wrap="square"/>
                    <a:lstStyle/>
                    <a:p>
                      <a:r>
                        <a:rPr sz="950" b="1">
                          <a:solidFill>
                            <a:srgbClr val="73305F"/>
                          </a:solidFill>
                          <a:latin typeface="Calibri"/>
                        </a:rPr>
                        <a:t>answered</a:t>
                      </a:r>
                    </a:p>
                  </a:txBody>
                  <a:tcPr marL="91440" marR="73152" marT="36576" marB="36576" anchor="ctr">
                    <a:solidFill>
                      <a:srgbClr val="F1E4ED"/>
                    </a:solidFill>
                  </a:tcPr>
                </a:tc>
                <a:tc>
                  <a:txBody>
                    <a:bodyPr wrap="square"/>
                    <a:lstStyle/>
                    <a:p>
                      <a:r>
                        <a:rPr sz="950" b="1">
                          <a:solidFill>
                            <a:srgbClr val="73305F"/>
                          </a:solidFill>
                          <a:latin typeface="Calibri"/>
                        </a:rPr>
                        <a:t>leaks</a:t>
                      </a:r>
                    </a:p>
                  </a:txBody>
                  <a:tcPr marL="91440" marR="73152" marT="36576" marB="36576" anchor="ctr">
                    <a:solidFill>
                      <a:srgbClr val="F1E4ED"/>
                    </a:solidFill>
                  </a:tcPr>
                </a:tc>
              </a:tr>
              <a:tr h="356616">
                <a:tc>
                  <a:txBody>
                    <a:bodyPr wrap="square"/>
                    <a:lstStyle/>
                    <a:p>
                      <a:r>
                        <a:rPr sz="1000" b="0">
                          <a:solidFill>
                            <a:srgbClr val="1B2B36"/>
                          </a:solidFill>
                          <a:latin typeface="Calibri"/>
                        </a:rPr>
                        <a:t>1</a:t>
                      </a:r>
                    </a:p>
                  </a:txBody>
                  <a:tcPr marL="91440" marR="73152" marT="36576" marB="36576" anchor="ctr">
                    <a:solidFill>
                      <a:srgbClr val="FFFFFF"/>
                    </a:solidFill>
                  </a:tcPr>
                </a:tc>
                <a:tc>
                  <a:txBody>
                    <a:bodyPr wrap="square"/>
                    <a:lstStyle/>
                    <a:p>
                      <a:r>
                        <a:rPr sz="1000" b="0">
                          <a:solidFill>
                            <a:srgbClr val="1B2B36"/>
                          </a:solidFill>
                          <a:latin typeface="Calibri"/>
                        </a:rPr>
                        <a:t>878</a:t>
                      </a:r>
                    </a:p>
                  </a:txBody>
                  <a:tcPr marL="91440" marR="73152" marT="36576" marB="36576" anchor="ctr">
                    <a:solidFill>
                      <a:srgbClr val="FFFFFF"/>
                    </a:solidFill>
                  </a:tcPr>
                </a:tc>
                <a:tc>
                  <a:txBody>
                    <a:bodyPr wrap="square"/>
                    <a:lstStyle/>
                    <a:p>
                      <a:r>
                        <a:rPr sz="1000" b="0">
                          <a:solidFill>
                            <a:srgbClr val="1B2B36"/>
                          </a:solidFill>
                          <a:latin typeface="Calibri"/>
                        </a:rPr>
                        <a:t>5 / 5</a:t>
                      </a:r>
                    </a:p>
                  </a:txBody>
                  <a:tcPr marL="91440" marR="73152" marT="36576" marB="36576" anchor="ctr">
                    <a:solidFill>
                      <a:srgbClr val="FFFFFF"/>
                    </a:solidFill>
                  </a:tcPr>
                </a:tc>
                <a:tc>
                  <a:txBody>
                    <a:bodyPr wrap="square"/>
                    <a:lstStyle/>
                    <a:p>
                      <a:r>
                        <a:rPr sz="1000" b="0">
                          <a:solidFill>
                            <a:srgbClr val="1B2B36"/>
                          </a:solidFill>
                          <a:latin typeface="Calibri"/>
                        </a:rPr>
                        <a:t>1</a:t>
                      </a:r>
                    </a:p>
                  </a:txBody>
                  <a:tcPr marL="91440" marR="73152" marT="36576" marB="36576" anchor="ctr">
                    <a:solidFill>
                      <a:srgbClr val="FFFFFF"/>
                    </a:solidFill>
                  </a:tcPr>
                </a:tc>
              </a:tr>
              <a:tr h="356616">
                <a:tc>
                  <a:txBody>
                    <a:bodyPr wrap="square"/>
                    <a:lstStyle/>
                    <a:p>
                      <a:r>
                        <a:rPr sz="1000" b="0">
                          <a:solidFill>
                            <a:srgbClr val="1B2B36"/>
                          </a:solidFill>
                          <a:latin typeface="Calibri"/>
                        </a:rPr>
                        <a:t>2</a:t>
                      </a:r>
                    </a:p>
                  </a:txBody>
                  <a:tcPr marL="91440" marR="73152" marT="36576" marB="36576" anchor="ctr">
                    <a:solidFill>
                      <a:srgbClr val="F1F5F8"/>
                    </a:solidFill>
                  </a:tcPr>
                </a:tc>
                <a:tc>
                  <a:txBody>
                    <a:bodyPr wrap="square"/>
                    <a:lstStyle/>
                    <a:p>
                      <a:r>
                        <a:rPr sz="1000" b="0">
                          <a:solidFill>
                            <a:srgbClr val="1B2B36"/>
                          </a:solidFill>
                          <a:latin typeface="Calibri"/>
                        </a:rPr>
                        <a:t>1,788</a:t>
                      </a:r>
                    </a:p>
                  </a:txBody>
                  <a:tcPr marL="91440" marR="73152" marT="36576" marB="36576" anchor="ctr">
                    <a:solidFill>
                      <a:srgbClr val="F1F5F8"/>
                    </a:solidFill>
                  </a:tcPr>
                </a:tc>
                <a:tc>
                  <a:txBody>
                    <a:bodyPr wrap="square"/>
                    <a:lstStyle/>
                    <a:p>
                      <a:r>
                        <a:rPr sz="1000" b="0">
                          <a:solidFill>
                            <a:srgbClr val="1B2B36"/>
                          </a:solidFill>
                          <a:latin typeface="Calibri"/>
                        </a:rPr>
                        <a:t>5 / 5</a:t>
                      </a:r>
                    </a:p>
                  </a:txBody>
                  <a:tcPr marL="91440" marR="73152" marT="36576" marB="36576" anchor="ctr">
                    <a:solidFill>
                      <a:srgbClr val="F1F5F8"/>
                    </a:solidFill>
                  </a:tcPr>
                </a:tc>
                <a:tc>
                  <a:txBody>
                    <a:bodyPr wrap="square"/>
                    <a:lstStyle/>
                    <a:p>
                      <a:r>
                        <a:rPr sz="1000" b="0">
                          <a:solidFill>
                            <a:srgbClr val="1B2B36"/>
                          </a:solidFill>
                          <a:latin typeface="Calibri"/>
                        </a:rPr>
                        <a:t>1</a:t>
                      </a:r>
                    </a:p>
                  </a:txBody>
                  <a:tcPr marL="91440" marR="73152" marT="36576" marB="36576" anchor="ctr">
                    <a:solidFill>
                      <a:srgbClr val="F1F5F8"/>
                    </a:solidFill>
                  </a:tcPr>
                </a:tc>
              </a:tr>
              <a:tr h="356616">
                <a:tc>
                  <a:txBody>
                    <a:bodyPr wrap="square"/>
                    <a:lstStyle/>
                    <a:p>
                      <a:r>
                        <a:rPr sz="1000" b="0">
                          <a:solidFill>
                            <a:srgbClr val="1B2B36"/>
                          </a:solidFill>
                          <a:latin typeface="Calibri"/>
                        </a:rPr>
                        <a:t>4</a:t>
                      </a:r>
                    </a:p>
                  </a:txBody>
                  <a:tcPr marL="91440" marR="73152" marT="36576" marB="36576" anchor="ctr">
                    <a:solidFill>
                      <a:srgbClr val="FFFFFF"/>
                    </a:solidFill>
                  </a:tcPr>
                </a:tc>
                <a:tc>
                  <a:txBody>
                    <a:bodyPr wrap="square"/>
                    <a:lstStyle/>
                    <a:p>
                      <a:r>
                        <a:rPr sz="1000" b="0">
                          <a:solidFill>
                            <a:srgbClr val="1B2B36"/>
                          </a:solidFill>
                          <a:latin typeface="Calibri"/>
                        </a:rPr>
                        <a:t>3,173</a:t>
                      </a:r>
                    </a:p>
                  </a:txBody>
                  <a:tcPr marL="91440" marR="73152" marT="36576" marB="36576" anchor="ctr">
                    <a:solidFill>
                      <a:srgbClr val="FFFFFF"/>
                    </a:solidFill>
                  </a:tcPr>
                </a:tc>
                <a:tc>
                  <a:txBody>
                    <a:bodyPr wrap="square"/>
                    <a:lstStyle/>
                    <a:p>
                      <a:r>
                        <a:rPr sz="1000" b="0">
                          <a:solidFill>
                            <a:srgbClr val="1B2B36"/>
                          </a:solidFill>
                          <a:latin typeface="Calibri"/>
                        </a:rPr>
                        <a:t>5 / 5</a:t>
                      </a:r>
                    </a:p>
                  </a:txBody>
                  <a:tcPr marL="91440" marR="73152" marT="36576" marB="36576" anchor="ctr">
                    <a:solidFill>
                      <a:srgbClr val="FFFFFF"/>
                    </a:solidFill>
                  </a:tcPr>
                </a:tc>
                <a:tc>
                  <a:txBody>
                    <a:bodyPr wrap="square"/>
                    <a:lstStyle/>
                    <a:p>
                      <a:r>
                        <a:rPr sz="1000" b="0">
                          <a:solidFill>
                            <a:srgbClr val="1B2B36"/>
                          </a:solidFill>
                          <a:latin typeface="Calibri"/>
                        </a:rPr>
                        <a:t>1</a:t>
                      </a:r>
                    </a:p>
                  </a:txBody>
                  <a:tcPr marL="91440" marR="73152" marT="36576" marB="36576" anchor="ctr">
                    <a:solidFill>
                      <a:srgbClr val="FFFFFF"/>
                    </a:solidFill>
                  </a:tcPr>
                </a:tc>
              </a:tr>
              <a:tr h="356616">
                <a:tc>
                  <a:txBody>
                    <a:bodyPr wrap="square"/>
                    <a:lstStyle/>
                    <a:p>
                      <a:r>
                        <a:rPr sz="1000" b="0">
                          <a:solidFill>
                            <a:srgbClr val="1B2B36"/>
                          </a:solidFill>
                          <a:latin typeface="Calibri"/>
                        </a:rPr>
                        <a:t>8</a:t>
                      </a:r>
                    </a:p>
                  </a:txBody>
                  <a:tcPr marL="91440" marR="73152" marT="36576" marB="36576" anchor="ctr">
                    <a:solidFill>
                      <a:srgbClr val="F1F5F8"/>
                    </a:solidFill>
                  </a:tcPr>
                </a:tc>
                <a:tc>
                  <a:txBody>
                    <a:bodyPr wrap="square"/>
                    <a:lstStyle/>
                    <a:p>
                      <a:r>
                        <a:rPr sz="1000" b="0">
                          <a:solidFill>
                            <a:srgbClr val="1B2B36"/>
                          </a:solidFill>
                          <a:latin typeface="Calibri"/>
                        </a:rPr>
                        <a:t>5,317</a:t>
                      </a:r>
                    </a:p>
                  </a:txBody>
                  <a:tcPr marL="91440" marR="73152" marT="36576" marB="36576" anchor="ctr">
                    <a:solidFill>
                      <a:srgbClr val="F1F5F8"/>
                    </a:solidFill>
                  </a:tcPr>
                </a:tc>
                <a:tc>
                  <a:txBody>
                    <a:bodyPr wrap="square"/>
                    <a:lstStyle/>
                    <a:p>
                      <a:r>
                        <a:rPr sz="1000" b="0">
                          <a:solidFill>
                            <a:srgbClr val="1B2B36"/>
                          </a:solidFill>
                          <a:latin typeface="Calibri"/>
                        </a:rPr>
                        <a:t>5 / 5</a:t>
                      </a:r>
                    </a:p>
                  </a:txBody>
                  <a:tcPr marL="91440" marR="73152" marT="36576" marB="36576" anchor="ctr">
                    <a:solidFill>
                      <a:srgbClr val="F1F5F8"/>
                    </a:solidFill>
                  </a:tcPr>
                </a:tc>
                <a:tc>
                  <a:txBody>
                    <a:bodyPr wrap="square"/>
                    <a:lstStyle/>
                    <a:p>
                      <a:r>
                        <a:rPr sz="1000" b="0">
                          <a:solidFill>
                            <a:srgbClr val="1B2B36"/>
                          </a:solidFill>
                          <a:latin typeface="Calibri"/>
                        </a:rPr>
                        <a:t>1</a:t>
                      </a:r>
                    </a:p>
                  </a:txBody>
                  <a:tcPr marL="91440" marR="73152" marT="36576" marB="36576" anchor="ctr">
                    <a:solidFill>
                      <a:srgbClr val="F1F5F8"/>
                    </a:solidFill>
                  </a:tcPr>
                </a:tc>
              </a:tr>
            </a:tbl>
          </a:graphicData>
        </a:graphic>
      </p:graphicFrame>
      <p:sp>
        <p:nvSpPr>
          <p:cNvPr id="11" name="Rounded Rectangle 10"/>
          <p:cNvSpPr/>
          <p:nvPr/>
        </p:nvSpPr>
        <p:spPr>
          <a:xfrm>
            <a:off x="6583680" y="3767328"/>
            <a:ext cx="4965192" cy="1097280"/>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03136" y="3886200"/>
            <a:ext cx="4526279" cy="859536"/>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So why k = 4 and not k = 1?  </a:t>
            </a:r>
            <a:r>
              <a:rPr sz="1100" b="0" i="0">
                <a:solidFill>
                  <a:srgbClr val="1B2B36"/>
                </a:solidFill>
                <a:latin typeface="Calibri"/>
              </a:rPr>
              <a:t>Not recall — k = 1 already answers everything. Corroboration and citation: four passages let the answer cite several sources, and let you see when the top hit was a near miss.</a:t>
            </a:r>
          </a:p>
        </p:txBody>
      </p:sp>
      <p:sp>
        <p:nvSpPr>
          <p:cNvPr id="13" name="Rounded Rectangle 12"/>
          <p:cNvSpPr/>
          <p:nvPr/>
        </p:nvSpPr>
        <p:spPr>
          <a:xfrm>
            <a:off x="6583680" y="5010912"/>
            <a:ext cx="4965192" cy="1207008"/>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03136" y="5157216"/>
            <a:ext cx="4526279" cy="274320"/>
          </a:xfrm>
          <a:prstGeom prst="rect">
            <a:avLst/>
          </a:prstGeom>
          <a:noFill/>
        </p:spPr>
        <p:txBody>
          <a:bodyPr wrap="square" lIns="0" rIns="0" tIns="0" bIns="0">
            <a:spAutoFit/>
          </a:bodyPr>
          <a:lstStyle/>
          <a:p>
            <a:pPr>
              <a:spcAft>
                <a:spcPts val="200"/>
              </a:spcAft>
            </a:pPr>
            <a:r>
              <a:rPr sz="1300" b="1" i="0">
                <a:solidFill>
                  <a:srgbClr val="A4243B"/>
                </a:solidFill>
                <a:latin typeface="Calibri"/>
              </a:rPr>
              <a:t>And notice what k never fixes</a:t>
            </a:r>
          </a:p>
        </p:txBody>
      </p:sp>
      <p:sp>
        <p:nvSpPr>
          <p:cNvPr id="15" name="TextBox 14"/>
          <p:cNvSpPr txBox="1"/>
          <p:nvPr/>
        </p:nvSpPr>
        <p:spPr>
          <a:xfrm>
            <a:off x="6803136" y="5522976"/>
            <a:ext cx="4526279" cy="548640"/>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The single leaked out-of-scope chunk is present at every k. Raising k cannot buy grounding — only the distance threshold does that. Two numbers, two entirely different jobs.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5 · BUILD IT</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Beyond one-shot retrieval</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Standard RAG retrieves once and answers. An agent decides what to retrieve, looks at what came back, and tries again.</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36</a:t>
            </a:r>
          </a:p>
        </p:txBody>
      </p:sp>
      <p:pic>
        <p:nvPicPr>
          <p:cNvPr id="7" name="Picture 6" descr="agentic_rag.png"/>
          <p:cNvPicPr>
            <a:picLocks noChangeAspect="1"/>
          </p:cNvPicPr>
          <p:nvPr/>
        </p:nvPicPr>
        <p:blipFill>
          <a:blip r:embed="rId3"/>
          <a:stretch>
            <a:fillRect/>
          </a:stretch>
        </p:blipFill>
        <p:spPr>
          <a:xfrm>
            <a:off x="856257" y="1700784"/>
            <a:ext cx="10476436" cy="3163824"/>
          </a:xfrm>
          <a:prstGeom prst="rect">
            <a:avLst/>
          </a:prstGeom>
        </p:spPr>
      </p:pic>
      <p:sp>
        <p:nvSpPr>
          <p:cNvPr id="8" name="Rounded Rectangle 7"/>
          <p:cNvSpPr/>
          <p:nvPr/>
        </p:nvSpPr>
        <p:spPr>
          <a:xfrm>
            <a:off x="640080" y="4974336"/>
            <a:ext cx="6949440" cy="1243584"/>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093208"/>
            <a:ext cx="6510527" cy="1005840"/>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“Agentic RAG transforms the process into a reason-act-observe loop.”  </a:t>
            </a:r>
            <a:r>
              <a:rPr sz="1100" b="0" i="0">
                <a:solidFill>
                  <a:srgbClr val="1B2B36"/>
                </a:solidFill>
                <a:latin typeface="Calibri"/>
              </a:rPr>
              <a:t>The agent reasons about the goal, acts by using its tools, and observes the results to inform its next step. This allows it to handle ambiguity and tackle multifaceted problems.  — Santos, Agentic AI for Cybersecurity, Ch. 2</a:t>
            </a:r>
          </a:p>
        </p:txBody>
      </p:sp>
      <p:sp>
        <p:nvSpPr>
          <p:cNvPr id="10" name="Rounded Rectangle 9"/>
          <p:cNvSpPr/>
          <p:nvPr/>
        </p:nvSpPr>
        <p:spPr>
          <a:xfrm>
            <a:off x="7863840" y="4974336"/>
            <a:ext cx="3685032" cy="1243584"/>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83296" y="5120640"/>
            <a:ext cx="3246120"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Where this goes next</a:t>
            </a:r>
          </a:p>
        </p:txBody>
      </p:sp>
      <p:sp>
        <p:nvSpPr>
          <p:cNvPr id="12" name="TextBox 11"/>
          <p:cNvSpPr txBox="1"/>
          <p:nvPr/>
        </p:nvSpPr>
        <p:spPr>
          <a:xfrm>
            <a:off x="8083296" y="5486400"/>
            <a:ext cx="3246120" cy="585216"/>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Module 5 gives you the framework, Module 6 gives you the loop. The retrieve() you wrote this week becomes one of the tools the agent is allowed to call — nothing here is thrown away.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6 · LAB &amp; MINI-PROJECT</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Four traps that cost marks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Every one of these has cost a student an afternoon. Not one of them raises an error.</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41</a:t>
            </a:r>
          </a:p>
        </p:txBody>
      </p:sp>
      <p:pic>
        <p:nvPicPr>
          <p:cNvPr id="7" name="Picture 6" descr="duplicate_ids.png"/>
          <p:cNvPicPr>
            <a:picLocks noChangeAspect="1"/>
          </p:cNvPicPr>
          <p:nvPr/>
        </p:nvPicPr>
        <p:blipFill>
          <a:blip r:embed="rId3"/>
          <a:stretch>
            <a:fillRect/>
          </a:stretch>
        </p:blipFill>
        <p:spPr>
          <a:xfrm>
            <a:off x="650405" y="1700784"/>
            <a:ext cx="10888140" cy="2852928"/>
          </a:xfrm>
          <a:prstGeom prst="rect">
            <a:avLst/>
          </a:prstGeom>
        </p:spPr>
      </p:pic>
      <p:sp>
        <p:nvSpPr>
          <p:cNvPr id="8" name="Rounded Rectangle 7"/>
          <p:cNvSpPr/>
          <p:nvPr/>
        </p:nvSpPr>
        <p:spPr>
          <a:xfrm>
            <a:off x="640080" y="4681728"/>
            <a:ext cx="3447288" cy="1298448"/>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4828032"/>
            <a:ext cx="3008376" cy="274320"/>
          </a:xfrm>
          <a:prstGeom prst="rect">
            <a:avLst/>
          </a:prstGeom>
          <a:noFill/>
        </p:spPr>
        <p:txBody>
          <a:bodyPr wrap="square" lIns="0" rIns="0" tIns="0" bIns="0">
            <a:spAutoFit/>
          </a:bodyPr>
          <a:lstStyle/>
          <a:p>
            <a:pPr>
              <a:spcAft>
                <a:spcPts val="200"/>
              </a:spcAft>
            </a:pPr>
            <a:r>
              <a:rPr sz="1100" b="1" i="0">
                <a:solidFill>
                  <a:srgbClr val="A4243B"/>
                </a:solidFill>
                <a:latin typeface="Calibri"/>
              </a:rPr>
              <a:t>2 · Chroma defaults to L2</a:t>
            </a:r>
          </a:p>
        </p:txBody>
      </p:sp>
      <p:sp>
        <p:nvSpPr>
          <p:cNvPr id="10" name="TextBox 9"/>
          <p:cNvSpPr txBox="1"/>
          <p:nvPr/>
        </p:nvSpPr>
        <p:spPr>
          <a:xfrm>
            <a:off x="859536" y="5193792"/>
            <a:ext cx="3008376" cy="640080"/>
          </a:xfrm>
          <a:prstGeom prst="rect">
            <a:avLst/>
          </a:prstGeom>
          <a:noFill/>
        </p:spPr>
        <p:txBody>
          <a:bodyPr wrap="square" lIns="0" rIns="0" tIns="0" bIns="0">
            <a:spAutoFit/>
          </a:bodyPr>
          <a:lstStyle/>
          <a:p>
            <a:pPr>
              <a:lnSpc>
                <a:spcPct val="114000"/>
              </a:lnSpc>
              <a:spcAft>
                <a:spcPts val="300"/>
              </a:spcAft>
            </a:pPr>
            <a:r>
              <a:rPr sz="880" b="0" i="0">
                <a:solidFill>
                  <a:srgbClr val="1B2B36"/>
                </a:solidFill>
                <a:latin typeface="Calibri"/>
              </a:rPr>
              <a:t>Without metadata={"hnsw:space": "cosine"} your distances are on a different scale and every threshold you tuned is wrong.</a:t>
            </a:r>
          </a:p>
        </p:txBody>
      </p:sp>
      <p:sp>
        <p:nvSpPr>
          <p:cNvPr id="11" name="Rounded Rectangle 10"/>
          <p:cNvSpPr/>
          <p:nvPr/>
        </p:nvSpPr>
        <p:spPr>
          <a:xfrm>
            <a:off x="4370832" y="4681728"/>
            <a:ext cx="3447288" cy="1298448"/>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0288" y="4828032"/>
            <a:ext cx="3008376" cy="274320"/>
          </a:xfrm>
          <a:prstGeom prst="rect">
            <a:avLst/>
          </a:prstGeom>
          <a:noFill/>
        </p:spPr>
        <p:txBody>
          <a:bodyPr wrap="square" lIns="0" rIns="0" tIns="0" bIns="0">
            <a:spAutoFit/>
          </a:bodyPr>
          <a:lstStyle/>
          <a:p>
            <a:pPr>
              <a:spcAft>
                <a:spcPts val="200"/>
              </a:spcAft>
            </a:pPr>
            <a:r>
              <a:rPr sz="1100" b="1" i="0">
                <a:solidFill>
                  <a:srgbClr val="A4243B"/>
                </a:solidFill>
                <a:latin typeface="Calibri"/>
              </a:rPr>
              <a:t>3 · overlap ≥ chunk_size</a:t>
            </a:r>
          </a:p>
        </p:txBody>
      </p:sp>
      <p:sp>
        <p:nvSpPr>
          <p:cNvPr id="13" name="TextBox 12"/>
          <p:cNvSpPr txBox="1"/>
          <p:nvPr/>
        </p:nvSpPr>
        <p:spPr>
          <a:xfrm>
            <a:off x="4590288" y="5193792"/>
            <a:ext cx="3008376" cy="640080"/>
          </a:xfrm>
          <a:prstGeom prst="rect">
            <a:avLst/>
          </a:prstGeom>
          <a:noFill/>
        </p:spPr>
        <p:txBody>
          <a:bodyPr wrap="square" lIns="0" rIns="0" tIns="0" bIns="0">
            <a:spAutoFit/>
          </a:bodyPr>
          <a:lstStyle/>
          <a:p>
            <a:pPr>
              <a:lnSpc>
                <a:spcPct val="114000"/>
              </a:lnSpc>
              <a:spcAft>
                <a:spcPts val="300"/>
              </a:spcAft>
            </a:pPr>
            <a:r>
              <a:rPr sz="880" b="0" i="0">
                <a:solidFill>
                  <a:srgbClr val="1B2B36"/>
                </a:solidFill>
                <a:latin typeface="Calibri"/>
              </a:rPr>
              <a:t>The stride goes to zero and the splitter loops forever. No exception, no output — just a cell that never finishes.</a:t>
            </a:r>
          </a:p>
        </p:txBody>
      </p:sp>
      <p:sp>
        <p:nvSpPr>
          <p:cNvPr id="14" name="Rounded Rectangle 13"/>
          <p:cNvSpPr/>
          <p:nvPr/>
        </p:nvSpPr>
        <p:spPr>
          <a:xfrm>
            <a:off x="8101583" y="4681728"/>
            <a:ext cx="3447288" cy="1298448"/>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21040" y="4828032"/>
            <a:ext cx="3008376" cy="274320"/>
          </a:xfrm>
          <a:prstGeom prst="rect">
            <a:avLst/>
          </a:prstGeom>
          <a:noFill/>
        </p:spPr>
        <p:txBody>
          <a:bodyPr wrap="square" lIns="0" rIns="0" tIns="0" bIns="0">
            <a:spAutoFit/>
          </a:bodyPr>
          <a:lstStyle/>
          <a:p>
            <a:pPr>
              <a:spcAft>
                <a:spcPts val="200"/>
              </a:spcAft>
            </a:pPr>
            <a:r>
              <a:rPr sz="1100" b="1" i="0">
                <a:solidFill>
                  <a:srgbClr val="A4243B"/>
                </a:solidFill>
                <a:latin typeface="Calibri"/>
              </a:rPr>
              <a:t>4 · relative paths and the first run</a:t>
            </a:r>
          </a:p>
        </p:txBody>
      </p:sp>
      <p:sp>
        <p:nvSpPr>
          <p:cNvPr id="16" name="TextBox 15"/>
          <p:cNvSpPr txBox="1"/>
          <p:nvPr/>
        </p:nvSpPr>
        <p:spPr>
          <a:xfrm>
            <a:off x="8321040" y="5193792"/>
            <a:ext cx="3008376" cy="640080"/>
          </a:xfrm>
          <a:prstGeom prst="rect">
            <a:avLst/>
          </a:prstGeom>
          <a:noFill/>
        </p:spPr>
        <p:txBody>
          <a:bodyPr wrap="square" lIns="0" rIns="0" tIns="0" bIns="0">
            <a:spAutoFit/>
          </a:bodyPr>
          <a:lstStyle/>
          <a:p>
            <a:pPr>
              <a:lnSpc>
                <a:spcPct val="114000"/>
              </a:lnSpc>
              <a:spcAft>
                <a:spcPts val="300"/>
              </a:spcAft>
            </a:pPr>
            <a:r>
              <a:rPr sz="880" b="0" i="0">
                <a:solidFill>
                  <a:srgbClr val="1B2B36"/>
                </a:solidFill>
                <a:latin typeface="Calibri"/>
              </a:rPr>
              <a:t>Run from RAG/code/. The first model load pulls ~90 MB and looks frozen; pass device="cpu" if the GPU driver mismatches.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EMBEDDINGS</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Embeddings in twenty lines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whole of section 2 of lecture2_embeddings_and_vectordb.ipynb — nothing hidden, no framework.</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8</a:t>
            </a:r>
          </a:p>
        </p:txBody>
      </p:sp>
      <p:sp>
        <p:nvSpPr>
          <p:cNvPr id="7" name="Rounded Rectangle 6"/>
          <p:cNvSpPr/>
          <p:nvPr/>
        </p:nvSpPr>
        <p:spPr>
          <a:xfrm>
            <a:off x="640080" y="1719072"/>
            <a:ext cx="7223760" cy="449884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837943"/>
            <a:ext cx="67482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lecture2_embeddings_and_vectordb.ipynb · SECTION 2 — COMPLETE</a:t>
            </a:r>
          </a:p>
        </p:txBody>
      </p:sp>
      <p:sp>
        <p:nvSpPr>
          <p:cNvPr id="9" name="TextBox 8"/>
          <p:cNvSpPr txBox="1"/>
          <p:nvPr/>
        </p:nvSpPr>
        <p:spPr>
          <a:xfrm>
            <a:off x="877824" y="2112263"/>
            <a:ext cx="6748272" cy="3995928"/>
          </a:xfrm>
          <a:prstGeom prst="rect">
            <a:avLst/>
          </a:prstGeom>
          <a:noFill/>
        </p:spPr>
        <p:txBody>
          <a:bodyPr wrap="square" lIns="0" rIns="0" tIns="0" bIns="0">
            <a:spAutoFit/>
          </a:bodyPr>
          <a:lstStyle/>
          <a:p>
            <a:pPr>
              <a:lnSpc>
                <a:spcPct val="112000"/>
              </a:lnSpc>
              <a:spcAft>
                <a:spcPts val="100"/>
              </a:spcAft>
            </a:pPr>
            <a:r>
              <a:rPr sz="900" b="0" i="0">
                <a:solidFill>
                  <a:srgbClr val="D9A6CE"/>
                </a:solidFill>
                <a:latin typeface="Courier New"/>
              </a:rPr>
              <a:t>from</a:t>
            </a:r>
            <a:r>
              <a:rPr sz="900" b="0" i="0">
                <a:solidFill>
                  <a:srgbClr val="E4EDF2"/>
                </a:solidFill>
                <a:latin typeface="Courier New"/>
              </a:rPr>
              <a:t> </a:t>
            </a:r>
            <a:r>
              <a:rPr sz="900" b="0" i="0">
                <a:solidFill>
                  <a:srgbClr val="E4EDF2"/>
                </a:solidFill>
                <a:latin typeface="Courier New"/>
              </a:rPr>
              <a:t>sentence_transformers</a:t>
            </a:r>
            <a:r>
              <a:rPr sz="900" b="0" i="0">
                <a:solidFill>
                  <a:srgbClr val="E4EDF2"/>
                </a:solidFill>
                <a:latin typeface="Courier New"/>
              </a:rPr>
              <a:t> </a:t>
            </a:r>
            <a:r>
              <a:rPr sz="900" b="0" i="0">
                <a:solidFill>
                  <a:srgbClr val="D9A6CE"/>
                </a:solidFill>
                <a:latin typeface="Courier New"/>
              </a:rPr>
              <a:t>import</a:t>
            </a:r>
            <a:r>
              <a:rPr sz="900" b="0" i="0">
                <a:solidFill>
                  <a:srgbClr val="E4EDF2"/>
                </a:solidFill>
                <a:latin typeface="Courier New"/>
              </a:rPr>
              <a:t> </a:t>
            </a:r>
            <a:r>
              <a:rPr sz="900" b="0" i="0">
                <a:solidFill>
                  <a:srgbClr val="E4EDF2"/>
                </a:solidFill>
                <a:latin typeface="Courier New"/>
              </a:rPr>
              <a:t>SentenceTransformer</a:t>
            </a:r>
          </a:p>
          <a:p>
            <a:pPr>
              <a:lnSpc>
                <a:spcPct val="112000"/>
              </a:lnSpc>
              <a:spcAft>
                <a:spcPts val="100"/>
              </a:spcAft>
            </a:pPr>
            <a:r>
              <a:rPr sz="900" b="0" i="0">
                <a:solidFill>
                  <a:srgbClr val="D9A6CE"/>
                </a:solidFill>
                <a:latin typeface="Courier New"/>
              </a:rPr>
              <a:t>import</a:t>
            </a:r>
            <a:r>
              <a:rPr sz="900" b="0" i="0">
                <a:solidFill>
                  <a:srgbClr val="E4EDF2"/>
                </a:solidFill>
                <a:latin typeface="Courier New"/>
              </a:rPr>
              <a:t> </a:t>
            </a:r>
            <a:r>
              <a:rPr sz="900" b="0" i="0">
                <a:solidFill>
                  <a:srgbClr val="E4EDF2"/>
                </a:solidFill>
                <a:latin typeface="Courier New"/>
              </a:rPr>
              <a:t>numpy</a:t>
            </a:r>
            <a:r>
              <a:rPr sz="900" b="0" i="0">
                <a:solidFill>
                  <a:srgbClr val="E4EDF2"/>
                </a:solidFill>
                <a:latin typeface="Courier New"/>
              </a:rPr>
              <a:t> </a:t>
            </a:r>
            <a:r>
              <a:rPr sz="900" b="0" i="0">
                <a:solidFill>
                  <a:srgbClr val="D9A6CE"/>
                </a:solidFill>
                <a:latin typeface="Courier New"/>
              </a:rPr>
              <a:t>as</a:t>
            </a:r>
            <a:r>
              <a:rPr sz="900" b="0" i="0">
                <a:solidFill>
                  <a:srgbClr val="E4EDF2"/>
                </a:solidFill>
                <a:latin typeface="Courier New"/>
              </a:rPr>
              <a:t> </a:t>
            </a:r>
            <a:r>
              <a:rPr sz="900" b="0" i="0">
                <a:solidFill>
                  <a:srgbClr val="E4EDF2"/>
                </a:solidFill>
                <a:latin typeface="Courier New"/>
              </a:rPr>
              <a:t>np</a:t>
            </a:r>
          </a:p>
          <a:p>
            <a:pPr>
              <a:lnSpc>
                <a:spcPct val="112000"/>
              </a:lnSpc>
              <a:spcAft>
                <a:spcPts val="100"/>
              </a:spcAft>
            </a:pPr>
            <a:r>
              <a:rPr sz="900" b="0" i="0">
                <a:solidFill>
                  <a:srgbClr val="E4EDF2"/>
                </a:solidFill>
                <a:latin typeface="Courier New"/>
              </a:rPr>
              <a:t/>
            </a:r>
          </a:p>
          <a:p>
            <a:pPr>
              <a:lnSpc>
                <a:spcPct val="112000"/>
              </a:lnSpc>
              <a:spcAft>
                <a:spcPts val="100"/>
              </a:spcAft>
            </a:pPr>
            <a:r>
              <a:rPr sz="900" b="0" i="0">
                <a:solidFill>
                  <a:srgbClr val="76909F"/>
                </a:solidFill>
                <a:latin typeface="Courier New"/>
              </a:rPr>
              <a:t># a small, free embedding model that runs on your own computer</a:t>
            </a:r>
          </a:p>
          <a:p>
            <a:pPr>
              <a:lnSpc>
                <a:spcPct val="112000"/>
              </a:lnSpc>
              <a:spcAft>
                <a:spcPts val="100"/>
              </a:spcAft>
            </a:pPr>
            <a:r>
              <a:rPr sz="900" b="0" i="0">
                <a:solidFill>
                  <a:srgbClr val="E4EDF2"/>
                </a:solidFill>
                <a:latin typeface="Courier New"/>
              </a:rPr>
              <a:t>model</a:t>
            </a:r>
            <a:r>
              <a:rPr sz="900" b="0" i="0">
                <a:solidFill>
                  <a:srgbClr val="E4EDF2"/>
                </a:solidFill>
                <a:latin typeface="Courier New"/>
              </a:rPr>
              <a:t> = </a:t>
            </a:r>
            <a:r>
              <a:rPr sz="900" b="0" i="0">
                <a:solidFill>
                  <a:srgbClr val="9FC4EE"/>
                </a:solidFill>
                <a:latin typeface="Courier New"/>
              </a:rPr>
              <a:t>SentenceTransformer</a:t>
            </a:r>
            <a:r>
              <a:rPr sz="900" b="0" i="0">
                <a:solidFill>
                  <a:srgbClr val="E4EDF2"/>
                </a:solidFill>
                <a:latin typeface="Courier New"/>
              </a:rPr>
              <a:t>(</a:t>
            </a:r>
            <a:r>
              <a:rPr sz="900" b="0" i="0">
                <a:solidFill>
                  <a:srgbClr val="EBB183"/>
                </a:solidFill>
                <a:latin typeface="Courier New"/>
              </a:rPr>
              <a:t>"all-MiniLM-L6-v2"</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r>
          </a:p>
          <a:p>
            <a:pPr>
              <a:lnSpc>
                <a:spcPct val="112000"/>
              </a:lnSpc>
              <a:spcAft>
                <a:spcPts val="100"/>
              </a:spcAft>
            </a:pPr>
            <a:r>
              <a:rPr sz="900" b="0" i="0">
                <a:solidFill>
                  <a:srgbClr val="E4EDF2"/>
                </a:solidFill>
                <a:latin typeface="Courier New"/>
              </a:rPr>
              <a:t>phrases</a:t>
            </a:r>
            <a:r>
              <a:rPr sz="900" b="0" i="0">
                <a:solidFill>
                  <a:srgbClr val="E4EDF2"/>
                </a:solidFill>
                <a:latin typeface="Courier New"/>
              </a:rPr>
              <a:t> = [</a:t>
            </a:r>
            <a:r>
              <a:rPr sz="900" b="0" i="0">
                <a:solidFill>
                  <a:srgbClr val="EBB183"/>
                </a:solidFill>
                <a:latin typeface="Courier New"/>
              </a:rPr>
              <a:t>"SQL injection in the login form"</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BB183"/>
                </a:solidFill>
                <a:latin typeface="Courier New"/>
              </a:rPr>
              <a:t>"command injection via crafted input"</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BB183"/>
                </a:solidFill>
                <a:latin typeface="Courier New"/>
              </a:rPr>
              <a:t>"weak TLS cipher configuration"</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r>
          </a:p>
          <a:p>
            <a:pPr>
              <a:lnSpc>
                <a:spcPct val="112000"/>
              </a:lnSpc>
              <a:spcAft>
                <a:spcPts val="100"/>
              </a:spcAft>
            </a:pPr>
            <a:r>
              <a:rPr sz="900" b="0" i="0">
                <a:solidFill>
                  <a:srgbClr val="76909F"/>
                </a:solidFill>
                <a:latin typeface="Courier New"/>
              </a:rPr>
              <a:t># turn each phrase into a vector</a:t>
            </a:r>
          </a:p>
          <a:p>
            <a:pPr>
              <a:lnSpc>
                <a:spcPct val="112000"/>
              </a:lnSpc>
              <a:spcAft>
                <a:spcPts val="100"/>
              </a:spcAft>
            </a:pPr>
            <a:r>
              <a:rPr sz="900" b="0" i="0">
                <a:solidFill>
                  <a:srgbClr val="E4EDF2"/>
                </a:solidFill>
                <a:latin typeface="Courier New"/>
              </a:rPr>
              <a:t>vectors</a:t>
            </a:r>
            <a:r>
              <a:rPr sz="900" b="0" i="0">
                <a:solidFill>
                  <a:srgbClr val="E4EDF2"/>
                </a:solidFill>
                <a:latin typeface="Courier New"/>
              </a:rPr>
              <a:t> = </a:t>
            </a:r>
            <a:r>
              <a:rPr sz="900" b="0" i="0">
                <a:solidFill>
                  <a:srgbClr val="E4EDF2"/>
                </a:solidFill>
                <a:latin typeface="Courier New"/>
              </a:rPr>
              <a:t>model</a:t>
            </a:r>
            <a:r>
              <a:rPr sz="900" b="0" i="0">
                <a:solidFill>
                  <a:srgbClr val="E4EDF2"/>
                </a:solidFill>
                <a:latin typeface="Courier New"/>
              </a:rPr>
              <a:t>.</a:t>
            </a:r>
            <a:r>
              <a:rPr sz="900" b="0" i="0">
                <a:solidFill>
                  <a:srgbClr val="9FC4EE"/>
                </a:solidFill>
                <a:latin typeface="Courier New"/>
              </a:rPr>
              <a:t>encode</a:t>
            </a:r>
            <a:r>
              <a:rPr sz="900" b="0" i="0">
                <a:solidFill>
                  <a:srgbClr val="E4EDF2"/>
                </a:solidFill>
                <a:latin typeface="Courier New"/>
              </a:rPr>
              <a:t>(</a:t>
            </a:r>
            <a:r>
              <a:rPr sz="900" b="0" i="0">
                <a:solidFill>
                  <a:srgbClr val="E4EDF2"/>
                </a:solidFill>
                <a:latin typeface="Courier New"/>
              </a:rPr>
              <a:t>phrases</a:t>
            </a:r>
            <a:r>
              <a:rPr sz="900" b="0" i="0">
                <a:solidFill>
                  <a:srgbClr val="E4EDF2"/>
                </a:solidFill>
                <a:latin typeface="Courier New"/>
              </a:rPr>
              <a:t>)</a:t>
            </a:r>
          </a:p>
          <a:p>
            <a:pPr>
              <a:lnSpc>
                <a:spcPct val="112000"/>
              </a:lnSpc>
              <a:spcAft>
                <a:spcPts val="100"/>
              </a:spcAft>
            </a:pPr>
            <a:r>
              <a:rPr sz="900" b="0" i="0">
                <a:solidFill>
                  <a:srgbClr val="9FC4EE"/>
                </a:solidFill>
                <a:latin typeface="Courier New"/>
              </a:rPr>
              <a:t>print</a:t>
            </a:r>
            <a:r>
              <a:rPr sz="900" b="0" i="0">
                <a:solidFill>
                  <a:srgbClr val="E4EDF2"/>
                </a:solidFill>
                <a:latin typeface="Courier New"/>
              </a:rPr>
              <a:t>(</a:t>
            </a:r>
            <a:r>
              <a:rPr sz="900" b="0" i="0">
                <a:solidFill>
                  <a:srgbClr val="EBB183"/>
                </a:solidFill>
                <a:latin typeface="Courier New"/>
              </a:rPr>
              <a:t>"Each phrase became a list of"</a:t>
            </a:r>
            <a:r>
              <a:rPr sz="900" b="0" i="0">
                <a:solidFill>
                  <a:srgbClr val="E4EDF2"/>
                </a:solidFill>
                <a:latin typeface="Courier New"/>
              </a:rPr>
              <a:t>, </a:t>
            </a:r>
            <a:r>
              <a:rPr sz="900" b="0" i="0">
                <a:solidFill>
                  <a:srgbClr val="9FC4EE"/>
                </a:solidFill>
                <a:latin typeface="Courier New"/>
              </a:rPr>
              <a:t>len</a:t>
            </a:r>
            <a:r>
              <a:rPr sz="900" b="0" i="0">
                <a:solidFill>
                  <a:srgbClr val="E4EDF2"/>
                </a:solidFill>
                <a:latin typeface="Courier New"/>
              </a:rPr>
              <a:t>(</a:t>
            </a:r>
            <a:r>
              <a:rPr sz="900" b="0" i="0">
                <a:solidFill>
                  <a:srgbClr val="E4EDF2"/>
                </a:solidFill>
                <a:latin typeface="Courier New"/>
              </a:rPr>
              <a:t>vectors</a:t>
            </a:r>
            <a:r>
              <a:rPr sz="900" b="0" i="0">
                <a:solidFill>
                  <a:srgbClr val="E4EDF2"/>
                </a:solidFill>
                <a:latin typeface="Courier New"/>
              </a:rPr>
              <a:t>[</a:t>
            </a:r>
            <a:r>
              <a:rPr sz="900" b="0" i="0">
                <a:solidFill>
                  <a:srgbClr val="9FC4EE"/>
                </a:solidFill>
                <a:latin typeface="Courier New"/>
              </a:rPr>
              <a:t>0</a:t>
            </a:r>
            <a:r>
              <a:rPr sz="900" b="0" i="0">
                <a:solidFill>
                  <a:srgbClr val="E4EDF2"/>
                </a:solidFill>
                <a:latin typeface="Courier New"/>
              </a:rPr>
              <a:t>]), </a:t>
            </a:r>
            <a:r>
              <a:rPr sz="900" b="0" i="0">
                <a:solidFill>
                  <a:srgbClr val="EBB183"/>
                </a:solidFill>
                <a:latin typeface="Courier New"/>
              </a:rPr>
              <a:t>"numbers."</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r>
          </a:p>
          <a:p>
            <a:pPr>
              <a:lnSpc>
                <a:spcPct val="112000"/>
              </a:lnSpc>
              <a:spcAft>
                <a:spcPts val="100"/>
              </a:spcAft>
            </a:pPr>
            <a:r>
              <a:rPr sz="900" b="0" i="0">
                <a:solidFill>
                  <a:srgbClr val="76909F"/>
                </a:solidFill>
                <a:latin typeface="Courier New"/>
              </a:rPr>
              <a:t># how similar are two vectors?  1.0 = same meaning, 0 = unrelated</a:t>
            </a:r>
          </a:p>
          <a:p>
            <a:pPr>
              <a:lnSpc>
                <a:spcPct val="112000"/>
              </a:lnSpc>
              <a:spcAft>
                <a:spcPts val="100"/>
              </a:spcAft>
            </a:pPr>
            <a:r>
              <a:rPr sz="900" b="0" i="0">
                <a:solidFill>
                  <a:srgbClr val="D9A6CE"/>
                </a:solidFill>
                <a:latin typeface="Courier New"/>
              </a:rPr>
              <a:t>def</a:t>
            </a:r>
            <a:r>
              <a:rPr sz="900" b="0" i="0">
                <a:solidFill>
                  <a:srgbClr val="E4EDF2"/>
                </a:solidFill>
                <a:latin typeface="Courier New"/>
              </a:rPr>
              <a:t> </a:t>
            </a:r>
            <a:r>
              <a:rPr sz="900" b="0" i="0">
                <a:solidFill>
                  <a:srgbClr val="9FC4EE"/>
                </a:solidFill>
                <a:latin typeface="Courier New"/>
              </a:rPr>
              <a:t>similarity</a:t>
            </a:r>
            <a:r>
              <a:rPr sz="900" b="0" i="0">
                <a:solidFill>
                  <a:srgbClr val="E4EDF2"/>
                </a:solidFill>
                <a:latin typeface="Courier New"/>
              </a:rPr>
              <a:t>(</a:t>
            </a:r>
            <a:r>
              <a:rPr sz="900" b="0" i="0">
                <a:solidFill>
                  <a:srgbClr val="E4EDF2"/>
                </a:solidFill>
                <a:latin typeface="Courier New"/>
              </a:rPr>
              <a:t>vector_a</a:t>
            </a:r>
            <a:r>
              <a:rPr sz="900" b="0" i="0">
                <a:solidFill>
                  <a:srgbClr val="E4EDF2"/>
                </a:solidFill>
                <a:latin typeface="Courier New"/>
              </a:rPr>
              <a:t>, </a:t>
            </a:r>
            <a:r>
              <a:rPr sz="900" b="0" i="0">
                <a:solidFill>
                  <a:srgbClr val="E4EDF2"/>
                </a:solidFill>
                <a:latin typeface="Courier New"/>
              </a:rPr>
              <a:t>vector_b</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4EDF2"/>
                </a:solidFill>
                <a:latin typeface="Courier New"/>
              </a:rPr>
              <a:t>dot</a:t>
            </a:r>
            <a:r>
              <a:rPr sz="900" b="0" i="0">
                <a:solidFill>
                  <a:srgbClr val="E4EDF2"/>
                </a:solidFill>
                <a:latin typeface="Courier New"/>
              </a:rPr>
              <a:t> = </a:t>
            </a:r>
            <a:r>
              <a:rPr sz="900" b="0" i="0">
                <a:solidFill>
                  <a:srgbClr val="E4EDF2"/>
                </a:solidFill>
                <a:latin typeface="Courier New"/>
              </a:rPr>
              <a:t>np</a:t>
            </a:r>
            <a:r>
              <a:rPr sz="900" b="0" i="0">
                <a:solidFill>
                  <a:srgbClr val="E4EDF2"/>
                </a:solidFill>
                <a:latin typeface="Courier New"/>
              </a:rPr>
              <a:t>.</a:t>
            </a:r>
            <a:r>
              <a:rPr sz="900" b="0" i="0">
                <a:solidFill>
                  <a:srgbClr val="9FC4EE"/>
                </a:solidFill>
                <a:latin typeface="Courier New"/>
              </a:rPr>
              <a:t>dot</a:t>
            </a:r>
            <a:r>
              <a:rPr sz="900" b="0" i="0">
                <a:solidFill>
                  <a:srgbClr val="E4EDF2"/>
                </a:solidFill>
                <a:latin typeface="Courier New"/>
              </a:rPr>
              <a:t>(</a:t>
            </a:r>
            <a:r>
              <a:rPr sz="900" b="0" i="0">
                <a:solidFill>
                  <a:srgbClr val="E4EDF2"/>
                </a:solidFill>
                <a:latin typeface="Courier New"/>
              </a:rPr>
              <a:t>vector_a</a:t>
            </a:r>
            <a:r>
              <a:rPr sz="900" b="0" i="0">
                <a:solidFill>
                  <a:srgbClr val="E4EDF2"/>
                </a:solidFill>
                <a:latin typeface="Courier New"/>
              </a:rPr>
              <a:t>, </a:t>
            </a:r>
            <a:r>
              <a:rPr sz="900" b="0" i="0">
                <a:solidFill>
                  <a:srgbClr val="E4EDF2"/>
                </a:solidFill>
                <a:latin typeface="Courier New"/>
              </a:rPr>
              <a:t>vector_b</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4EDF2"/>
                </a:solidFill>
                <a:latin typeface="Courier New"/>
              </a:rPr>
              <a:t>sizes</a:t>
            </a:r>
            <a:r>
              <a:rPr sz="900" b="0" i="0">
                <a:solidFill>
                  <a:srgbClr val="E4EDF2"/>
                </a:solidFill>
                <a:latin typeface="Courier New"/>
              </a:rPr>
              <a:t> = </a:t>
            </a:r>
            <a:r>
              <a:rPr sz="900" b="0" i="0">
                <a:solidFill>
                  <a:srgbClr val="E4EDF2"/>
                </a:solidFill>
                <a:latin typeface="Courier New"/>
              </a:rPr>
              <a:t>np</a:t>
            </a:r>
            <a:r>
              <a:rPr sz="900" b="0" i="0">
                <a:solidFill>
                  <a:srgbClr val="E4EDF2"/>
                </a:solidFill>
                <a:latin typeface="Courier New"/>
              </a:rPr>
              <a:t>.</a:t>
            </a:r>
            <a:r>
              <a:rPr sz="900" b="0" i="0">
                <a:solidFill>
                  <a:srgbClr val="E4EDF2"/>
                </a:solidFill>
                <a:latin typeface="Courier New"/>
              </a:rPr>
              <a:t>linalg</a:t>
            </a:r>
            <a:r>
              <a:rPr sz="900" b="0" i="0">
                <a:solidFill>
                  <a:srgbClr val="E4EDF2"/>
                </a:solidFill>
                <a:latin typeface="Courier New"/>
              </a:rPr>
              <a:t>.</a:t>
            </a:r>
            <a:r>
              <a:rPr sz="900" b="0" i="0">
                <a:solidFill>
                  <a:srgbClr val="9FC4EE"/>
                </a:solidFill>
                <a:latin typeface="Courier New"/>
              </a:rPr>
              <a:t>norm</a:t>
            </a:r>
            <a:r>
              <a:rPr sz="900" b="0" i="0">
                <a:solidFill>
                  <a:srgbClr val="E4EDF2"/>
                </a:solidFill>
                <a:latin typeface="Courier New"/>
              </a:rPr>
              <a:t>(</a:t>
            </a:r>
            <a:r>
              <a:rPr sz="900" b="0" i="0">
                <a:solidFill>
                  <a:srgbClr val="E4EDF2"/>
                </a:solidFill>
                <a:latin typeface="Courier New"/>
              </a:rPr>
              <a:t>vector_a</a:t>
            </a:r>
            <a:r>
              <a:rPr sz="900" b="0" i="0">
                <a:solidFill>
                  <a:srgbClr val="E4EDF2"/>
                </a:solidFill>
                <a:latin typeface="Courier New"/>
              </a:rPr>
              <a:t>) * </a:t>
            </a:r>
            <a:r>
              <a:rPr sz="900" b="0" i="0">
                <a:solidFill>
                  <a:srgbClr val="E4EDF2"/>
                </a:solidFill>
                <a:latin typeface="Courier New"/>
              </a:rPr>
              <a:t>np</a:t>
            </a:r>
            <a:r>
              <a:rPr sz="900" b="0" i="0">
                <a:solidFill>
                  <a:srgbClr val="E4EDF2"/>
                </a:solidFill>
                <a:latin typeface="Courier New"/>
              </a:rPr>
              <a:t>.</a:t>
            </a:r>
            <a:r>
              <a:rPr sz="900" b="0" i="0">
                <a:solidFill>
                  <a:srgbClr val="E4EDF2"/>
                </a:solidFill>
                <a:latin typeface="Courier New"/>
              </a:rPr>
              <a:t>linalg</a:t>
            </a:r>
            <a:r>
              <a:rPr sz="900" b="0" i="0">
                <a:solidFill>
                  <a:srgbClr val="E4EDF2"/>
                </a:solidFill>
                <a:latin typeface="Courier New"/>
              </a:rPr>
              <a:t>.</a:t>
            </a:r>
            <a:r>
              <a:rPr sz="900" b="0" i="0">
                <a:solidFill>
                  <a:srgbClr val="9FC4EE"/>
                </a:solidFill>
                <a:latin typeface="Courier New"/>
              </a:rPr>
              <a:t>norm</a:t>
            </a:r>
            <a:r>
              <a:rPr sz="900" b="0" i="0">
                <a:solidFill>
                  <a:srgbClr val="E4EDF2"/>
                </a:solidFill>
                <a:latin typeface="Courier New"/>
              </a:rPr>
              <a:t>(</a:t>
            </a:r>
            <a:r>
              <a:rPr sz="900" b="0" i="0">
                <a:solidFill>
                  <a:srgbClr val="E4EDF2"/>
                </a:solidFill>
                <a:latin typeface="Courier New"/>
              </a:rPr>
              <a:t>vector_b</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D9A6CE"/>
                </a:solidFill>
                <a:latin typeface="Courier New"/>
              </a:rPr>
              <a:t>return</a:t>
            </a:r>
            <a:r>
              <a:rPr sz="900" b="0" i="0">
                <a:solidFill>
                  <a:srgbClr val="E4EDF2"/>
                </a:solidFill>
                <a:latin typeface="Courier New"/>
              </a:rPr>
              <a:t> </a:t>
            </a:r>
            <a:r>
              <a:rPr sz="900" b="0" i="0">
                <a:solidFill>
                  <a:srgbClr val="9FC4EE"/>
                </a:solidFill>
                <a:latin typeface="Courier New"/>
              </a:rPr>
              <a:t>float</a:t>
            </a:r>
            <a:r>
              <a:rPr sz="900" b="0" i="0">
                <a:solidFill>
                  <a:srgbClr val="E4EDF2"/>
                </a:solidFill>
                <a:latin typeface="Courier New"/>
              </a:rPr>
              <a:t>(</a:t>
            </a:r>
            <a:r>
              <a:rPr sz="900" b="0" i="0">
                <a:solidFill>
                  <a:srgbClr val="E4EDF2"/>
                </a:solidFill>
                <a:latin typeface="Courier New"/>
              </a:rPr>
              <a:t>dot</a:t>
            </a:r>
            <a:r>
              <a:rPr sz="900" b="0" i="0">
                <a:solidFill>
                  <a:srgbClr val="E4EDF2"/>
                </a:solidFill>
                <a:latin typeface="Courier New"/>
              </a:rPr>
              <a:t> / </a:t>
            </a:r>
            <a:r>
              <a:rPr sz="900" b="0" i="0">
                <a:solidFill>
                  <a:srgbClr val="E4EDF2"/>
                </a:solidFill>
                <a:latin typeface="Courier New"/>
              </a:rPr>
              <a:t>sizes</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r>
          </a:p>
          <a:p>
            <a:pPr>
              <a:lnSpc>
                <a:spcPct val="112000"/>
              </a:lnSpc>
              <a:spcAft>
                <a:spcPts val="100"/>
              </a:spcAft>
            </a:pPr>
            <a:r>
              <a:rPr sz="900" b="0" i="0">
                <a:solidFill>
                  <a:srgbClr val="D9A6CE"/>
                </a:solidFill>
                <a:latin typeface="Courier New"/>
              </a:rPr>
              <a:t>for</a:t>
            </a:r>
            <a:r>
              <a:rPr sz="900" b="0" i="0">
                <a:solidFill>
                  <a:srgbClr val="E4EDF2"/>
                </a:solidFill>
                <a:latin typeface="Courier New"/>
              </a:rPr>
              <a:t> </a:t>
            </a:r>
            <a:r>
              <a:rPr sz="900" b="0" i="0">
                <a:solidFill>
                  <a:srgbClr val="E4EDF2"/>
                </a:solidFill>
                <a:latin typeface="Courier New"/>
              </a:rPr>
              <a:t>i</a:t>
            </a:r>
            <a:r>
              <a:rPr sz="900" b="0" i="0">
                <a:solidFill>
                  <a:srgbClr val="E4EDF2"/>
                </a:solidFill>
                <a:latin typeface="Courier New"/>
              </a:rPr>
              <a:t> </a:t>
            </a:r>
            <a:r>
              <a:rPr sz="900" b="0" i="0">
                <a:solidFill>
                  <a:srgbClr val="D9A6CE"/>
                </a:solidFill>
                <a:latin typeface="Courier New"/>
              </a:rPr>
              <a:t>in</a:t>
            </a:r>
            <a:r>
              <a:rPr sz="900" b="0" i="0">
                <a:solidFill>
                  <a:srgbClr val="E4EDF2"/>
                </a:solidFill>
                <a:latin typeface="Courier New"/>
              </a:rPr>
              <a:t> </a:t>
            </a:r>
            <a:r>
              <a:rPr sz="900" b="0" i="0">
                <a:solidFill>
                  <a:srgbClr val="9FC4EE"/>
                </a:solidFill>
                <a:latin typeface="Courier New"/>
              </a:rPr>
              <a:t>range</a:t>
            </a:r>
            <a:r>
              <a:rPr sz="900" b="0" i="0">
                <a:solidFill>
                  <a:srgbClr val="E4EDF2"/>
                </a:solidFill>
                <a:latin typeface="Courier New"/>
              </a:rPr>
              <a:t>(</a:t>
            </a:r>
            <a:r>
              <a:rPr sz="900" b="0" i="0">
                <a:solidFill>
                  <a:srgbClr val="9FC4EE"/>
                </a:solidFill>
                <a:latin typeface="Courier New"/>
              </a:rPr>
              <a:t>len</a:t>
            </a:r>
            <a:r>
              <a:rPr sz="900" b="0" i="0">
                <a:solidFill>
                  <a:srgbClr val="E4EDF2"/>
                </a:solidFill>
                <a:latin typeface="Courier New"/>
              </a:rPr>
              <a:t>(</a:t>
            </a:r>
            <a:r>
              <a:rPr sz="900" b="0" i="0">
                <a:solidFill>
                  <a:srgbClr val="E4EDF2"/>
                </a:solidFill>
                <a:latin typeface="Courier New"/>
              </a:rPr>
              <a:t>phrases</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D9A6CE"/>
                </a:solidFill>
                <a:latin typeface="Courier New"/>
              </a:rPr>
              <a:t>for</a:t>
            </a:r>
            <a:r>
              <a:rPr sz="900" b="0" i="0">
                <a:solidFill>
                  <a:srgbClr val="E4EDF2"/>
                </a:solidFill>
                <a:latin typeface="Courier New"/>
              </a:rPr>
              <a:t> </a:t>
            </a:r>
            <a:r>
              <a:rPr sz="900" b="0" i="0">
                <a:solidFill>
                  <a:srgbClr val="E4EDF2"/>
                </a:solidFill>
                <a:latin typeface="Courier New"/>
              </a:rPr>
              <a:t>j</a:t>
            </a:r>
            <a:r>
              <a:rPr sz="900" b="0" i="0">
                <a:solidFill>
                  <a:srgbClr val="E4EDF2"/>
                </a:solidFill>
                <a:latin typeface="Courier New"/>
              </a:rPr>
              <a:t> </a:t>
            </a:r>
            <a:r>
              <a:rPr sz="900" b="0" i="0">
                <a:solidFill>
                  <a:srgbClr val="D9A6CE"/>
                </a:solidFill>
                <a:latin typeface="Courier New"/>
              </a:rPr>
              <a:t>in</a:t>
            </a:r>
            <a:r>
              <a:rPr sz="900" b="0" i="0">
                <a:solidFill>
                  <a:srgbClr val="E4EDF2"/>
                </a:solidFill>
                <a:latin typeface="Courier New"/>
              </a:rPr>
              <a:t> </a:t>
            </a:r>
            <a:r>
              <a:rPr sz="900" b="0" i="0">
                <a:solidFill>
                  <a:srgbClr val="9FC4EE"/>
                </a:solidFill>
                <a:latin typeface="Courier New"/>
              </a:rPr>
              <a:t>range</a:t>
            </a:r>
            <a:r>
              <a:rPr sz="900" b="0" i="0">
                <a:solidFill>
                  <a:srgbClr val="E4EDF2"/>
                </a:solidFill>
                <a:latin typeface="Courier New"/>
              </a:rPr>
              <a:t>(</a:t>
            </a:r>
            <a:r>
              <a:rPr sz="900" b="0" i="0">
                <a:solidFill>
                  <a:srgbClr val="E4EDF2"/>
                </a:solidFill>
                <a:latin typeface="Courier New"/>
              </a:rPr>
              <a:t>i</a:t>
            </a:r>
            <a:r>
              <a:rPr sz="900" b="0" i="0">
                <a:solidFill>
                  <a:srgbClr val="E4EDF2"/>
                </a:solidFill>
                <a:latin typeface="Courier New"/>
              </a:rPr>
              <a:t> + </a:t>
            </a:r>
            <a:r>
              <a:rPr sz="900" b="0" i="0">
                <a:solidFill>
                  <a:srgbClr val="9FC4EE"/>
                </a:solidFill>
                <a:latin typeface="Courier New"/>
              </a:rPr>
              <a:t>1</a:t>
            </a:r>
            <a:r>
              <a:rPr sz="900" b="0" i="0">
                <a:solidFill>
                  <a:srgbClr val="E4EDF2"/>
                </a:solidFill>
                <a:latin typeface="Courier New"/>
              </a:rPr>
              <a:t>, </a:t>
            </a:r>
            <a:r>
              <a:rPr sz="900" b="0" i="0">
                <a:solidFill>
                  <a:srgbClr val="9FC4EE"/>
                </a:solidFill>
                <a:latin typeface="Courier New"/>
              </a:rPr>
              <a:t>len</a:t>
            </a:r>
            <a:r>
              <a:rPr sz="900" b="0" i="0">
                <a:solidFill>
                  <a:srgbClr val="E4EDF2"/>
                </a:solidFill>
                <a:latin typeface="Courier New"/>
              </a:rPr>
              <a:t>(</a:t>
            </a:r>
            <a:r>
              <a:rPr sz="900" b="0" i="0">
                <a:solidFill>
                  <a:srgbClr val="E4EDF2"/>
                </a:solidFill>
                <a:latin typeface="Courier New"/>
              </a:rPr>
              <a:t>phrases</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9FC4EE"/>
                </a:solidFill>
                <a:latin typeface="Courier New"/>
              </a:rPr>
              <a:t>print</a:t>
            </a:r>
            <a:r>
              <a:rPr sz="900" b="0" i="0">
                <a:solidFill>
                  <a:srgbClr val="E4EDF2"/>
                </a:solidFill>
                <a:latin typeface="Courier New"/>
              </a:rPr>
              <a:t>(</a:t>
            </a:r>
            <a:r>
              <a:rPr sz="900" b="0" i="0">
                <a:solidFill>
                  <a:srgbClr val="9FC4EE"/>
                </a:solidFill>
                <a:latin typeface="Courier New"/>
              </a:rPr>
              <a:t>round</a:t>
            </a:r>
            <a:r>
              <a:rPr sz="900" b="0" i="0">
                <a:solidFill>
                  <a:srgbClr val="E4EDF2"/>
                </a:solidFill>
                <a:latin typeface="Courier New"/>
              </a:rPr>
              <a:t>(</a:t>
            </a:r>
            <a:r>
              <a:rPr sz="900" b="0" i="0">
                <a:solidFill>
                  <a:srgbClr val="9FC4EE"/>
                </a:solidFill>
                <a:latin typeface="Courier New"/>
              </a:rPr>
              <a:t>similarity</a:t>
            </a:r>
            <a:r>
              <a:rPr sz="900" b="0" i="0">
                <a:solidFill>
                  <a:srgbClr val="E4EDF2"/>
                </a:solidFill>
                <a:latin typeface="Courier New"/>
              </a:rPr>
              <a:t>(</a:t>
            </a:r>
            <a:r>
              <a:rPr sz="900" b="0" i="0">
                <a:solidFill>
                  <a:srgbClr val="E4EDF2"/>
                </a:solidFill>
                <a:latin typeface="Courier New"/>
              </a:rPr>
              <a:t>vectors</a:t>
            </a:r>
            <a:r>
              <a:rPr sz="900" b="0" i="0">
                <a:solidFill>
                  <a:srgbClr val="E4EDF2"/>
                </a:solidFill>
                <a:latin typeface="Courier New"/>
              </a:rPr>
              <a:t>[</a:t>
            </a:r>
            <a:r>
              <a:rPr sz="900" b="0" i="0">
                <a:solidFill>
                  <a:srgbClr val="E4EDF2"/>
                </a:solidFill>
                <a:latin typeface="Courier New"/>
              </a:rPr>
              <a:t>i</a:t>
            </a:r>
            <a:r>
              <a:rPr sz="900" b="0" i="0">
                <a:solidFill>
                  <a:srgbClr val="E4EDF2"/>
                </a:solidFill>
                <a:latin typeface="Courier New"/>
              </a:rPr>
              <a:t>], </a:t>
            </a:r>
            <a:r>
              <a:rPr sz="900" b="0" i="0">
                <a:solidFill>
                  <a:srgbClr val="E4EDF2"/>
                </a:solidFill>
                <a:latin typeface="Courier New"/>
              </a:rPr>
              <a:t>vectors</a:t>
            </a:r>
            <a:r>
              <a:rPr sz="900" b="0" i="0">
                <a:solidFill>
                  <a:srgbClr val="E4EDF2"/>
                </a:solidFill>
                <a:latin typeface="Courier New"/>
              </a:rPr>
              <a:t>[</a:t>
            </a:r>
            <a:r>
              <a:rPr sz="900" b="0" i="0">
                <a:solidFill>
                  <a:srgbClr val="E4EDF2"/>
                </a:solidFill>
                <a:latin typeface="Courier New"/>
              </a:rPr>
              <a:t>j</a:t>
            </a:r>
            <a:r>
              <a:rPr sz="900" b="0" i="0">
                <a:solidFill>
                  <a:srgbClr val="E4EDF2"/>
                </a:solidFill>
                <a:latin typeface="Courier New"/>
              </a:rPr>
              <a:t>]), </a:t>
            </a:r>
            <a:r>
              <a:rPr sz="900" b="0" i="0">
                <a:solidFill>
                  <a:srgbClr val="9FC4EE"/>
                </a:solidFill>
                <a:latin typeface="Courier New"/>
              </a:rPr>
              <a:t>3</a:t>
            </a:r>
            <a:r>
              <a:rPr sz="900" b="0" i="0">
                <a:solidFill>
                  <a:srgbClr val="E4EDF2"/>
                </a:solidFill>
                <a:latin typeface="Courier New"/>
              </a:rPr>
              <a:t>),</a:t>
            </a:r>
          </a:p>
          <a:p>
            <a:pPr>
              <a:lnSpc>
                <a:spcPct val="112000"/>
              </a:lnSpc>
              <a:spcAft>
                <a:spcPts val="100"/>
              </a:spcAft>
            </a:pPr>
            <a:r>
              <a:rPr sz="900" b="0" i="0">
                <a:solidFill>
                  <a:srgbClr val="E4EDF2"/>
                </a:solidFill>
                <a:latin typeface="Courier New"/>
              </a:rPr>
              <a:t>              </a:t>
            </a:r>
            <a:r>
              <a:rPr sz="900" b="0" i="0">
                <a:solidFill>
                  <a:srgbClr val="E4EDF2"/>
                </a:solidFill>
                <a:latin typeface="Courier New"/>
              </a:rPr>
              <a:t>phrases</a:t>
            </a:r>
            <a:r>
              <a:rPr sz="900" b="0" i="0">
                <a:solidFill>
                  <a:srgbClr val="E4EDF2"/>
                </a:solidFill>
                <a:latin typeface="Courier New"/>
              </a:rPr>
              <a:t>[</a:t>
            </a:r>
            <a:r>
              <a:rPr sz="900" b="0" i="0">
                <a:solidFill>
                  <a:srgbClr val="E4EDF2"/>
                </a:solidFill>
                <a:latin typeface="Courier New"/>
              </a:rPr>
              <a:t>i</a:t>
            </a:r>
            <a:r>
              <a:rPr sz="900" b="0" i="0">
                <a:solidFill>
                  <a:srgbClr val="E4EDF2"/>
                </a:solidFill>
                <a:latin typeface="Courier New"/>
              </a:rPr>
              <a:t>], </a:t>
            </a:r>
            <a:r>
              <a:rPr sz="900" b="0" i="0">
                <a:solidFill>
                  <a:srgbClr val="EBB183"/>
                </a:solidFill>
                <a:latin typeface="Courier New"/>
              </a:rPr>
              <a:t>"&lt;-&gt;"</a:t>
            </a:r>
            <a:r>
              <a:rPr sz="900" b="0" i="0">
                <a:solidFill>
                  <a:srgbClr val="E4EDF2"/>
                </a:solidFill>
                <a:latin typeface="Courier New"/>
              </a:rPr>
              <a:t>, </a:t>
            </a:r>
            <a:r>
              <a:rPr sz="900" b="0" i="0">
                <a:solidFill>
                  <a:srgbClr val="E4EDF2"/>
                </a:solidFill>
                <a:latin typeface="Courier New"/>
              </a:rPr>
              <a:t>phrases</a:t>
            </a:r>
            <a:r>
              <a:rPr sz="900" b="0" i="0">
                <a:solidFill>
                  <a:srgbClr val="E4EDF2"/>
                </a:solidFill>
                <a:latin typeface="Courier New"/>
              </a:rPr>
              <a:t>[</a:t>
            </a:r>
            <a:r>
              <a:rPr sz="900" b="0" i="0">
                <a:solidFill>
                  <a:srgbClr val="E4EDF2"/>
                </a:solidFill>
                <a:latin typeface="Courier New"/>
              </a:rPr>
              <a:t>j</a:t>
            </a:r>
            <a:r>
              <a:rPr sz="900" b="0" i="0">
                <a:solidFill>
                  <a:srgbClr val="E4EDF2"/>
                </a:solidFill>
                <a:latin typeface="Courier New"/>
              </a:rPr>
              <a:t>])</a:t>
            </a:r>
          </a:p>
        </p:txBody>
      </p:sp>
      <p:sp>
        <p:nvSpPr>
          <p:cNvPr id="10" name="Rounded Rectangle 9"/>
          <p:cNvSpPr/>
          <p:nvPr/>
        </p:nvSpPr>
        <p:spPr>
          <a:xfrm>
            <a:off x="8183879" y="1719072"/>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348471" y="1874519"/>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a:t>
            </a:r>
          </a:p>
        </p:txBody>
      </p:sp>
      <p:sp>
        <p:nvSpPr>
          <p:cNvPr id="12" name="TextBox 11"/>
          <p:cNvSpPr txBox="1"/>
          <p:nvPr/>
        </p:nvSpPr>
        <p:spPr>
          <a:xfrm>
            <a:off x="8695944" y="1865376"/>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One model, downloaded once</a:t>
            </a:r>
          </a:p>
        </p:txBody>
      </p:sp>
      <p:sp>
        <p:nvSpPr>
          <p:cNvPr id="13" name="TextBox 12"/>
          <p:cNvSpPr txBox="1"/>
          <p:nvPr/>
        </p:nvSpPr>
        <p:spPr>
          <a:xfrm>
            <a:off x="8348471" y="2194560"/>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~90 MB on first use, then cached. The first run looks frozen — it is downloading, not hanging.</a:t>
            </a:r>
          </a:p>
        </p:txBody>
      </p:sp>
      <p:sp>
        <p:nvSpPr>
          <p:cNvPr id="14" name="Rounded Rectangle 13"/>
          <p:cNvSpPr/>
          <p:nvPr/>
        </p:nvSpPr>
        <p:spPr>
          <a:xfrm>
            <a:off x="8183879" y="2866644"/>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48471" y="3022091"/>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a:t>
            </a:r>
          </a:p>
        </p:txBody>
      </p:sp>
      <p:sp>
        <p:nvSpPr>
          <p:cNvPr id="16" name="TextBox 15"/>
          <p:cNvSpPr txBox="1"/>
          <p:nvPr/>
        </p:nvSpPr>
        <p:spPr>
          <a:xfrm>
            <a:off x="8695944" y="3012948"/>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encode() takes a list</a:t>
            </a:r>
          </a:p>
        </p:txBody>
      </p:sp>
      <p:sp>
        <p:nvSpPr>
          <p:cNvPr id="17" name="TextBox 16"/>
          <p:cNvSpPr txBox="1"/>
          <p:nvPr/>
        </p:nvSpPr>
        <p:spPr>
          <a:xfrm>
            <a:off x="8348471" y="3342132"/>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Returns one row of 384 numbers per phrase. That is the entire embedding step: one function call.</a:t>
            </a:r>
          </a:p>
        </p:txBody>
      </p:sp>
      <p:sp>
        <p:nvSpPr>
          <p:cNvPr id="18" name="Rounded Rectangle 17"/>
          <p:cNvSpPr/>
          <p:nvPr/>
        </p:nvSpPr>
        <p:spPr>
          <a:xfrm>
            <a:off x="8183879" y="4014216"/>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48471" y="4169664"/>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3</a:t>
            </a:r>
          </a:p>
        </p:txBody>
      </p:sp>
      <p:sp>
        <p:nvSpPr>
          <p:cNvPr id="20" name="TextBox 19"/>
          <p:cNvSpPr txBox="1"/>
          <p:nvPr/>
        </p:nvSpPr>
        <p:spPr>
          <a:xfrm>
            <a:off x="8695944" y="4160520"/>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Cosine, written out</a:t>
            </a:r>
          </a:p>
        </p:txBody>
      </p:sp>
      <p:sp>
        <p:nvSpPr>
          <p:cNvPr id="21" name="TextBox 20"/>
          <p:cNvSpPr txBox="1"/>
          <p:nvPr/>
        </p:nvSpPr>
        <p:spPr>
          <a:xfrm>
            <a:off x="8348471" y="4489704"/>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Dot product over the product of the two lengths. Three lines of NumPy — no framework anywhere.</a:t>
            </a:r>
          </a:p>
        </p:txBody>
      </p:sp>
      <p:sp>
        <p:nvSpPr>
          <p:cNvPr id="22" name="Rounded Rectangle 21"/>
          <p:cNvSpPr/>
          <p:nvPr/>
        </p:nvSpPr>
        <p:spPr>
          <a:xfrm>
            <a:off x="8183879" y="5161788"/>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348471" y="5317236"/>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a:t>
            </a:r>
          </a:p>
        </p:txBody>
      </p:sp>
      <p:sp>
        <p:nvSpPr>
          <p:cNvPr id="24" name="TextBox 23"/>
          <p:cNvSpPr txBox="1"/>
          <p:nvPr/>
        </p:nvSpPr>
        <p:spPr>
          <a:xfrm>
            <a:off x="8695944" y="5308092"/>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What you should see</a:t>
            </a:r>
          </a:p>
        </p:txBody>
      </p:sp>
      <p:sp>
        <p:nvSpPr>
          <p:cNvPr id="25" name="TextBox 24"/>
          <p:cNvSpPr txBox="1"/>
          <p:nvPr/>
        </p:nvSpPr>
        <p:spPr>
          <a:xfrm>
            <a:off x="8348471" y="5637276"/>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The two injection phrases score ~0.5–0.6 despite sharing almost no words. TLS scores far lower. That is semantic search.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VECTOR DB &amp; CHUNKING</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Operating ChromaDB: four calls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Section 5 of lecture2_embeddings_and_vectordb.ipynb. Create, add, query, filter — and one commented line that makes it survive a restart.</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16</a:t>
            </a:r>
          </a:p>
        </p:txBody>
      </p:sp>
      <p:sp>
        <p:nvSpPr>
          <p:cNvPr id="7" name="Rounded Rectangle 6"/>
          <p:cNvSpPr/>
          <p:nvPr/>
        </p:nvSpPr>
        <p:spPr>
          <a:xfrm>
            <a:off x="640080" y="1719072"/>
            <a:ext cx="7223760" cy="449884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837943"/>
            <a:ext cx="67482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lecture2_embeddings_and_vectordb.ipynb · SECTION 5 — COMPLETE</a:t>
            </a:r>
          </a:p>
        </p:txBody>
      </p:sp>
      <p:sp>
        <p:nvSpPr>
          <p:cNvPr id="9" name="TextBox 8"/>
          <p:cNvSpPr txBox="1"/>
          <p:nvPr/>
        </p:nvSpPr>
        <p:spPr>
          <a:xfrm>
            <a:off x="877824" y="2112263"/>
            <a:ext cx="6748272" cy="3995928"/>
          </a:xfrm>
          <a:prstGeom prst="rect">
            <a:avLst/>
          </a:prstGeom>
          <a:noFill/>
        </p:spPr>
        <p:txBody>
          <a:bodyPr wrap="square" lIns="0" rIns="0" tIns="0" bIns="0">
            <a:spAutoFit/>
          </a:bodyPr>
          <a:lstStyle/>
          <a:p>
            <a:pPr>
              <a:lnSpc>
                <a:spcPct val="112000"/>
              </a:lnSpc>
              <a:spcAft>
                <a:spcPts val="100"/>
              </a:spcAft>
            </a:pPr>
            <a:r>
              <a:rPr sz="790" b="0" i="0">
                <a:solidFill>
                  <a:srgbClr val="D9A6CE"/>
                </a:solidFill>
                <a:latin typeface="Courier New"/>
              </a:rPr>
              <a:t>import</a:t>
            </a:r>
            <a:r>
              <a:rPr sz="790" b="0" i="0">
                <a:solidFill>
                  <a:srgbClr val="E4EDF2"/>
                </a:solidFill>
                <a:latin typeface="Courier New"/>
              </a:rPr>
              <a:t> </a:t>
            </a:r>
            <a:r>
              <a:rPr sz="790" b="0" i="0">
                <a:solidFill>
                  <a:srgbClr val="E4EDF2"/>
                </a:solidFill>
                <a:latin typeface="Courier New"/>
              </a:rPr>
              <a:t>chromadb</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E4EDF2"/>
                </a:solidFill>
                <a:latin typeface="Courier New"/>
              </a:rPr>
              <a:t>client</a:t>
            </a:r>
            <a:r>
              <a:rPr sz="790" b="0" i="0">
                <a:solidFill>
                  <a:srgbClr val="E4EDF2"/>
                </a:solidFill>
                <a:latin typeface="Courier New"/>
              </a:rPr>
              <a:t> = </a:t>
            </a:r>
            <a:r>
              <a:rPr sz="790" b="0" i="0">
                <a:solidFill>
                  <a:srgbClr val="E4EDF2"/>
                </a:solidFill>
                <a:latin typeface="Courier New"/>
              </a:rPr>
              <a:t>chromadb</a:t>
            </a:r>
            <a:r>
              <a:rPr sz="790" b="0" i="0">
                <a:solidFill>
                  <a:srgbClr val="E4EDF2"/>
                </a:solidFill>
                <a:latin typeface="Courier New"/>
              </a:rPr>
              <a:t>.</a:t>
            </a:r>
            <a:r>
              <a:rPr sz="790" b="0" i="0">
                <a:solidFill>
                  <a:srgbClr val="9FC4EE"/>
                </a:solidFill>
                <a:latin typeface="Courier New"/>
              </a:rPr>
              <a:t>EphemeralClient</a:t>
            </a:r>
            <a:r>
              <a:rPr sz="790" b="0" i="0">
                <a:solidFill>
                  <a:srgbClr val="E4EDF2"/>
                </a:solidFill>
                <a:latin typeface="Courier New"/>
              </a:rPr>
              <a:t>()          </a:t>
            </a:r>
            <a:r>
              <a:rPr sz="790" b="0" i="0">
                <a:solidFill>
                  <a:srgbClr val="76909F"/>
                </a:solidFill>
                <a:latin typeface="Courier New"/>
              </a:rPr>
              <a:t># lives in memory</a:t>
            </a:r>
          </a:p>
          <a:p>
            <a:pPr>
              <a:lnSpc>
                <a:spcPct val="112000"/>
              </a:lnSpc>
              <a:spcAft>
                <a:spcPts val="100"/>
              </a:spcAft>
            </a:pPr>
            <a:r>
              <a:rPr sz="790" b="0" i="0">
                <a:solidFill>
                  <a:srgbClr val="E4EDF2"/>
                </a:solidFill>
                <a:latin typeface="Courier New"/>
              </a:rPr>
              <a:t>collection</a:t>
            </a:r>
            <a:r>
              <a:rPr sz="790" b="0" i="0">
                <a:solidFill>
                  <a:srgbClr val="E4EDF2"/>
                </a:solidFill>
                <a:latin typeface="Courier New"/>
              </a:rPr>
              <a:t> = </a:t>
            </a:r>
            <a:r>
              <a:rPr sz="790" b="0" i="0">
                <a:solidFill>
                  <a:srgbClr val="E4EDF2"/>
                </a:solidFill>
                <a:latin typeface="Courier New"/>
              </a:rPr>
              <a:t>client</a:t>
            </a:r>
            <a:r>
              <a:rPr sz="790" b="0" i="0">
                <a:solidFill>
                  <a:srgbClr val="E4EDF2"/>
                </a:solidFill>
                <a:latin typeface="Courier New"/>
              </a:rPr>
              <a:t>.</a:t>
            </a:r>
            <a:r>
              <a:rPr sz="790" b="0" i="0">
                <a:solidFill>
                  <a:srgbClr val="9FC4EE"/>
                </a:solidFill>
                <a:latin typeface="Courier New"/>
              </a:rPr>
              <a:t>get_or_create_collection</a:t>
            </a:r>
            <a:r>
              <a:rPr sz="790" b="0" i="0">
                <a:solidFill>
                  <a:srgbClr val="E4EDF2"/>
                </a:solidFill>
                <a:latin typeface="Courier New"/>
              </a:rPr>
              <a:t>(</a:t>
            </a:r>
            <a:r>
              <a:rPr sz="790" b="0" i="0">
                <a:solidFill>
                  <a:srgbClr val="EBB183"/>
                </a:solidFill>
                <a:latin typeface="Courier New"/>
              </a:rPr>
              <a:t>"ssrf_kb"</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E4EDF2"/>
                </a:solidFill>
                <a:latin typeface="Courier New"/>
              </a:rPr>
              <a:t>chunk_vectors</a:t>
            </a:r>
            <a:r>
              <a:rPr sz="790" b="0" i="0">
                <a:solidFill>
                  <a:srgbClr val="E4EDF2"/>
                </a:solidFill>
                <a:latin typeface="Courier New"/>
              </a:rPr>
              <a:t> = </a:t>
            </a:r>
            <a:r>
              <a:rPr sz="790" b="0" i="0">
                <a:solidFill>
                  <a:srgbClr val="E4EDF2"/>
                </a:solidFill>
                <a:latin typeface="Courier New"/>
              </a:rPr>
              <a:t>model</a:t>
            </a:r>
            <a:r>
              <a:rPr sz="790" b="0" i="0">
                <a:solidFill>
                  <a:srgbClr val="E4EDF2"/>
                </a:solidFill>
                <a:latin typeface="Courier New"/>
              </a:rPr>
              <a:t>.</a:t>
            </a:r>
            <a:r>
              <a:rPr sz="790" b="0" i="0">
                <a:solidFill>
                  <a:srgbClr val="9FC4EE"/>
                </a:solidFill>
                <a:latin typeface="Courier New"/>
              </a:rPr>
              <a:t>encode</a:t>
            </a:r>
            <a:r>
              <a:rPr sz="790" b="0" i="0">
                <a:solidFill>
                  <a:srgbClr val="E4EDF2"/>
                </a:solidFill>
                <a:latin typeface="Courier New"/>
              </a:rPr>
              <a:t>(</a:t>
            </a:r>
            <a:r>
              <a:rPr sz="790" b="0" i="0">
                <a:solidFill>
                  <a:srgbClr val="E4EDF2"/>
                </a:solidFill>
                <a:latin typeface="Courier New"/>
              </a:rPr>
              <a:t>chunks</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ids</a:t>
            </a:r>
            <a:r>
              <a:rPr sz="790" b="0" i="0">
                <a:solidFill>
                  <a:srgbClr val="E4EDF2"/>
                </a:solidFill>
                <a:latin typeface="Courier New"/>
              </a:rPr>
              <a:t>    = [</a:t>
            </a:r>
            <a:r>
              <a:rPr sz="790" b="0" i="0">
                <a:solidFill>
                  <a:srgbClr val="EBB183"/>
                </a:solidFill>
                <a:latin typeface="Courier New"/>
              </a:rPr>
              <a:t>"chunk-"</a:t>
            </a:r>
            <a:r>
              <a:rPr sz="790" b="0" i="0">
                <a:solidFill>
                  <a:srgbClr val="E4EDF2"/>
                </a:solidFill>
                <a:latin typeface="Courier New"/>
              </a:rPr>
              <a:t> + </a:t>
            </a:r>
            <a:r>
              <a:rPr sz="790" b="0" i="0">
                <a:solidFill>
                  <a:srgbClr val="9FC4EE"/>
                </a:solidFill>
                <a:latin typeface="Courier New"/>
              </a:rPr>
              <a:t>str</a:t>
            </a:r>
            <a:r>
              <a:rPr sz="790" b="0" i="0">
                <a:solidFill>
                  <a:srgbClr val="E4EDF2"/>
                </a:solidFill>
                <a:latin typeface="Courier New"/>
              </a:rPr>
              <a:t>(</a:t>
            </a:r>
            <a:r>
              <a:rPr sz="790" b="0" i="0">
                <a:solidFill>
                  <a:srgbClr val="E4EDF2"/>
                </a:solidFill>
                <a:latin typeface="Courier New"/>
              </a:rPr>
              <a:t>i</a:t>
            </a:r>
            <a:r>
              <a:rPr sz="790" b="0" i="0">
                <a:solidFill>
                  <a:srgbClr val="E4EDF2"/>
                </a:solidFill>
                <a:latin typeface="Courier New"/>
              </a:rPr>
              <a:t>) </a:t>
            </a:r>
            <a:r>
              <a:rPr sz="790" b="0" i="0">
                <a:solidFill>
                  <a:srgbClr val="D9A6CE"/>
                </a:solidFill>
                <a:latin typeface="Courier New"/>
              </a:rPr>
              <a:t>for</a:t>
            </a:r>
            <a:r>
              <a:rPr sz="790" b="0" i="0">
                <a:solidFill>
                  <a:srgbClr val="E4EDF2"/>
                </a:solidFill>
                <a:latin typeface="Courier New"/>
              </a:rPr>
              <a:t> </a:t>
            </a:r>
            <a:r>
              <a:rPr sz="790" b="0" i="0">
                <a:solidFill>
                  <a:srgbClr val="E4EDF2"/>
                </a:solidFill>
                <a:latin typeface="Courier New"/>
              </a:rPr>
              <a:t>i</a:t>
            </a:r>
            <a:r>
              <a:rPr sz="790" b="0" i="0">
                <a:solidFill>
                  <a:srgbClr val="E4EDF2"/>
                </a:solidFill>
                <a:latin typeface="Courier New"/>
              </a:rPr>
              <a:t> </a:t>
            </a:r>
            <a:r>
              <a:rPr sz="790" b="0" i="0">
                <a:solidFill>
                  <a:srgbClr val="D9A6CE"/>
                </a:solidFill>
                <a:latin typeface="Courier New"/>
              </a:rPr>
              <a:t>in</a:t>
            </a:r>
            <a:r>
              <a:rPr sz="790" b="0" i="0">
                <a:solidFill>
                  <a:srgbClr val="E4EDF2"/>
                </a:solidFill>
                <a:latin typeface="Courier New"/>
              </a:rPr>
              <a:t> </a:t>
            </a:r>
            <a:r>
              <a:rPr sz="790" b="0" i="0">
                <a:solidFill>
                  <a:srgbClr val="9FC4EE"/>
                </a:solidFill>
                <a:latin typeface="Courier New"/>
              </a:rPr>
              <a:t>range</a:t>
            </a:r>
            <a:r>
              <a:rPr sz="790" b="0" i="0">
                <a:solidFill>
                  <a:srgbClr val="E4EDF2"/>
                </a:solidFill>
                <a:latin typeface="Courier New"/>
              </a:rPr>
              <a:t>(</a:t>
            </a:r>
            <a:r>
              <a:rPr sz="790" b="0" i="0">
                <a:solidFill>
                  <a:srgbClr val="9FC4EE"/>
                </a:solidFill>
                <a:latin typeface="Courier New"/>
              </a:rPr>
              <a:t>len</a:t>
            </a:r>
            <a:r>
              <a:rPr sz="790" b="0" i="0">
                <a:solidFill>
                  <a:srgbClr val="E4EDF2"/>
                </a:solidFill>
                <a:latin typeface="Courier New"/>
              </a:rPr>
              <a:t>(</a:t>
            </a:r>
            <a:r>
              <a:rPr sz="790" b="0" i="0">
                <a:solidFill>
                  <a:srgbClr val="E4EDF2"/>
                </a:solidFill>
                <a:latin typeface="Courier New"/>
              </a:rPr>
              <a:t>chunks</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labels</a:t>
            </a:r>
            <a:r>
              <a:rPr sz="790" b="0" i="0">
                <a:solidFill>
                  <a:srgbClr val="E4EDF2"/>
                </a:solidFill>
                <a:latin typeface="Courier New"/>
              </a:rPr>
              <a:t> = [{</a:t>
            </a:r>
            <a:r>
              <a:rPr sz="790" b="0" i="0">
                <a:solidFill>
                  <a:srgbClr val="EBB183"/>
                </a:solidFill>
                <a:latin typeface="Courier New"/>
              </a:rPr>
              <a:t>"source"</a:t>
            </a:r>
            <a:r>
              <a:rPr sz="790" b="0" i="0">
                <a:solidFill>
                  <a:srgbClr val="E4EDF2"/>
                </a:solidFill>
                <a:latin typeface="Courier New"/>
              </a:rPr>
              <a:t>: </a:t>
            </a:r>
            <a:r>
              <a:rPr sz="790" b="0" i="0">
                <a:solidFill>
                  <a:srgbClr val="EBB183"/>
                </a:solidFill>
                <a:latin typeface="Courier New"/>
              </a:rPr>
              <a:t>"ssrf.txt"</a:t>
            </a:r>
            <a:r>
              <a:rPr sz="790" b="0" i="0">
                <a:solidFill>
                  <a:srgbClr val="E4EDF2"/>
                </a:solidFill>
                <a:latin typeface="Courier New"/>
              </a:rPr>
              <a:t>} </a:t>
            </a:r>
            <a:r>
              <a:rPr sz="790" b="0" i="0">
                <a:solidFill>
                  <a:srgbClr val="D9A6CE"/>
                </a:solidFill>
                <a:latin typeface="Courier New"/>
              </a:rPr>
              <a:t>for</a:t>
            </a:r>
            <a:r>
              <a:rPr sz="790" b="0" i="0">
                <a:solidFill>
                  <a:srgbClr val="E4EDF2"/>
                </a:solidFill>
                <a:latin typeface="Courier New"/>
              </a:rPr>
              <a:t> </a:t>
            </a:r>
            <a:r>
              <a:rPr sz="790" b="0" i="0">
                <a:solidFill>
                  <a:srgbClr val="E4EDF2"/>
                </a:solidFill>
                <a:latin typeface="Courier New"/>
              </a:rPr>
              <a:t>_</a:t>
            </a:r>
            <a:r>
              <a:rPr sz="790" b="0" i="0">
                <a:solidFill>
                  <a:srgbClr val="E4EDF2"/>
                </a:solidFill>
                <a:latin typeface="Courier New"/>
              </a:rPr>
              <a:t> </a:t>
            </a:r>
            <a:r>
              <a:rPr sz="790" b="0" i="0">
                <a:solidFill>
                  <a:srgbClr val="D9A6CE"/>
                </a:solidFill>
                <a:latin typeface="Courier New"/>
              </a:rPr>
              <a:t>in</a:t>
            </a:r>
            <a:r>
              <a:rPr sz="790" b="0" i="0">
                <a:solidFill>
                  <a:srgbClr val="E4EDF2"/>
                </a:solidFill>
                <a:latin typeface="Courier New"/>
              </a:rPr>
              <a:t> </a:t>
            </a:r>
            <a:r>
              <a:rPr sz="790" b="0" i="0">
                <a:solidFill>
                  <a:srgbClr val="E4EDF2"/>
                </a:solidFill>
                <a:latin typeface="Courier New"/>
              </a:rPr>
              <a:t>chunks</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E4EDF2"/>
                </a:solidFill>
                <a:latin typeface="Courier New"/>
              </a:rPr>
              <a:t>collection</a:t>
            </a:r>
            <a:r>
              <a:rPr sz="790" b="0" i="0">
                <a:solidFill>
                  <a:srgbClr val="E4EDF2"/>
                </a:solidFill>
                <a:latin typeface="Courier New"/>
              </a:rPr>
              <a:t>.</a:t>
            </a:r>
            <a:r>
              <a:rPr sz="790" b="0" i="0">
                <a:solidFill>
                  <a:srgbClr val="9FC4EE"/>
                </a:solidFill>
                <a:latin typeface="Courier New"/>
              </a:rPr>
              <a:t>add</a:t>
            </a:r>
            <a:r>
              <a:rPr sz="790" b="0" i="0">
                <a:solidFill>
                  <a:srgbClr val="E4EDF2"/>
                </a:solidFill>
                <a:latin typeface="Courier New"/>
              </a:rPr>
              <a:t>(</a:t>
            </a:r>
            <a:r>
              <a:rPr sz="790" b="0" i="0">
                <a:solidFill>
                  <a:srgbClr val="E4EDF2"/>
                </a:solidFill>
                <a:latin typeface="Courier New"/>
              </a:rPr>
              <a:t>ids</a:t>
            </a:r>
            <a:r>
              <a:rPr sz="790" b="0" i="0">
                <a:solidFill>
                  <a:srgbClr val="E4EDF2"/>
                </a:solidFill>
                <a:latin typeface="Courier New"/>
              </a:rPr>
              <a:t>=</a:t>
            </a:r>
            <a:r>
              <a:rPr sz="790" b="0" i="0">
                <a:solidFill>
                  <a:srgbClr val="E4EDF2"/>
                </a:solidFill>
                <a:latin typeface="Courier New"/>
              </a:rPr>
              <a:t>ids</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documents</a:t>
            </a:r>
            <a:r>
              <a:rPr sz="790" b="0" i="0">
                <a:solidFill>
                  <a:srgbClr val="E4EDF2"/>
                </a:solidFill>
                <a:latin typeface="Courier New"/>
              </a:rPr>
              <a:t>=</a:t>
            </a:r>
            <a:r>
              <a:rPr sz="790" b="0" i="0">
                <a:solidFill>
                  <a:srgbClr val="E4EDF2"/>
                </a:solidFill>
                <a:latin typeface="Courier New"/>
              </a:rPr>
              <a:t>chunks</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embeddings</a:t>
            </a:r>
            <a:r>
              <a:rPr sz="790" b="0" i="0">
                <a:solidFill>
                  <a:srgbClr val="E4EDF2"/>
                </a:solidFill>
                <a:latin typeface="Courier New"/>
              </a:rPr>
              <a:t>=</a:t>
            </a:r>
            <a:r>
              <a:rPr sz="790" b="0" i="0">
                <a:solidFill>
                  <a:srgbClr val="E4EDF2"/>
                </a:solidFill>
                <a:latin typeface="Courier New"/>
              </a:rPr>
              <a:t>chunk_vectors</a:t>
            </a:r>
            <a:r>
              <a:rPr sz="790" b="0" i="0">
                <a:solidFill>
                  <a:srgbClr val="E4EDF2"/>
                </a:solidFill>
                <a:latin typeface="Courier New"/>
              </a:rPr>
              <a:t>.</a:t>
            </a:r>
            <a:r>
              <a:rPr sz="790" b="0" i="0">
                <a:solidFill>
                  <a:srgbClr val="9FC4EE"/>
                </a:solidFill>
                <a:latin typeface="Courier New"/>
              </a:rPr>
              <a:t>tolist</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metadatas</a:t>
            </a:r>
            <a:r>
              <a:rPr sz="790" b="0" i="0">
                <a:solidFill>
                  <a:srgbClr val="E4EDF2"/>
                </a:solidFill>
                <a:latin typeface="Courier New"/>
              </a:rPr>
              <a:t>=</a:t>
            </a:r>
            <a:r>
              <a:rPr sz="790" b="0" i="0">
                <a:solidFill>
                  <a:srgbClr val="E4EDF2"/>
                </a:solidFill>
                <a:latin typeface="Courier New"/>
              </a:rPr>
              <a:t>labels</a:t>
            </a:r>
            <a:r>
              <a:rPr sz="790" b="0" i="0">
                <a:solidFill>
                  <a:srgbClr val="E4EDF2"/>
                </a:solidFill>
                <a:latin typeface="Courier New"/>
              </a:rPr>
              <a:t>)</a:t>
            </a:r>
          </a:p>
          <a:p>
            <a:pPr>
              <a:lnSpc>
                <a:spcPct val="112000"/>
              </a:lnSpc>
              <a:spcAft>
                <a:spcPts val="100"/>
              </a:spcAft>
            </a:pPr>
            <a:r>
              <a:rPr sz="790" b="0" i="0">
                <a:solidFill>
                  <a:srgbClr val="9FC4EE"/>
                </a:solidFill>
                <a:latin typeface="Courier New"/>
              </a:rPr>
              <a:t>print</a:t>
            </a:r>
            <a:r>
              <a:rPr sz="790" b="0" i="0">
                <a:solidFill>
                  <a:srgbClr val="E4EDF2"/>
                </a:solidFill>
                <a:latin typeface="Courier New"/>
              </a:rPr>
              <a:t>(</a:t>
            </a:r>
            <a:r>
              <a:rPr sz="790" b="0" i="0">
                <a:solidFill>
                  <a:srgbClr val="EBB183"/>
                </a:solidFill>
                <a:latin typeface="Courier New"/>
              </a:rPr>
              <a:t>"The database now holds"</a:t>
            </a:r>
            <a:r>
              <a:rPr sz="790" b="0" i="0">
                <a:solidFill>
                  <a:srgbClr val="E4EDF2"/>
                </a:solidFill>
                <a:latin typeface="Courier New"/>
              </a:rPr>
              <a:t>, </a:t>
            </a:r>
            <a:r>
              <a:rPr sz="790" b="0" i="0">
                <a:solidFill>
                  <a:srgbClr val="E4EDF2"/>
                </a:solidFill>
                <a:latin typeface="Courier New"/>
              </a:rPr>
              <a:t>collection</a:t>
            </a:r>
            <a:r>
              <a:rPr sz="790" b="0" i="0">
                <a:solidFill>
                  <a:srgbClr val="E4EDF2"/>
                </a:solidFill>
                <a:latin typeface="Courier New"/>
              </a:rPr>
              <a:t>.</a:t>
            </a:r>
            <a:r>
              <a:rPr sz="790" b="0" i="0">
                <a:solidFill>
                  <a:srgbClr val="9FC4EE"/>
                </a:solidFill>
                <a:latin typeface="Courier New"/>
              </a:rPr>
              <a:t>count</a:t>
            </a:r>
            <a:r>
              <a:rPr sz="790" b="0" i="0">
                <a:solidFill>
                  <a:srgbClr val="E4EDF2"/>
                </a:solidFill>
                <a:latin typeface="Courier New"/>
              </a:rPr>
              <a:t>(), </a:t>
            </a:r>
            <a:r>
              <a:rPr sz="790" b="0" i="0">
                <a:solidFill>
                  <a:srgbClr val="EBB183"/>
                </a:solidFill>
                <a:latin typeface="Courier New"/>
              </a:rPr>
              <a:t>"chunks."</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E4EDF2"/>
                </a:solidFill>
                <a:latin typeface="Courier New"/>
              </a:rPr>
              <a:t>question_vector</a:t>
            </a:r>
            <a:r>
              <a:rPr sz="790" b="0" i="0">
                <a:solidFill>
                  <a:srgbClr val="E4EDF2"/>
                </a:solidFill>
                <a:latin typeface="Courier New"/>
              </a:rPr>
              <a:t> = </a:t>
            </a:r>
            <a:r>
              <a:rPr sz="790" b="0" i="0">
                <a:solidFill>
                  <a:srgbClr val="E4EDF2"/>
                </a:solidFill>
                <a:latin typeface="Courier New"/>
              </a:rPr>
              <a:t>model</a:t>
            </a:r>
            <a:r>
              <a:rPr sz="790" b="0" i="0">
                <a:solidFill>
                  <a:srgbClr val="E4EDF2"/>
                </a:solidFill>
                <a:latin typeface="Courier New"/>
              </a:rPr>
              <a:t>.</a:t>
            </a:r>
            <a:r>
              <a:rPr sz="790" b="0" i="0">
                <a:solidFill>
                  <a:srgbClr val="9FC4EE"/>
                </a:solidFill>
                <a:latin typeface="Courier New"/>
              </a:rPr>
              <a:t>encode</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BB183"/>
                </a:solidFill>
                <a:latin typeface="Courier New"/>
              </a:rPr>
              <a:t>"What is SSRF and how is it exploited?"</a:t>
            </a:r>
            <a:r>
              <a:rPr sz="790" b="0" i="0">
                <a:solidFill>
                  <a:srgbClr val="E4EDF2"/>
                </a:solidFill>
                <a:latin typeface="Courier New"/>
              </a:rPr>
              <a:t>).</a:t>
            </a:r>
            <a:r>
              <a:rPr sz="790" b="0" i="0">
                <a:solidFill>
                  <a:srgbClr val="9FC4EE"/>
                </a:solidFill>
                <a:latin typeface="Courier New"/>
              </a:rPr>
              <a:t>tolist</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results</a:t>
            </a:r>
            <a:r>
              <a:rPr sz="790" b="0" i="0">
                <a:solidFill>
                  <a:srgbClr val="E4EDF2"/>
                </a:solidFill>
                <a:latin typeface="Courier New"/>
              </a:rPr>
              <a:t> = </a:t>
            </a:r>
            <a:r>
              <a:rPr sz="790" b="0" i="0">
                <a:solidFill>
                  <a:srgbClr val="E4EDF2"/>
                </a:solidFill>
                <a:latin typeface="Courier New"/>
              </a:rPr>
              <a:t>collection</a:t>
            </a:r>
            <a:r>
              <a:rPr sz="790" b="0" i="0">
                <a:solidFill>
                  <a:srgbClr val="E4EDF2"/>
                </a:solidFill>
                <a:latin typeface="Courier New"/>
              </a:rPr>
              <a:t>.</a:t>
            </a:r>
            <a:r>
              <a:rPr sz="790" b="0" i="0">
                <a:solidFill>
                  <a:srgbClr val="9FC4EE"/>
                </a:solidFill>
                <a:latin typeface="Courier New"/>
              </a:rPr>
              <a:t>query</a:t>
            </a:r>
            <a:r>
              <a:rPr sz="790" b="0" i="0">
                <a:solidFill>
                  <a:srgbClr val="E4EDF2"/>
                </a:solidFill>
                <a:latin typeface="Courier New"/>
              </a:rPr>
              <a:t>(</a:t>
            </a:r>
            <a:r>
              <a:rPr sz="790" b="0" i="0">
                <a:solidFill>
                  <a:srgbClr val="E4EDF2"/>
                </a:solidFill>
                <a:latin typeface="Courier New"/>
              </a:rPr>
              <a:t>query_embeddings</a:t>
            </a:r>
            <a:r>
              <a:rPr sz="790" b="0" i="0">
                <a:solidFill>
                  <a:srgbClr val="E4EDF2"/>
                </a:solidFill>
                <a:latin typeface="Courier New"/>
              </a:rPr>
              <a:t>=[</a:t>
            </a:r>
            <a:r>
              <a:rPr sz="790" b="0" i="0">
                <a:solidFill>
                  <a:srgbClr val="E4EDF2"/>
                </a:solidFill>
                <a:latin typeface="Courier New"/>
              </a:rPr>
              <a:t>question_vector</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n_results</a:t>
            </a:r>
            <a:r>
              <a:rPr sz="790" b="0" i="0">
                <a:solidFill>
                  <a:srgbClr val="E4EDF2"/>
                </a:solidFill>
                <a:latin typeface="Courier New"/>
              </a:rPr>
              <a:t>=</a:t>
            </a:r>
            <a:r>
              <a:rPr sz="790" b="0" i="0">
                <a:solidFill>
                  <a:srgbClr val="9FC4EE"/>
                </a:solidFill>
                <a:latin typeface="Courier New"/>
              </a:rPr>
              <a:t>3</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76909F"/>
                </a:solidFill>
                <a:latin typeface="Courier New"/>
              </a:rPr>
              <a:t># filter on the labels you stored earlier</a:t>
            </a:r>
          </a:p>
          <a:p>
            <a:pPr>
              <a:lnSpc>
                <a:spcPct val="112000"/>
              </a:lnSpc>
              <a:spcAft>
                <a:spcPts val="100"/>
              </a:spcAft>
            </a:pPr>
            <a:r>
              <a:rPr sz="790" b="0" i="0">
                <a:solidFill>
                  <a:srgbClr val="E4EDF2"/>
                </a:solidFill>
                <a:latin typeface="Courier New"/>
              </a:rPr>
              <a:t>filtered</a:t>
            </a:r>
            <a:r>
              <a:rPr sz="790" b="0" i="0">
                <a:solidFill>
                  <a:srgbClr val="E4EDF2"/>
                </a:solidFill>
                <a:latin typeface="Courier New"/>
              </a:rPr>
              <a:t> = </a:t>
            </a:r>
            <a:r>
              <a:rPr sz="790" b="0" i="0">
                <a:solidFill>
                  <a:srgbClr val="E4EDF2"/>
                </a:solidFill>
                <a:latin typeface="Courier New"/>
              </a:rPr>
              <a:t>collection</a:t>
            </a:r>
            <a:r>
              <a:rPr sz="790" b="0" i="0">
                <a:solidFill>
                  <a:srgbClr val="E4EDF2"/>
                </a:solidFill>
                <a:latin typeface="Courier New"/>
              </a:rPr>
              <a:t>.</a:t>
            </a:r>
            <a:r>
              <a:rPr sz="790" b="0" i="0">
                <a:solidFill>
                  <a:srgbClr val="9FC4EE"/>
                </a:solidFill>
                <a:latin typeface="Courier New"/>
              </a:rPr>
              <a:t>query</a:t>
            </a:r>
            <a:r>
              <a:rPr sz="790" b="0" i="0">
                <a:solidFill>
                  <a:srgbClr val="E4EDF2"/>
                </a:solidFill>
                <a:latin typeface="Courier New"/>
              </a:rPr>
              <a:t>(</a:t>
            </a:r>
            <a:r>
              <a:rPr sz="790" b="0" i="0">
                <a:solidFill>
                  <a:srgbClr val="E4EDF2"/>
                </a:solidFill>
                <a:latin typeface="Courier New"/>
              </a:rPr>
              <a:t>query_embeddings</a:t>
            </a:r>
            <a:r>
              <a:rPr sz="790" b="0" i="0">
                <a:solidFill>
                  <a:srgbClr val="E4EDF2"/>
                </a:solidFill>
                <a:latin typeface="Courier New"/>
              </a:rPr>
              <a:t>=[</a:t>
            </a:r>
            <a:r>
              <a:rPr sz="790" b="0" i="0">
                <a:solidFill>
                  <a:srgbClr val="E4EDF2"/>
                </a:solidFill>
                <a:latin typeface="Courier New"/>
              </a:rPr>
              <a:t>question_vector</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n_results</a:t>
            </a:r>
            <a:r>
              <a:rPr sz="790" b="0" i="0">
                <a:solidFill>
                  <a:srgbClr val="E4EDF2"/>
                </a:solidFill>
                <a:latin typeface="Courier New"/>
              </a:rPr>
              <a:t>=</a:t>
            </a:r>
            <a:r>
              <a:rPr sz="790" b="0" i="0">
                <a:solidFill>
                  <a:srgbClr val="9FC4EE"/>
                </a:solidFill>
                <a:latin typeface="Courier New"/>
              </a:rPr>
              <a:t>2</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where</a:t>
            </a:r>
            <a:r>
              <a:rPr sz="790" b="0" i="0">
                <a:solidFill>
                  <a:srgbClr val="E4EDF2"/>
                </a:solidFill>
                <a:latin typeface="Courier New"/>
              </a:rPr>
              <a:t>={</a:t>
            </a:r>
            <a:r>
              <a:rPr sz="790" b="0" i="0">
                <a:solidFill>
                  <a:srgbClr val="EBB183"/>
                </a:solidFill>
                <a:latin typeface="Courier New"/>
              </a:rPr>
              <a:t>"source"</a:t>
            </a:r>
            <a:r>
              <a:rPr sz="790" b="0" i="0">
                <a:solidFill>
                  <a:srgbClr val="E4EDF2"/>
                </a:solidFill>
                <a:latin typeface="Courier New"/>
              </a:rPr>
              <a:t>: </a:t>
            </a:r>
            <a:r>
              <a:rPr sz="790" b="0" i="0">
                <a:solidFill>
                  <a:srgbClr val="EBB183"/>
                </a:solidFill>
                <a:latin typeface="Courier New"/>
              </a:rPr>
              <a:t>"ssrf.txt"</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76909F"/>
                </a:solidFill>
                <a:latin typeface="Courier New"/>
              </a:rPr>
              <a:t># to survive a restart, swap one line:</a:t>
            </a:r>
          </a:p>
          <a:p>
            <a:pPr>
              <a:lnSpc>
                <a:spcPct val="112000"/>
              </a:lnSpc>
              <a:spcAft>
                <a:spcPts val="100"/>
              </a:spcAft>
            </a:pPr>
            <a:r>
              <a:rPr sz="790" b="0" i="0">
                <a:solidFill>
                  <a:srgbClr val="76909F"/>
                </a:solidFill>
                <a:latin typeface="Courier New"/>
              </a:rPr>
              <a:t># client = chromadb.PersistentClient(path="my_db_folder")</a:t>
            </a:r>
          </a:p>
        </p:txBody>
      </p:sp>
      <p:sp>
        <p:nvSpPr>
          <p:cNvPr id="10" name="Rounded Rectangle 9"/>
          <p:cNvSpPr/>
          <p:nvPr/>
        </p:nvSpPr>
        <p:spPr>
          <a:xfrm>
            <a:off x="8183879" y="1719072"/>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348471" y="1874519"/>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a:t>
            </a:r>
          </a:p>
        </p:txBody>
      </p:sp>
      <p:sp>
        <p:nvSpPr>
          <p:cNvPr id="12" name="TextBox 11"/>
          <p:cNvSpPr txBox="1"/>
          <p:nvPr/>
        </p:nvSpPr>
        <p:spPr>
          <a:xfrm>
            <a:off x="8695944" y="1865376"/>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Create — no server involved</a:t>
            </a:r>
          </a:p>
        </p:txBody>
      </p:sp>
      <p:sp>
        <p:nvSpPr>
          <p:cNvPr id="13" name="TextBox 12"/>
          <p:cNvSpPr txBox="1"/>
          <p:nvPr/>
        </p:nvSpPr>
        <p:spPr>
          <a:xfrm>
            <a:off x="8348471" y="2194560"/>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EphemeralClient runs inside the notebook process. Nothing to install, nothing to start, no port.</a:t>
            </a:r>
          </a:p>
        </p:txBody>
      </p:sp>
      <p:sp>
        <p:nvSpPr>
          <p:cNvPr id="14" name="Rounded Rectangle 13"/>
          <p:cNvSpPr/>
          <p:nvPr/>
        </p:nvSpPr>
        <p:spPr>
          <a:xfrm>
            <a:off x="8183879" y="2866644"/>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48471" y="3022091"/>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a:t>
            </a:r>
          </a:p>
        </p:txBody>
      </p:sp>
      <p:sp>
        <p:nvSpPr>
          <p:cNvPr id="16" name="TextBox 15"/>
          <p:cNvSpPr txBox="1"/>
          <p:nvPr/>
        </p:nvSpPr>
        <p:spPr>
          <a:xfrm>
            <a:off x="8695944" y="3012948"/>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Add — four parallel lists</a:t>
            </a:r>
          </a:p>
        </p:txBody>
      </p:sp>
      <p:sp>
        <p:nvSpPr>
          <p:cNvPr id="17" name="TextBox 16"/>
          <p:cNvSpPr txBox="1"/>
          <p:nvPr/>
        </p:nvSpPr>
        <p:spPr>
          <a:xfrm>
            <a:off x="8348471" y="3342132"/>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ids, documents, embeddings, metadatas: same length, same order. That is the only real invariant in the API.</a:t>
            </a:r>
          </a:p>
        </p:txBody>
      </p:sp>
      <p:sp>
        <p:nvSpPr>
          <p:cNvPr id="18" name="Rounded Rectangle 17"/>
          <p:cNvSpPr/>
          <p:nvPr/>
        </p:nvSpPr>
        <p:spPr>
          <a:xfrm>
            <a:off x="8183879" y="4014216"/>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48471" y="4169664"/>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3</a:t>
            </a:r>
          </a:p>
        </p:txBody>
      </p:sp>
      <p:sp>
        <p:nvSpPr>
          <p:cNvPr id="20" name="TextBox 19"/>
          <p:cNvSpPr txBox="1"/>
          <p:nvPr/>
        </p:nvSpPr>
        <p:spPr>
          <a:xfrm>
            <a:off x="8695944" y="4160520"/>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Query — mind the [0]</a:t>
            </a:r>
          </a:p>
        </p:txBody>
      </p:sp>
      <p:sp>
        <p:nvSpPr>
          <p:cNvPr id="21" name="TextBox 20"/>
          <p:cNvSpPr txBox="1"/>
          <p:nvPr/>
        </p:nvSpPr>
        <p:spPr>
          <a:xfrm>
            <a:off x="8348471" y="4489704"/>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Results are wrapped in an outer list because you may ask several questions at once. Hence results["documents"][0].</a:t>
            </a:r>
          </a:p>
        </p:txBody>
      </p:sp>
      <p:sp>
        <p:nvSpPr>
          <p:cNvPr id="22" name="Rounded Rectangle 21"/>
          <p:cNvSpPr/>
          <p:nvPr/>
        </p:nvSpPr>
        <p:spPr>
          <a:xfrm>
            <a:off x="8183879" y="5161788"/>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348471" y="5317236"/>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a:t>
            </a:r>
          </a:p>
        </p:txBody>
      </p:sp>
      <p:sp>
        <p:nvSpPr>
          <p:cNvPr id="24" name="TextBox 23"/>
          <p:cNvSpPr txBox="1"/>
          <p:nvPr/>
        </p:nvSpPr>
        <p:spPr>
          <a:xfrm>
            <a:off x="8695944" y="5308092"/>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Filter — metadata earns its keep</a:t>
            </a:r>
          </a:p>
        </p:txBody>
      </p:sp>
      <p:sp>
        <p:nvSpPr>
          <p:cNvPr id="25" name="TextBox 24"/>
          <p:cNvSpPr txBox="1"/>
          <p:nvPr/>
        </p:nvSpPr>
        <p:spPr>
          <a:xfrm>
            <a:off x="8348471" y="5637276"/>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where={...} matches what you stored. Restrict by source, classification or date — this is how access control starts.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5 · BUILD IT</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ingestion half, line by line</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Steps 1 and 2 of lecture3_rag_pipeline.ipynb. This is a script you run once — not a function you call per question.</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32</a:t>
            </a:r>
          </a:p>
        </p:txBody>
      </p:sp>
      <p:sp>
        <p:nvSpPr>
          <p:cNvPr id="7" name="Rounded Rectangle 6"/>
          <p:cNvSpPr/>
          <p:nvPr/>
        </p:nvSpPr>
        <p:spPr>
          <a:xfrm>
            <a:off x="640080" y="1719072"/>
            <a:ext cx="7223760" cy="449884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837943"/>
            <a:ext cx="67482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lecture3_rag_pipeline.ipynb · STEPS 1–2 — INGESTION, RUN ONCE</a:t>
            </a:r>
          </a:p>
        </p:txBody>
      </p:sp>
      <p:sp>
        <p:nvSpPr>
          <p:cNvPr id="9" name="TextBox 8"/>
          <p:cNvSpPr txBox="1"/>
          <p:nvPr/>
        </p:nvSpPr>
        <p:spPr>
          <a:xfrm>
            <a:off x="877824" y="2112263"/>
            <a:ext cx="6748272" cy="3995928"/>
          </a:xfrm>
          <a:prstGeom prst="rect">
            <a:avLst/>
          </a:prstGeom>
          <a:noFill/>
        </p:spPr>
        <p:txBody>
          <a:bodyPr wrap="square" lIns="0" rIns="0" tIns="0" bIns="0">
            <a:spAutoFit/>
          </a:bodyPr>
          <a:lstStyle/>
          <a:p>
            <a:pPr>
              <a:lnSpc>
                <a:spcPct val="112000"/>
              </a:lnSpc>
              <a:spcAft>
                <a:spcPts val="100"/>
              </a:spcAft>
            </a:pPr>
            <a:r>
              <a:rPr sz="760" b="0" i="0">
                <a:solidFill>
                  <a:srgbClr val="D9A6CE"/>
                </a:solidFill>
                <a:latin typeface="Courier New"/>
              </a:rPr>
              <a:t>def</a:t>
            </a:r>
            <a:r>
              <a:rPr sz="760" b="0" i="0">
                <a:solidFill>
                  <a:srgbClr val="E4EDF2"/>
                </a:solidFill>
                <a:latin typeface="Courier New"/>
              </a:rPr>
              <a:t> </a:t>
            </a:r>
            <a:r>
              <a:rPr sz="760" b="0" i="0">
                <a:solidFill>
                  <a:srgbClr val="9FC4EE"/>
                </a:solidFill>
                <a:latin typeface="Courier New"/>
              </a:rPr>
              <a:t>split_into_chunks</a:t>
            </a:r>
            <a:r>
              <a:rPr sz="760" b="0" i="0">
                <a:solidFill>
                  <a:srgbClr val="E4EDF2"/>
                </a:solidFill>
                <a:latin typeface="Courier New"/>
              </a:rPr>
              <a:t>(</a:t>
            </a:r>
            <a:r>
              <a:rPr sz="760" b="0" i="0">
                <a:solidFill>
                  <a:srgbClr val="E4EDF2"/>
                </a:solidFill>
                <a:latin typeface="Courier New"/>
              </a:rPr>
              <a:t>text</a:t>
            </a:r>
            <a:r>
              <a:rPr sz="760" b="0" i="0">
                <a:solidFill>
                  <a:srgbClr val="E4EDF2"/>
                </a:solidFill>
                <a:latin typeface="Courier New"/>
              </a:rPr>
              <a:t>, </a:t>
            </a:r>
            <a:r>
              <a:rPr sz="760" b="0" i="0">
                <a:solidFill>
                  <a:srgbClr val="E4EDF2"/>
                </a:solidFill>
                <a:latin typeface="Courier New"/>
              </a:rPr>
              <a:t>chunk_size</a:t>
            </a:r>
            <a:r>
              <a:rPr sz="760" b="0" i="0">
                <a:solidFill>
                  <a:srgbClr val="E4EDF2"/>
                </a:solidFill>
                <a:latin typeface="Courier New"/>
              </a:rPr>
              <a:t>=</a:t>
            </a:r>
            <a:r>
              <a:rPr sz="760" b="0" i="0">
                <a:solidFill>
                  <a:srgbClr val="9FC4EE"/>
                </a:solidFill>
                <a:latin typeface="Courier New"/>
              </a:rPr>
              <a:t>600</a:t>
            </a:r>
            <a:r>
              <a:rPr sz="760" b="0" i="0">
                <a:solidFill>
                  <a:srgbClr val="E4EDF2"/>
                </a:solidFill>
                <a:latin typeface="Courier New"/>
              </a:rPr>
              <a:t>, </a:t>
            </a:r>
            <a:r>
              <a:rPr sz="760" b="0" i="0">
                <a:solidFill>
                  <a:srgbClr val="E4EDF2"/>
                </a:solidFill>
                <a:latin typeface="Courier New"/>
              </a:rPr>
              <a:t>overlap</a:t>
            </a:r>
            <a:r>
              <a:rPr sz="760" b="0" i="0">
                <a:solidFill>
                  <a:srgbClr val="E4EDF2"/>
                </a:solidFill>
                <a:latin typeface="Courier New"/>
              </a:rPr>
              <a:t>=</a:t>
            </a:r>
            <a:r>
              <a:rPr sz="760" b="0" i="0">
                <a:solidFill>
                  <a:srgbClr val="9FC4EE"/>
                </a:solidFill>
                <a:latin typeface="Courier New"/>
              </a:rPr>
              <a:t>100</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pieces</a:t>
            </a:r>
            <a:r>
              <a:rPr sz="760" b="0" i="0">
                <a:solidFill>
                  <a:srgbClr val="E4EDF2"/>
                </a:solidFill>
                <a:latin typeface="Courier New"/>
              </a:rPr>
              <a:t> = []</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start</a:t>
            </a:r>
            <a:r>
              <a:rPr sz="760" b="0" i="0">
                <a:solidFill>
                  <a:srgbClr val="E4EDF2"/>
                </a:solidFill>
                <a:latin typeface="Courier New"/>
              </a:rPr>
              <a:t> = </a:t>
            </a:r>
            <a:r>
              <a:rPr sz="760" b="0" i="0">
                <a:solidFill>
                  <a:srgbClr val="9FC4EE"/>
                </a:solidFill>
                <a:latin typeface="Courier New"/>
              </a:rPr>
              <a:t>0</a:t>
            </a:r>
          </a:p>
          <a:p>
            <a:pPr>
              <a:lnSpc>
                <a:spcPct val="112000"/>
              </a:lnSpc>
              <a:spcAft>
                <a:spcPts val="100"/>
              </a:spcAft>
            </a:pPr>
            <a:r>
              <a:rPr sz="760" b="0" i="0">
                <a:solidFill>
                  <a:srgbClr val="E4EDF2"/>
                </a:solidFill>
                <a:latin typeface="Courier New"/>
              </a:rPr>
              <a:t>    </a:t>
            </a:r>
            <a:r>
              <a:rPr sz="760" b="0" i="0">
                <a:solidFill>
                  <a:srgbClr val="D9A6CE"/>
                </a:solidFill>
                <a:latin typeface="Courier New"/>
              </a:rPr>
              <a:t>while</a:t>
            </a:r>
            <a:r>
              <a:rPr sz="760" b="0" i="0">
                <a:solidFill>
                  <a:srgbClr val="E4EDF2"/>
                </a:solidFill>
                <a:latin typeface="Courier New"/>
              </a:rPr>
              <a:t> </a:t>
            </a:r>
            <a:r>
              <a:rPr sz="760" b="0" i="0">
                <a:solidFill>
                  <a:srgbClr val="E4EDF2"/>
                </a:solidFill>
                <a:latin typeface="Courier New"/>
              </a:rPr>
              <a:t>start</a:t>
            </a:r>
            <a:r>
              <a:rPr sz="760" b="0" i="0">
                <a:solidFill>
                  <a:srgbClr val="E4EDF2"/>
                </a:solidFill>
                <a:latin typeface="Courier New"/>
              </a:rPr>
              <a:t> &lt; </a:t>
            </a:r>
            <a:r>
              <a:rPr sz="760" b="0" i="0">
                <a:solidFill>
                  <a:srgbClr val="9FC4EE"/>
                </a:solidFill>
                <a:latin typeface="Courier New"/>
              </a:rPr>
              <a:t>len</a:t>
            </a:r>
            <a:r>
              <a:rPr sz="760" b="0" i="0">
                <a:solidFill>
                  <a:srgbClr val="E4EDF2"/>
                </a:solidFill>
                <a:latin typeface="Courier New"/>
              </a:rPr>
              <a:t>(</a:t>
            </a:r>
            <a:r>
              <a:rPr sz="760" b="0" i="0">
                <a:solidFill>
                  <a:srgbClr val="E4EDF2"/>
                </a:solidFill>
                <a:latin typeface="Courier New"/>
              </a:rPr>
              <a:t>text</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piece</a:t>
            </a:r>
            <a:r>
              <a:rPr sz="760" b="0" i="0">
                <a:solidFill>
                  <a:srgbClr val="E4EDF2"/>
                </a:solidFill>
                <a:latin typeface="Courier New"/>
              </a:rPr>
              <a:t> = </a:t>
            </a:r>
            <a:r>
              <a:rPr sz="760" b="0" i="0">
                <a:solidFill>
                  <a:srgbClr val="E4EDF2"/>
                </a:solidFill>
                <a:latin typeface="Courier New"/>
              </a:rPr>
              <a:t>text</a:t>
            </a:r>
            <a:r>
              <a:rPr sz="760" b="0" i="0">
                <a:solidFill>
                  <a:srgbClr val="E4EDF2"/>
                </a:solidFill>
                <a:latin typeface="Courier New"/>
              </a:rPr>
              <a:t>[</a:t>
            </a:r>
            <a:r>
              <a:rPr sz="760" b="0" i="0">
                <a:solidFill>
                  <a:srgbClr val="E4EDF2"/>
                </a:solidFill>
                <a:latin typeface="Courier New"/>
              </a:rPr>
              <a:t>start</a:t>
            </a:r>
            <a:r>
              <a:rPr sz="760" b="0" i="0">
                <a:solidFill>
                  <a:srgbClr val="E4EDF2"/>
                </a:solidFill>
                <a:latin typeface="Courier New"/>
              </a:rPr>
              <a:t> : </a:t>
            </a:r>
            <a:r>
              <a:rPr sz="760" b="0" i="0">
                <a:solidFill>
                  <a:srgbClr val="E4EDF2"/>
                </a:solidFill>
                <a:latin typeface="Courier New"/>
              </a:rPr>
              <a:t>start</a:t>
            </a:r>
            <a:r>
              <a:rPr sz="760" b="0" i="0">
                <a:solidFill>
                  <a:srgbClr val="E4EDF2"/>
                </a:solidFill>
                <a:latin typeface="Courier New"/>
              </a:rPr>
              <a:t> + </a:t>
            </a:r>
            <a:r>
              <a:rPr sz="760" b="0" i="0">
                <a:solidFill>
                  <a:srgbClr val="E4EDF2"/>
                </a:solidFill>
                <a:latin typeface="Courier New"/>
              </a:rPr>
              <a:t>chunk_size</a:t>
            </a:r>
            <a:r>
              <a:rPr sz="760" b="0" i="0">
                <a:solidFill>
                  <a:srgbClr val="E4EDF2"/>
                </a:solidFill>
                <a:latin typeface="Courier New"/>
              </a:rPr>
              <a:t>].</a:t>
            </a:r>
            <a:r>
              <a:rPr sz="760" b="0" i="0">
                <a:solidFill>
                  <a:srgbClr val="9FC4EE"/>
                </a:solidFill>
                <a:latin typeface="Courier New"/>
              </a:rPr>
              <a:t>strip</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D9A6CE"/>
                </a:solidFill>
                <a:latin typeface="Courier New"/>
              </a:rPr>
              <a:t>if</a:t>
            </a:r>
            <a:r>
              <a:rPr sz="760" b="0" i="0">
                <a:solidFill>
                  <a:srgbClr val="E4EDF2"/>
                </a:solidFill>
                <a:latin typeface="Courier New"/>
              </a:rPr>
              <a:t> </a:t>
            </a:r>
            <a:r>
              <a:rPr sz="760" b="0" i="0">
                <a:solidFill>
                  <a:srgbClr val="E4EDF2"/>
                </a:solidFill>
                <a:latin typeface="Courier New"/>
              </a:rPr>
              <a:t>piece</a:t>
            </a:r>
            <a:r>
              <a:rPr sz="760" b="0" i="0">
                <a:solidFill>
                  <a:srgbClr val="E4EDF2"/>
                </a:solidFill>
                <a:latin typeface="Courier New"/>
              </a:rPr>
              <a:t> != </a:t>
            </a:r>
            <a:r>
              <a:rPr sz="760" b="0" i="0">
                <a:solidFill>
                  <a:srgbClr val="EBB183"/>
                </a:solidFill>
                <a:latin typeface="Courier New"/>
              </a:rPr>
              <a:t>""</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pieces</a:t>
            </a:r>
            <a:r>
              <a:rPr sz="760" b="0" i="0">
                <a:solidFill>
                  <a:srgbClr val="E4EDF2"/>
                </a:solidFill>
                <a:latin typeface="Courier New"/>
              </a:rPr>
              <a:t>.</a:t>
            </a:r>
            <a:r>
              <a:rPr sz="760" b="0" i="0">
                <a:solidFill>
                  <a:srgbClr val="9FC4EE"/>
                </a:solidFill>
                <a:latin typeface="Courier New"/>
              </a:rPr>
              <a:t>append</a:t>
            </a:r>
            <a:r>
              <a:rPr sz="760" b="0" i="0">
                <a:solidFill>
                  <a:srgbClr val="E4EDF2"/>
                </a:solidFill>
                <a:latin typeface="Courier New"/>
              </a:rPr>
              <a:t>(</a:t>
            </a:r>
            <a:r>
              <a:rPr sz="760" b="0" i="0">
                <a:solidFill>
                  <a:srgbClr val="E4EDF2"/>
                </a:solidFill>
                <a:latin typeface="Courier New"/>
              </a:rPr>
              <a:t>piece</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start</a:t>
            </a:r>
            <a:r>
              <a:rPr sz="760" b="0" i="0">
                <a:solidFill>
                  <a:srgbClr val="E4EDF2"/>
                </a:solidFill>
                <a:latin typeface="Courier New"/>
              </a:rPr>
              <a:t> = </a:t>
            </a:r>
            <a:r>
              <a:rPr sz="760" b="0" i="0">
                <a:solidFill>
                  <a:srgbClr val="E4EDF2"/>
                </a:solidFill>
                <a:latin typeface="Courier New"/>
              </a:rPr>
              <a:t>start</a:t>
            </a:r>
            <a:r>
              <a:rPr sz="760" b="0" i="0">
                <a:solidFill>
                  <a:srgbClr val="E4EDF2"/>
                </a:solidFill>
                <a:latin typeface="Courier New"/>
              </a:rPr>
              <a:t> + </a:t>
            </a:r>
            <a:r>
              <a:rPr sz="760" b="0" i="0">
                <a:solidFill>
                  <a:srgbClr val="E4EDF2"/>
                </a:solidFill>
                <a:latin typeface="Courier New"/>
              </a:rPr>
              <a:t>chunk_size</a:t>
            </a:r>
            <a:r>
              <a:rPr sz="760" b="0" i="0">
                <a:solidFill>
                  <a:srgbClr val="E4EDF2"/>
                </a:solidFill>
                <a:latin typeface="Courier New"/>
              </a:rPr>
              <a:t> - </a:t>
            </a:r>
            <a:r>
              <a:rPr sz="760" b="0" i="0">
                <a:solidFill>
                  <a:srgbClr val="E4EDF2"/>
                </a:solidFill>
                <a:latin typeface="Courier New"/>
              </a:rPr>
              <a:t>overlap</a:t>
            </a:r>
          </a:p>
          <a:p>
            <a:pPr>
              <a:lnSpc>
                <a:spcPct val="112000"/>
              </a:lnSpc>
              <a:spcAft>
                <a:spcPts val="100"/>
              </a:spcAft>
            </a:pPr>
            <a:r>
              <a:rPr sz="760" b="0" i="0">
                <a:solidFill>
                  <a:srgbClr val="E4EDF2"/>
                </a:solidFill>
                <a:latin typeface="Courier New"/>
              </a:rPr>
              <a:t>    </a:t>
            </a:r>
            <a:r>
              <a:rPr sz="760" b="0" i="0">
                <a:solidFill>
                  <a:srgbClr val="D9A6CE"/>
                </a:solidFill>
                <a:latin typeface="Courier New"/>
              </a:rPr>
              <a:t>return</a:t>
            </a:r>
            <a:r>
              <a:rPr sz="760" b="0" i="0">
                <a:solidFill>
                  <a:srgbClr val="E4EDF2"/>
                </a:solidFill>
                <a:latin typeface="Courier New"/>
              </a:rPr>
              <a:t> </a:t>
            </a:r>
            <a:r>
              <a:rPr sz="760" b="0" i="0">
                <a:solidFill>
                  <a:srgbClr val="E4EDF2"/>
                </a:solidFill>
                <a:latin typeface="Courier New"/>
              </a:rPr>
              <a:t>pieces</a:t>
            </a:r>
          </a:p>
          <a:p>
            <a:pPr>
              <a:lnSpc>
                <a:spcPct val="112000"/>
              </a:lnSpc>
              <a:spcAft>
                <a:spcPts val="100"/>
              </a:spcAft>
            </a:pPr>
            <a:r>
              <a:rPr sz="760" b="0" i="0">
                <a:solidFill>
                  <a:srgbClr val="E4EDF2"/>
                </a:solidFill>
                <a:latin typeface="Courier New"/>
              </a:rPr>
              <a:t/>
            </a:r>
          </a:p>
          <a:p>
            <a:pPr>
              <a:lnSpc>
                <a:spcPct val="112000"/>
              </a:lnSpc>
              <a:spcAft>
                <a:spcPts val="100"/>
              </a:spcAft>
            </a:pPr>
            <a:r>
              <a:rPr sz="760" b="0" i="0">
                <a:solidFill>
                  <a:srgbClr val="E4EDF2"/>
                </a:solidFill>
                <a:latin typeface="Courier New"/>
              </a:rPr>
              <a:t>chunks</a:t>
            </a:r>
            <a:r>
              <a:rPr sz="760" b="0" i="0">
                <a:solidFill>
                  <a:srgbClr val="E4EDF2"/>
                </a:solidFill>
                <a:latin typeface="Courier New"/>
              </a:rPr>
              <a:t>, </a:t>
            </a:r>
            <a:r>
              <a:rPr sz="760" b="0" i="0">
                <a:solidFill>
                  <a:srgbClr val="E4EDF2"/>
                </a:solidFill>
                <a:latin typeface="Courier New"/>
              </a:rPr>
              <a:t>sources</a:t>
            </a:r>
            <a:r>
              <a:rPr sz="760" b="0" i="0">
                <a:solidFill>
                  <a:srgbClr val="E4EDF2"/>
                </a:solidFill>
                <a:latin typeface="Courier New"/>
              </a:rPr>
              <a:t> = [], []</a:t>
            </a:r>
          </a:p>
          <a:p>
            <a:pPr>
              <a:lnSpc>
                <a:spcPct val="112000"/>
              </a:lnSpc>
              <a:spcAft>
                <a:spcPts val="100"/>
              </a:spcAft>
            </a:pPr>
            <a:r>
              <a:rPr sz="760" b="0" i="0">
                <a:solidFill>
                  <a:srgbClr val="D9A6CE"/>
                </a:solidFill>
                <a:latin typeface="Courier New"/>
              </a:rPr>
              <a:t>for</a:t>
            </a:r>
            <a:r>
              <a:rPr sz="760" b="0" i="0">
                <a:solidFill>
                  <a:srgbClr val="E4EDF2"/>
                </a:solidFill>
                <a:latin typeface="Courier New"/>
              </a:rPr>
              <a:t> </a:t>
            </a:r>
            <a:r>
              <a:rPr sz="760" b="0" i="0">
                <a:solidFill>
                  <a:srgbClr val="E4EDF2"/>
                </a:solidFill>
                <a:latin typeface="Courier New"/>
              </a:rPr>
              <a:t>filename</a:t>
            </a:r>
            <a:r>
              <a:rPr sz="760" b="0" i="0">
                <a:solidFill>
                  <a:srgbClr val="E4EDF2"/>
                </a:solidFill>
                <a:latin typeface="Courier New"/>
              </a:rPr>
              <a:t> </a:t>
            </a:r>
            <a:r>
              <a:rPr sz="760" b="0" i="0">
                <a:solidFill>
                  <a:srgbClr val="D9A6CE"/>
                </a:solidFill>
                <a:latin typeface="Courier New"/>
              </a:rPr>
              <a:t>in</a:t>
            </a:r>
            <a:r>
              <a:rPr sz="760" b="0" i="0">
                <a:solidFill>
                  <a:srgbClr val="E4EDF2"/>
                </a:solidFill>
                <a:latin typeface="Courier New"/>
              </a:rPr>
              <a:t> [</a:t>
            </a:r>
            <a:r>
              <a:rPr sz="760" b="0" i="0">
                <a:solidFill>
                  <a:srgbClr val="EBB183"/>
                </a:solidFill>
                <a:latin typeface="Courier New"/>
              </a:rPr>
              <a:t>"ssrf.txt"</a:t>
            </a:r>
            <a:r>
              <a:rPr sz="760" b="0" i="0">
                <a:solidFill>
                  <a:srgbClr val="E4EDF2"/>
                </a:solidFill>
                <a:latin typeface="Courier New"/>
              </a:rPr>
              <a:t>, </a:t>
            </a:r>
            <a:r>
              <a:rPr sz="760" b="0" i="0">
                <a:solidFill>
                  <a:srgbClr val="EBB183"/>
                </a:solidFill>
                <a:latin typeface="Courier New"/>
              </a:rPr>
              <a:t>"cybersecurity_kb.md"</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text</a:t>
            </a:r>
            <a:r>
              <a:rPr sz="760" b="0" i="0">
                <a:solidFill>
                  <a:srgbClr val="E4EDF2"/>
                </a:solidFill>
                <a:latin typeface="Courier New"/>
              </a:rPr>
              <a:t> = </a:t>
            </a:r>
            <a:r>
              <a:rPr sz="760" b="0" i="0">
                <a:solidFill>
                  <a:srgbClr val="9FC4EE"/>
                </a:solidFill>
                <a:latin typeface="Courier New"/>
              </a:rPr>
              <a:t>open</a:t>
            </a:r>
            <a:r>
              <a:rPr sz="760" b="0" i="0">
                <a:solidFill>
                  <a:srgbClr val="E4EDF2"/>
                </a:solidFill>
                <a:latin typeface="Courier New"/>
              </a:rPr>
              <a:t>(</a:t>
            </a:r>
            <a:r>
              <a:rPr sz="760" b="0" i="0">
                <a:solidFill>
                  <a:srgbClr val="E4EDF2"/>
                </a:solidFill>
                <a:latin typeface="Courier New"/>
              </a:rPr>
              <a:t>filename</a:t>
            </a:r>
            <a:r>
              <a:rPr sz="760" b="0" i="0">
                <a:solidFill>
                  <a:srgbClr val="E4EDF2"/>
                </a:solidFill>
                <a:latin typeface="Courier New"/>
              </a:rPr>
              <a:t>, </a:t>
            </a:r>
            <a:r>
              <a:rPr sz="760" b="0" i="0">
                <a:solidFill>
                  <a:srgbClr val="E4EDF2"/>
                </a:solidFill>
                <a:latin typeface="Courier New"/>
              </a:rPr>
              <a:t>encoding</a:t>
            </a:r>
            <a:r>
              <a:rPr sz="760" b="0" i="0">
                <a:solidFill>
                  <a:srgbClr val="E4EDF2"/>
                </a:solidFill>
                <a:latin typeface="Courier New"/>
              </a:rPr>
              <a:t>=</a:t>
            </a:r>
            <a:r>
              <a:rPr sz="760" b="0" i="0">
                <a:solidFill>
                  <a:srgbClr val="EBB183"/>
                </a:solidFill>
                <a:latin typeface="Courier New"/>
              </a:rPr>
              <a:t>"utf-8"</a:t>
            </a:r>
            <a:r>
              <a:rPr sz="760" b="0" i="0">
                <a:solidFill>
                  <a:srgbClr val="E4EDF2"/>
                </a:solidFill>
                <a:latin typeface="Courier New"/>
              </a:rPr>
              <a:t>).</a:t>
            </a:r>
            <a:r>
              <a:rPr sz="760" b="0" i="0">
                <a:solidFill>
                  <a:srgbClr val="9FC4EE"/>
                </a:solidFill>
                <a:latin typeface="Courier New"/>
              </a:rPr>
              <a:t>read</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file_chunks</a:t>
            </a:r>
            <a:r>
              <a:rPr sz="760" b="0" i="0">
                <a:solidFill>
                  <a:srgbClr val="E4EDF2"/>
                </a:solidFill>
                <a:latin typeface="Courier New"/>
              </a:rPr>
              <a:t> = </a:t>
            </a:r>
            <a:r>
              <a:rPr sz="760" b="0" i="0">
                <a:solidFill>
                  <a:srgbClr val="9FC4EE"/>
                </a:solidFill>
                <a:latin typeface="Courier New"/>
              </a:rPr>
              <a:t>split_into_chunks</a:t>
            </a:r>
            <a:r>
              <a:rPr sz="760" b="0" i="0">
                <a:solidFill>
                  <a:srgbClr val="E4EDF2"/>
                </a:solidFill>
                <a:latin typeface="Courier New"/>
              </a:rPr>
              <a:t>(</a:t>
            </a:r>
            <a:r>
              <a:rPr sz="760" b="0" i="0">
                <a:solidFill>
                  <a:srgbClr val="E4EDF2"/>
                </a:solidFill>
                <a:latin typeface="Courier New"/>
              </a:rPr>
              <a:t>text</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D9A6CE"/>
                </a:solidFill>
                <a:latin typeface="Courier New"/>
              </a:rPr>
              <a:t>for</a:t>
            </a:r>
            <a:r>
              <a:rPr sz="760" b="0" i="0">
                <a:solidFill>
                  <a:srgbClr val="E4EDF2"/>
                </a:solidFill>
                <a:latin typeface="Courier New"/>
              </a:rPr>
              <a:t> </a:t>
            </a:r>
            <a:r>
              <a:rPr sz="760" b="0" i="0">
                <a:solidFill>
                  <a:srgbClr val="E4EDF2"/>
                </a:solidFill>
                <a:latin typeface="Courier New"/>
              </a:rPr>
              <a:t>piece</a:t>
            </a:r>
            <a:r>
              <a:rPr sz="760" b="0" i="0">
                <a:solidFill>
                  <a:srgbClr val="E4EDF2"/>
                </a:solidFill>
                <a:latin typeface="Courier New"/>
              </a:rPr>
              <a:t> </a:t>
            </a:r>
            <a:r>
              <a:rPr sz="760" b="0" i="0">
                <a:solidFill>
                  <a:srgbClr val="D9A6CE"/>
                </a:solidFill>
                <a:latin typeface="Courier New"/>
              </a:rPr>
              <a:t>in</a:t>
            </a:r>
            <a:r>
              <a:rPr sz="760" b="0" i="0">
                <a:solidFill>
                  <a:srgbClr val="E4EDF2"/>
                </a:solidFill>
                <a:latin typeface="Courier New"/>
              </a:rPr>
              <a:t> </a:t>
            </a:r>
            <a:r>
              <a:rPr sz="760" b="0" i="0">
                <a:solidFill>
                  <a:srgbClr val="E4EDF2"/>
                </a:solidFill>
                <a:latin typeface="Courier New"/>
              </a:rPr>
              <a:t>file_chunks</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chunks</a:t>
            </a:r>
            <a:r>
              <a:rPr sz="760" b="0" i="0">
                <a:solidFill>
                  <a:srgbClr val="E4EDF2"/>
                </a:solidFill>
                <a:latin typeface="Courier New"/>
              </a:rPr>
              <a:t>.</a:t>
            </a:r>
            <a:r>
              <a:rPr sz="760" b="0" i="0">
                <a:solidFill>
                  <a:srgbClr val="9FC4EE"/>
                </a:solidFill>
                <a:latin typeface="Courier New"/>
              </a:rPr>
              <a:t>append</a:t>
            </a:r>
            <a:r>
              <a:rPr sz="760" b="0" i="0">
                <a:solidFill>
                  <a:srgbClr val="E4EDF2"/>
                </a:solidFill>
                <a:latin typeface="Courier New"/>
              </a:rPr>
              <a:t>(</a:t>
            </a:r>
            <a:r>
              <a:rPr sz="760" b="0" i="0">
                <a:solidFill>
                  <a:srgbClr val="E4EDF2"/>
                </a:solidFill>
                <a:latin typeface="Courier New"/>
              </a:rPr>
              <a:t>piece</a:t>
            </a:r>
            <a:r>
              <a:rPr sz="760" b="0" i="0">
                <a:solidFill>
                  <a:srgbClr val="E4EDF2"/>
                </a:solidFill>
                <a:latin typeface="Courier New"/>
              </a:rPr>
              <a:t>)          </a:t>
            </a:r>
            <a:r>
              <a:rPr sz="760" b="0" i="0">
                <a:solidFill>
                  <a:srgbClr val="76909F"/>
                </a:solidFill>
                <a:latin typeface="Courier New"/>
              </a:rPr>
              <a:t># the chunk text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sources</a:t>
            </a:r>
            <a:r>
              <a:rPr sz="760" b="0" i="0">
                <a:solidFill>
                  <a:srgbClr val="E4EDF2"/>
                </a:solidFill>
                <a:latin typeface="Courier New"/>
              </a:rPr>
              <a:t>.</a:t>
            </a:r>
            <a:r>
              <a:rPr sz="760" b="0" i="0">
                <a:solidFill>
                  <a:srgbClr val="9FC4EE"/>
                </a:solidFill>
                <a:latin typeface="Courier New"/>
              </a:rPr>
              <a:t>append</a:t>
            </a:r>
            <a:r>
              <a:rPr sz="760" b="0" i="0">
                <a:solidFill>
                  <a:srgbClr val="E4EDF2"/>
                </a:solidFill>
                <a:latin typeface="Courier New"/>
              </a:rPr>
              <a:t>(</a:t>
            </a:r>
            <a:r>
              <a:rPr sz="760" b="0" i="0">
                <a:solidFill>
                  <a:srgbClr val="E4EDF2"/>
                </a:solidFill>
                <a:latin typeface="Courier New"/>
              </a:rPr>
              <a:t>filename</a:t>
            </a:r>
            <a:r>
              <a:rPr sz="760" b="0" i="0">
                <a:solidFill>
                  <a:srgbClr val="E4EDF2"/>
                </a:solidFill>
                <a:latin typeface="Courier New"/>
              </a:rPr>
              <a:t>)      </a:t>
            </a:r>
            <a:r>
              <a:rPr sz="760" b="0" i="0">
                <a:solidFill>
                  <a:srgbClr val="76909F"/>
                </a:solidFill>
                <a:latin typeface="Courier New"/>
              </a:rPr>
              <a:t># where it came from</a:t>
            </a:r>
          </a:p>
          <a:p>
            <a:pPr>
              <a:lnSpc>
                <a:spcPct val="112000"/>
              </a:lnSpc>
              <a:spcAft>
                <a:spcPts val="100"/>
              </a:spcAft>
            </a:pPr>
            <a:r>
              <a:rPr sz="760" b="0" i="0">
                <a:solidFill>
                  <a:srgbClr val="E4EDF2"/>
                </a:solidFill>
                <a:latin typeface="Courier New"/>
              </a:rPr>
              <a:t>    </a:t>
            </a:r>
            <a:r>
              <a:rPr sz="760" b="0" i="0">
                <a:solidFill>
                  <a:srgbClr val="9FC4EE"/>
                </a:solidFill>
                <a:latin typeface="Courier New"/>
              </a:rPr>
              <a:t>print</a:t>
            </a:r>
            <a:r>
              <a:rPr sz="760" b="0" i="0">
                <a:solidFill>
                  <a:srgbClr val="E4EDF2"/>
                </a:solidFill>
                <a:latin typeface="Courier New"/>
              </a:rPr>
              <a:t>(</a:t>
            </a:r>
            <a:r>
              <a:rPr sz="760" b="0" i="0">
                <a:solidFill>
                  <a:srgbClr val="E4EDF2"/>
                </a:solidFill>
                <a:latin typeface="Courier New"/>
              </a:rPr>
              <a:t>filename</a:t>
            </a:r>
            <a:r>
              <a:rPr sz="760" b="0" i="0">
                <a:solidFill>
                  <a:srgbClr val="E4EDF2"/>
                </a:solidFill>
                <a:latin typeface="Courier New"/>
              </a:rPr>
              <a:t>, </a:t>
            </a:r>
            <a:r>
              <a:rPr sz="760" b="0" i="0">
                <a:solidFill>
                  <a:srgbClr val="EBB183"/>
                </a:solidFill>
                <a:latin typeface="Courier New"/>
              </a:rPr>
              <a:t>"-&gt;"</a:t>
            </a:r>
            <a:r>
              <a:rPr sz="760" b="0" i="0">
                <a:solidFill>
                  <a:srgbClr val="E4EDF2"/>
                </a:solidFill>
                <a:latin typeface="Courier New"/>
              </a:rPr>
              <a:t>, </a:t>
            </a:r>
            <a:r>
              <a:rPr sz="760" b="0" i="0">
                <a:solidFill>
                  <a:srgbClr val="9FC4EE"/>
                </a:solidFill>
                <a:latin typeface="Courier New"/>
              </a:rPr>
              <a:t>len</a:t>
            </a:r>
            <a:r>
              <a:rPr sz="760" b="0" i="0">
                <a:solidFill>
                  <a:srgbClr val="E4EDF2"/>
                </a:solidFill>
                <a:latin typeface="Courier New"/>
              </a:rPr>
              <a:t>(</a:t>
            </a:r>
            <a:r>
              <a:rPr sz="760" b="0" i="0">
                <a:solidFill>
                  <a:srgbClr val="E4EDF2"/>
                </a:solidFill>
                <a:latin typeface="Courier New"/>
              </a:rPr>
              <a:t>file_chunks</a:t>
            </a:r>
            <a:r>
              <a:rPr sz="760" b="0" i="0">
                <a:solidFill>
                  <a:srgbClr val="E4EDF2"/>
                </a:solidFill>
                <a:latin typeface="Courier New"/>
              </a:rPr>
              <a:t>), </a:t>
            </a:r>
            <a:r>
              <a:rPr sz="760" b="0" i="0">
                <a:solidFill>
                  <a:srgbClr val="EBB183"/>
                </a:solidFill>
                <a:latin typeface="Courier New"/>
              </a:rPr>
              <a:t>"chunks"</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r>
          </a:p>
          <a:p>
            <a:pPr>
              <a:lnSpc>
                <a:spcPct val="112000"/>
              </a:lnSpc>
              <a:spcAft>
                <a:spcPts val="100"/>
              </a:spcAft>
            </a:pPr>
            <a:r>
              <a:rPr sz="760" b="0" i="0">
                <a:solidFill>
                  <a:srgbClr val="E4EDF2"/>
                </a:solidFill>
                <a:latin typeface="Courier New"/>
              </a:rPr>
              <a:t>client</a:t>
            </a:r>
            <a:r>
              <a:rPr sz="760" b="0" i="0">
                <a:solidFill>
                  <a:srgbClr val="E4EDF2"/>
                </a:solidFill>
                <a:latin typeface="Courier New"/>
              </a:rPr>
              <a:t> = </a:t>
            </a:r>
            <a:r>
              <a:rPr sz="760" b="0" i="0">
                <a:solidFill>
                  <a:srgbClr val="E4EDF2"/>
                </a:solidFill>
                <a:latin typeface="Courier New"/>
              </a:rPr>
              <a:t>chromadb</a:t>
            </a:r>
            <a:r>
              <a:rPr sz="760" b="0" i="0">
                <a:solidFill>
                  <a:srgbClr val="E4EDF2"/>
                </a:solidFill>
                <a:latin typeface="Courier New"/>
              </a:rPr>
              <a:t>.</a:t>
            </a:r>
            <a:r>
              <a:rPr sz="760" b="0" i="0">
                <a:solidFill>
                  <a:srgbClr val="9FC4EE"/>
                </a:solidFill>
                <a:latin typeface="Courier New"/>
              </a:rPr>
              <a:t>EphemeralClient</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collection</a:t>
            </a:r>
            <a:r>
              <a:rPr sz="760" b="0" i="0">
                <a:solidFill>
                  <a:srgbClr val="E4EDF2"/>
                </a:solidFill>
                <a:latin typeface="Courier New"/>
              </a:rPr>
              <a:t> = </a:t>
            </a:r>
            <a:r>
              <a:rPr sz="760" b="0" i="0">
                <a:solidFill>
                  <a:srgbClr val="E4EDF2"/>
                </a:solidFill>
                <a:latin typeface="Courier New"/>
              </a:rPr>
              <a:t>client</a:t>
            </a:r>
            <a:r>
              <a:rPr sz="760" b="0" i="0">
                <a:solidFill>
                  <a:srgbClr val="E4EDF2"/>
                </a:solidFill>
                <a:latin typeface="Courier New"/>
              </a:rPr>
              <a:t>.</a:t>
            </a:r>
            <a:r>
              <a:rPr sz="760" b="0" i="0">
                <a:solidFill>
                  <a:srgbClr val="9FC4EE"/>
                </a:solidFill>
                <a:latin typeface="Courier New"/>
              </a:rPr>
              <a:t>get_or_create_collection</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BB183"/>
                </a:solidFill>
                <a:latin typeface="Courier New"/>
              </a:rPr>
              <a:t>"security_kb"</a:t>
            </a:r>
            <a:r>
              <a:rPr sz="760" b="0" i="0">
                <a:solidFill>
                  <a:srgbClr val="E4EDF2"/>
                </a:solidFill>
                <a:latin typeface="Courier New"/>
              </a:rPr>
              <a:t>, </a:t>
            </a:r>
            <a:r>
              <a:rPr sz="760" b="0" i="0">
                <a:solidFill>
                  <a:srgbClr val="E4EDF2"/>
                </a:solidFill>
                <a:latin typeface="Courier New"/>
              </a:rPr>
              <a:t>metadata</a:t>
            </a:r>
            <a:r>
              <a:rPr sz="760" b="0" i="0">
                <a:solidFill>
                  <a:srgbClr val="E4EDF2"/>
                </a:solidFill>
                <a:latin typeface="Courier New"/>
              </a:rPr>
              <a:t>={</a:t>
            </a:r>
            <a:r>
              <a:rPr sz="760" b="0" i="0">
                <a:solidFill>
                  <a:srgbClr val="EBB183"/>
                </a:solidFill>
                <a:latin typeface="Courier New"/>
              </a:rPr>
              <a:t>"hnsw:space"</a:t>
            </a:r>
            <a:r>
              <a:rPr sz="760" b="0" i="0">
                <a:solidFill>
                  <a:srgbClr val="E4EDF2"/>
                </a:solidFill>
                <a:latin typeface="Courier New"/>
              </a:rPr>
              <a:t>: </a:t>
            </a:r>
            <a:r>
              <a:rPr sz="760" b="0" i="0">
                <a:solidFill>
                  <a:srgbClr val="EBB183"/>
                </a:solidFill>
                <a:latin typeface="Courier New"/>
              </a:rPr>
              <a:t>"cosine"</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r>
          </a:p>
          <a:p>
            <a:pPr>
              <a:lnSpc>
                <a:spcPct val="112000"/>
              </a:lnSpc>
              <a:spcAft>
                <a:spcPts val="100"/>
              </a:spcAft>
            </a:pPr>
            <a:r>
              <a:rPr sz="760" b="0" i="0">
                <a:solidFill>
                  <a:srgbClr val="E4EDF2"/>
                </a:solidFill>
                <a:latin typeface="Courier New"/>
              </a:rPr>
              <a:t>ids</a:t>
            </a:r>
            <a:r>
              <a:rPr sz="760" b="0" i="0">
                <a:solidFill>
                  <a:srgbClr val="E4EDF2"/>
                </a:solidFill>
                <a:latin typeface="Courier New"/>
              </a:rPr>
              <a:t>    = [</a:t>
            </a:r>
            <a:r>
              <a:rPr sz="760" b="0" i="0">
                <a:solidFill>
                  <a:srgbClr val="EBB183"/>
                </a:solidFill>
                <a:latin typeface="Courier New"/>
              </a:rPr>
              <a:t>"c"</a:t>
            </a:r>
            <a:r>
              <a:rPr sz="760" b="0" i="0">
                <a:solidFill>
                  <a:srgbClr val="E4EDF2"/>
                </a:solidFill>
                <a:latin typeface="Courier New"/>
              </a:rPr>
              <a:t> + </a:t>
            </a:r>
            <a:r>
              <a:rPr sz="760" b="0" i="0">
                <a:solidFill>
                  <a:srgbClr val="9FC4EE"/>
                </a:solidFill>
                <a:latin typeface="Courier New"/>
              </a:rPr>
              <a:t>str</a:t>
            </a:r>
            <a:r>
              <a:rPr sz="760" b="0" i="0">
                <a:solidFill>
                  <a:srgbClr val="E4EDF2"/>
                </a:solidFill>
                <a:latin typeface="Courier New"/>
              </a:rPr>
              <a:t>(</a:t>
            </a:r>
            <a:r>
              <a:rPr sz="760" b="0" i="0">
                <a:solidFill>
                  <a:srgbClr val="E4EDF2"/>
                </a:solidFill>
                <a:latin typeface="Courier New"/>
              </a:rPr>
              <a:t>i</a:t>
            </a:r>
            <a:r>
              <a:rPr sz="760" b="0" i="0">
                <a:solidFill>
                  <a:srgbClr val="E4EDF2"/>
                </a:solidFill>
                <a:latin typeface="Courier New"/>
              </a:rPr>
              <a:t>) </a:t>
            </a:r>
            <a:r>
              <a:rPr sz="760" b="0" i="0">
                <a:solidFill>
                  <a:srgbClr val="D9A6CE"/>
                </a:solidFill>
                <a:latin typeface="Courier New"/>
              </a:rPr>
              <a:t>for</a:t>
            </a:r>
            <a:r>
              <a:rPr sz="760" b="0" i="0">
                <a:solidFill>
                  <a:srgbClr val="E4EDF2"/>
                </a:solidFill>
                <a:latin typeface="Courier New"/>
              </a:rPr>
              <a:t> </a:t>
            </a:r>
            <a:r>
              <a:rPr sz="760" b="0" i="0">
                <a:solidFill>
                  <a:srgbClr val="E4EDF2"/>
                </a:solidFill>
                <a:latin typeface="Courier New"/>
              </a:rPr>
              <a:t>i</a:t>
            </a:r>
            <a:r>
              <a:rPr sz="760" b="0" i="0">
                <a:solidFill>
                  <a:srgbClr val="E4EDF2"/>
                </a:solidFill>
                <a:latin typeface="Courier New"/>
              </a:rPr>
              <a:t> </a:t>
            </a:r>
            <a:r>
              <a:rPr sz="760" b="0" i="0">
                <a:solidFill>
                  <a:srgbClr val="D9A6CE"/>
                </a:solidFill>
                <a:latin typeface="Courier New"/>
              </a:rPr>
              <a:t>in</a:t>
            </a:r>
            <a:r>
              <a:rPr sz="760" b="0" i="0">
                <a:solidFill>
                  <a:srgbClr val="E4EDF2"/>
                </a:solidFill>
                <a:latin typeface="Courier New"/>
              </a:rPr>
              <a:t> </a:t>
            </a:r>
            <a:r>
              <a:rPr sz="760" b="0" i="0">
                <a:solidFill>
                  <a:srgbClr val="9FC4EE"/>
                </a:solidFill>
                <a:latin typeface="Courier New"/>
              </a:rPr>
              <a:t>range</a:t>
            </a:r>
            <a:r>
              <a:rPr sz="760" b="0" i="0">
                <a:solidFill>
                  <a:srgbClr val="E4EDF2"/>
                </a:solidFill>
                <a:latin typeface="Courier New"/>
              </a:rPr>
              <a:t>(</a:t>
            </a:r>
            <a:r>
              <a:rPr sz="760" b="0" i="0">
                <a:solidFill>
                  <a:srgbClr val="9FC4EE"/>
                </a:solidFill>
                <a:latin typeface="Courier New"/>
              </a:rPr>
              <a:t>len</a:t>
            </a:r>
            <a:r>
              <a:rPr sz="760" b="0" i="0">
                <a:solidFill>
                  <a:srgbClr val="E4EDF2"/>
                </a:solidFill>
                <a:latin typeface="Courier New"/>
              </a:rPr>
              <a:t>(</a:t>
            </a:r>
            <a:r>
              <a:rPr sz="760" b="0" i="0">
                <a:solidFill>
                  <a:srgbClr val="E4EDF2"/>
                </a:solidFill>
                <a:latin typeface="Courier New"/>
              </a:rPr>
              <a:t>chunks</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labels</a:t>
            </a:r>
            <a:r>
              <a:rPr sz="760" b="0" i="0">
                <a:solidFill>
                  <a:srgbClr val="E4EDF2"/>
                </a:solidFill>
                <a:latin typeface="Courier New"/>
              </a:rPr>
              <a:t> = [{</a:t>
            </a:r>
            <a:r>
              <a:rPr sz="760" b="0" i="0">
                <a:solidFill>
                  <a:srgbClr val="EBB183"/>
                </a:solidFill>
                <a:latin typeface="Courier New"/>
              </a:rPr>
              <a:t>"source"</a:t>
            </a:r>
            <a:r>
              <a:rPr sz="760" b="0" i="0">
                <a:solidFill>
                  <a:srgbClr val="E4EDF2"/>
                </a:solidFill>
                <a:latin typeface="Courier New"/>
              </a:rPr>
              <a:t>: </a:t>
            </a:r>
            <a:r>
              <a:rPr sz="760" b="0" i="0">
                <a:solidFill>
                  <a:srgbClr val="E4EDF2"/>
                </a:solidFill>
                <a:latin typeface="Courier New"/>
              </a:rPr>
              <a:t>sources</a:t>
            </a:r>
            <a:r>
              <a:rPr sz="760" b="0" i="0">
                <a:solidFill>
                  <a:srgbClr val="E4EDF2"/>
                </a:solidFill>
                <a:latin typeface="Courier New"/>
              </a:rPr>
              <a:t>[</a:t>
            </a:r>
            <a:r>
              <a:rPr sz="760" b="0" i="0">
                <a:solidFill>
                  <a:srgbClr val="E4EDF2"/>
                </a:solidFill>
                <a:latin typeface="Courier New"/>
              </a:rPr>
              <a:t>i</a:t>
            </a:r>
            <a:r>
              <a:rPr sz="760" b="0" i="0">
                <a:solidFill>
                  <a:srgbClr val="E4EDF2"/>
                </a:solidFill>
                <a:latin typeface="Courier New"/>
              </a:rPr>
              <a:t>]} </a:t>
            </a:r>
            <a:r>
              <a:rPr sz="760" b="0" i="0">
                <a:solidFill>
                  <a:srgbClr val="D9A6CE"/>
                </a:solidFill>
                <a:latin typeface="Courier New"/>
              </a:rPr>
              <a:t>for</a:t>
            </a:r>
            <a:r>
              <a:rPr sz="760" b="0" i="0">
                <a:solidFill>
                  <a:srgbClr val="E4EDF2"/>
                </a:solidFill>
                <a:latin typeface="Courier New"/>
              </a:rPr>
              <a:t> </a:t>
            </a:r>
            <a:r>
              <a:rPr sz="760" b="0" i="0">
                <a:solidFill>
                  <a:srgbClr val="E4EDF2"/>
                </a:solidFill>
                <a:latin typeface="Courier New"/>
              </a:rPr>
              <a:t>i</a:t>
            </a:r>
            <a:r>
              <a:rPr sz="760" b="0" i="0">
                <a:solidFill>
                  <a:srgbClr val="E4EDF2"/>
                </a:solidFill>
                <a:latin typeface="Courier New"/>
              </a:rPr>
              <a:t> </a:t>
            </a:r>
            <a:r>
              <a:rPr sz="760" b="0" i="0">
                <a:solidFill>
                  <a:srgbClr val="D9A6CE"/>
                </a:solidFill>
                <a:latin typeface="Courier New"/>
              </a:rPr>
              <a:t>in</a:t>
            </a:r>
            <a:r>
              <a:rPr sz="760" b="0" i="0">
                <a:solidFill>
                  <a:srgbClr val="E4EDF2"/>
                </a:solidFill>
                <a:latin typeface="Courier New"/>
              </a:rPr>
              <a:t> </a:t>
            </a:r>
            <a:r>
              <a:rPr sz="760" b="0" i="0">
                <a:solidFill>
                  <a:srgbClr val="9FC4EE"/>
                </a:solidFill>
                <a:latin typeface="Courier New"/>
              </a:rPr>
              <a:t>range</a:t>
            </a:r>
            <a:r>
              <a:rPr sz="760" b="0" i="0">
                <a:solidFill>
                  <a:srgbClr val="E4EDF2"/>
                </a:solidFill>
                <a:latin typeface="Courier New"/>
              </a:rPr>
              <a:t>(</a:t>
            </a:r>
            <a:r>
              <a:rPr sz="760" b="0" i="0">
                <a:solidFill>
                  <a:srgbClr val="9FC4EE"/>
                </a:solidFill>
                <a:latin typeface="Courier New"/>
              </a:rPr>
              <a:t>len</a:t>
            </a:r>
            <a:r>
              <a:rPr sz="760" b="0" i="0">
                <a:solidFill>
                  <a:srgbClr val="E4EDF2"/>
                </a:solidFill>
                <a:latin typeface="Courier New"/>
              </a:rPr>
              <a:t>(</a:t>
            </a:r>
            <a:r>
              <a:rPr sz="760" b="0" i="0">
                <a:solidFill>
                  <a:srgbClr val="E4EDF2"/>
                </a:solidFill>
                <a:latin typeface="Courier New"/>
              </a:rPr>
              <a:t>chunks</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r>
          </a:p>
          <a:p>
            <a:pPr>
              <a:lnSpc>
                <a:spcPct val="112000"/>
              </a:lnSpc>
              <a:spcAft>
                <a:spcPts val="100"/>
              </a:spcAft>
            </a:pPr>
            <a:r>
              <a:rPr sz="760" b="0" i="0">
                <a:solidFill>
                  <a:srgbClr val="E4EDF2"/>
                </a:solidFill>
                <a:latin typeface="Courier New"/>
              </a:rPr>
              <a:t>collection</a:t>
            </a:r>
            <a:r>
              <a:rPr sz="760" b="0" i="0">
                <a:solidFill>
                  <a:srgbClr val="E4EDF2"/>
                </a:solidFill>
                <a:latin typeface="Courier New"/>
              </a:rPr>
              <a:t>.</a:t>
            </a:r>
            <a:r>
              <a:rPr sz="760" b="0" i="0">
                <a:solidFill>
                  <a:srgbClr val="9FC4EE"/>
                </a:solidFill>
                <a:latin typeface="Courier New"/>
              </a:rPr>
              <a:t>add</a:t>
            </a:r>
            <a:r>
              <a:rPr sz="760" b="0" i="0">
                <a:solidFill>
                  <a:srgbClr val="E4EDF2"/>
                </a:solidFill>
                <a:latin typeface="Courier New"/>
              </a:rPr>
              <a:t>(</a:t>
            </a:r>
            <a:r>
              <a:rPr sz="760" b="0" i="0">
                <a:solidFill>
                  <a:srgbClr val="E4EDF2"/>
                </a:solidFill>
                <a:latin typeface="Courier New"/>
              </a:rPr>
              <a:t>ids</a:t>
            </a:r>
            <a:r>
              <a:rPr sz="760" b="0" i="0">
                <a:solidFill>
                  <a:srgbClr val="E4EDF2"/>
                </a:solidFill>
                <a:latin typeface="Courier New"/>
              </a:rPr>
              <a:t>=</a:t>
            </a:r>
            <a:r>
              <a:rPr sz="760" b="0" i="0">
                <a:solidFill>
                  <a:srgbClr val="E4EDF2"/>
                </a:solidFill>
                <a:latin typeface="Courier New"/>
              </a:rPr>
              <a:t>ids</a:t>
            </a:r>
            <a:r>
              <a:rPr sz="760" b="0" i="0">
                <a:solidFill>
                  <a:srgbClr val="E4EDF2"/>
                </a:solidFill>
                <a:latin typeface="Courier New"/>
              </a:rPr>
              <a:t>, </a:t>
            </a:r>
            <a:r>
              <a:rPr sz="760" b="0" i="0">
                <a:solidFill>
                  <a:srgbClr val="E4EDF2"/>
                </a:solidFill>
                <a:latin typeface="Courier New"/>
              </a:rPr>
              <a:t>documents</a:t>
            </a:r>
            <a:r>
              <a:rPr sz="760" b="0" i="0">
                <a:solidFill>
                  <a:srgbClr val="E4EDF2"/>
                </a:solidFill>
                <a:latin typeface="Courier New"/>
              </a:rPr>
              <a:t>=</a:t>
            </a:r>
            <a:r>
              <a:rPr sz="760" b="0" i="0">
                <a:solidFill>
                  <a:srgbClr val="E4EDF2"/>
                </a:solidFill>
                <a:latin typeface="Courier New"/>
              </a:rPr>
              <a:t>chunks</a:t>
            </a:r>
            <a:r>
              <a:rPr sz="760" b="0" i="0">
                <a:solidFill>
                  <a:srgbClr val="E4EDF2"/>
                </a:solidFill>
                <a:latin typeface="Courier New"/>
              </a:rPr>
              <a:t>,</a:t>
            </a:r>
          </a:p>
          <a:p>
            <a:pPr>
              <a:lnSpc>
                <a:spcPct val="112000"/>
              </a:lnSpc>
              <a:spcAft>
                <a:spcPts val="100"/>
              </a:spcAft>
            </a:pPr>
            <a:r>
              <a:rPr sz="760" b="0" i="0">
                <a:solidFill>
                  <a:srgbClr val="E4EDF2"/>
                </a:solidFill>
                <a:latin typeface="Courier New"/>
              </a:rPr>
              <a:t>               </a:t>
            </a:r>
            <a:r>
              <a:rPr sz="760" b="0" i="0">
                <a:solidFill>
                  <a:srgbClr val="E4EDF2"/>
                </a:solidFill>
                <a:latin typeface="Courier New"/>
              </a:rPr>
              <a:t>embeddings</a:t>
            </a:r>
            <a:r>
              <a:rPr sz="760" b="0" i="0">
                <a:solidFill>
                  <a:srgbClr val="E4EDF2"/>
                </a:solidFill>
                <a:latin typeface="Courier New"/>
              </a:rPr>
              <a:t>=</a:t>
            </a:r>
            <a:r>
              <a:rPr sz="760" b="0" i="0">
                <a:solidFill>
                  <a:srgbClr val="9FC4EE"/>
                </a:solidFill>
                <a:latin typeface="Courier New"/>
              </a:rPr>
              <a:t>embed</a:t>
            </a:r>
            <a:r>
              <a:rPr sz="760" b="0" i="0">
                <a:solidFill>
                  <a:srgbClr val="E4EDF2"/>
                </a:solidFill>
                <a:latin typeface="Courier New"/>
              </a:rPr>
              <a:t>(</a:t>
            </a:r>
            <a:r>
              <a:rPr sz="760" b="0" i="0">
                <a:solidFill>
                  <a:srgbClr val="E4EDF2"/>
                </a:solidFill>
                <a:latin typeface="Courier New"/>
              </a:rPr>
              <a:t>chunks</a:t>
            </a:r>
            <a:r>
              <a:rPr sz="760" b="0" i="0">
                <a:solidFill>
                  <a:srgbClr val="E4EDF2"/>
                </a:solidFill>
                <a:latin typeface="Courier New"/>
              </a:rPr>
              <a:t>), </a:t>
            </a:r>
            <a:r>
              <a:rPr sz="760" b="0" i="0">
                <a:solidFill>
                  <a:srgbClr val="E4EDF2"/>
                </a:solidFill>
                <a:latin typeface="Courier New"/>
              </a:rPr>
              <a:t>metadatas</a:t>
            </a:r>
            <a:r>
              <a:rPr sz="760" b="0" i="0">
                <a:solidFill>
                  <a:srgbClr val="E4EDF2"/>
                </a:solidFill>
                <a:latin typeface="Courier New"/>
              </a:rPr>
              <a:t>=</a:t>
            </a:r>
            <a:r>
              <a:rPr sz="760" b="0" i="0">
                <a:solidFill>
                  <a:srgbClr val="E4EDF2"/>
                </a:solidFill>
                <a:latin typeface="Courier New"/>
              </a:rPr>
              <a:t>labels</a:t>
            </a:r>
            <a:r>
              <a:rPr sz="760" b="0" i="0">
                <a:solidFill>
                  <a:srgbClr val="E4EDF2"/>
                </a:solidFill>
                <a:latin typeface="Courier New"/>
              </a:rPr>
              <a:t>)</a:t>
            </a:r>
          </a:p>
        </p:txBody>
      </p:sp>
      <p:sp>
        <p:nvSpPr>
          <p:cNvPr id="10" name="Rounded Rectangle 9"/>
          <p:cNvSpPr/>
          <p:nvPr/>
        </p:nvSpPr>
        <p:spPr>
          <a:xfrm>
            <a:off x="8183879" y="1719072"/>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348471" y="1874519"/>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a:t>
            </a:r>
          </a:p>
        </p:txBody>
      </p:sp>
      <p:sp>
        <p:nvSpPr>
          <p:cNvPr id="12" name="TextBox 11"/>
          <p:cNvSpPr txBox="1"/>
          <p:nvPr/>
        </p:nvSpPr>
        <p:spPr>
          <a:xfrm>
            <a:off x="8695944" y="1865376"/>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strip() and the empty check</a:t>
            </a:r>
          </a:p>
        </p:txBody>
      </p:sp>
      <p:sp>
        <p:nvSpPr>
          <p:cNvPr id="13" name="TextBox 12"/>
          <p:cNvSpPr txBox="1"/>
          <p:nvPr/>
        </p:nvSpPr>
        <p:spPr>
          <a:xfrm>
            <a:off x="8348471" y="2194560"/>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Without them the tail of a file produces whitespace-only chunks that match nothing and waste a retrieval slot.</a:t>
            </a:r>
          </a:p>
        </p:txBody>
      </p:sp>
      <p:sp>
        <p:nvSpPr>
          <p:cNvPr id="14" name="Rounded Rectangle 13"/>
          <p:cNvSpPr/>
          <p:nvPr/>
        </p:nvSpPr>
        <p:spPr>
          <a:xfrm>
            <a:off x="8183879" y="2866644"/>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48471" y="3022091"/>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a:t>
            </a:r>
          </a:p>
        </p:txBody>
      </p:sp>
      <p:sp>
        <p:nvSpPr>
          <p:cNvPr id="16" name="TextBox 15"/>
          <p:cNvSpPr txBox="1"/>
          <p:nvPr/>
        </p:nvSpPr>
        <p:spPr>
          <a:xfrm>
            <a:off x="8695944" y="3012948"/>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Two lists, built in lockstep</a:t>
            </a:r>
          </a:p>
        </p:txBody>
      </p:sp>
      <p:sp>
        <p:nvSpPr>
          <p:cNvPr id="17" name="TextBox 16"/>
          <p:cNvSpPr txBox="1"/>
          <p:nvPr/>
        </p:nvSpPr>
        <p:spPr>
          <a:xfrm>
            <a:off x="8348471" y="3342132"/>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chunks and sources stay index-aligned by construction. That alignment is what makes citation possible later.</a:t>
            </a:r>
          </a:p>
        </p:txBody>
      </p:sp>
      <p:sp>
        <p:nvSpPr>
          <p:cNvPr id="18" name="Rounded Rectangle 17"/>
          <p:cNvSpPr/>
          <p:nvPr/>
        </p:nvSpPr>
        <p:spPr>
          <a:xfrm>
            <a:off x="8183879" y="4014216"/>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48471" y="4169664"/>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3</a:t>
            </a:r>
          </a:p>
        </p:txBody>
      </p:sp>
      <p:sp>
        <p:nvSpPr>
          <p:cNvPr id="20" name="TextBox 19"/>
          <p:cNvSpPr txBox="1"/>
          <p:nvPr/>
        </p:nvSpPr>
        <p:spPr>
          <a:xfrm>
            <a:off x="8695944" y="4160520"/>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The metric, set explicitly</a:t>
            </a:r>
          </a:p>
        </p:txBody>
      </p:sp>
      <p:sp>
        <p:nvSpPr>
          <p:cNvPr id="21" name="TextBox 20"/>
          <p:cNvSpPr txBox="1"/>
          <p:nvPr/>
        </p:nvSpPr>
        <p:spPr>
          <a:xfrm>
            <a:off x="8348471" y="4489704"/>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hnsw:space cosine. Omit it and Chroma uses L2 — every threshold you tuned is then on the wrong scale.</a:t>
            </a:r>
          </a:p>
        </p:txBody>
      </p:sp>
      <p:sp>
        <p:nvSpPr>
          <p:cNvPr id="22" name="Rounded Rectangle 21"/>
          <p:cNvSpPr/>
          <p:nvPr/>
        </p:nvSpPr>
        <p:spPr>
          <a:xfrm>
            <a:off x="8183879" y="5161788"/>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348471" y="5317236"/>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a:t>
            </a:r>
          </a:p>
        </p:txBody>
      </p:sp>
      <p:sp>
        <p:nvSpPr>
          <p:cNvPr id="24" name="TextBox 23"/>
          <p:cNvSpPr txBox="1"/>
          <p:nvPr/>
        </p:nvSpPr>
        <p:spPr>
          <a:xfrm>
            <a:off x="8695944" y="5308092"/>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embed(chunks) is the expensive line</a:t>
            </a:r>
          </a:p>
        </p:txBody>
      </p:sp>
      <p:sp>
        <p:nvSpPr>
          <p:cNvPr id="25" name="TextBox 24"/>
          <p:cNvSpPr txBox="1"/>
          <p:nvPr/>
        </p:nvSpPr>
        <p:spPr>
          <a:xfrm>
            <a:off x="8348471" y="5637276"/>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Every chunk goes through the model. Seconds here, hours on a real corpus — which is why ingestion is a script, not a per-question step.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5 · BUILD IT</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query half, line by line</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Steps 3 and 4 of lecture3_rag_pipeline.ipynb. This is the function you call on every question — and where grounding is enforced.</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33</a:t>
            </a:r>
          </a:p>
        </p:txBody>
      </p:sp>
      <p:sp>
        <p:nvSpPr>
          <p:cNvPr id="7" name="Rounded Rectangle 6"/>
          <p:cNvSpPr/>
          <p:nvPr/>
        </p:nvSpPr>
        <p:spPr>
          <a:xfrm>
            <a:off x="640080" y="1719072"/>
            <a:ext cx="7223760" cy="449884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837943"/>
            <a:ext cx="67482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lecture3_rag_pipeline.ipynb · STEPS 3–4 — QUERY, RUN EVERY TIME</a:t>
            </a:r>
          </a:p>
        </p:txBody>
      </p:sp>
      <p:sp>
        <p:nvSpPr>
          <p:cNvPr id="9" name="TextBox 8"/>
          <p:cNvSpPr txBox="1"/>
          <p:nvPr/>
        </p:nvSpPr>
        <p:spPr>
          <a:xfrm>
            <a:off x="877824" y="2112263"/>
            <a:ext cx="6748272" cy="3995928"/>
          </a:xfrm>
          <a:prstGeom prst="rect">
            <a:avLst/>
          </a:prstGeom>
          <a:noFill/>
        </p:spPr>
        <p:txBody>
          <a:bodyPr wrap="square" lIns="0" rIns="0" tIns="0" bIns="0">
            <a:spAutoFit/>
          </a:bodyPr>
          <a:lstStyle/>
          <a:p>
            <a:pPr>
              <a:lnSpc>
                <a:spcPct val="112000"/>
              </a:lnSpc>
              <a:spcAft>
                <a:spcPts val="100"/>
              </a:spcAft>
            </a:pPr>
            <a:r>
              <a:rPr sz="790" b="0" i="0">
                <a:solidFill>
                  <a:srgbClr val="D9A6CE"/>
                </a:solidFill>
                <a:latin typeface="Courier New"/>
              </a:rPr>
              <a:t>def</a:t>
            </a:r>
            <a:r>
              <a:rPr sz="790" b="0" i="0">
                <a:solidFill>
                  <a:srgbClr val="E4EDF2"/>
                </a:solidFill>
                <a:latin typeface="Courier New"/>
              </a:rPr>
              <a:t> </a:t>
            </a:r>
            <a:r>
              <a:rPr sz="790" b="0" i="0">
                <a:solidFill>
                  <a:srgbClr val="9FC4EE"/>
                </a:solidFill>
                <a:latin typeface="Courier New"/>
              </a:rPr>
              <a:t>retrieve</a:t>
            </a:r>
            <a:r>
              <a:rPr sz="790" b="0" i="0">
                <a:solidFill>
                  <a:srgbClr val="E4EDF2"/>
                </a:solidFill>
                <a:latin typeface="Courier New"/>
              </a:rPr>
              <a:t>(</a:t>
            </a:r>
            <a:r>
              <a:rPr sz="790" b="0" i="0">
                <a:solidFill>
                  <a:srgbClr val="E4EDF2"/>
                </a:solidFill>
                <a:latin typeface="Courier New"/>
              </a:rPr>
              <a:t>query</a:t>
            </a:r>
            <a:r>
              <a:rPr sz="790" b="0" i="0">
                <a:solidFill>
                  <a:srgbClr val="E4EDF2"/>
                </a:solidFill>
                <a:latin typeface="Courier New"/>
              </a:rPr>
              <a:t>, </a:t>
            </a:r>
            <a:r>
              <a:rPr sz="790" b="0" i="0">
                <a:solidFill>
                  <a:srgbClr val="E4EDF2"/>
                </a:solidFill>
                <a:latin typeface="Courier New"/>
              </a:rPr>
              <a:t>how_many</a:t>
            </a:r>
            <a:r>
              <a:rPr sz="790" b="0" i="0">
                <a:solidFill>
                  <a:srgbClr val="E4EDF2"/>
                </a:solidFill>
                <a:latin typeface="Courier New"/>
              </a:rPr>
              <a:t>=</a:t>
            </a:r>
            <a:r>
              <a:rPr sz="790" b="0" i="0">
                <a:solidFill>
                  <a:srgbClr val="9FC4EE"/>
                </a:solidFill>
                <a:latin typeface="Courier New"/>
              </a:rPr>
              <a:t>4</a:t>
            </a:r>
            <a:r>
              <a:rPr sz="790" b="0" i="0">
                <a:solidFill>
                  <a:srgbClr val="E4EDF2"/>
                </a:solidFill>
                <a:latin typeface="Courier New"/>
              </a:rPr>
              <a:t>, </a:t>
            </a:r>
            <a:r>
              <a:rPr sz="790" b="0" i="0">
                <a:solidFill>
                  <a:srgbClr val="E4EDF2"/>
                </a:solidFill>
                <a:latin typeface="Courier New"/>
              </a:rPr>
              <a:t>max_distance</a:t>
            </a:r>
            <a:r>
              <a:rPr sz="790" b="0" i="0">
                <a:solidFill>
                  <a:srgbClr val="E4EDF2"/>
                </a:solidFill>
                <a:latin typeface="Courier New"/>
              </a:rPr>
              <a:t>=</a:t>
            </a:r>
            <a:r>
              <a:rPr sz="790" b="0" i="0">
                <a:solidFill>
                  <a:srgbClr val="9FC4EE"/>
                </a:solidFill>
                <a:latin typeface="Courier New"/>
              </a:rPr>
              <a:t>0.75</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results</a:t>
            </a:r>
            <a:r>
              <a:rPr sz="790" b="0" i="0">
                <a:solidFill>
                  <a:srgbClr val="E4EDF2"/>
                </a:solidFill>
                <a:latin typeface="Courier New"/>
              </a:rPr>
              <a:t> = </a:t>
            </a:r>
            <a:r>
              <a:rPr sz="790" b="0" i="0">
                <a:solidFill>
                  <a:srgbClr val="E4EDF2"/>
                </a:solidFill>
                <a:latin typeface="Courier New"/>
              </a:rPr>
              <a:t>collection</a:t>
            </a:r>
            <a:r>
              <a:rPr sz="790" b="0" i="0">
                <a:solidFill>
                  <a:srgbClr val="E4EDF2"/>
                </a:solidFill>
                <a:latin typeface="Courier New"/>
              </a:rPr>
              <a:t>.</a:t>
            </a:r>
            <a:r>
              <a:rPr sz="790" b="0" i="0">
                <a:solidFill>
                  <a:srgbClr val="9FC4EE"/>
                </a:solidFill>
                <a:latin typeface="Courier New"/>
              </a:rPr>
              <a:t>query</a:t>
            </a:r>
            <a:r>
              <a:rPr sz="790" b="0" i="0">
                <a:solidFill>
                  <a:srgbClr val="E4EDF2"/>
                </a:solidFill>
                <a:latin typeface="Courier New"/>
              </a:rPr>
              <a:t>(</a:t>
            </a:r>
            <a:r>
              <a:rPr sz="790" b="0" i="0">
                <a:solidFill>
                  <a:srgbClr val="E4EDF2"/>
                </a:solidFill>
                <a:latin typeface="Courier New"/>
              </a:rPr>
              <a:t>query_embeddings</a:t>
            </a:r>
            <a:r>
              <a:rPr sz="790" b="0" i="0">
                <a:solidFill>
                  <a:srgbClr val="E4EDF2"/>
                </a:solidFill>
                <a:latin typeface="Courier New"/>
              </a:rPr>
              <a:t>=</a:t>
            </a:r>
            <a:r>
              <a:rPr sz="790" b="0" i="0">
                <a:solidFill>
                  <a:srgbClr val="9FC4EE"/>
                </a:solidFill>
                <a:latin typeface="Courier New"/>
              </a:rPr>
              <a:t>embed</a:t>
            </a:r>
            <a:r>
              <a:rPr sz="790" b="0" i="0">
                <a:solidFill>
                  <a:srgbClr val="E4EDF2"/>
                </a:solidFill>
                <a:latin typeface="Courier New"/>
              </a:rPr>
              <a:t>([</a:t>
            </a:r>
            <a:r>
              <a:rPr sz="790" b="0" i="0">
                <a:solidFill>
                  <a:srgbClr val="E4EDF2"/>
                </a:solidFill>
                <a:latin typeface="Courier New"/>
              </a:rPr>
              <a:t>query</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n_results</a:t>
            </a:r>
            <a:r>
              <a:rPr sz="790" b="0" i="0">
                <a:solidFill>
                  <a:srgbClr val="E4EDF2"/>
                </a:solidFill>
                <a:latin typeface="Courier New"/>
              </a:rPr>
              <a:t>=</a:t>
            </a:r>
            <a:r>
              <a:rPr sz="790" b="0" i="0">
                <a:solidFill>
                  <a:srgbClr val="E4EDF2"/>
                </a:solidFill>
                <a:latin typeface="Courier New"/>
              </a:rPr>
              <a:t>how_many</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found_docs</a:t>
            </a:r>
            <a:r>
              <a:rPr sz="790" b="0" i="0">
                <a:solidFill>
                  <a:srgbClr val="E4EDF2"/>
                </a:solidFill>
                <a:latin typeface="Courier New"/>
              </a:rPr>
              <a:t>  = </a:t>
            </a:r>
            <a:r>
              <a:rPr sz="790" b="0" i="0">
                <a:solidFill>
                  <a:srgbClr val="E4EDF2"/>
                </a:solidFill>
                <a:latin typeface="Courier New"/>
              </a:rPr>
              <a:t>results</a:t>
            </a:r>
            <a:r>
              <a:rPr sz="790" b="0" i="0">
                <a:solidFill>
                  <a:srgbClr val="E4EDF2"/>
                </a:solidFill>
                <a:latin typeface="Courier New"/>
              </a:rPr>
              <a:t>[</a:t>
            </a:r>
            <a:r>
              <a:rPr sz="790" b="0" i="0">
                <a:solidFill>
                  <a:srgbClr val="EBB183"/>
                </a:solidFill>
                <a:latin typeface="Courier New"/>
              </a:rPr>
              <a:t>"documents"</a:t>
            </a:r>
            <a:r>
              <a:rPr sz="790" b="0" i="0">
                <a:solidFill>
                  <a:srgbClr val="E4EDF2"/>
                </a:solidFill>
                <a:latin typeface="Courier New"/>
              </a:rPr>
              <a:t>][</a:t>
            </a:r>
            <a:r>
              <a:rPr sz="790" b="0" i="0">
                <a:solidFill>
                  <a:srgbClr val="9FC4EE"/>
                </a:solidFill>
                <a:latin typeface="Courier New"/>
              </a:rPr>
              <a:t>0</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found_dists</a:t>
            </a:r>
            <a:r>
              <a:rPr sz="790" b="0" i="0">
                <a:solidFill>
                  <a:srgbClr val="E4EDF2"/>
                </a:solidFill>
                <a:latin typeface="Courier New"/>
              </a:rPr>
              <a:t> = </a:t>
            </a:r>
            <a:r>
              <a:rPr sz="790" b="0" i="0">
                <a:solidFill>
                  <a:srgbClr val="E4EDF2"/>
                </a:solidFill>
                <a:latin typeface="Courier New"/>
              </a:rPr>
              <a:t>results</a:t>
            </a:r>
            <a:r>
              <a:rPr sz="790" b="0" i="0">
                <a:solidFill>
                  <a:srgbClr val="E4EDF2"/>
                </a:solidFill>
                <a:latin typeface="Courier New"/>
              </a:rPr>
              <a:t>[</a:t>
            </a:r>
            <a:r>
              <a:rPr sz="790" b="0" i="0">
                <a:solidFill>
                  <a:srgbClr val="EBB183"/>
                </a:solidFill>
                <a:latin typeface="Courier New"/>
              </a:rPr>
              <a:t>"distances"</a:t>
            </a:r>
            <a:r>
              <a:rPr sz="790" b="0" i="0">
                <a:solidFill>
                  <a:srgbClr val="E4EDF2"/>
                </a:solidFill>
                <a:latin typeface="Courier New"/>
              </a:rPr>
              <a:t>][</a:t>
            </a:r>
            <a:r>
              <a:rPr sz="790" b="0" i="0">
                <a:solidFill>
                  <a:srgbClr val="9FC4EE"/>
                </a:solidFill>
                <a:latin typeface="Courier New"/>
              </a:rPr>
              <a:t>0</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found_meta</a:t>
            </a:r>
            <a:r>
              <a:rPr sz="790" b="0" i="0">
                <a:solidFill>
                  <a:srgbClr val="E4EDF2"/>
                </a:solidFill>
                <a:latin typeface="Courier New"/>
              </a:rPr>
              <a:t>  = </a:t>
            </a:r>
            <a:r>
              <a:rPr sz="790" b="0" i="0">
                <a:solidFill>
                  <a:srgbClr val="E4EDF2"/>
                </a:solidFill>
                <a:latin typeface="Courier New"/>
              </a:rPr>
              <a:t>results</a:t>
            </a:r>
            <a:r>
              <a:rPr sz="790" b="0" i="0">
                <a:solidFill>
                  <a:srgbClr val="E4EDF2"/>
                </a:solidFill>
                <a:latin typeface="Courier New"/>
              </a:rPr>
              <a:t>[</a:t>
            </a:r>
            <a:r>
              <a:rPr sz="790" b="0" i="0">
                <a:solidFill>
                  <a:srgbClr val="EBB183"/>
                </a:solidFill>
                <a:latin typeface="Courier New"/>
              </a:rPr>
              <a:t>"metadatas"</a:t>
            </a:r>
            <a:r>
              <a:rPr sz="790" b="0" i="0">
                <a:solidFill>
                  <a:srgbClr val="E4EDF2"/>
                </a:solidFill>
                <a:latin typeface="Courier New"/>
              </a:rPr>
              <a:t>][</a:t>
            </a:r>
            <a:r>
              <a:rPr sz="790" b="0" i="0">
                <a:solidFill>
                  <a:srgbClr val="9FC4EE"/>
                </a:solidFill>
                <a:latin typeface="Courier New"/>
              </a:rPr>
              <a:t>0</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good_hits</a:t>
            </a:r>
            <a:r>
              <a:rPr sz="790" b="0" i="0">
                <a:solidFill>
                  <a:srgbClr val="E4EDF2"/>
                </a:solidFill>
                <a:latin typeface="Courier New"/>
              </a:rPr>
              <a:t> = []</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for</a:t>
            </a:r>
            <a:r>
              <a:rPr sz="790" b="0" i="0">
                <a:solidFill>
                  <a:srgbClr val="E4EDF2"/>
                </a:solidFill>
                <a:latin typeface="Courier New"/>
              </a:rPr>
              <a:t> </a:t>
            </a:r>
            <a:r>
              <a:rPr sz="790" b="0" i="0">
                <a:solidFill>
                  <a:srgbClr val="E4EDF2"/>
                </a:solidFill>
                <a:latin typeface="Courier New"/>
              </a:rPr>
              <a:t>k</a:t>
            </a:r>
            <a:r>
              <a:rPr sz="790" b="0" i="0">
                <a:solidFill>
                  <a:srgbClr val="E4EDF2"/>
                </a:solidFill>
                <a:latin typeface="Courier New"/>
              </a:rPr>
              <a:t> </a:t>
            </a:r>
            <a:r>
              <a:rPr sz="790" b="0" i="0">
                <a:solidFill>
                  <a:srgbClr val="D9A6CE"/>
                </a:solidFill>
                <a:latin typeface="Courier New"/>
              </a:rPr>
              <a:t>in</a:t>
            </a:r>
            <a:r>
              <a:rPr sz="790" b="0" i="0">
                <a:solidFill>
                  <a:srgbClr val="E4EDF2"/>
                </a:solidFill>
                <a:latin typeface="Courier New"/>
              </a:rPr>
              <a:t> </a:t>
            </a:r>
            <a:r>
              <a:rPr sz="790" b="0" i="0">
                <a:solidFill>
                  <a:srgbClr val="9FC4EE"/>
                </a:solidFill>
                <a:latin typeface="Courier New"/>
              </a:rPr>
              <a:t>range</a:t>
            </a:r>
            <a:r>
              <a:rPr sz="790" b="0" i="0">
                <a:solidFill>
                  <a:srgbClr val="E4EDF2"/>
                </a:solidFill>
                <a:latin typeface="Courier New"/>
              </a:rPr>
              <a:t>(</a:t>
            </a:r>
            <a:r>
              <a:rPr sz="790" b="0" i="0">
                <a:solidFill>
                  <a:srgbClr val="9FC4EE"/>
                </a:solidFill>
                <a:latin typeface="Courier New"/>
              </a:rPr>
              <a:t>len</a:t>
            </a:r>
            <a:r>
              <a:rPr sz="790" b="0" i="0">
                <a:solidFill>
                  <a:srgbClr val="E4EDF2"/>
                </a:solidFill>
                <a:latin typeface="Courier New"/>
              </a:rPr>
              <a:t>(</a:t>
            </a:r>
            <a:r>
              <a:rPr sz="790" b="0" i="0">
                <a:solidFill>
                  <a:srgbClr val="E4EDF2"/>
                </a:solidFill>
                <a:latin typeface="Courier New"/>
              </a:rPr>
              <a:t>found_docs</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if</a:t>
            </a:r>
            <a:r>
              <a:rPr sz="790" b="0" i="0">
                <a:solidFill>
                  <a:srgbClr val="E4EDF2"/>
                </a:solidFill>
                <a:latin typeface="Courier New"/>
              </a:rPr>
              <a:t> </a:t>
            </a:r>
            <a:r>
              <a:rPr sz="790" b="0" i="0">
                <a:solidFill>
                  <a:srgbClr val="E4EDF2"/>
                </a:solidFill>
                <a:latin typeface="Courier New"/>
              </a:rPr>
              <a:t>found_dists</a:t>
            </a:r>
            <a:r>
              <a:rPr sz="790" b="0" i="0">
                <a:solidFill>
                  <a:srgbClr val="E4EDF2"/>
                </a:solidFill>
                <a:latin typeface="Courier New"/>
              </a:rPr>
              <a:t>[</a:t>
            </a:r>
            <a:r>
              <a:rPr sz="790" b="0" i="0">
                <a:solidFill>
                  <a:srgbClr val="E4EDF2"/>
                </a:solidFill>
                <a:latin typeface="Courier New"/>
              </a:rPr>
              <a:t>k</a:t>
            </a:r>
            <a:r>
              <a:rPr sz="790" b="0" i="0">
                <a:solidFill>
                  <a:srgbClr val="E4EDF2"/>
                </a:solidFill>
                <a:latin typeface="Courier New"/>
              </a:rPr>
              <a:t>] &lt;= </a:t>
            </a:r>
            <a:r>
              <a:rPr sz="790" b="0" i="0">
                <a:solidFill>
                  <a:srgbClr val="E4EDF2"/>
                </a:solidFill>
                <a:latin typeface="Courier New"/>
              </a:rPr>
              <a:t>max_distance</a:t>
            </a:r>
            <a:r>
              <a:rPr sz="790" b="0" i="0">
                <a:solidFill>
                  <a:srgbClr val="E4EDF2"/>
                </a:solidFill>
                <a:latin typeface="Courier New"/>
              </a:rPr>
              <a:t>:      </a:t>
            </a:r>
            <a:r>
              <a:rPr sz="790" b="0" i="0">
                <a:solidFill>
                  <a:srgbClr val="76909F"/>
                </a:solidFill>
                <a:latin typeface="Courier New"/>
              </a:rPr>
              <a:t># close enough?</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good_hits</a:t>
            </a:r>
            <a:r>
              <a:rPr sz="790" b="0" i="0">
                <a:solidFill>
                  <a:srgbClr val="E4EDF2"/>
                </a:solidFill>
                <a:latin typeface="Courier New"/>
              </a:rPr>
              <a:t>.</a:t>
            </a:r>
            <a:r>
              <a:rPr sz="790" b="0" i="0">
                <a:solidFill>
                  <a:srgbClr val="9FC4EE"/>
                </a:solidFill>
                <a:latin typeface="Courier New"/>
              </a:rPr>
              <a:t>append</a:t>
            </a:r>
            <a:r>
              <a:rPr sz="790" b="0" i="0">
                <a:solidFill>
                  <a:srgbClr val="E4EDF2"/>
                </a:solidFill>
                <a:latin typeface="Courier New"/>
              </a:rPr>
              <a:t>((</a:t>
            </a:r>
            <a:r>
              <a:rPr sz="790" b="0" i="0">
                <a:solidFill>
                  <a:srgbClr val="E4EDF2"/>
                </a:solidFill>
                <a:latin typeface="Courier New"/>
              </a:rPr>
              <a:t>found_docs</a:t>
            </a:r>
            <a:r>
              <a:rPr sz="790" b="0" i="0">
                <a:solidFill>
                  <a:srgbClr val="E4EDF2"/>
                </a:solidFill>
                <a:latin typeface="Courier New"/>
              </a:rPr>
              <a:t>[</a:t>
            </a:r>
            <a:r>
              <a:rPr sz="790" b="0" i="0">
                <a:solidFill>
                  <a:srgbClr val="E4EDF2"/>
                </a:solidFill>
                <a:latin typeface="Courier New"/>
              </a:rPr>
              <a:t>k</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found_dists</a:t>
            </a:r>
            <a:r>
              <a:rPr sz="790" b="0" i="0">
                <a:solidFill>
                  <a:srgbClr val="E4EDF2"/>
                </a:solidFill>
                <a:latin typeface="Courier New"/>
              </a:rPr>
              <a:t>[</a:t>
            </a:r>
            <a:r>
              <a:rPr sz="790" b="0" i="0">
                <a:solidFill>
                  <a:srgbClr val="E4EDF2"/>
                </a:solidFill>
                <a:latin typeface="Courier New"/>
              </a:rPr>
              <a:t>k</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found_meta</a:t>
            </a:r>
            <a:r>
              <a:rPr sz="790" b="0" i="0">
                <a:solidFill>
                  <a:srgbClr val="E4EDF2"/>
                </a:solidFill>
                <a:latin typeface="Courier New"/>
              </a:rPr>
              <a:t>[</a:t>
            </a:r>
            <a:r>
              <a:rPr sz="790" b="0" i="0">
                <a:solidFill>
                  <a:srgbClr val="E4EDF2"/>
                </a:solidFill>
                <a:latin typeface="Courier New"/>
              </a:rPr>
              <a:t>k</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return</a:t>
            </a:r>
            <a:r>
              <a:rPr sz="790" b="0" i="0">
                <a:solidFill>
                  <a:srgbClr val="E4EDF2"/>
                </a:solidFill>
                <a:latin typeface="Courier New"/>
              </a:rPr>
              <a:t> </a:t>
            </a:r>
            <a:r>
              <a:rPr sz="790" b="0" i="0">
                <a:solidFill>
                  <a:srgbClr val="E4EDF2"/>
                </a:solidFill>
                <a:latin typeface="Courier New"/>
              </a:rPr>
              <a:t>good_hits</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E4EDF2"/>
                </a:solidFill>
                <a:latin typeface="Courier New"/>
              </a:rPr>
              <a:t>SYSTEM</a:t>
            </a:r>
            <a:r>
              <a:rPr sz="790" b="0" i="0">
                <a:solidFill>
                  <a:srgbClr val="E4EDF2"/>
                </a:solidFill>
                <a:latin typeface="Courier New"/>
              </a:rPr>
              <a:t> = (</a:t>
            </a:r>
          </a:p>
          <a:p>
            <a:pPr>
              <a:lnSpc>
                <a:spcPct val="112000"/>
              </a:lnSpc>
              <a:spcAft>
                <a:spcPts val="100"/>
              </a:spcAft>
            </a:pPr>
            <a:r>
              <a:rPr sz="790" b="0" i="0">
                <a:solidFill>
                  <a:srgbClr val="E4EDF2"/>
                </a:solidFill>
                <a:latin typeface="Courier New"/>
              </a:rPr>
              <a:t>    </a:t>
            </a:r>
            <a:r>
              <a:rPr sz="790" b="0" i="0">
                <a:solidFill>
                  <a:srgbClr val="EBB183"/>
                </a:solidFill>
                <a:latin typeface="Courier New"/>
              </a:rPr>
              <a:t>"You are a cybersecurity assistant. Answer the question using "</a:t>
            </a:r>
          </a:p>
          <a:p>
            <a:pPr>
              <a:lnSpc>
                <a:spcPct val="112000"/>
              </a:lnSpc>
              <a:spcAft>
                <a:spcPts val="100"/>
              </a:spcAft>
            </a:pPr>
            <a:r>
              <a:rPr sz="790" b="0" i="0">
                <a:solidFill>
                  <a:srgbClr val="E4EDF2"/>
                </a:solidFill>
                <a:latin typeface="Courier New"/>
              </a:rPr>
              <a:t>    </a:t>
            </a:r>
            <a:r>
              <a:rPr sz="790" b="0" i="0">
                <a:solidFill>
                  <a:srgbClr val="EBB183"/>
                </a:solidFill>
                <a:latin typeface="Courier New"/>
              </a:rPr>
              <a:t>"ONLY the context below.\n"</a:t>
            </a:r>
          </a:p>
          <a:p>
            <a:pPr>
              <a:lnSpc>
                <a:spcPct val="112000"/>
              </a:lnSpc>
              <a:spcAft>
                <a:spcPts val="100"/>
              </a:spcAft>
            </a:pPr>
            <a:r>
              <a:rPr sz="790" b="0" i="0">
                <a:solidFill>
                  <a:srgbClr val="E4EDF2"/>
                </a:solidFill>
                <a:latin typeface="Courier New"/>
              </a:rPr>
              <a:t>    </a:t>
            </a:r>
            <a:r>
              <a:rPr sz="790" b="0" i="0">
                <a:solidFill>
                  <a:srgbClr val="EBB183"/>
                </a:solidFill>
                <a:latin typeface="Courier New"/>
              </a:rPr>
              <a:t>"If the answer is in the context, prefix your reply with [RAG]. "</a:t>
            </a:r>
          </a:p>
          <a:p>
            <a:pPr>
              <a:lnSpc>
                <a:spcPct val="112000"/>
              </a:lnSpc>
              <a:spcAft>
                <a:spcPts val="100"/>
              </a:spcAft>
            </a:pPr>
            <a:r>
              <a:rPr sz="790" b="0" i="0">
                <a:solidFill>
                  <a:srgbClr val="E4EDF2"/>
                </a:solidFill>
                <a:latin typeface="Courier New"/>
              </a:rPr>
              <a:t>    </a:t>
            </a:r>
            <a:r>
              <a:rPr sz="790" b="0" i="0">
                <a:solidFill>
                  <a:srgbClr val="EBB183"/>
                </a:solidFill>
                <a:latin typeface="Courier New"/>
              </a:rPr>
              <a:t>"If the context is empty or does not contain the answer, say so "</a:t>
            </a:r>
          </a:p>
          <a:p>
            <a:pPr>
              <a:lnSpc>
                <a:spcPct val="112000"/>
              </a:lnSpc>
              <a:spcAft>
                <a:spcPts val="100"/>
              </a:spcAft>
            </a:pPr>
            <a:r>
              <a:rPr sz="790" b="0" i="0">
                <a:solidFill>
                  <a:srgbClr val="E4EDF2"/>
                </a:solidFill>
                <a:latin typeface="Courier New"/>
              </a:rPr>
              <a:t>    </a:t>
            </a:r>
            <a:r>
              <a:rPr sz="790" b="0" i="0">
                <a:solidFill>
                  <a:srgbClr val="EBB183"/>
                </a:solidFill>
                <a:latin typeface="Courier New"/>
              </a:rPr>
              <a:t>"and prefix with [LLM].\n\n# Context\n{context}"</a:t>
            </a:r>
          </a:p>
          <a:p>
            <a:pPr>
              <a:lnSpc>
                <a:spcPct val="112000"/>
              </a:lnSpc>
              <a:spcAft>
                <a:spcPts val="100"/>
              </a:spcAft>
            </a:pP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D9A6CE"/>
                </a:solidFill>
                <a:latin typeface="Courier New"/>
              </a:rPr>
              <a:t>def</a:t>
            </a:r>
            <a:r>
              <a:rPr sz="790" b="0" i="0">
                <a:solidFill>
                  <a:srgbClr val="E4EDF2"/>
                </a:solidFill>
                <a:latin typeface="Courier New"/>
              </a:rPr>
              <a:t> </a:t>
            </a:r>
            <a:r>
              <a:rPr sz="790" b="0" i="0">
                <a:solidFill>
                  <a:srgbClr val="9FC4EE"/>
                </a:solidFill>
                <a:latin typeface="Courier New"/>
              </a:rPr>
              <a:t>build_prompt</a:t>
            </a:r>
            <a:r>
              <a:rPr sz="790" b="0" i="0">
                <a:solidFill>
                  <a:srgbClr val="E4EDF2"/>
                </a:solidFill>
                <a:latin typeface="Courier New"/>
              </a:rPr>
              <a:t>(</a:t>
            </a:r>
            <a:r>
              <a:rPr sz="790" b="0" i="0">
                <a:solidFill>
                  <a:srgbClr val="E4EDF2"/>
                </a:solidFill>
                <a:latin typeface="Courier New"/>
              </a:rPr>
              <a:t>query</a:t>
            </a:r>
            <a:r>
              <a:rPr sz="790" b="0" i="0">
                <a:solidFill>
                  <a:srgbClr val="E4EDF2"/>
                </a:solidFill>
                <a:latin typeface="Courier New"/>
              </a:rPr>
              <a:t>, </a:t>
            </a:r>
            <a:r>
              <a:rPr sz="790" b="0" i="0">
                <a:solidFill>
                  <a:srgbClr val="E4EDF2"/>
                </a:solidFill>
                <a:latin typeface="Courier New"/>
              </a:rPr>
              <a:t>context</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system_message</a:t>
            </a:r>
            <a:r>
              <a:rPr sz="790" b="0" i="0">
                <a:solidFill>
                  <a:srgbClr val="E4EDF2"/>
                </a:solidFill>
                <a:latin typeface="Courier New"/>
              </a:rPr>
              <a:t> = </a:t>
            </a:r>
            <a:r>
              <a:rPr sz="790" b="0" i="0">
                <a:solidFill>
                  <a:srgbClr val="E4EDF2"/>
                </a:solidFill>
                <a:latin typeface="Courier New"/>
              </a:rPr>
              <a:t>SYSTEM</a:t>
            </a:r>
            <a:r>
              <a:rPr sz="790" b="0" i="0">
                <a:solidFill>
                  <a:srgbClr val="E4EDF2"/>
                </a:solidFill>
                <a:latin typeface="Courier New"/>
              </a:rPr>
              <a:t>.</a:t>
            </a:r>
            <a:r>
              <a:rPr sz="790" b="0" i="0">
                <a:solidFill>
                  <a:srgbClr val="9FC4EE"/>
                </a:solidFill>
                <a:latin typeface="Courier New"/>
              </a:rPr>
              <a:t>format</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context</a:t>
            </a:r>
            <a:r>
              <a:rPr sz="790" b="0" i="0">
                <a:solidFill>
                  <a:srgbClr val="E4EDF2"/>
                </a:solidFill>
                <a:latin typeface="Courier New"/>
              </a:rPr>
              <a:t>=</a:t>
            </a:r>
            <a:r>
              <a:rPr sz="790" b="0" i="0">
                <a:solidFill>
                  <a:srgbClr val="E4EDF2"/>
                </a:solidFill>
                <a:latin typeface="Courier New"/>
              </a:rPr>
              <a:t>context</a:t>
            </a:r>
            <a:r>
              <a:rPr sz="790" b="0" i="0">
                <a:solidFill>
                  <a:srgbClr val="E4EDF2"/>
                </a:solidFill>
                <a:latin typeface="Courier New"/>
              </a:rPr>
              <a:t> </a:t>
            </a:r>
            <a:r>
              <a:rPr sz="790" b="0" i="0">
                <a:solidFill>
                  <a:srgbClr val="D9A6CE"/>
                </a:solidFill>
                <a:latin typeface="Courier New"/>
              </a:rPr>
              <a:t>or</a:t>
            </a:r>
            <a:r>
              <a:rPr sz="790" b="0" i="0">
                <a:solidFill>
                  <a:srgbClr val="E4EDF2"/>
                </a:solidFill>
                <a:latin typeface="Courier New"/>
              </a:rPr>
              <a:t> </a:t>
            </a:r>
            <a:r>
              <a:rPr sz="790" b="0" i="0">
                <a:solidFill>
                  <a:srgbClr val="EBB183"/>
                </a:solidFill>
                <a:latin typeface="Courier New"/>
              </a:rPr>
              <a:t>"(no relevant context found)"</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return</a:t>
            </a:r>
            <a:r>
              <a:rPr sz="790" b="0" i="0">
                <a:solidFill>
                  <a:srgbClr val="E4EDF2"/>
                </a:solidFill>
                <a:latin typeface="Courier New"/>
              </a:rPr>
              <a:t> </a:t>
            </a:r>
            <a:r>
              <a:rPr sz="790" b="0" i="0">
                <a:solidFill>
                  <a:srgbClr val="E4EDF2"/>
                </a:solidFill>
                <a:latin typeface="Courier New"/>
              </a:rPr>
              <a:t>system_message</a:t>
            </a:r>
            <a:r>
              <a:rPr sz="790" b="0" i="0">
                <a:solidFill>
                  <a:srgbClr val="E4EDF2"/>
                </a:solidFill>
                <a:latin typeface="Courier New"/>
              </a:rPr>
              <a:t>, </a:t>
            </a:r>
            <a:r>
              <a:rPr sz="790" b="0" i="0">
                <a:solidFill>
                  <a:srgbClr val="E4EDF2"/>
                </a:solidFill>
                <a:latin typeface="Courier New"/>
              </a:rPr>
              <a:t>query</a:t>
            </a:r>
          </a:p>
        </p:txBody>
      </p:sp>
      <p:sp>
        <p:nvSpPr>
          <p:cNvPr id="10" name="Rounded Rectangle 9"/>
          <p:cNvSpPr/>
          <p:nvPr/>
        </p:nvSpPr>
        <p:spPr>
          <a:xfrm>
            <a:off x="8183879" y="1719072"/>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348471" y="1874519"/>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a:t>
            </a:r>
          </a:p>
        </p:txBody>
      </p:sp>
      <p:sp>
        <p:nvSpPr>
          <p:cNvPr id="12" name="TextBox 11"/>
          <p:cNvSpPr txBox="1"/>
          <p:nvPr/>
        </p:nvSpPr>
        <p:spPr>
          <a:xfrm>
            <a:off x="8695944" y="1865376"/>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Same embed() as ingestion</a:t>
            </a:r>
          </a:p>
        </p:txBody>
      </p:sp>
      <p:sp>
        <p:nvSpPr>
          <p:cNvPr id="13" name="TextBox 12"/>
          <p:cNvSpPr txBox="1"/>
          <p:nvPr/>
        </p:nvSpPr>
        <p:spPr>
          <a:xfrm>
            <a:off x="8348471" y="2194560"/>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The rule from slide 5. Different models on the two sides and every distance below becomes meaningless.</a:t>
            </a:r>
          </a:p>
        </p:txBody>
      </p:sp>
      <p:sp>
        <p:nvSpPr>
          <p:cNvPr id="14" name="Rounded Rectangle 13"/>
          <p:cNvSpPr/>
          <p:nvPr/>
        </p:nvSpPr>
        <p:spPr>
          <a:xfrm>
            <a:off x="8183879" y="2866644"/>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48471" y="3022091"/>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a:t>
            </a:r>
          </a:p>
        </p:txBody>
      </p:sp>
      <p:sp>
        <p:nvSpPr>
          <p:cNvPr id="16" name="TextBox 15"/>
          <p:cNvSpPr txBox="1"/>
          <p:nvPr/>
        </p:nvSpPr>
        <p:spPr>
          <a:xfrm>
            <a:off x="8695944" y="3012948"/>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The [0] everywhere</a:t>
            </a:r>
          </a:p>
        </p:txBody>
      </p:sp>
      <p:sp>
        <p:nvSpPr>
          <p:cNvPr id="17" name="TextBox 16"/>
          <p:cNvSpPr txBox="1"/>
          <p:nvPr/>
        </p:nvSpPr>
        <p:spPr>
          <a:xfrm>
            <a:off x="8348471" y="3342132"/>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Chroma supports batched queries, so each result list is wrapped. You asked one question, so you take index zero.</a:t>
            </a:r>
          </a:p>
        </p:txBody>
      </p:sp>
      <p:sp>
        <p:nvSpPr>
          <p:cNvPr id="18" name="Rounded Rectangle 17"/>
          <p:cNvSpPr/>
          <p:nvPr/>
        </p:nvSpPr>
        <p:spPr>
          <a:xfrm>
            <a:off x="8183879" y="4014216"/>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48471" y="4169664"/>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3</a:t>
            </a:r>
          </a:p>
        </p:txBody>
      </p:sp>
      <p:sp>
        <p:nvSpPr>
          <p:cNvPr id="20" name="TextBox 19"/>
          <p:cNvSpPr txBox="1"/>
          <p:nvPr/>
        </p:nvSpPr>
        <p:spPr>
          <a:xfrm>
            <a:off x="8695944" y="4160520"/>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The filter is the gate</a:t>
            </a:r>
          </a:p>
        </p:txBody>
      </p:sp>
      <p:sp>
        <p:nvSpPr>
          <p:cNvPr id="21" name="TextBox 20"/>
          <p:cNvSpPr txBox="1"/>
          <p:nvPr/>
        </p:nvSpPr>
        <p:spPr>
          <a:xfrm>
            <a:off x="8348471" y="4489704"/>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Beyond max_distance, hits are dropped. An out-of-scope question returns an empty list — which is a decision, not a failure.</a:t>
            </a:r>
          </a:p>
        </p:txBody>
      </p:sp>
      <p:sp>
        <p:nvSpPr>
          <p:cNvPr id="22" name="Rounded Rectangle 21"/>
          <p:cNvSpPr/>
          <p:nvPr/>
        </p:nvSpPr>
        <p:spPr>
          <a:xfrm>
            <a:off x="8183879" y="5161788"/>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348471" y="5317236"/>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a:t>
            </a:r>
          </a:p>
        </p:txBody>
      </p:sp>
      <p:sp>
        <p:nvSpPr>
          <p:cNvPr id="24" name="TextBox 23"/>
          <p:cNvSpPr txBox="1"/>
          <p:nvPr/>
        </p:nvSpPr>
        <p:spPr>
          <a:xfrm>
            <a:off x="8695944" y="5308092"/>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The "or" in build_prompt</a:t>
            </a:r>
          </a:p>
        </p:txBody>
      </p:sp>
      <p:sp>
        <p:nvSpPr>
          <p:cNvPr id="25" name="TextBox 24"/>
          <p:cNvSpPr txBox="1"/>
          <p:nvPr/>
        </p:nvSpPr>
        <p:spPr>
          <a:xfrm>
            <a:off x="8348471" y="5637276"/>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An empty context becomes an explicit “no relevant context found” rather than a blank. Models improvise into blanks.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5 · BUILD IT</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whole bot, in one function</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Step 6 of lecture3_rag_pipeline.ipynb. Retrieve, augment, generate — and two calls that prove it can decline.</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Retrieval-Augmented Generation</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34</a:t>
            </a:r>
          </a:p>
        </p:txBody>
      </p:sp>
      <p:sp>
        <p:nvSpPr>
          <p:cNvPr id="7" name="Rounded Rectangle 6"/>
          <p:cNvSpPr/>
          <p:nvPr/>
        </p:nvSpPr>
        <p:spPr>
          <a:xfrm>
            <a:off x="640080" y="1719072"/>
            <a:ext cx="7223760" cy="449884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837943"/>
            <a:ext cx="67482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lecture3_rag_pipeline.ipynb · STEP 6 — THE COMPLETE PIPELINE</a:t>
            </a:r>
          </a:p>
        </p:txBody>
      </p:sp>
      <p:sp>
        <p:nvSpPr>
          <p:cNvPr id="9" name="TextBox 8"/>
          <p:cNvSpPr txBox="1"/>
          <p:nvPr/>
        </p:nvSpPr>
        <p:spPr>
          <a:xfrm>
            <a:off x="877824" y="2112263"/>
            <a:ext cx="6748272" cy="3995928"/>
          </a:xfrm>
          <a:prstGeom prst="rect">
            <a:avLst/>
          </a:prstGeom>
          <a:noFill/>
        </p:spPr>
        <p:txBody>
          <a:bodyPr wrap="square" lIns="0" rIns="0" tIns="0" bIns="0">
            <a:spAutoFit/>
          </a:bodyPr>
          <a:lstStyle/>
          <a:p>
            <a:pPr>
              <a:lnSpc>
                <a:spcPct val="112000"/>
              </a:lnSpc>
              <a:spcAft>
                <a:spcPts val="100"/>
              </a:spcAft>
            </a:pPr>
            <a:r>
              <a:rPr sz="860" b="0" i="0">
                <a:solidFill>
                  <a:srgbClr val="76909F"/>
                </a:solidFill>
                <a:latin typeface="Courier New"/>
              </a:rPr>
              <a:t># the complete RAG function: retrieve -&gt; augment -&gt; generate</a:t>
            </a:r>
          </a:p>
          <a:p>
            <a:pPr>
              <a:lnSpc>
                <a:spcPct val="112000"/>
              </a:lnSpc>
              <a:spcAft>
                <a:spcPts val="100"/>
              </a:spcAft>
            </a:pPr>
            <a:r>
              <a:rPr sz="860" b="0" i="0">
                <a:solidFill>
                  <a:srgbClr val="D9A6CE"/>
                </a:solidFill>
                <a:latin typeface="Courier New"/>
              </a:rPr>
              <a:t>def</a:t>
            </a:r>
            <a:r>
              <a:rPr sz="860" b="0" i="0">
                <a:solidFill>
                  <a:srgbClr val="E4EDF2"/>
                </a:solidFill>
                <a:latin typeface="Courier New"/>
              </a:rPr>
              <a:t> </a:t>
            </a:r>
            <a:r>
              <a:rPr sz="860" b="0" i="0">
                <a:solidFill>
                  <a:srgbClr val="9FC4EE"/>
                </a:solidFill>
                <a:latin typeface="Courier New"/>
              </a:rPr>
              <a:t>ask</a:t>
            </a:r>
            <a:r>
              <a:rPr sz="860" b="0" i="0">
                <a:solidFill>
                  <a:srgbClr val="E4EDF2"/>
                </a:solidFill>
                <a:latin typeface="Courier New"/>
              </a:rPr>
              <a:t>(</a:t>
            </a:r>
            <a:r>
              <a:rPr sz="860" b="0" i="0">
                <a:solidFill>
                  <a:srgbClr val="E4EDF2"/>
                </a:solidFill>
                <a:latin typeface="Courier New"/>
              </a:rPr>
              <a:t>query</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hits</a:t>
            </a:r>
            <a:r>
              <a:rPr sz="860" b="0" i="0">
                <a:solidFill>
                  <a:srgbClr val="E4EDF2"/>
                </a:solidFill>
                <a:latin typeface="Courier New"/>
              </a:rPr>
              <a:t> = </a:t>
            </a:r>
            <a:r>
              <a:rPr sz="860" b="0" i="0">
                <a:solidFill>
                  <a:srgbClr val="9FC4EE"/>
                </a:solidFill>
                <a:latin typeface="Courier New"/>
              </a:rPr>
              <a:t>retrieve</a:t>
            </a:r>
            <a:r>
              <a:rPr sz="860" b="0" i="0">
                <a:solidFill>
                  <a:srgbClr val="E4EDF2"/>
                </a:solidFill>
                <a:latin typeface="Courier New"/>
              </a:rPr>
              <a:t>(</a:t>
            </a:r>
            <a:r>
              <a:rPr sz="860" b="0" i="0">
                <a:solidFill>
                  <a:srgbClr val="E4EDF2"/>
                </a:solidFill>
                <a:latin typeface="Courier New"/>
              </a:rPr>
              <a:t>query</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r>
          </a:p>
          <a:p>
            <a:pPr>
              <a:lnSpc>
                <a:spcPct val="112000"/>
              </a:lnSpc>
              <a:spcAft>
                <a:spcPts val="100"/>
              </a:spcAft>
            </a:pPr>
            <a:r>
              <a:rPr sz="860" b="0" i="0">
                <a:solidFill>
                  <a:srgbClr val="E4EDF2"/>
                </a:solidFill>
                <a:latin typeface="Courier New"/>
              </a:rPr>
              <a:t>    </a:t>
            </a:r>
            <a:r>
              <a:rPr sz="860" b="0" i="0">
                <a:solidFill>
                  <a:srgbClr val="76909F"/>
                </a:solidFill>
                <a:latin typeface="Courier New"/>
              </a:rPr>
              <a:t># join the retrieved chunks into one context block</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context_pieces</a:t>
            </a:r>
            <a:r>
              <a:rPr sz="860" b="0" i="0">
                <a:solidFill>
                  <a:srgbClr val="E4EDF2"/>
                </a:solidFill>
                <a:latin typeface="Courier New"/>
              </a:rPr>
              <a:t> = []</a:t>
            </a:r>
          </a:p>
          <a:p>
            <a:pPr>
              <a:lnSpc>
                <a:spcPct val="112000"/>
              </a:lnSpc>
              <a:spcAft>
                <a:spcPts val="100"/>
              </a:spcAft>
            </a:pPr>
            <a:r>
              <a:rPr sz="860" b="0" i="0">
                <a:solidFill>
                  <a:srgbClr val="E4EDF2"/>
                </a:solidFill>
                <a:latin typeface="Courier New"/>
              </a:rPr>
              <a:t>    </a:t>
            </a:r>
            <a:r>
              <a:rPr sz="860" b="0" i="0">
                <a:solidFill>
                  <a:srgbClr val="D9A6CE"/>
                </a:solidFill>
                <a:latin typeface="Courier New"/>
              </a:rPr>
              <a:t>for</a:t>
            </a:r>
            <a:r>
              <a:rPr sz="860" b="0" i="0">
                <a:solidFill>
                  <a:srgbClr val="E4EDF2"/>
                </a:solidFill>
                <a:latin typeface="Courier New"/>
              </a:rPr>
              <a:t> </a:t>
            </a:r>
            <a:r>
              <a:rPr sz="860" b="0" i="0">
                <a:solidFill>
                  <a:srgbClr val="E4EDF2"/>
                </a:solidFill>
                <a:latin typeface="Courier New"/>
              </a:rPr>
              <a:t>doc</a:t>
            </a:r>
            <a:r>
              <a:rPr sz="860" b="0" i="0">
                <a:solidFill>
                  <a:srgbClr val="E4EDF2"/>
                </a:solidFill>
                <a:latin typeface="Courier New"/>
              </a:rPr>
              <a:t>, </a:t>
            </a:r>
            <a:r>
              <a:rPr sz="860" b="0" i="0">
                <a:solidFill>
                  <a:srgbClr val="E4EDF2"/>
                </a:solidFill>
                <a:latin typeface="Courier New"/>
              </a:rPr>
              <a:t>dist</a:t>
            </a:r>
            <a:r>
              <a:rPr sz="860" b="0" i="0">
                <a:solidFill>
                  <a:srgbClr val="E4EDF2"/>
                </a:solidFill>
                <a:latin typeface="Courier New"/>
              </a:rPr>
              <a:t>, </a:t>
            </a:r>
            <a:r>
              <a:rPr sz="860" b="0" i="0">
                <a:solidFill>
                  <a:srgbClr val="E4EDF2"/>
                </a:solidFill>
                <a:latin typeface="Courier New"/>
              </a:rPr>
              <a:t>meta</a:t>
            </a:r>
            <a:r>
              <a:rPr sz="860" b="0" i="0">
                <a:solidFill>
                  <a:srgbClr val="E4EDF2"/>
                </a:solidFill>
                <a:latin typeface="Courier New"/>
              </a:rPr>
              <a:t> </a:t>
            </a:r>
            <a:r>
              <a:rPr sz="860" b="0" i="0">
                <a:solidFill>
                  <a:srgbClr val="D9A6CE"/>
                </a:solidFill>
                <a:latin typeface="Courier New"/>
              </a:rPr>
              <a:t>in</a:t>
            </a:r>
            <a:r>
              <a:rPr sz="860" b="0" i="0">
                <a:solidFill>
                  <a:srgbClr val="E4EDF2"/>
                </a:solidFill>
                <a:latin typeface="Courier New"/>
              </a:rPr>
              <a:t> </a:t>
            </a:r>
            <a:r>
              <a:rPr sz="860" b="0" i="0">
                <a:solidFill>
                  <a:srgbClr val="E4EDF2"/>
                </a:solidFill>
                <a:latin typeface="Courier New"/>
              </a:rPr>
              <a:t>hits</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context_pieces</a:t>
            </a:r>
            <a:r>
              <a:rPr sz="860" b="0" i="0">
                <a:solidFill>
                  <a:srgbClr val="E4EDF2"/>
                </a:solidFill>
                <a:latin typeface="Courier New"/>
              </a:rPr>
              <a:t>.</a:t>
            </a:r>
            <a:r>
              <a:rPr sz="860" b="0" i="0">
                <a:solidFill>
                  <a:srgbClr val="9FC4EE"/>
                </a:solidFill>
                <a:latin typeface="Courier New"/>
              </a:rPr>
              <a:t>append</a:t>
            </a:r>
            <a:r>
              <a:rPr sz="860" b="0" i="0">
                <a:solidFill>
                  <a:srgbClr val="E4EDF2"/>
                </a:solidFill>
                <a:latin typeface="Courier New"/>
              </a:rPr>
              <a:t>(</a:t>
            </a:r>
            <a:r>
              <a:rPr sz="860" b="0" i="0">
                <a:solidFill>
                  <a:srgbClr val="E4EDF2"/>
                </a:solidFill>
                <a:latin typeface="Courier New"/>
              </a:rPr>
              <a:t>doc</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context</a:t>
            </a:r>
            <a:r>
              <a:rPr sz="860" b="0" i="0">
                <a:solidFill>
                  <a:srgbClr val="E4EDF2"/>
                </a:solidFill>
                <a:latin typeface="Courier New"/>
              </a:rPr>
              <a:t> = </a:t>
            </a:r>
            <a:r>
              <a:rPr sz="860" b="0" i="0">
                <a:solidFill>
                  <a:srgbClr val="EBB183"/>
                </a:solidFill>
                <a:latin typeface="Courier New"/>
              </a:rPr>
              <a:t>"\n\n"</a:t>
            </a:r>
            <a:r>
              <a:rPr sz="860" b="0" i="0">
                <a:solidFill>
                  <a:srgbClr val="E4EDF2"/>
                </a:solidFill>
                <a:latin typeface="Courier New"/>
              </a:rPr>
              <a:t>.</a:t>
            </a:r>
            <a:r>
              <a:rPr sz="860" b="0" i="0">
                <a:solidFill>
                  <a:srgbClr val="9FC4EE"/>
                </a:solidFill>
                <a:latin typeface="Courier New"/>
              </a:rPr>
              <a:t>join</a:t>
            </a:r>
            <a:r>
              <a:rPr sz="860" b="0" i="0">
                <a:solidFill>
                  <a:srgbClr val="E4EDF2"/>
                </a:solidFill>
                <a:latin typeface="Courier New"/>
              </a:rPr>
              <a:t>(</a:t>
            </a:r>
            <a:r>
              <a:rPr sz="860" b="0" i="0">
                <a:solidFill>
                  <a:srgbClr val="E4EDF2"/>
                </a:solidFill>
                <a:latin typeface="Courier New"/>
              </a:rPr>
              <a:t>context_pieces</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r>
          </a:p>
          <a:p>
            <a:pPr>
              <a:lnSpc>
                <a:spcPct val="112000"/>
              </a:lnSpc>
              <a:spcAft>
                <a:spcPts val="100"/>
              </a:spcAft>
            </a:pPr>
            <a:r>
              <a:rPr sz="860" b="0" i="0">
                <a:solidFill>
                  <a:srgbClr val="E4EDF2"/>
                </a:solidFill>
                <a:latin typeface="Courier New"/>
              </a:rPr>
              <a:t>    </a:t>
            </a:r>
            <a:r>
              <a:rPr sz="860" b="0" i="0">
                <a:solidFill>
                  <a:srgbClr val="E4EDF2"/>
                </a:solidFill>
                <a:latin typeface="Courier New"/>
              </a:rPr>
              <a:t>system</a:t>
            </a:r>
            <a:r>
              <a:rPr sz="860" b="0" i="0">
                <a:solidFill>
                  <a:srgbClr val="E4EDF2"/>
                </a:solidFill>
                <a:latin typeface="Courier New"/>
              </a:rPr>
              <a:t>, </a:t>
            </a:r>
            <a:r>
              <a:rPr sz="860" b="0" i="0">
                <a:solidFill>
                  <a:srgbClr val="E4EDF2"/>
                </a:solidFill>
                <a:latin typeface="Courier New"/>
              </a:rPr>
              <a:t>user</a:t>
            </a:r>
            <a:r>
              <a:rPr sz="860" b="0" i="0">
                <a:solidFill>
                  <a:srgbClr val="E4EDF2"/>
                </a:solidFill>
                <a:latin typeface="Courier New"/>
              </a:rPr>
              <a:t> = </a:t>
            </a:r>
            <a:r>
              <a:rPr sz="860" b="0" i="0">
                <a:solidFill>
                  <a:srgbClr val="9FC4EE"/>
                </a:solidFill>
                <a:latin typeface="Courier New"/>
              </a:rPr>
              <a:t>build_prompt</a:t>
            </a:r>
            <a:r>
              <a:rPr sz="860" b="0" i="0">
                <a:solidFill>
                  <a:srgbClr val="E4EDF2"/>
                </a:solidFill>
                <a:latin typeface="Courier New"/>
              </a:rPr>
              <a:t>(</a:t>
            </a:r>
            <a:r>
              <a:rPr sz="860" b="0" i="0">
                <a:solidFill>
                  <a:srgbClr val="E4EDF2"/>
                </a:solidFill>
                <a:latin typeface="Courier New"/>
              </a:rPr>
              <a:t>query</a:t>
            </a:r>
            <a:r>
              <a:rPr sz="860" b="0" i="0">
                <a:solidFill>
                  <a:srgbClr val="E4EDF2"/>
                </a:solidFill>
                <a:latin typeface="Courier New"/>
              </a:rPr>
              <a:t>, </a:t>
            </a:r>
            <a:r>
              <a:rPr sz="860" b="0" i="0">
                <a:solidFill>
                  <a:srgbClr val="E4EDF2"/>
                </a:solidFill>
                <a:latin typeface="Courier New"/>
              </a:rPr>
              <a:t>context</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r>
          </a:p>
          <a:p>
            <a:pPr>
              <a:lnSpc>
                <a:spcPct val="112000"/>
              </a:lnSpc>
              <a:spcAft>
                <a:spcPts val="100"/>
              </a:spcAft>
            </a:pPr>
            <a:r>
              <a:rPr sz="860" b="0" i="0">
                <a:solidFill>
                  <a:srgbClr val="E4EDF2"/>
                </a:solidFill>
                <a:latin typeface="Courier New"/>
              </a:rPr>
              <a:t>    </a:t>
            </a:r>
            <a:r>
              <a:rPr sz="860" b="0" i="0">
                <a:solidFill>
                  <a:srgbClr val="9FC4EE"/>
                </a:solidFill>
                <a:latin typeface="Courier New"/>
              </a:rPr>
              <a:t>print</a:t>
            </a:r>
            <a:r>
              <a:rPr sz="860" b="0" i="0">
                <a:solidFill>
                  <a:srgbClr val="E4EDF2"/>
                </a:solidFill>
                <a:latin typeface="Courier New"/>
              </a:rPr>
              <a:t>(</a:t>
            </a:r>
            <a:r>
              <a:rPr sz="860" b="0" i="0">
                <a:solidFill>
                  <a:srgbClr val="EBB183"/>
                </a:solidFill>
                <a:latin typeface="Courier New"/>
              </a:rPr>
              <a:t>"Q:"</a:t>
            </a:r>
            <a:r>
              <a:rPr sz="860" b="0" i="0">
                <a:solidFill>
                  <a:srgbClr val="E4EDF2"/>
                </a:solidFill>
                <a:latin typeface="Courier New"/>
              </a:rPr>
              <a:t>, </a:t>
            </a:r>
            <a:r>
              <a:rPr sz="860" b="0" i="0">
                <a:solidFill>
                  <a:srgbClr val="E4EDF2"/>
                </a:solidFill>
                <a:latin typeface="Courier New"/>
              </a:rPr>
              <a:t>query</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D9A6CE"/>
                </a:solidFill>
                <a:latin typeface="Courier New"/>
              </a:rPr>
              <a:t>if</a:t>
            </a:r>
            <a:r>
              <a:rPr sz="860" b="0" i="0">
                <a:solidFill>
                  <a:srgbClr val="E4EDF2"/>
                </a:solidFill>
                <a:latin typeface="Courier New"/>
              </a:rPr>
              <a:t> </a:t>
            </a:r>
            <a:r>
              <a:rPr sz="860" b="0" i="0">
                <a:solidFill>
                  <a:srgbClr val="9FC4EE"/>
                </a:solidFill>
                <a:latin typeface="Courier New"/>
              </a:rPr>
              <a:t>len</a:t>
            </a:r>
            <a:r>
              <a:rPr sz="860" b="0" i="0">
                <a:solidFill>
                  <a:srgbClr val="E4EDF2"/>
                </a:solidFill>
                <a:latin typeface="Courier New"/>
              </a:rPr>
              <a:t>(</a:t>
            </a:r>
            <a:r>
              <a:rPr sz="860" b="0" i="0">
                <a:solidFill>
                  <a:srgbClr val="E4EDF2"/>
                </a:solidFill>
                <a:latin typeface="Courier New"/>
              </a:rPr>
              <a:t>hits</a:t>
            </a:r>
            <a:r>
              <a:rPr sz="860" b="0" i="0">
                <a:solidFill>
                  <a:srgbClr val="E4EDF2"/>
                </a:solidFill>
                <a:latin typeface="Courier New"/>
              </a:rPr>
              <a:t>) &gt; </a:t>
            </a:r>
            <a:r>
              <a:rPr sz="860" b="0" i="0">
                <a:solidFill>
                  <a:srgbClr val="9FC4EE"/>
                </a:solidFill>
                <a:latin typeface="Courier New"/>
              </a:rPr>
              <a:t>0</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9FC4EE"/>
                </a:solidFill>
                <a:latin typeface="Courier New"/>
              </a:rPr>
              <a:t>print</a:t>
            </a:r>
            <a:r>
              <a:rPr sz="860" b="0" i="0">
                <a:solidFill>
                  <a:srgbClr val="E4EDF2"/>
                </a:solidFill>
                <a:latin typeface="Courier New"/>
              </a:rPr>
              <a:t>(</a:t>
            </a:r>
            <a:r>
              <a:rPr sz="860" b="0" i="0">
                <a:solidFill>
                  <a:srgbClr val="EBB183"/>
                </a:solidFill>
                <a:latin typeface="Courier New"/>
              </a:rPr>
              <a:t>"  grounded? YES (found relevant context)"</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D9A6CE"/>
                </a:solidFill>
                <a:latin typeface="Courier New"/>
              </a:rPr>
              <a:t>else</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9FC4EE"/>
                </a:solidFill>
                <a:latin typeface="Courier New"/>
              </a:rPr>
              <a:t>print</a:t>
            </a:r>
            <a:r>
              <a:rPr sz="860" b="0" i="0">
                <a:solidFill>
                  <a:srgbClr val="E4EDF2"/>
                </a:solidFill>
                <a:latin typeface="Courier New"/>
              </a:rPr>
              <a:t>(</a:t>
            </a:r>
            <a:r>
              <a:rPr sz="860" b="0" i="0">
                <a:solidFill>
                  <a:srgbClr val="EBB183"/>
                </a:solidFill>
                <a:latin typeface="Courier New"/>
              </a:rPr>
              <a:t>"  grounded? NO (no relevant context)"</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t>
            </a:r>
            <a:r>
              <a:rPr sz="860" b="0" i="0">
                <a:solidFill>
                  <a:srgbClr val="9FC4EE"/>
                </a:solidFill>
                <a:latin typeface="Courier New"/>
              </a:rPr>
              <a:t>print</a:t>
            </a:r>
            <a:r>
              <a:rPr sz="860" b="0" i="0">
                <a:solidFill>
                  <a:srgbClr val="E4EDF2"/>
                </a:solidFill>
                <a:latin typeface="Courier New"/>
              </a:rPr>
              <a:t>(</a:t>
            </a:r>
            <a:r>
              <a:rPr sz="860" b="0" i="0">
                <a:solidFill>
                  <a:srgbClr val="EBB183"/>
                </a:solidFill>
                <a:latin typeface="Courier New"/>
              </a:rPr>
              <a:t>"  answer:"</a:t>
            </a:r>
            <a:r>
              <a:rPr sz="860" b="0" i="0">
                <a:solidFill>
                  <a:srgbClr val="E4EDF2"/>
                </a:solidFill>
                <a:latin typeface="Courier New"/>
              </a:rPr>
              <a:t>, </a:t>
            </a:r>
            <a:r>
              <a:rPr sz="860" b="0" i="0">
                <a:solidFill>
                  <a:srgbClr val="9FC4EE"/>
                </a:solidFill>
                <a:latin typeface="Courier New"/>
              </a:rPr>
              <a:t>generate</a:t>
            </a:r>
            <a:r>
              <a:rPr sz="860" b="0" i="0">
                <a:solidFill>
                  <a:srgbClr val="E4EDF2"/>
                </a:solidFill>
                <a:latin typeface="Courier New"/>
              </a:rPr>
              <a:t>(</a:t>
            </a:r>
            <a:r>
              <a:rPr sz="860" b="0" i="0">
                <a:solidFill>
                  <a:srgbClr val="E4EDF2"/>
                </a:solidFill>
                <a:latin typeface="Courier New"/>
              </a:rPr>
              <a:t>system</a:t>
            </a:r>
            <a:r>
              <a:rPr sz="860" b="0" i="0">
                <a:solidFill>
                  <a:srgbClr val="E4EDF2"/>
                </a:solidFill>
                <a:latin typeface="Courier New"/>
              </a:rPr>
              <a:t>, </a:t>
            </a:r>
            <a:r>
              <a:rPr sz="860" b="0" i="0">
                <a:solidFill>
                  <a:srgbClr val="E4EDF2"/>
                </a:solidFill>
                <a:latin typeface="Courier New"/>
              </a:rPr>
              <a:t>user</a:t>
            </a:r>
            <a:r>
              <a:rPr sz="860" b="0" i="0">
                <a:solidFill>
                  <a:srgbClr val="E4EDF2"/>
                </a:solidFill>
                <a:latin typeface="Courier New"/>
              </a:rPr>
              <a:t>)[:</a:t>
            </a:r>
            <a:r>
              <a:rPr sz="860" b="0" i="0">
                <a:solidFill>
                  <a:srgbClr val="9FC4EE"/>
                </a:solidFill>
                <a:latin typeface="Courier New"/>
              </a:rPr>
              <a:t>300</a:t>
            </a:r>
            <a:r>
              <a:rPr sz="860" b="0" i="0">
                <a:solidFill>
                  <a:srgbClr val="E4EDF2"/>
                </a:solidFill>
                <a:latin typeface="Courier New"/>
              </a:rPr>
              <a:t>], </a:t>
            </a:r>
            <a:r>
              <a:rPr sz="860" b="0" i="0">
                <a:solidFill>
                  <a:srgbClr val="EBB183"/>
                </a:solidFill>
                <a:latin typeface="Courier New"/>
              </a:rPr>
              <a:t>"\n"</a:t>
            </a:r>
            <a:r>
              <a:rPr sz="860" b="0" i="0">
                <a:solidFill>
                  <a:srgbClr val="E4EDF2"/>
                </a:solidFill>
                <a:latin typeface="Courier New"/>
              </a:rPr>
              <a:t>)</a:t>
            </a:r>
          </a:p>
          <a:p>
            <a:pPr>
              <a:lnSpc>
                <a:spcPct val="112000"/>
              </a:lnSpc>
              <a:spcAft>
                <a:spcPts val="100"/>
              </a:spcAft>
            </a:pPr>
            <a:r>
              <a:rPr sz="860" b="0" i="0">
                <a:solidFill>
                  <a:srgbClr val="E4EDF2"/>
                </a:solidFill>
                <a:latin typeface="Courier New"/>
              </a:rPr>
              <a:t/>
            </a:r>
          </a:p>
          <a:p>
            <a:pPr>
              <a:lnSpc>
                <a:spcPct val="112000"/>
              </a:lnSpc>
              <a:spcAft>
                <a:spcPts val="100"/>
              </a:spcAft>
            </a:pPr>
            <a:r>
              <a:rPr sz="860" b="0" i="0">
                <a:solidFill>
                  <a:srgbClr val="E4EDF2"/>
                </a:solidFill>
                <a:latin typeface="Courier New"/>
              </a:rPr>
              <a:t/>
            </a:r>
          </a:p>
          <a:p>
            <a:pPr>
              <a:lnSpc>
                <a:spcPct val="112000"/>
              </a:lnSpc>
              <a:spcAft>
                <a:spcPts val="100"/>
              </a:spcAft>
            </a:pPr>
            <a:r>
              <a:rPr sz="860" b="0" i="0">
                <a:solidFill>
                  <a:srgbClr val="9FC4EE"/>
                </a:solidFill>
                <a:latin typeface="Courier New"/>
              </a:rPr>
              <a:t>ask</a:t>
            </a:r>
            <a:r>
              <a:rPr sz="860" b="0" i="0">
                <a:solidFill>
                  <a:srgbClr val="E4EDF2"/>
                </a:solidFill>
                <a:latin typeface="Courier New"/>
              </a:rPr>
              <a:t>(</a:t>
            </a:r>
            <a:r>
              <a:rPr sz="860" b="0" i="0">
                <a:solidFill>
                  <a:srgbClr val="EBB183"/>
                </a:solidFill>
                <a:latin typeface="Courier New"/>
              </a:rPr>
              <a:t>"What is SSRF and how can it be exploited?"</a:t>
            </a:r>
            <a:r>
              <a:rPr sz="860" b="0" i="0">
                <a:solidFill>
                  <a:srgbClr val="E4EDF2"/>
                </a:solidFill>
                <a:latin typeface="Courier New"/>
              </a:rPr>
              <a:t>)</a:t>
            </a:r>
          </a:p>
          <a:p>
            <a:pPr>
              <a:lnSpc>
                <a:spcPct val="112000"/>
              </a:lnSpc>
              <a:spcAft>
                <a:spcPts val="100"/>
              </a:spcAft>
            </a:pPr>
            <a:r>
              <a:rPr sz="860" b="0" i="0">
                <a:solidFill>
                  <a:srgbClr val="76909F"/>
                </a:solidFill>
                <a:latin typeface="Courier New"/>
              </a:rPr>
              <a:t>#   -&gt; in the documents      -&gt; [RAG]</a:t>
            </a:r>
          </a:p>
          <a:p>
            <a:pPr>
              <a:lnSpc>
                <a:spcPct val="112000"/>
              </a:lnSpc>
              <a:spcAft>
                <a:spcPts val="100"/>
              </a:spcAft>
            </a:pPr>
            <a:r>
              <a:rPr sz="860" b="0" i="0">
                <a:solidFill>
                  <a:srgbClr val="E4EDF2"/>
                </a:solidFill>
                <a:latin typeface="Courier New"/>
              </a:rPr>
              <a:t/>
            </a:r>
          </a:p>
          <a:p>
            <a:pPr>
              <a:lnSpc>
                <a:spcPct val="112000"/>
              </a:lnSpc>
              <a:spcAft>
                <a:spcPts val="100"/>
              </a:spcAft>
            </a:pPr>
            <a:r>
              <a:rPr sz="860" b="0" i="0">
                <a:solidFill>
                  <a:srgbClr val="9FC4EE"/>
                </a:solidFill>
                <a:latin typeface="Courier New"/>
              </a:rPr>
              <a:t>ask</a:t>
            </a:r>
            <a:r>
              <a:rPr sz="860" b="0" i="0">
                <a:solidFill>
                  <a:srgbClr val="E4EDF2"/>
                </a:solidFill>
                <a:latin typeface="Courier New"/>
              </a:rPr>
              <a:t>(</a:t>
            </a:r>
            <a:r>
              <a:rPr sz="860" b="0" i="0">
                <a:solidFill>
                  <a:srgbClr val="EBB183"/>
                </a:solidFill>
                <a:latin typeface="Courier New"/>
              </a:rPr>
              <a:t>"What is the capital of France?"</a:t>
            </a:r>
            <a:r>
              <a:rPr sz="860" b="0" i="0">
                <a:solidFill>
                  <a:srgbClr val="E4EDF2"/>
                </a:solidFill>
                <a:latin typeface="Courier New"/>
              </a:rPr>
              <a:t>)</a:t>
            </a:r>
          </a:p>
          <a:p>
            <a:pPr>
              <a:lnSpc>
                <a:spcPct val="112000"/>
              </a:lnSpc>
              <a:spcAft>
                <a:spcPts val="100"/>
              </a:spcAft>
            </a:pPr>
            <a:r>
              <a:rPr sz="860" b="0" i="0">
                <a:solidFill>
                  <a:srgbClr val="76909F"/>
                </a:solidFill>
                <a:latin typeface="Courier New"/>
              </a:rPr>
              <a:t>#   -&gt; not in the documents  -&gt; [LLM] fallback</a:t>
            </a:r>
          </a:p>
        </p:txBody>
      </p:sp>
      <p:sp>
        <p:nvSpPr>
          <p:cNvPr id="10" name="Rounded Rectangle 9"/>
          <p:cNvSpPr/>
          <p:nvPr/>
        </p:nvSpPr>
        <p:spPr>
          <a:xfrm>
            <a:off x="8183879" y="1719072"/>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348471" y="1874519"/>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a:t>
            </a:r>
          </a:p>
        </p:txBody>
      </p:sp>
      <p:sp>
        <p:nvSpPr>
          <p:cNvPr id="12" name="TextBox 11"/>
          <p:cNvSpPr txBox="1"/>
          <p:nvPr/>
        </p:nvSpPr>
        <p:spPr>
          <a:xfrm>
            <a:off x="8695944" y="1865376"/>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Three moves, nothing else</a:t>
            </a:r>
          </a:p>
        </p:txBody>
      </p:sp>
      <p:sp>
        <p:nvSpPr>
          <p:cNvPr id="13" name="TextBox 12"/>
          <p:cNvSpPr txBox="1"/>
          <p:nvPr/>
        </p:nvSpPr>
        <p:spPr>
          <a:xfrm>
            <a:off x="8348471" y="2194560"/>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retrieve, join into context, build prompt, generate. The recipe from Part 4, now executable.</a:t>
            </a:r>
          </a:p>
        </p:txBody>
      </p:sp>
      <p:sp>
        <p:nvSpPr>
          <p:cNvPr id="14" name="Rounded Rectangle 13"/>
          <p:cNvSpPr/>
          <p:nvPr/>
        </p:nvSpPr>
        <p:spPr>
          <a:xfrm>
            <a:off x="8183879" y="2866644"/>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48471" y="3022091"/>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a:t>
            </a:r>
          </a:p>
        </p:txBody>
      </p:sp>
      <p:sp>
        <p:nvSpPr>
          <p:cNvPr id="16" name="TextBox 15"/>
          <p:cNvSpPr txBox="1"/>
          <p:nvPr/>
        </p:nvSpPr>
        <p:spPr>
          <a:xfrm>
            <a:off x="8695944" y="3012948"/>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Keep the grounded flag</a:t>
            </a:r>
          </a:p>
        </p:txBody>
      </p:sp>
      <p:sp>
        <p:nvSpPr>
          <p:cNvPr id="17" name="TextBox 16"/>
          <p:cNvSpPr txBox="1"/>
          <p:nvPr/>
        </p:nvSpPr>
        <p:spPr>
          <a:xfrm>
            <a:off x="8348471" y="3342132"/>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Every answer arrives labelled with whether it had evidence. You can audit a transcript at a glance.</a:t>
            </a:r>
          </a:p>
        </p:txBody>
      </p:sp>
      <p:sp>
        <p:nvSpPr>
          <p:cNvPr id="18" name="Rounded Rectangle 17"/>
          <p:cNvSpPr/>
          <p:nvPr/>
        </p:nvSpPr>
        <p:spPr>
          <a:xfrm>
            <a:off x="8183879" y="4014216"/>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48471" y="4169664"/>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3</a:t>
            </a:r>
          </a:p>
        </p:txBody>
      </p:sp>
      <p:sp>
        <p:nvSpPr>
          <p:cNvPr id="20" name="TextBox 19"/>
          <p:cNvSpPr txBox="1"/>
          <p:nvPr/>
        </p:nvSpPr>
        <p:spPr>
          <a:xfrm>
            <a:off x="8695944" y="4160520"/>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Two calls, not one</a:t>
            </a:r>
          </a:p>
        </p:txBody>
      </p:sp>
      <p:sp>
        <p:nvSpPr>
          <p:cNvPr id="21" name="TextBox 20"/>
          <p:cNvSpPr txBox="1"/>
          <p:nvPr/>
        </p:nvSpPr>
        <p:spPr>
          <a:xfrm>
            <a:off x="8348471" y="4489704"/>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One question the corpus answers, one it cannot. That pair is the acceptance test for your mini-project.</a:t>
            </a:r>
          </a:p>
        </p:txBody>
      </p:sp>
      <p:sp>
        <p:nvSpPr>
          <p:cNvPr id="22" name="Rounded Rectangle 21"/>
          <p:cNvSpPr/>
          <p:nvPr/>
        </p:nvSpPr>
        <p:spPr>
          <a:xfrm>
            <a:off x="8183879" y="5161788"/>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348471" y="5317236"/>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a:t>
            </a:r>
          </a:p>
        </p:txBody>
      </p:sp>
      <p:sp>
        <p:nvSpPr>
          <p:cNvPr id="24" name="TextBox 23"/>
          <p:cNvSpPr txBox="1"/>
          <p:nvPr/>
        </p:nvSpPr>
        <p:spPr>
          <a:xfrm>
            <a:off x="8695944" y="5308092"/>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The model knows it is Paris</a:t>
            </a:r>
          </a:p>
        </p:txBody>
      </p:sp>
      <p:sp>
        <p:nvSpPr>
          <p:cNvPr id="25" name="TextBox 24"/>
          <p:cNvSpPr txBox="1"/>
          <p:nvPr/>
        </p:nvSpPr>
        <p:spPr>
          <a:xfrm>
            <a:off x="8348471" y="5637276"/>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And must still decline. A true fact that is not grounded is exactly the failure this architecture exists to prevent.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Generation (RAG)</dc:title>
  <dc:subject>PptxGenJS Presentation</dc:subject>
  <dc:creator>Chengcheng Li, PhD</dc:creator>
  <cp:lastModifiedBy>Chengcheng Li, PhD</cp:lastModifiedBy>
  <cp:revision>1</cp:revision>
  <dcterms:created xsi:type="dcterms:W3CDTF">2026-07-26T20:56:31Z</dcterms:created>
  <dcterms:modified xsi:type="dcterms:W3CDTF">2026-07-26T20:56:31Z</dcterms:modified>
</cp:coreProperties>
</file>