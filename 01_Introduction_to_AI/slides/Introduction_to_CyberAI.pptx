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84" r:id="rId35"/>
    <p:sldId id="285" r:id="rId36"/>
    <p:sldId id="286" r:id="rId37"/>
    <p:sldId id="261" r:id="rId7"/>
    <p:sldId id="262" r:id="rId8"/>
    <p:sldId id="263" r:id="rId9"/>
    <p:sldId id="264" r:id="rId10"/>
    <p:sldId id="265" r:id="rId11"/>
    <p:sldId id="287" r:id="rId38"/>
    <p:sldId id="266" r:id="rId12"/>
    <p:sldId id="288" r:id="rId39"/>
    <p:sldId id="267" r:id="rId13"/>
    <p:sldId id="268" r:id="rId14"/>
    <p:sldId id="269" r:id="rId15"/>
    <p:sldId id="270" r:id="rId16"/>
    <p:sldId id="289" r:id="rId40"/>
    <p:sldId id="290" r:id="rId41"/>
    <p:sldId id="271" r:id="rId17"/>
    <p:sldId id="291" r:id="rId42"/>
    <p:sldId id="292" r:id="rId43"/>
    <p:sldId id="293" r:id="rId44"/>
    <p:sldId id="272" r:id="rId18"/>
    <p:sldId id="273" r:id="rId19"/>
    <p:sldId id="274" r:id="rId20"/>
    <p:sldId id="294" r:id="rId45"/>
    <p:sldId id="275" r:id="rId21"/>
    <p:sldId id="276" r:id="rId22"/>
    <p:sldId id="277" r:id="rId23"/>
    <p:sldId id="278" r:id="rId24"/>
    <p:sldId id="295" r:id="rId46"/>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2202B"/>
                </a:solidFill>
                <a:latin typeface="Calibri"/>
              </a:defRPr>
            </a:pPr>
            <a:r>
              <a:rPr sz="1050" b="0" i="0" u="none" strike="noStrike">
                <a:solidFill>
                  <a:srgbClr val="12202B"/>
                </a:solidFill>
                <a:latin typeface="Calibri"/>
              </a:rPr>
              <a:t>The triage gap  (schematic — shape, not measured data)</a:t>
            </a:r>
          </a:p>
        </c:rich>
      </c:tx>
      <c:layout/>
      <c:overlay val="0"/>
    </c:title>
    <c:autoTitleDeleted val="0"/>
    <c:plotArea>
      <c:layout/>
      <c:lineChart>
        <c:varyColors val="0"/>
        <c:ser>
          <c:idx val="0"/>
          <c:order val="0"/>
          <c:tx>
            <c:strRef>
              <c:f>Sheet1!$B$1</c:f>
              <c:strCache>
                <c:ptCount val="1"/>
                <c:pt idx="0">
                  <c:v>Alerts arriving</c:v>
                </c:pt>
              </c:strCache>
            </c:strRef>
          </c:tx>
          <c:spPr>
            <a:solidFill>
              <a:srgbClr val="A4243B"/>
            </a:solidFill>
            <a:ln w="38100" cap="flat">
              <a:solidFill>
                <a:srgbClr val="A42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4243B"/>
              </a:solidFill>
              <a:ln w="9525" cap="flat">
                <a:solidFill>
                  <a:srgbClr val="A4243B"/>
                </a:solidFill>
                <a:prstDash val="solid"/>
                <a:round/>
              </a:ln>
              <a:effectLst/>
            </c:spPr>
          </c:marker>
          <c:cat>
            <c:multiLvlStrRef>
              <c:f>Sheet1!$A$2:$A$8</c:f>
              <c:multiLvlStrCache>
                <c:ptCount val="7"/>
                <c:lvl>
                  <c:pt idx="0">
                    <c:v/>
                  </c:pt>
                  <c:pt idx="1">
                    <c:v/>
                  </c:pt>
                  <c:pt idx="2">
                    <c:v/>
                  </c:pt>
                  <c:pt idx="3">
                    <c:v/>
                  </c:pt>
                  <c:pt idx="4">
                    <c:v/>
                  </c:pt>
                  <c:pt idx="5">
                    <c:v/>
                  </c:pt>
                  <c:pt idx="6">
                    <c:v/>
                  </c:pt>
                </c:lvl>
              </c:multiLvlStrCache>
            </c:multiLvlStrRef>
          </c:cat>
          <c:val>
            <c:numRef>
              <c:f>Sheet1!$B$2:$B$8</c:f>
              <c:numCache>
                <c:formatCode>General</c:formatCode>
                <c:ptCount val="7"/>
                <c:pt idx="0">
                  <c:v>18</c:v>
                </c:pt>
                <c:pt idx="1">
                  <c:v>26</c:v>
                </c:pt>
                <c:pt idx="2">
                  <c:v>38</c:v>
                </c:pt>
                <c:pt idx="3">
                  <c:v>55</c:v>
                </c:pt>
                <c:pt idx="4">
                  <c:v>78</c:v>
                </c:pt>
                <c:pt idx="5">
                  <c:v>108</c:v>
                </c:pt>
                <c:pt idx="6">
                  <c:v>148</c:v>
                </c:pt>
              </c:numCache>
            </c:numRef>
          </c:val>
          <c:smooth val="1"/>
        </c:ser>
        <c:ser>
          <c:idx val="1"/>
          <c:order val="1"/>
          <c:tx>
            <c:strRef>
              <c:f>Sheet1!$C$1</c:f>
              <c:strCache>
                <c:ptCount val="1"/>
                <c:pt idx="0">
                  <c:v>Alerts a team can actually triage</c:v>
                </c:pt>
              </c:strCache>
            </c:strRef>
          </c:tx>
          <c:spPr>
            <a:solidFill>
              <a:srgbClr val="553C7B"/>
            </a:solidFill>
            <a:ln w="38100" cap="flat">
              <a:solidFill>
                <a:srgbClr val="553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53C7B"/>
              </a:solidFill>
              <a:ln w="9525" cap="flat">
                <a:solidFill>
                  <a:srgbClr val="553C7B"/>
                </a:solidFill>
                <a:prstDash val="solid"/>
                <a:round/>
              </a:ln>
              <a:effectLst/>
            </c:spPr>
          </c:marker>
          <c:cat>
            <c:multiLvlStrRef>
              <c:f>Sheet1!$A$2:$A$8</c:f>
              <c:multiLvlStrCache>
                <c:ptCount val="7"/>
                <c:lvl>
                  <c:pt idx="0">
                    <c:v/>
                  </c:pt>
                  <c:pt idx="1">
                    <c:v/>
                  </c:pt>
                  <c:pt idx="2">
                    <c:v/>
                  </c:pt>
                  <c:pt idx="3">
                    <c:v/>
                  </c:pt>
                  <c:pt idx="4">
                    <c:v/>
                  </c:pt>
                  <c:pt idx="5">
                    <c:v/>
                  </c:pt>
                  <c:pt idx="6">
                    <c:v/>
                  </c:pt>
                </c:lvl>
              </c:multiLvlStrCache>
            </c:multiLvlStrRef>
          </c:cat>
          <c:val>
            <c:numRef>
              <c:f>Sheet1!$C$2:$C$8</c:f>
              <c:numCache>
                <c:formatCode>General</c:formatCode>
                <c:ptCount val="7"/>
                <c:pt idx="0">
                  <c:v>16</c:v>
                </c:pt>
                <c:pt idx="1">
                  <c:v>20</c:v>
                </c:pt>
                <c:pt idx="2">
                  <c:v>23</c:v>
                </c:pt>
                <c:pt idx="3">
                  <c:v>25</c:v>
                </c:pt>
                <c:pt idx="4">
                  <c:v>27</c:v>
                </c:pt>
                <c:pt idx="5">
                  <c:v>28</c:v>
                </c:pt>
                <c:pt idx="6">
                  <c:v>29</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C738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5C7383"/>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2202B"/>
                </a:solidFill>
                <a:latin typeface="Calibri"/>
              </a:defRPr>
            </a:pPr>
            <a:r>
              <a:rPr sz="1000" b="0" i="0" u="none" strike="noStrike">
                <a:solidFill>
                  <a:srgbClr val="12202B"/>
                </a:solidFill>
                <a:latin typeface="Calibri"/>
              </a:rPr>
              <a:t>Illustrative next-token probabilities (%)</a:t>
            </a:r>
          </a:p>
        </c:rich>
      </c:tx>
      <c:layout/>
      <c:overlay val="0"/>
    </c:title>
    <c:autoTitleDeleted val="0"/>
    <c:plotArea>
      <c:layout/>
      <c:barChart>
        <c:barDir val="bar"/>
        <c:grouping val="clustered"/>
        <c:varyColors val="0"/>
        <c:ser>
          <c:idx val="0"/>
          <c:order val="0"/>
          <c:tx>
            <c:strRef>
              <c:f>Sheet1!$B$1</c:f>
              <c:strCache>
                <c:ptCount val="1"/>
                <c:pt idx="0">
                  <c:v>P(next token)</c:v>
                </c:pt>
              </c:strCache>
            </c:strRef>
          </c:tx>
          <c:spPr>
            <a:solidFill>
              <a:srgbClr val="553C7B"/>
            </a:solidFill>
            <a:effectLst/>
          </c:spPr>
          <c:invertIfNegative val="0"/>
          <c:dLbls>
            <c:numFmt formatCode="#,##0" sourceLinked="0"/>
            <c:txPr>
              <a:bodyPr/>
              <a:lstStyle/>
              <a:p>
                <a:pPr>
                  <a:defRPr b="0" i="0" strike="noStrike" sz="850" u="none">
                    <a:solidFill>
                      <a:srgbClr val="5C7383"/>
                    </a:solidFill>
                    <a:latin typeface="Arial"/>
                  </a:defRPr>
                </a:pPr>
              </a:p>
            </c:txPr>
            <c:showLegendKey val="0"/>
            <c:showVal val="1"/>
            <c:showCatName val="0"/>
            <c:showSerName val="0"/>
            <c:showPercent val="0"/>
            <c:showBubbleSize val="0"/>
            <c:showLeaderLines val="0"/>
          </c:dLbls>
          <c:cat>
            <c:multiLvlStrRef>
              <c:f>Sheet1!$A$2:$A$6</c:f>
              <c:multiLvlStrCache>
                <c:ptCount val="5"/>
                <c:lvl>
                  <c:pt idx="0">
                    <c:v>" success"</c:v>
                  </c:pt>
                  <c:pt idx="1">
                    <c:v>" successful"</c:v>
                  </c:pt>
                  <c:pt idx="2">
                    <c:v>" series"</c:v>
                  </c:pt>
                  <c:pt idx="3">
                    <c:v>" burst"</c:v>
                  </c:pt>
                  <c:pt idx="4">
                    <c:v>" valid"</c:v>
                  </c:pt>
                </c:lvl>
              </c:multiLvlStrCache>
            </c:multiLvlStrRef>
          </c:cat>
          <c:val>
            <c:numRef>
              <c:f>Sheet1!$B$2:$B$6</c:f>
              <c:numCache>
                <c:formatCode>General</c:formatCode>
                <c:ptCount val="5"/>
                <c:pt idx="0">
                  <c:v>31</c:v>
                </c:pt>
                <c:pt idx="1">
                  <c:v>22</c:v>
                </c:pt>
                <c:pt idx="2">
                  <c:v>14</c:v>
                </c:pt>
                <c:pt idx="3">
                  <c:v>9</c:v>
                </c:pt>
                <c:pt idx="4">
                  <c:v>6</c:v>
                </c:pt>
              </c:numCache>
            </c:numRef>
          </c:val>
        </c:ser>
        <c:dLbls>
          <c:numFmt formatCode="#,##0" sourceLinked="0"/>
          <c:txPr>
            <a:bodyPr/>
            <a:lstStyle/>
            <a:p>
              <a:pPr>
                <a:defRPr b="0" i="0" strike="noStrike" sz="850" u="none">
                  <a:solidFill>
                    <a:srgbClr val="5C738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C7383"/>
                </a:solidFill>
                <a:latin typeface="Arial"/>
              </a:defRPr>
            </a:pPr>
            <a:endParaRPr lang="en-US"/>
          </a:p>
        </c:txPr>
        <c:crossAx val="2094734552"/>
        <c:crosses val="autoZero"/>
        <c:auto val="1"/>
        <c:lblAlgn val="ctr"/>
        <c:noMultiLvlLbl val="1"/>
      </c:catAx>
      <c:valAx>
        <c:axId val="2094734552"/>
        <c:scaling>
          <c:orientation val="minMax"/>
          <c:max val="40"/>
        </c:scaling>
        <c:delete val="0"/>
        <c:axPos val="b"/>
        <c:majorGridlines>
          <c:spPr>
            <a:ln w="12700" cap="flat">
              <a:solidFill>
                <a:srgbClr val="E9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C738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B"/>
        </a:solidFill>
      </p:bgPr>
    </p:bg>
    <p:spTree>
      <p:nvGrpSpPr>
        <p:cNvPr id="1" name=""/>
        <p:cNvGrpSpPr/>
        <p:nvPr/>
      </p:nvGrpSpPr>
      <p:grpSpPr>
        <a:xfrm>
          <a:off x="0" y="0"/>
          <a:ext cx="0" cy="0"/>
          <a:chOff x="0" y="0"/>
          <a:chExt cx="0" cy="0"/>
        </a:xfrm>
      </p:grpSpPr>
      <p:sp>
        <p:nvSpPr>
          <p:cNvPr id="2" name="Shape 0"/>
          <p:cNvSpPr/>
          <p:nvPr/>
        </p:nvSpPr>
        <p:spPr>
          <a:xfrm>
            <a:off x="8686800" y="-1280160"/>
            <a:ext cx="5120640" cy="5120640"/>
          </a:xfrm>
          <a:prstGeom prst="ellipse">
            <a:avLst/>
          </a:prstGeom>
          <a:solidFill>
            <a:srgbClr val="553C7B">
              <a:alpha val="22000"/>
            </a:srgbClr>
          </a:solidFill>
          <a:ln w="12700">
            <a:solidFill>
              <a:srgbClr val="553C7B">
                <a:alpha val="40000"/>
              </a:srgbClr>
            </a:solidFill>
            <a:prstDash val="solid"/>
          </a:ln>
        </p:spPr>
      </p:sp>
      <p:sp>
        <p:nvSpPr>
          <p:cNvPr id="3" name="Shape 1"/>
          <p:cNvSpPr/>
          <p:nvPr/>
        </p:nvSpPr>
        <p:spPr>
          <a:xfrm>
            <a:off x="9692640" y="-274320"/>
            <a:ext cx="3108960" cy="3108960"/>
          </a:xfrm>
          <a:prstGeom prst="ellipse">
            <a:avLst/>
          </a:prstGeom>
          <a:solidFill>
            <a:srgbClr val="12202B"/>
          </a:solidFill>
          <a:ln w="12700">
            <a:solidFill>
              <a:srgbClr val="553C7B">
                <a:alpha val="55000"/>
              </a:srgbClr>
            </a:solidFill>
            <a:prstDash val="solid"/>
          </a:ln>
        </p:spPr>
      </p:sp>
      <p:sp>
        <p:nvSpPr>
          <p:cNvPr id="4" name="Text 2"/>
          <p:cNvSpPr/>
          <p:nvPr/>
        </p:nvSpPr>
        <p:spPr>
          <a:xfrm>
            <a:off x="640080" y="2121408"/>
            <a:ext cx="8229600" cy="274320"/>
          </a:xfrm>
          <a:prstGeom prst="rect">
            <a:avLst/>
          </a:prstGeom>
          <a:noFill/>
          <a:ln/>
        </p:spPr>
        <p:txBody>
          <a:bodyPr wrap="square" lIns="0" tIns="0" rIns="0" bIns="0" rtlCol="0" anchor="ctr"/>
          <a:lstStyle/>
          <a:p>
            <a:pPr indent="0" marL="0">
              <a:buNone/>
            </a:pPr>
            <a:r>
              <a:rPr lang="en-US" sz="1100" b="1" spc="240" kern="0" dirty="0">
                <a:solidFill>
                  <a:srgbClr val="9FB8C6"/>
                </a:solidFill>
                <a:latin typeface="Calibri" pitchFamily="34" charset="0"/>
                <a:ea typeface="Calibri" pitchFamily="34" charset="-122"/>
                <a:cs typeface="Calibri" pitchFamily="34" charset="-120"/>
              </a:rPr>
              <a:t>IT7075 · APPLIED AI FOR CYBERSECURITY · MODULE 1</a:t>
            </a:r>
            <a:endParaRPr lang="en-US" sz="1100" dirty="0"/>
          </a:p>
        </p:txBody>
      </p:sp>
      <p:sp>
        <p:nvSpPr>
          <p:cNvPr id="5" name="Text 3"/>
          <p:cNvSpPr/>
          <p:nvPr/>
        </p:nvSpPr>
        <p:spPr>
          <a:xfrm>
            <a:off x="640080" y="2487168"/>
            <a:ext cx="9509760" cy="11430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CyberAI Landscape</a:t>
            </a:r>
            <a:endParaRPr lang="en-US" sz="4600" dirty="0"/>
          </a:p>
        </p:txBody>
      </p:sp>
      <p:sp>
        <p:nvSpPr>
          <p:cNvPr id="6" name="Text 4"/>
          <p:cNvSpPr/>
          <p:nvPr/>
        </p:nvSpPr>
        <p:spPr>
          <a:xfrm>
            <a:off x="640080" y="3703320"/>
            <a:ext cx="8778240" cy="777240"/>
          </a:xfrm>
          <a:prstGeom prst="rect">
            <a:avLst/>
          </a:prstGeom>
          <a:noFill/>
          <a:ln/>
        </p:spPr>
        <p:txBody>
          <a:bodyPr wrap="square" lIns="0" tIns="0" rIns="0" bIns="0" rtlCol="0" anchor="t"/>
          <a:lstStyle/>
          <a:p>
            <a:pPr indent="0" marL="0">
              <a:lnSpc>
                <a:spcPts val="2400"/>
              </a:lnSpc>
              <a:buNone/>
            </a:pPr>
            <a:r>
              <a:rPr lang="en-US" sz="1650" dirty="0">
                <a:solidFill>
                  <a:srgbClr val="9FB8C6"/>
                </a:solidFill>
                <a:latin typeface="Calibri" pitchFamily="34" charset="0"/>
                <a:ea typeface="Calibri" pitchFamily="34" charset="-122"/>
                <a:cs typeface="Calibri" pitchFamily="34" charset="-120"/>
              </a:rPr>
              <a:t>Three families of AI, where they help a defender, and why every AI system</a:t>
            </a:r>
            <a:endParaRPr lang="en-US" sz="1650" dirty="0"/>
          </a:p>
          <a:p>
            <a:pPr indent="0" marL="0">
              <a:lnSpc>
                <a:spcPts val="2400"/>
              </a:lnSpc>
              <a:buNone/>
            </a:pPr>
            <a:r>
              <a:rPr lang="en-US" sz="1650" dirty="0">
                <a:solidFill>
                  <a:srgbClr val="9FB8C6"/>
                </a:solidFill>
                <a:latin typeface="Calibri" pitchFamily="34" charset="0"/>
                <a:ea typeface="Calibri" pitchFamily="34" charset="-122"/>
                <a:cs typeface="Calibri" pitchFamily="34" charset="-120"/>
              </a:rPr>
              <a:t>you build is itself something an attacker will try to break.</a:t>
            </a:r>
            <a:endParaRPr lang="en-US" sz="1650" dirty="0"/>
          </a:p>
        </p:txBody>
      </p:sp>
      <p:sp>
        <p:nvSpPr>
          <p:cNvPr id="7" name="Shape 5"/>
          <p:cNvSpPr/>
          <p:nvPr/>
        </p:nvSpPr>
        <p:spPr>
          <a:xfrm>
            <a:off x="640080" y="4800600"/>
            <a:ext cx="1005840" cy="32004"/>
          </a:xfrm>
          <a:prstGeom prst="rect">
            <a:avLst/>
          </a:prstGeom>
          <a:solidFill>
            <a:srgbClr val="553C7B"/>
          </a:solidFill>
          <a:ln w="12700">
            <a:solidFill>
              <a:srgbClr val="553C7B"/>
            </a:solidFill>
            <a:prstDash val="solid"/>
          </a:ln>
        </p:spPr>
      </p:sp>
      <p:sp>
        <p:nvSpPr>
          <p:cNvPr id="8" name="Text 6"/>
          <p:cNvSpPr/>
          <p:nvPr/>
        </p:nvSpPr>
        <p:spPr>
          <a:xfrm>
            <a:off x="640080" y="5029200"/>
            <a:ext cx="6035040" cy="274320"/>
          </a:xfrm>
          <a:prstGeom prst="rect">
            <a:avLst/>
          </a:prstGeom>
          <a:noFill/>
          <a:ln/>
        </p:spPr>
        <p:txBody>
          <a:bodyPr wrap="square" lIns="0" tIns="0" rIns="0" bIns="0" rtlCol="0" anchor="ctr"/>
          <a:lstStyle/>
          <a:p>
            <a:pPr indent="0" marL="0">
              <a:buNone/>
            </a:pPr>
            <a:r>
              <a:rPr lang="en-US" sz="1150" dirty="0">
                <a:solidFill>
                  <a:srgbClr val="9FB8C6"/>
                </a:solidFill>
                <a:latin typeface="Calibri" pitchFamily="34" charset="0"/>
                <a:ea typeface="Calibri" pitchFamily="34" charset="-122"/>
                <a:cs typeface="Calibri" pitchFamily="34" charset="-120"/>
              </a:rPr>
              <a:t>Chengcheng Li, PhD · School of Information Technology · University of Cincinnati</a:t>
            </a:r>
            <a:endParaRPr lang="en-US" sz="1150" dirty="0"/>
          </a:p>
        </p:txBody>
      </p:sp>
      <p:sp>
        <p:nvSpPr>
          <p:cNvPr id="9" name="Text 7"/>
          <p:cNvSpPr/>
          <p:nvPr/>
        </p:nvSpPr>
        <p:spPr>
          <a:xfrm>
            <a:off x="6035040" y="5029200"/>
            <a:ext cx="5516575" cy="274320"/>
          </a:xfrm>
          <a:prstGeom prst="rect">
            <a:avLst/>
          </a:prstGeom>
          <a:noFill/>
          <a:ln/>
        </p:spPr>
        <p:txBody>
          <a:bodyPr wrap="square" lIns="0" tIns="0" rIns="0" bIns="0" rtlCol="0" anchor="ctr"/>
          <a:lstStyle/>
          <a:p>
            <a:pPr algn="r" indent="0" marL="0">
              <a:buNone/>
            </a:pPr>
            <a:r>
              <a:rPr lang="en-US" sz="1150" dirty="0">
                <a:solidFill>
                  <a:srgbClr val="9FB8C6"/>
                </a:solidFill>
                <a:latin typeface="Calibri" pitchFamily="34" charset="0"/>
                <a:ea typeface="Calibri" pitchFamily="34" charset="-122"/>
                <a:cs typeface="Calibri" pitchFamily="34" charset="-120"/>
              </a:rPr>
              <a:t>Five parts · one live demo</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8E77C4"/>
                </a:solidFill>
                <a:latin typeface="Calibri" pitchFamily="34" charset="0"/>
                <a:ea typeface="Calibri" pitchFamily="34" charset="-122"/>
                <a:cs typeface="Calibri" pitchFamily="34" charset="-120"/>
              </a:rPr>
              <a:t>PART 1</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Why AI for Security —</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and What AI Is</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Why this is suddenly practical, and the vocabulary you need before we touch any code.</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8E77C4"/>
          </a:solidFill>
          <a:ln w="12700">
            <a:solidFill>
              <a:srgbClr val="8E77C4"/>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AI for Security</a:t>
            </a:r>
            <a:endParaRPr lang="en-US" sz="13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AI in the SOC: Tool &amp; Target</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First AI Workflow</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 Little Python</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Frameworks, Ethics &amp; Your Week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1 · WHY AI FOR SECURITY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Why this course, why now</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 volume of alerts has outgrown the number of people available to read them.</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a:t>
            </a:r>
            <a:endParaRPr lang="en-US" sz="900" dirty="0"/>
          </a:p>
        </p:txBody>
      </p:sp>
      <p:graphicFrame>
        <p:nvGraphicFramePr>
          <p:cNvPr id="7" name="Chart 0" descr=""/>
          <p:cNvGraphicFramePr/>
          <p:nvPr/>
        </p:nvGraphicFramePr>
        <p:xfrm>
          <a:off x="640080" y="1737360"/>
          <a:ext cx="5486400" cy="26974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355080" y="1737360"/>
            <a:ext cx="2487168" cy="1481328"/>
          </a:xfrm>
          <a:prstGeom prst="roundRect">
            <a:avLst>
              <a:gd name="adj" fmla="val 4321"/>
            </a:avLst>
          </a:prstGeom>
          <a:solidFill>
            <a:srgbClr val="F1F5F8"/>
          </a:solidFill>
          <a:ln w="9525">
            <a:solidFill>
              <a:srgbClr val="C9D8E0"/>
            </a:solidFill>
            <a:prstDash val="solid"/>
          </a:ln>
        </p:spPr>
      </p:sp>
      <p:sp>
        <p:nvSpPr>
          <p:cNvPr id="9" name="Text 6"/>
          <p:cNvSpPr/>
          <p:nvPr/>
        </p:nvSpPr>
        <p:spPr>
          <a:xfrm>
            <a:off x="6611112" y="1920240"/>
            <a:ext cx="197510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Machine-speed attacks</a:t>
            </a:r>
            <a:endParaRPr lang="en-US" sz="1450" dirty="0"/>
          </a:p>
        </p:txBody>
      </p:sp>
      <p:sp>
        <p:nvSpPr>
          <p:cNvPr id="10" name="Text 7"/>
          <p:cNvSpPr/>
          <p:nvPr/>
        </p:nvSpPr>
        <p:spPr>
          <a:xfrm>
            <a:off x="6611112" y="2395728"/>
            <a:ext cx="1975104" cy="62179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Automation lets one adversary run campaigns that used to need a team.</a:t>
            </a:r>
            <a:endParaRPr lang="en-US" sz="1150" dirty="0"/>
          </a:p>
        </p:txBody>
      </p:sp>
      <p:sp>
        <p:nvSpPr>
          <p:cNvPr id="11" name="Shape 8"/>
          <p:cNvSpPr/>
          <p:nvPr/>
        </p:nvSpPr>
        <p:spPr>
          <a:xfrm>
            <a:off x="9061704" y="1737360"/>
            <a:ext cx="2487168" cy="1481328"/>
          </a:xfrm>
          <a:prstGeom prst="roundRect">
            <a:avLst>
              <a:gd name="adj" fmla="val 4321"/>
            </a:avLst>
          </a:prstGeom>
          <a:solidFill>
            <a:srgbClr val="F1F5F8"/>
          </a:solidFill>
          <a:ln w="9525">
            <a:solidFill>
              <a:srgbClr val="C9D8E0"/>
            </a:solidFill>
            <a:prstDash val="solid"/>
          </a:ln>
        </p:spPr>
      </p:sp>
      <p:sp>
        <p:nvSpPr>
          <p:cNvPr id="12" name="Text 9"/>
          <p:cNvSpPr/>
          <p:nvPr/>
        </p:nvSpPr>
        <p:spPr>
          <a:xfrm>
            <a:off x="9317736" y="1920240"/>
            <a:ext cx="197510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Alert fatigue</a:t>
            </a:r>
            <a:endParaRPr lang="en-US" sz="1450" dirty="0"/>
          </a:p>
        </p:txBody>
      </p:sp>
      <p:sp>
        <p:nvSpPr>
          <p:cNvPr id="13" name="Text 10"/>
          <p:cNvSpPr/>
          <p:nvPr/>
        </p:nvSpPr>
        <p:spPr>
          <a:xfrm>
            <a:off x="9317736" y="2395728"/>
            <a:ext cx="1975104" cy="62179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When everything is urgent, nothing is. Real signals get closed unread.</a:t>
            </a:r>
            <a:endParaRPr lang="en-US" sz="1150" dirty="0"/>
          </a:p>
        </p:txBody>
      </p:sp>
      <p:sp>
        <p:nvSpPr>
          <p:cNvPr id="14" name="Shape 11"/>
          <p:cNvSpPr/>
          <p:nvPr/>
        </p:nvSpPr>
        <p:spPr>
          <a:xfrm>
            <a:off x="6355080" y="3310128"/>
            <a:ext cx="2487168" cy="1481328"/>
          </a:xfrm>
          <a:prstGeom prst="roundRect">
            <a:avLst>
              <a:gd name="adj" fmla="val 4321"/>
            </a:avLst>
          </a:prstGeom>
          <a:solidFill>
            <a:srgbClr val="F1F5F8"/>
          </a:solidFill>
          <a:ln w="9525">
            <a:solidFill>
              <a:srgbClr val="C9D8E0"/>
            </a:solidFill>
            <a:prstDash val="solid"/>
          </a:ln>
        </p:spPr>
      </p:sp>
      <p:sp>
        <p:nvSpPr>
          <p:cNvPr id="15" name="Text 12"/>
          <p:cNvSpPr/>
          <p:nvPr/>
        </p:nvSpPr>
        <p:spPr>
          <a:xfrm>
            <a:off x="6611112" y="3493008"/>
            <a:ext cx="197510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AI is now practical</a:t>
            </a:r>
            <a:endParaRPr lang="en-US" sz="1450" dirty="0"/>
          </a:p>
        </p:txBody>
      </p:sp>
      <p:sp>
        <p:nvSpPr>
          <p:cNvPr id="16" name="Text 13"/>
          <p:cNvSpPr/>
          <p:nvPr/>
        </p:nvSpPr>
        <p:spPr>
          <a:xfrm>
            <a:off x="6611112" y="3968496"/>
            <a:ext cx="1975104" cy="62179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Triage, detection and enrichment that were research demos in 2020 now ship.</a:t>
            </a:r>
            <a:endParaRPr lang="en-US" sz="1150" dirty="0"/>
          </a:p>
        </p:txBody>
      </p:sp>
      <p:sp>
        <p:nvSpPr>
          <p:cNvPr id="17" name="Shape 14"/>
          <p:cNvSpPr/>
          <p:nvPr/>
        </p:nvSpPr>
        <p:spPr>
          <a:xfrm>
            <a:off x="9061704" y="3310128"/>
            <a:ext cx="2487168" cy="1481328"/>
          </a:xfrm>
          <a:prstGeom prst="roundRect">
            <a:avLst>
              <a:gd name="adj" fmla="val 4321"/>
            </a:avLst>
          </a:prstGeom>
          <a:solidFill>
            <a:srgbClr val="F7E5E8"/>
          </a:solidFill>
          <a:ln w="9525">
            <a:solidFill>
              <a:srgbClr val="A4243B"/>
            </a:solidFill>
            <a:prstDash val="solid"/>
          </a:ln>
        </p:spPr>
      </p:sp>
      <p:sp>
        <p:nvSpPr>
          <p:cNvPr id="18" name="Text 15"/>
          <p:cNvSpPr/>
          <p:nvPr/>
        </p:nvSpPr>
        <p:spPr>
          <a:xfrm>
            <a:off x="9317736" y="3493008"/>
            <a:ext cx="1975104" cy="420624"/>
          </a:xfrm>
          <a:prstGeom prst="rect">
            <a:avLst/>
          </a:prstGeom>
          <a:noFill/>
          <a:ln/>
        </p:spPr>
        <p:txBody>
          <a:bodyPr wrap="square" lIns="0" tIns="0" rIns="0" bIns="0" rtlCol="0" anchor="ctr"/>
          <a:lstStyle/>
          <a:p>
            <a:pPr indent="0" marL="0">
              <a:buNone/>
            </a:pPr>
            <a:r>
              <a:rPr lang="en-US" sz="1450" b="1" dirty="0">
                <a:solidFill>
                  <a:srgbClr val="A4243B"/>
                </a:solidFill>
                <a:latin typeface="Calibri" pitchFamily="34" charset="0"/>
                <a:ea typeface="Calibri" pitchFamily="34" charset="-122"/>
                <a:cs typeface="Calibri" pitchFamily="34" charset="-120"/>
              </a:rPr>
              <a:t>AI is also a target</a:t>
            </a:r>
            <a:endParaRPr lang="en-US" sz="1450" dirty="0"/>
          </a:p>
        </p:txBody>
      </p:sp>
      <p:sp>
        <p:nvSpPr>
          <p:cNvPr id="19" name="Text 16"/>
          <p:cNvSpPr/>
          <p:nvPr/>
        </p:nvSpPr>
        <p:spPr>
          <a:xfrm>
            <a:off x="9317736" y="3968496"/>
            <a:ext cx="1975104" cy="62179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Models can be fooled, hijacked and poisoned — a new surface to defend.</a:t>
            </a:r>
            <a:endParaRPr lang="en-US" sz="1150" dirty="0"/>
          </a:p>
        </p:txBody>
      </p:sp>
      <p:sp>
        <p:nvSpPr>
          <p:cNvPr id="20" name="Shape 17"/>
          <p:cNvSpPr/>
          <p:nvPr/>
        </p:nvSpPr>
        <p:spPr>
          <a:xfrm>
            <a:off x="640080" y="4937760"/>
            <a:ext cx="10908792" cy="914400"/>
          </a:xfrm>
          <a:prstGeom prst="roundRect">
            <a:avLst>
              <a:gd name="adj" fmla="val 6000"/>
            </a:avLst>
          </a:prstGeom>
          <a:solidFill>
            <a:srgbClr val="E8E3F2"/>
          </a:solidFill>
          <a:ln w="9525">
            <a:solidFill>
              <a:srgbClr val="553C7B"/>
            </a:solidFill>
            <a:prstDash val="solid"/>
          </a:ln>
        </p:spPr>
      </p:sp>
      <p:sp>
        <p:nvSpPr>
          <p:cNvPr id="21" name="Text 18"/>
          <p:cNvSpPr/>
          <p:nvPr/>
        </p:nvSpPr>
        <p:spPr>
          <a:xfrm>
            <a:off x="859536" y="5029200"/>
            <a:ext cx="10469880" cy="731520"/>
          </a:xfrm>
          <a:prstGeom prst="rect">
            <a:avLst/>
          </a:prstGeom>
          <a:noFill/>
          <a:ln/>
        </p:spPr>
        <p:txBody>
          <a:bodyPr wrap="square" lIns="0" tIns="0" rIns="0" bIns="0" rtlCol="0" anchor="ctr"/>
          <a:lstStyle/>
          <a:p>
            <a:pPr indent="0" marL="0">
              <a:lnSpc>
                <a:spcPts val="1680"/>
              </a:lnSpc>
              <a:buNone/>
            </a:pPr>
            <a:r>
              <a:rPr lang="en-US" sz="1200" b="1" dirty="0">
                <a:solidFill>
                  <a:srgbClr val="553C7B"/>
                </a:solidFill>
                <a:latin typeface="Calibri" pitchFamily="34" charset="0"/>
                <a:ea typeface="Calibri" pitchFamily="34" charset="-122"/>
                <a:cs typeface="Calibri" pitchFamily="34" charset="-120"/>
              </a:rPr>
              <a:t>The claim this course makes: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AI does not replace the analyst — it changes what the analyst spends attention on. The gap in that chart never closes by hiring. It closes by putting a first-pass reader in front of the queue and keeping a human on the decisions that matter. By Week 16 you will have built several of those readers yourself.</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1 · WHY AI FOR SECURITY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AI, machine learning, deep learning, LLMs</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words that nest inside each other — and get used as if they were synonyms.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640080" y="1783080"/>
            <a:ext cx="4663440" cy="3246120"/>
          </a:xfrm>
          <a:prstGeom prst="roundRect">
            <a:avLst>
              <a:gd name="adj" fmla="val 1690"/>
            </a:avLst>
          </a:prstGeom>
          <a:solidFill>
            <a:srgbClr val="FFFFFF"/>
          </a:solidFill>
          <a:ln w="12700">
            <a:solidFill>
              <a:srgbClr val="C9D8E0"/>
            </a:solidFill>
            <a:prstDash val="solid"/>
          </a:ln>
        </p:spPr>
      </p:sp>
      <p:sp>
        <p:nvSpPr>
          <p:cNvPr id="8" name="Text 6"/>
          <p:cNvSpPr/>
          <p:nvPr/>
        </p:nvSpPr>
        <p:spPr>
          <a:xfrm>
            <a:off x="749808" y="1856232"/>
            <a:ext cx="4443984" cy="219456"/>
          </a:xfrm>
          <a:prstGeom prst="rect">
            <a:avLst/>
          </a:prstGeom>
          <a:noFill/>
          <a:ln/>
        </p:spPr>
        <p:txBody>
          <a:bodyPr wrap="square" lIns="0" tIns="0" rIns="0" bIns="0" rtlCol="0" anchor="ctr"/>
          <a:lstStyle/>
          <a:p>
            <a:pPr algn="ctr" indent="0" marL="0">
              <a:buNone/>
            </a:pPr>
            <a:r>
              <a:rPr lang="en-US" sz="1000" b="1" spc="110" kern="0" dirty="0">
                <a:solidFill>
                  <a:srgbClr val="5C7383"/>
                </a:solidFill>
                <a:latin typeface="Calibri" pitchFamily="34" charset="0"/>
                <a:ea typeface="Calibri" pitchFamily="34" charset="-122"/>
                <a:cs typeface="Calibri" pitchFamily="34" charset="-120"/>
              </a:rPr>
              <a:t>ARTIFICIAL INTELLIGENCE</a:t>
            </a:r>
            <a:endParaRPr lang="en-US" sz="1000" dirty="0"/>
          </a:p>
        </p:txBody>
      </p:sp>
      <p:sp>
        <p:nvSpPr>
          <p:cNvPr id="9" name="Text 7"/>
          <p:cNvSpPr/>
          <p:nvPr/>
        </p:nvSpPr>
        <p:spPr>
          <a:xfrm>
            <a:off x="749808" y="2057400"/>
            <a:ext cx="4443984" cy="201168"/>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the broad ambition</a:t>
            </a:r>
            <a:endParaRPr lang="en-US" sz="900" dirty="0"/>
          </a:p>
        </p:txBody>
      </p:sp>
      <p:sp>
        <p:nvSpPr>
          <p:cNvPr id="10" name="Shape 8"/>
          <p:cNvSpPr/>
          <p:nvPr/>
        </p:nvSpPr>
        <p:spPr>
          <a:xfrm>
            <a:off x="987552" y="2231136"/>
            <a:ext cx="3968496" cy="2350008"/>
          </a:xfrm>
          <a:prstGeom prst="roundRect">
            <a:avLst>
              <a:gd name="adj" fmla="val 2335"/>
            </a:avLst>
          </a:prstGeom>
          <a:solidFill>
            <a:srgbClr val="FFFFFF"/>
          </a:solidFill>
          <a:ln w="15875">
            <a:solidFill>
              <a:srgbClr val="8E77C4"/>
            </a:solidFill>
            <a:prstDash val="solid"/>
          </a:ln>
        </p:spPr>
      </p:sp>
      <p:sp>
        <p:nvSpPr>
          <p:cNvPr id="11" name="Text 9"/>
          <p:cNvSpPr/>
          <p:nvPr/>
        </p:nvSpPr>
        <p:spPr>
          <a:xfrm>
            <a:off x="1097280" y="2304288"/>
            <a:ext cx="3749040" cy="219456"/>
          </a:xfrm>
          <a:prstGeom prst="rect">
            <a:avLst/>
          </a:prstGeom>
          <a:noFill/>
          <a:ln/>
        </p:spPr>
        <p:txBody>
          <a:bodyPr wrap="square" lIns="0" tIns="0" rIns="0" bIns="0" rtlCol="0" anchor="ctr"/>
          <a:lstStyle/>
          <a:p>
            <a:pPr algn="ctr" indent="0" marL="0">
              <a:buNone/>
            </a:pPr>
            <a:r>
              <a:rPr lang="en-US" sz="1000" b="1" spc="110" kern="0" dirty="0">
                <a:solidFill>
                  <a:srgbClr val="8E77C4"/>
                </a:solidFill>
                <a:latin typeface="Calibri" pitchFamily="34" charset="0"/>
                <a:ea typeface="Calibri" pitchFamily="34" charset="-122"/>
                <a:cs typeface="Calibri" pitchFamily="34" charset="-120"/>
              </a:rPr>
              <a:t>MACHINE LEARNING</a:t>
            </a:r>
            <a:endParaRPr lang="en-US" sz="1000" dirty="0"/>
          </a:p>
        </p:txBody>
      </p:sp>
      <p:sp>
        <p:nvSpPr>
          <p:cNvPr id="12" name="Text 10"/>
          <p:cNvSpPr/>
          <p:nvPr/>
        </p:nvSpPr>
        <p:spPr>
          <a:xfrm>
            <a:off x="1097280" y="2505456"/>
            <a:ext cx="3749040" cy="201168"/>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learn from data, not rules</a:t>
            </a:r>
            <a:endParaRPr lang="en-US" sz="900" dirty="0"/>
          </a:p>
        </p:txBody>
      </p:sp>
      <p:sp>
        <p:nvSpPr>
          <p:cNvPr id="13" name="Shape 11"/>
          <p:cNvSpPr/>
          <p:nvPr/>
        </p:nvSpPr>
        <p:spPr>
          <a:xfrm>
            <a:off x="1335024" y="2679192"/>
            <a:ext cx="3273552" cy="1453896"/>
          </a:xfrm>
          <a:prstGeom prst="roundRect">
            <a:avLst>
              <a:gd name="adj" fmla="val 3774"/>
            </a:avLst>
          </a:prstGeom>
          <a:solidFill>
            <a:srgbClr val="E8E3F2"/>
          </a:solidFill>
          <a:ln w="15875">
            <a:solidFill>
              <a:srgbClr val="553C7B"/>
            </a:solidFill>
            <a:prstDash val="solid"/>
          </a:ln>
        </p:spPr>
      </p:sp>
      <p:sp>
        <p:nvSpPr>
          <p:cNvPr id="14" name="Text 12"/>
          <p:cNvSpPr/>
          <p:nvPr/>
        </p:nvSpPr>
        <p:spPr>
          <a:xfrm>
            <a:off x="1444752" y="2752344"/>
            <a:ext cx="3054096" cy="219456"/>
          </a:xfrm>
          <a:prstGeom prst="rect">
            <a:avLst/>
          </a:prstGeom>
          <a:noFill/>
          <a:ln/>
        </p:spPr>
        <p:txBody>
          <a:bodyPr wrap="square" lIns="0" tIns="0" rIns="0" bIns="0" rtlCol="0" anchor="ctr"/>
          <a:lstStyle/>
          <a:p>
            <a:pPr algn="ctr" indent="0" marL="0">
              <a:buNone/>
            </a:pPr>
            <a:r>
              <a:rPr lang="en-US" sz="1000" b="1" spc="110" kern="0" dirty="0">
                <a:solidFill>
                  <a:srgbClr val="553C7B"/>
                </a:solidFill>
                <a:latin typeface="Calibri" pitchFamily="34" charset="0"/>
                <a:ea typeface="Calibri" pitchFamily="34" charset="-122"/>
                <a:cs typeface="Calibri" pitchFamily="34" charset="-120"/>
              </a:rPr>
              <a:t>DEEP LEARNING</a:t>
            </a:r>
            <a:endParaRPr lang="en-US" sz="1000" dirty="0"/>
          </a:p>
        </p:txBody>
      </p:sp>
      <p:sp>
        <p:nvSpPr>
          <p:cNvPr id="15" name="Text 13"/>
          <p:cNvSpPr/>
          <p:nvPr/>
        </p:nvSpPr>
        <p:spPr>
          <a:xfrm>
            <a:off x="1444752" y="2953512"/>
            <a:ext cx="3054096" cy="201168"/>
          </a:xfrm>
          <a:prstGeom prst="rect">
            <a:avLst/>
          </a:prstGeom>
          <a:noFill/>
          <a:ln/>
        </p:spPr>
        <p:txBody>
          <a:bodyPr wrap="square" lIns="0" tIns="0" rIns="0" bIns="0" rtlCol="0" anchor="ctr"/>
          <a:lstStyle/>
          <a:p>
            <a:pPr algn="ctr" indent="0" marL="0">
              <a:buNone/>
            </a:pPr>
            <a:r>
              <a:rPr lang="en-US" sz="900" dirty="0">
                <a:solidFill>
                  <a:srgbClr val="5C7383"/>
                </a:solidFill>
                <a:latin typeface="Calibri" pitchFamily="34" charset="0"/>
                <a:ea typeface="Calibri" pitchFamily="34" charset="-122"/>
                <a:cs typeface="Calibri" pitchFamily="34" charset="-120"/>
              </a:rPr>
              <a:t>large neural networks</a:t>
            </a:r>
            <a:endParaRPr lang="en-US" sz="900" dirty="0"/>
          </a:p>
        </p:txBody>
      </p:sp>
      <p:sp>
        <p:nvSpPr>
          <p:cNvPr id="16" name="Shape 14"/>
          <p:cNvSpPr/>
          <p:nvPr/>
        </p:nvSpPr>
        <p:spPr>
          <a:xfrm>
            <a:off x="1682496" y="3127248"/>
            <a:ext cx="2578608" cy="557784"/>
          </a:xfrm>
          <a:prstGeom prst="roundRect">
            <a:avLst>
              <a:gd name="adj" fmla="val 9836"/>
            </a:avLst>
          </a:prstGeom>
          <a:solidFill>
            <a:srgbClr val="12202B"/>
          </a:solidFill>
          <a:ln w="15875">
            <a:solidFill>
              <a:srgbClr val="12202B"/>
            </a:solidFill>
            <a:prstDash val="solid"/>
          </a:ln>
        </p:spPr>
      </p:sp>
      <p:sp>
        <p:nvSpPr>
          <p:cNvPr id="17" name="Text 15"/>
          <p:cNvSpPr/>
          <p:nvPr/>
        </p:nvSpPr>
        <p:spPr>
          <a:xfrm>
            <a:off x="1792224" y="3200400"/>
            <a:ext cx="2359152" cy="219456"/>
          </a:xfrm>
          <a:prstGeom prst="rect">
            <a:avLst/>
          </a:prstGeom>
          <a:noFill/>
          <a:ln/>
        </p:spPr>
        <p:txBody>
          <a:bodyPr wrap="square" lIns="0" tIns="0" rIns="0" bIns="0" rtlCol="0" anchor="ctr"/>
          <a:lstStyle/>
          <a:p>
            <a:pPr algn="ctr" indent="0" marL="0">
              <a:buNone/>
            </a:pPr>
            <a:r>
              <a:rPr lang="en-US" sz="1100" b="1" spc="110" kern="0" dirty="0">
                <a:solidFill>
                  <a:srgbClr val="FFFFFF"/>
                </a:solidFill>
                <a:latin typeface="Calibri" pitchFamily="34" charset="0"/>
                <a:ea typeface="Calibri" pitchFamily="34" charset="-122"/>
                <a:cs typeface="Calibri" pitchFamily="34" charset="-120"/>
              </a:rPr>
              <a:t>LLMs</a:t>
            </a:r>
            <a:endParaRPr lang="en-US" sz="1100" dirty="0"/>
          </a:p>
        </p:txBody>
      </p:sp>
      <p:sp>
        <p:nvSpPr>
          <p:cNvPr id="18" name="Text 16"/>
          <p:cNvSpPr/>
          <p:nvPr/>
        </p:nvSpPr>
        <p:spPr>
          <a:xfrm>
            <a:off x="1792224" y="3401568"/>
            <a:ext cx="2359152" cy="201168"/>
          </a:xfrm>
          <a:prstGeom prst="rect">
            <a:avLst/>
          </a:prstGeom>
          <a:noFill/>
          <a:ln/>
        </p:spPr>
        <p:txBody>
          <a:bodyPr wrap="square" lIns="0" tIns="0" rIns="0" bIns="0" rtlCol="0" anchor="ctr"/>
          <a:lstStyle/>
          <a:p>
            <a:pPr algn="ctr" indent="0" marL="0">
              <a:buNone/>
            </a:pPr>
            <a:r>
              <a:rPr lang="en-US" sz="900" dirty="0">
                <a:solidFill>
                  <a:srgbClr val="9FB8C6"/>
                </a:solidFill>
                <a:latin typeface="Calibri" pitchFamily="34" charset="0"/>
                <a:ea typeface="Calibri" pitchFamily="34" charset="-122"/>
                <a:cs typeface="Calibri" pitchFamily="34" charset="-120"/>
              </a:rPr>
              <a:t>trained on massive text</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0" y="1783080"/>
          <a:ext cx="5879592" cy="914400"/>
        </p:xfrm>
        <a:graphic>
          <a:graphicData uri="http://schemas.openxmlformats.org/drawingml/2006/table">
            <a:tbl>
              <a:tblPr/>
              <a:tblGrid>
                <a:gridCol w="1417320"/>
                <a:gridCol w="2176272"/>
                <a:gridCol w="228600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actually means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 security example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AI</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Any system doing something we'd call intelligent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umbrella word in a vendor pitch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Machine learning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Learns patterns from labelled data instead of hand-written rules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Classifying a URL as phishing from its features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Deep learning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ML using large multi-layer neural networks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Detecting malware from raw bytes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LLM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deep network trained to predict text; reads and writes language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Summarising an incident; triaging an alert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0" name="Shape 17"/>
          <p:cNvSpPr/>
          <p:nvPr/>
        </p:nvSpPr>
        <p:spPr>
          <a:xfrm>
            <a:off x="640080" y="5193792"/>
            <a:ext cx="10908792" cy="658368"/>
          </a:xfrm>
          <a:prstGeom prst="roundRect">
            <a:avLst>
              <a:gd name="adj" fmla="val 8333"/>
            </a:avLst>
          </a:prstGeom>
          <a:solidFill>
            <a:srgbClr val="E8E3F2"/>
          </a:solidFill>
          <a:ln w="9525">
            <a:solidFill>
              <a:srgbClr val="553C7B"/>
            </a:solidFill>
            <a:prstDash val="solid"/>
          </a:ln>
        </p:spPr>
      </p:sp>
      <p:sp>
        <p:nvSpPr>
          <p:cNvPr id="21" name="Text 18"/>
          <p:cNvSpPr/>
          <p:nvPr/>
        </p:nvSpPr>
        <p:spPr>
          <a:xfrm>
            <a:off x="859536" y="5285232"/>
            <a:ext cx="10469880" cy="475488"/>
          </a:xfrm>
          <a:prstGeom prst="rect">
            <a:avLst/>
          </a:prstGeom>
          <a:noFill/>
          <a:ln/>
        </p:spPr>
        <p:txBody>
          <a:bodyPr wrap="square" lIns="0" tIns="0" rIns="0" bIns="0" rtlCol="0" anchor="ctr"/>
          <a:lstStyle/>
          <a:p>
            <a:pPr indent="0" marL="0">
              <a:lnSpc>
                <a:spcPts val="1680"/>
              </a:lnSpc>
              <a:buNone/>
            </a:pPr>
            <a:r>
              <a:rPr lang="en-US" sz="1200" b="1" dirty="0">
                <a:solidFill>
                  <a:srgbClr val="553C7B"/>
                </a:solidFill>
                <a:latin typeface="Calibri" pitchFamily="34" charset="0"/>
                <a:ea typeface="Calibri" pitchFamily="34" charset="-122"/>
                <a:cs typeface="Calibri" pitchFamily="34" charset="-120"/>
              </a:rPr>
              <a:t>House rule for this course: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when I say "AI" without qualifying it, I almost always mean an LLM. When I mean something narrower, I will name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1 · WHY AI FOR SECURITY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Three families of AI you will use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Knowing which to reach for is half the skill. Real systems combine all three.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640080" y="1783080"/>
            <a:ext cx="3557016" cy="1572768"/>
          </a:xfrm>
          <a:prstGeom prst="roundRect">
            <a:avLst>
              <a:gd name="adj" fmla="val 4070"/>
            </a:avLst>
          </a:prstGeom>
          <a:solidFill>
            <a:srgbClr val="F1F5F8"/>
          </a:solidFill>
          <a:ln w="19050">
            <a:solidFill>
              <a:srgbClr val="8E77C4"/>
            </a:solidFill>
            <a:prstDash val="solid"/>
          </a:ln>
        </p:spPr>
      </p:sp>
      <p:sp>
        <p:nvSpPr>
          <p:cNvPr id="8" name="Text 6"/>
          <p:cNvSpPr/>
          <p:nvPr/>
        </p:nvSpPr>
        <p:spPr>
          <a:xfrm>
            <a:off x="859536" y="1920240"/>
            <a:ext cx="3118104" cy="310896"/>
          </a:xfrm>
          <a:prstGeom prst="rect">
            <a:avLst/>
          </a:prstGeom>
          <a:noFill/>
          <a:ln/>
        </p:spPr>
        <p:txBody>
          <a:bodyPr wrap="square" lIns="0" tIns="0" rIns="0" bIns="0" rtlCol="0" anchor="ctr"/>
          <a:lstStyle/>
          <a:p>
            <a:pPr indent="0" marL="0">
              <a:buNone/>
            </a:pPr>
            <a:r>
              <a:rPr lang="en-US" sz="1700" b="1" dirty="0">
                <a:solidFill>
                  <a:srgbClr val="8E77C4"/>
                </a:solidFill>
                <a:latin typeface="Cambria" pitchFamily="34" charset="0"/>
                <a:ea typeface="Cambria" pitchFamily="34" charset="-122"/>
                <a:cs typeface="Cambria" pitchFamily="34" charset="-120"/>
              </a:rPr>
              <a:t>Classic ML</a:t>
            </a:r>
            <a:endParaRPr lang="en-US" sz="1700" dirty="0"/>
          </a:p>
        </p:txBody>
      </p:sp>
      <p:sp>
        <p:nvSpPr>
          <p:cNvPr id="9" name="Text 7"/>
          <p:cNvSpPr/>
          <p:nvPr/>
        </p:nvSpPr>
        <p:spPr>
          <a:xfrm>
            <a:off x="859536" y="2231136"/>
            <a:ext cx="3118104" cy="256032"/>
          </a:xfrm>
          <a:prstGeom prst="rect">
            <a:avLst/>
          </a:prstGeom>
          <a:noFill/>
          <a:ln/>
        </p:spPr>
        <p:txBody>
          <a:bodyPr wrap="square" lIns="0" tIns="0" rIns="0" bIns="0" rtlCol="0" anchor="ctr"/>
          <a:lstStyle/>
          <a:p>
            <a:pPr indent="0" marL="0">
              <a:buNone/>
            </a:pPr>
            <a:r>
              <a:rPr lang="en-US" sz="1150" i="1" dirty="0">
                <a:solidFill>
                  <a:srgbClr val="5C7383"/>
                </a:solidFill>
                <a:latin typeface="Calibri" pitchFamily="34" charset="0"/>
                <a:ea typeface="Calibri" pitchFamily="34" charset="-122"/>
                <a:cs typeface="Calibri" pitchFamily="34" charset="-120"/>
              </a:rPr>
              <a:t>Patterns in structured data</a:t>
            </a:r>
            <a:endParaRPr lang="en-US" sz="1150" dirty="0"/>
          </a:p>
        </p:txBody>
      </p:sp>
      <p:sp>
        <p:nvSpPr>
          <p:cNvPr id="10" name="Text 8"/>
          <p:cNvSpPr/>
          <p:nvPr/>
        </p:nvSpPr>
        <p:spPr>
          <a:xfrm>
            <a:off x="859536" y="2542032"/>
            <a:ext cx="3118104" cy="658368"/>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Phishing-URL classifier · malware detection · anomaly scoring</a:t>
            </a:r>
            <a:endParaRPr lang="en-US" sz="1100" dirty="0"/>
          </a:p>
        </p:txBody>
      </p:sp>
      <p:sp>
        <p:nvSpPr>
          <p:cNvPr id="11" name="Shape 9"/>
          <p:cNvSpPr/>
          <p:nvPr/>
        </p:nvSpPr>
        <p:spPr>
          <a:xfrm>
            <a:off x="4315968" y="1783080"/>
            <a:ext cx="3557016" cy="1572768"/>
          </a:xfrm>
          <a:prstGeom prst="roundRect">
            <a:avLst>
              <a:gd name="adj" fmla="val 4070"/>
            </a:avLst>
          </a:prstGeom>
          <a:solidFill>
            <a:srgbClr val="F1F5F8"/>
          </a:solidFill>
          <a:ln w="19050">
            <a:solidFill>
              <a:srgbClr val="553C7B"/>
            </a:solidFill>
            <a:prstDash val="solid"/>
          </a:ln>
        </p:spPr>
      </p:sp>
      <p:sp>
        <p:nvSpPr>
          <p:cNvPr id="12" name="Text 10"/>
          <p:cNvSpPr/>
          <p:nvPr/>
        </p:nvSpPr>
        <p:spPr>
          <a:xfrm>
            <a:off x="4535424" y="1920240"/>
            <a:ext cx="3118104" cy="310896"/>
          </a:xfrm>
          <a:prstGeom prst="rect">
            <a:avLst/>
          </a:prstGeom>
          <a:noFill/>
          <a:ln/>
        </p:spPr>
        <p:txBody>
          <a:bodyPr wrap="square" lIns="0" tIns="0" rIns="0" bIns="0" rtlCol="0" anchor="ctr"/>
          <a:lstStyle/>
          <a:p>
            <a:pPr indent="0" marL="0">
              <a:buNone/>
            </a:pPr>
            <a:r>
              <a:rPr lang="en-US" sz="1700" b="1" dirty="0">
                <a:solidFill>
                  <a:srgbClr val="553C7B"/>
                </a:solidFill>
                <a:latin typeface="Cambria" pitchFamily="34" charset="0"/>
                <a:ea typeface="Cambria" pitchFamily="34" charset="-122"/>
                <a:cs typeface="Cambria" pitchFamily="34" charset="-120"/>
              </a:rPr>
              <a:t>LLMs</a:t>
            </a:r>
            <a:endParaRPr lang="en-US" sz="1700" dirty="0"/>
          </a:p>
        </p:txBody>
      </p:sp>
      <p:sp>
        <p:nvSpPr>
          <p:cNvPr id="13" name="Text 11"/>
          <p:cNvSpPr/>
          <p:nvPr/>
        </p:nvSpPr>
        <p:spPr>
          <a:xfrm>
            <a:off x="4535424" y="2231136"/>
            <a:ext cx="3118104" cy="256032"/>
          </a:xfrm>
          <a:prstGeom prst="rect">
            <a:avLst/>
          </a:prstGeom>
          <a:noFill/>
          <a:ln/>
        </p:spPr>
        <p:txBody>
          <a:bodyPr wrap="square" lIns="0" tIns="0" rIns="0" bIns="0" rtlCol="0" anchor="ctr"/>
          <a:lstStyle/>
          <a:p>
            <a:pPr indent="0" marL="0">
              <a:buNone/>
            </a:pPr>
            <a:r>
              <a:rPr lang="en-US" sz="1150" i="1" dirty="0">
                <a:solidFill>
                  <a:srgbClr val="5C7383"/>
                </a:solidFill>
                <a:latin typeface="Calibri" pitchFamily="34" charset="0"/>
                <a:ea typeface="Calibri" pitchFamily="34" charset="-122"/>
                <a:cs typeface="Calibri" pitchFamily="34" charset="-120"/>
              </a:rPr>
              <a:t>Language and code</a:t>
            </a:r>
            <a:endParaRPr lang="en-US" sz="1150" dirty="0"/>
          </a:p>
        </p:txBody>
      </p:sp>
      <p:sp>
        <p:nvSpPr>
          <p:cNvPr id="14" name="Text 12"/>
          <p:cNvSpPr/>
          <p:nvPr/>
        </p:nvSpPr>
        <p:spPr>
          <a:xfrm>
            <a:off x="4535424" y="2542032"/>
            <a:ext cx="3118104" cy="658368"/>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Alert triage · incident summaries · code review · log explanation</a:t>
            </a:r>
            <a:endParaRPr lang="en-US" sz="1100" dirty="0"/>
          </a:p>
        </p:txBody>
      </p:sp>
      <p:sp>
        <p:nvSpPr>
          <p:cNvPr id="15" name="Shape 13"/>
          <p:cNvSpPr/>
          <p:nvPr/>
        </p:nvSpPr>
        <p:spPr>
          <a:xfrm>
            <a:off x="7991856" y="1783080"/>
            <a:ext cx="3557016" cy="1572768"/>
          </a:xfrm>
          <a:prstGeom prst="roundRect">
            <a:avLst>
              <a:gd name="adj" fmla="val 4070"/>
            </a:avLst>
          </a:prstGeom>
          <a:solidFill>
            <a:srgbClr val="F1F5F8"/>
          </a:solidFill>
          <a:ln w="19050">
            <a:solidFill>
              <a:srgbClr val="12202B"/>
            </a:solidFill>
            <a:prstDash val="solid"/>
          </a:ln>
        </p:spPr>
      </p:sp>
      <p:sp>
        <p:nvSpPr>
          <p:cNvPr id="16" name="Text 14"/>
          <p:cNvSpPr/>
          <p:nvPr/>
        </p:nvSpPr>
        <p:spPr>
          <a:xfrm>
            <a:off x="8211312" y="1920240"/>
            <a:ext cx="3118104" cy="310896"/>
          </a:xfrm>
          <a:prstGeom prst="rect">
            <a:avLst/>
          </a:prstGeom>
          <a:noFill/>
          <a:ln/>
        </p:spPr>
        <p:txBody>
          <a:bodyPr wrap="square" lIns="0" tIns="0" rIns="0" bIns="0" rtlCol="0" anchor="ctr"/>
          <a:lstStyle/>
          <a:p>
            <a:pPr indent="0" marL="0">
              <a:buNone/>
            </a:pPr>
            <a:r>
              <a:rPr lang="en-US" sz="1700" b="1" dirty="0">
                <a:solidFill>
                  <a:srgbClr val="12202B"/>
                </a:solidFill>
                <a:latin typeface="Cambria" pitchFamily="34" charset="0"/>
                <a:ea typeface="Cambria" pitchFamily="34" charset="-122"/>
                <a:cs typeface="Cambria" pitchFamily="34" charset="-120"/>
              </a:rPr>
              <a:t>Agentic AI</a:t>
            </a:r>
            <a:endParaRPr lang="en-US" sz="1700" dirty="0"/>
          </a:p>
        </p:txBody>
      </p:sp>
      <p:sp>
        <p:nvSpPr>
          <p:cNvPr id="17" name="Text 15"/>
          <p:cNvSpPr/>
          <p:nvPr/>
        </p:nvSpPr>
        <p:spPr>
          <a:xfrm>
            <a:off x="8211312" y="2231136"/>
            <a:ext cx="3118104" cy="256032"/>
          </a:xfrm>
          <a:prstGeom prst="rect">
            <a:avLst/>
          </a:prstGeom>
          <a:noFill/>
          <a:ln/>
        </p:spPr>
        <p:txBody>
          <a:bodyPr wrap="square" lIns="0" tIns="0" rIns="0" bIns="0" rtlCol="0" anchor="ctr"/>
          <a:lstStyle/>
          <a:p>
            <a:pPr indent="0" marL="0">
              <a:buNone/>
            </a:pPr>
            <a:r>
              <a:rPr lang="en-US" sz="1150" i="1" dirty="0">
                <a:solidFill>
                  <a:srgbClr val="5C7383"/>
                </a:solidFill>
                <a:latin typeface="Calibri" pitchFamily="34" charset="0"/>
                <a:ea typeface="Calibri" pitchFamily="34" charset="-122"/>
                <a:cs typeface="Calibri" pitchFamily="34" charset="-120"/>
              </a:rPr>
              <a:t>Plan and act over steps, using tools</a:t>
            </a:r>
            <a:endParaRPr lang="en-US" sz="1150" dirty="0"/>
          </a:p>
        </p:txBody>
      </p:sp>
      <p:sp>
        <p:nvSpPr>
          <p:cNvPr id="18" name="Text 16"/>
          <p:cNvSpPr/>
          <p:nvPr/>
        </p:nvSpPr>
        <p:spPr>
          <a:xfrm>
            <a:off x="8211312" y="2542032"/>
            <a:ext cx="3118104" cy="658368"/>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Orchestrated enrichment · multi-step investigation · automated response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3584448"/>
          <a:ext cx="10908792" cy="914400"/>
        </p:xfrm>
        <a:graphic>
          <a:graphicData uri="http://schemas.openxmlformats.org/drawingml/2006/table">
            <a:tbl>
              <a:tblPr/>
              <a:tblGrid>
                <a:gridCol w="1737360"/>
                <a:gridCol w="2331720"/>
                <a:gridCol w="2377440"/>
                <a:gridCol w="2286000"/>
                <a:gridCol w="217627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Family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eats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gives back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Cost to run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Explains itself?</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Classic ML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Rows of numbered features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label and a confidence score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Cents; runs on a laptop</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Feature weights — inspectable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LLM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Free text, code, logs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Text: a verdict plus reasoning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Per token, or a local GPU</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Writes an explanation you must verify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Agentic AI</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goal, plus tools it may call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sequence of actions and a result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Many model calls per task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trace of steps you can audit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20" name="Shape 17"/>
          <p:cNvSpPr/>
          <p:nvPr/>
        </p:nvSpPr>
        <p:spPr>
          <a:xfrm>
            <a:off x="640080" y="5230368"/>
            <a:ext cx="10908792" cy="621792"/>
          </a:xfrm>
          <a:prstGeom prst="roundRect">
            <a:avLst>
              <a:gd name="adj" fmla="val 8824"/>
            </a:avLst>
          </a:prstGeom>
          <a:solidFill>
            <a:srgbClr val="E8E3F2"/>
          </a:solidFill>
          <a:ln w="9525">
            <a:solidFill>
              <a:srgbClr val="553C7B"/>
            </a:solidFill>
            <a:prstDash val="solid"/>
          </a:ln>
        </p:spPr>
      </p:sp>
      <p:sp>
        <p:nvSpPr>
          <p:cNvPr id="21" name="Text 18"/>
          <p:cNvSpPr/>
          <p:nvPr/>
        </p:nvSpPr>
        <p:spPr>
          <a:xfrm>
            <a:off x="859536" y="5321808"/>
            <a:ext cx="10469880" cy="438912"/>
          </a:xfrm>
          <a:prstGeom prst="rect">
            <a:avLst/>
          </a:prstGeom>
          <a:noFill/>
          <a:ln/>
        </p:spPr>
        <p:txBody>
          <a:bodyPr wrap="square" lIns="0" tIns="0" rIns="0" bIns="0" rtlCol="0" anchor="ctr"/>
          <a:lstStyle/>
          <a:p>
            <a:pPr indent="0" marL="0">
              <a:lnSpc>
                <a:spcPts val="1680"/>
              </a:lnSpc>
              <a:buNone/>
            </a:pPr>
            <a:r>
              <a:rPr lang="en-US" sz="1200" b="1" dirty="0">
                <a:solidFill>
                  <a:srgbClr val="553C7B"/>
                </a:solidFill>
                <a:latin typeface="Calibri" pitchFamily="34" charset="0"/>
                <a:ea typeface="Calibri" pitchFamily="34" charset="-122"/>
                <a:cs typeface="Calibri" pitchFamily="34" charset="-120"/>
              </a:rPr>
              <a:t>Watch the last column.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Each family explains itself in a different currency — weights, prose, or a trace. Knowing which kind of evidence you will be able to show an auditor should shape the choice before you write any code.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1 · WHY AI FOR SECURITY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What an LLM actually does</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One mechanism — predict the next token — repeated until it has written a response.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640080" y="1700784"/>
            <a:ext cx="5669280" cy="219456"/>
          </a:xfrm>
          <a:prstGeom prst="rect">
            <a:avLst/>
          </a:prstGeom>
          <a:noFill/>
          <a:ln/>
        </p:spPr>
        <p:txBody>
          <a:bodyPr wrap="square" lIns="0" tIns="0" rIns="0" bIns="0" rtlCol="0" anchor="ctr"/>
          <a:lstStyle/>
          <a:p>
            <a:pPr indent="0" marL="0">
              <a:buNone/>
            </a:pPr>
            <a:r>
              <a:rPr lang="en-US" sz="950" b="1" spc="140" kern="0" dirty="0">
                <a:solidFill>
                  <a:srgbClr val="5C7383"/>
                </a:solidFill>
                <a:latin typeface="Calibri" pitchFamily="34" charset="0"/>
                <a:ea typeface="Calibri" pitchFamily="34" charset="-122"/>
                <a:cs typeface="Calibri" pitchFamily="34" charset="-120"/>
              </a:rPr>
              <a:t>THE MECHANISM</a:t>
            </a:r>
            <a:endParaRPr lang="en-US" sz="950" dirty="0"/>
          </a:p>
        </p:txBody>
      </p:sp>
      <p:sp>
        <p:nvSpPr>
          <p:cNvPr id="8" name="Shape 6"/>
          <p:cNvSpPr/>
          <p:nvPr/>
        </p:nvSpPr>
        <p:spPr>
          <a:xfrm>
            <a:off x="640080" y="1975104"/>
            <a:ext cx="438912" cy="384048"/>
          </a:xfrm>
          <a:prstGeom prst="roundRect">
            <a:avLst>
              <a:gd name="adj" fmla="val 11905"/>
            </a:avLst>
          </a:prstGeom>
          <a:solidFill>
            <a:srgbClr val="E3ECF1"/>
          </a:solidFill>
          <a:ln w="9525">
            <a:solidFill>
              <a:srgbClr val="C9D8E0"/>
            </a:solidFill>
            <a:prstDash val="solid"/>
          </a:ln>
        </p:spPr>
      </p:sp>
      <p:sp>
        <p:nvSpPr>
          <p:cNvPr id="9" name="Text 7"/>
          <p:cNvSpPr/>
          <p:nvPr/>
        </p:nvSpPr>
        <p:spPr>
          <a:xfrm>
            <a:off x="640080" y="1975104"/>
            <a:ext cx="438912" cy="384048"/>
          </a:xfrm>
          <a:prstGeom prst="rect">
            <a:avLst/>
          </a:prstGeom>
          <a:noFill/>
          <a:ln/>
        </p:spPr>
        <p:txBody>
          <a:bodyPr wrap="square" lIns="0" tIns="0" rIns="0" bIns="0" rtlCol="0" anchor="ctr"/>
          <a:lstStyle/>
          <a:p>
            <a:pPr algn="ctr" indent="0" marL="0">
              <a:buNone/>
            </a:pPr>
            <a:r>
              <a:rPr lang="en-US" sz="1000" dirty="0">
                <a:solidFill>
                  <a:srgbClr val="1D3444"/>
                </a:solidFill>
                <a:latin typeface="Courier New" pitchFamily="34" charset="0"/>
                <a:ea typeface="Courier New" pitchFamily="34" charset="-122"/>
                <a:cs typeface="Courier New" pitchFamily="34" charset="-120"/>
              </a:rPr>
              <a:t>14</a:t>
            </a:r>
            <a:endParaRPr lang="en-US" sz="1000" dirty="0"/>
          </a:p>
        </p:txBody>
      </p:sp>
      <p:sp>
        <p:nvSpPr>
          <p:cNvPr id="10" name="Shape 8"/>
          <p:cNvSpPr/>
          <p:nvPr/>
        </p:nvSpPr>
        <p:spPr>
          <a:xfrm>
            <a:off x="1143000" y="1975104"/>
            <a:ext cx="896112" cy="384048"/>
          </a:xfrm>
          <a:prstGeom prst="roundRect">
            <a:avLst>
              <a:gd name="adj" fmla="val 11905"/>
            </a:avLst>
          </a:prstGeom>
          <a:solidFill>
            <a:srgbClr val="E3ECF1"/>
          </a:solidFill>
          <a:ln w="9525">
            <a:solidFill>
              <a:srgbClr val="C9D8E0"/>
            </a:solidFill>
            <a:prstDash val="solid"/>
          </a:ln>
        </p:spPr>
      </p:sp>
      <p:sp>
        <p:nvSpPr>
          <p:cNvPr id="11" name="Text 9"/>
          <p:cNvSpPr/>
          <p:nvPr/>
        </p:nvSpPr>
        <p:spPr>
          <a:xfrm>
            <a:off x="1143000" y="1975104"/>
            <a:ext cx="896112" cy="384048"/>
          </a:xfrm>
          <a:prstGeom prst="rect">
            <a:avLst/>
          </a:prstGeom>
          <a:noFill/>
          <a:ln/>
        </p:spPr>
        <p:txBody>
          <a:bodyPr wrap="square" lIns="0" tIns="0" rIns="0" bIns="0" rtlCol="0" anchor="ctr"/>
          <a:lstStyle/>
          <a:p>
            <a:pPr algn="ctr" indent="0" marL="0">
              <a:buNone/>
            </a:pPr>
            <a:r>
              <a:rPr lang="en-US" sz="1000" dirty="0">
                <a:solidFill>
                  <a:srgbClr val="1D3444"/>
                </a:solidFill>
                <a:latin typeface="Courier New" pitchFamily="34" charset="0"/>
                <a:ea typeface="Courier New" pitchFamily="34" charset="-122"/>
                <a:cs typeface="Courier New" pitchFamily="34" charset="-120"/>
              </a:rPr>
              <a:t>failed</a:t>
            </a:r>
            <a:endParaRPr lang="en-US" sz="1000" dirty="0"/>
          </a:p>
        </p:txBody>
      </p:sp>
      <p:sp>
        <p:nvSpPr>
          <p:cNvPr id="12" name="Shape 10"/>
          <p:cNvSpPr/>
          <p:nvPr/>
        </p:nvSpPr>
        <p:spPr>
          <a:xfrm>
            <a:off x="2103120" y="1975104"/>
            <a:ext cx="713232" cy="384048"/>
          </a:xfrm>
          <a:prstGeom prst="roundRect">
            <a:avLst>
              <a:gd name="adj" fmla="val 11905"/>
            </a:avLst>
          </a:prstGeom>
          <a:solidFill>
            <a:srgbClr val="E3ECF1"/>
          </a:solidFill>
          <a:ln w="9525">
            <a:solidFill>
              <a:srgbClr val="C9D8E0"/>
            </a:solidFill>
            <a:prstDash val="solid"/>
          </a:ln>
        </p:spPr>
      </p:sp>
      <p:sp>
        <p:nvSpPr>
          <p:cNvPr id="13" name="Text 11"/>
          <p:cNvSpPr/>
          <p:nvPr/>
        </p:nvSpPr>
        <p:spPr>
          <a:xfrm>
            <a:off x="2103120" y="1975104"/>
            <a:ext cx="713232" cy="384048"/>
          </a:xfrm>
          <a:prstGeom prst="rect">
            <a:avLst/>
          </a:prstGeom>
          <a:noFill/>
          <a:ln/>
        </p:spPr>
        <p:txBody>
          <a:bodyPr wrap="square" lIns="0" tIns="0" rIns="0" bIns="0" rtlCol="0" anchor="ctr"/>
          <a:lstStyle/>
          <a:p>
            <a:pPr algn="ctr" indent="0" marL="0">
              <a:buNone/>
            </a:pPr>
            <a:r>
              <a:rPr lang="en-US" sz="1000" dirty="0">
                <a:solidFill>
                  <a:srgbClr val="1D3444"/>
                </a:solidFill>
                <a:latin typeface="Courier New" pitchFamily="34" charset="0"/>
                <a:ea typeface="Courier New" pitchFamily="34" charset="-122"/>
                <a:cs typeface="Courier New" pitchFamily="34" charset="-120"/>
              </a:rPr>
              <a:t>root</a:t>
            </a:r>
            <a:endParaRPr lang="en-US" sz="1000" dirty="0"/>
          </a:p>
        </p:txBody>
      </p:sp>
      <p:sp>
        <p:nvSpPr>
          <p:cNvPr id="14" name="Shape 12"/>
          <p:cNvSpPr/>
          <p:nvPr/>
        </p:nvSpPr>
        <p:spPr>
          <a:xfrm>
            <a:off x="2880360" y="1975104"/>
            <a:ext cx="896112" cy="384048"/>
          </a:xfrm>
          <a:prstGeom prst="roundRect">
            <a:avLst>
              <a:gd name="adj" fmla="val 11905"/>
            </a:avLst>
          </a:prstGeom>
          <a:solidFill>
            <a:srgbClr val="E3ECF1"/>
          </a:solidFill>
          <a:ln w="9525">
            <a:solidFill>
              <a:srgbClr val="C9D8E0"/>
            </a:solidFill>
            <a:prstDash val="solid"/>
          </a:ln>
        </p:spPr>
      </p:sp>
      <p:sp>
        <p:nvSpPr>
          <p:cNvPr id="15" name="Text 13"/>
          <p:cNvSpPr/>
          <p:nvPr/>
        </p:nvSpPr>
        <p:spPr>
          <a:xfrm>
            <a:off x="2880360" y="1975104"/>
            <a:ext cx="896112" cy="384048"/>
          </a:xfrm>
          <a:prstGeom prst="rect">
            <a:avLst/>
          </a:prstGeom>
          <a:noFill/>
          <a:ln/>
        </p:spPr>
        <p:txBody>
          <a:bodyPr wrap="square" lIns="0" tIns="0" rIns="0" bIns="0" rtlCol="0" anchor="ctr"/>
          <a:lstStyle/>
          <a:p>
            <a:pPr algn="ctr" indent="0" marL="0">
              <a:buNone/>
            </a:pPr>
            <a:r>
              <a:rPr lang="en-US" sz="1000" dirty="0">
                <a:solidFill>
                  <a:srgbClr val="1D3444"/>
                </a:solidFill>
                <a:latin typeface="Courier New" pitchFamily="34" charset="0"/>
                <a:ea typeface="Courier New" pitchFamily="34" charset="-122"/>
                <a:cs typeface="Courier New" pitchFamily="34" charset="-120"/>
              </a:rPr>
              <a:t>logins</a:t>
            </a:r>
            <a:endParaRPr lang="en-US" sz="1000" dirty="0"/>
          </a:p>
        </p:txBody>
      </p:sp>
      <p:sp>
        <p:nvSpPr>
          <p:cNvPr id="16" name="Shape 14"/>
          <p:cNvSpPr/>
          <p:nvPr/>
        </p:nvSpPr>
        <p:spPr>
          <a:xfrm>
            <a:off x="3840480" y="1975104"/>
            <a:ext cx="804672" cy="384048"/>
          </a:xfrm>
          <a:prstGeom prst="roundRect">
            <a:avLst>
              <a:gd name="adj" fmla="val 11905"/>
            </a:avLst>
          </a:prstGeom>
          <a:solidFill>
            <a:srgbClr val="E3ECF1"/>
          </a:solidFill>
          <a:ln w="9525">
            <a:solidFill>
              <a:srgbClr val="C9D8E0"/>
            </a:solidFill>
            <a:prstDash val="solid"/>
          </a:ln>
        </p:spPr>
      </p:sp>
      <p:sp>
        <p:nvSpPr>
          <p:cNvPr id="17" name="Text 15"/>
          <p:cNvSpPr/>
          <p:nvPr/>
        </p:nvSpPr>
        <p:spPr>
          <a:xfrm>
            <a:off x="3840480" y="1975104"/>
            <a:ext cx="804672" cy="384048"/>
          </a:xfrm>
          <a:prstGeom prst="rect">
            <a:avLst/>
          </a:prstGeom>
          <a:noFill/>
          <a:ln/>
        </p:spPr>
        <p:txBody>
          <a:bodyPr wrap="square" lIns="0" tIns="0" rIns="0" bIns="0" rtlCol="0" anchor="ctr"/>
          <a:lstStyle/>
          <a:p>
            <a:pPr algn="ctr" indent="0" marL="0">
              <a:buNone/>
            </a:pPr>
            <a:r>
              <a:rPr lang="en-US" sz="1000" dirty="0">
                <a:solidFill>
                  <a:srgbClr val="1D3444"/>
                </a:solidFill>
                <a:latin typeface="Courier New" pitchFamily="34" charset="0"/>
                <a:ea typeface="Courier New" pitchFamily="34" charset="-122"/>
                <a:cs typeface="Courier New" pitchFamily="34" charset="-120"/>
              </a:rPr>
              <a:t>, then</a:t>
            </a:r>
            <a:endParaRPr lang="en-US" sz="1000" dirty="0"/>
          </a:p>
        </p:txBody>
      </p:sp>
      <p:sp>
        <p:nvSpPr>
          <p:cNvPr id="18" name="Shape 16"/>
          <p:cNvSpPr/>
          <p:nvPr/>
        </p:nvSpPr>
        <p:spPr>
          <a:xfrm>
            <a:off x="4709160" y="1975104"/>
            <a:ext cx="438912" cy="384048"/>
          </a:xfrm>
          <a:prstGeom prst="roundRect">
            <a:avLst>
              <a:gd name="adj" fmla="val 11905"/>
            </a:avLst>
          </a:prstGeom>
          <a:solidFill>
            <a:srgbClr val="E3ECF1"/>
          </a:solidFill>
          <a:ln w="9525">
            <a:solidFill>
              <a:srgbClr val="C9D8E0"/>
            </a:solidFill>
            <a:prstDash val="solid"/>
          </a:ln>
        </p:spPr>
      </p:sp>
      <p:sp>
        <p:nvSpPr>
          <p:cNvPr id="19" name="Text 17"/>
          <p:cNvSpPr/>
          <p:nvPr/>
        </p:nvSpPr>
        <p:spPr>
          <a:xfrm>
            <a:off x="4709160" y="1975104"/>
            <a:ext cx="438912" cy="384048"/>
          </a:xfrm>
          <a:prstGeom prst="rect">
            <a:avLst/>
          </a:prstGeom>
          <a:noFill/>
          <a:ln/>
        </p:spPr>
        <p:txBody>
          <a:bodyPr wrap="square" lIns="0" tIns="0" rIns="0" bIns="0" rtlCol="0" anchor="ctr"/>
          <a:lstStyle/>
          <a:p>
            <a:pPr algn="ctr" indent="0" marL="0">
              <a:buNone/>
            </a:pPr>
            <a:r>
              <a:rPr lang="en-US" sz="1000" dirty="0">
                <a:solidFill>
                  <a:srgbClr val="1D3444"/>
                </a:solidFill>
                <a:latin typeface="Courier New" pitchFamily="34" charset="0"/>
                <a:ea typeface="Courier New" pitchFamily="34" charset="-122"/>
                <a:cs typeface="Courier New" pitchFamily="34" charset="-120"/>
              </a:rPr>
              <a:t>a</a:t>
            </a:r>
            <a:endParaRPr lang="en-US" sz="1000" dirty="0"/>
          </a:p>
        </p:txBody>
      </p:sp>
      <p:sp>
        <p:nvSpPr>
          <p:cNvPr id="20" name="Shape 18"/>
          <p:cNvSpPr/>
          <p:nvPr/>
        </p:nvSpPr>
        <p:spPr>
          <a:xfrm>
            <a:off x="5212080" y="1975104"/>
            <a:ext cx="566928" cy="384048"/>
          </a:xfrm>
          <a:prstGeom prst="roundRect">
            <a:avLst>
              <a:gd name="adj" fmla="val 11905"/>
            </a:avLst>
          </a:prstGeom>
          <a:solidFill>
            <a:srgbClr val="553C7B"/>
          </a:solidFill>
          <a:ln w="12700">
            <a:solidFill>
              <a:srgbClr val="553C7B"/>
            </a:solidFill>
            <a:prstDash val="solid"/>
          </a:ln>
        </p:spPr>
      </p:sp>
      <p:sp>
        <p:nvSpPr>
          <p:cNvPr id="21" name="Text 19"/>
          <p:cNvSpPr/>
          <p:nvPr/>
        </p:nvSpPr>
        <p:spPr>
          <a:xfrm>
            <a:off x="5212080" y="1975104"/>
            <a:ext cx="56692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640080" y="2395728"/>
            <a:ext cx="4206240" cy="219456"/>
          </a:xfrm>
          <a:prstGeom prst="rect">
            <a:avLst/>
          </a:prstGeom>
          <a:noFill/>
          <a:ln/>
        </p:spPr>
        <p:txBody>
          <a:bodyPr wrap="square" lIns="0" tIns="0" rIns="0" bIns="0" rtlCol="0" anchor="ctr"/>
          <a:lstStyle/>
          <a:p>
            <a:pPr indent="0" marL="0">
              <a:buNone/>
            </a:pPr>
            <a:r>
              <a:rPr lang="en-US" sz="950" i="1" dirty="0">
                <a:solidFill>
                  <a:srgbClr val="5C7383"/>
                </a:solidFill>
                <a:latin typeface="Calibri" pitchFamily="34" charset="0"/>
                <a:ea typeface="Calibri" pitchFamily="34" charset="-122"/>
                <a:cs typeface="Calibri" pitchFamily="34" charset="-120"/>
              </a:rPr>
              <a:t>your prompt, split into tokens</a:t>
            </a:r>
            <a:endParaRPr lang="en-US" sz="950" dirty="0"/>
          </a:p>
        </p:txBody>
      </p:sp>
      <p:graphicFrame>
        <p:nvGraphicFramePr>
          <p:cNvPr id="23" name="Chart 0" descr=""/>
          <p:cNvGraphicFramePr/>
          <p:nvPr/>
        </p:nvGraphicFramePr>
        <p:xfrm>
          <a:off x="640080" y="2743200"/>
          <a:ext cx="5623560" cy="2103120"/>
        </p:xfrm>
        <a:graphic xmlns:a="http://schemas.openxmlformats.org/drawingml/2006/main">
          <a:graphicData uri="http://schemas.openxmlformats.org/drawingml/2006/chart">
            <c:chart xmlns:c="http://schemas.openxmlformats.org/drawingml/2006/chart" r:id="rId1"/>
          </a:graphicData>
        </a:graphic>
      </p:graphicFrame>
      <p:sp>
        <p:nvSpPr>
          <p:cNvPr id="24" name="Shape 21"/>
          <p:cNvSpPr/>
          <p:nvPr/>
        </p:nvSpPr>
        <p:spPr>
          <a:xfrm>
            <a:off x="640080" y="4974336"/>
            <a:ext cx="5623560" cy="877824"/>
          </a:xfrm>
          <a:prstGeom prst="roundRect">
            <a:avLst>
              <a:gd name="adj" fmla="val 6250"/>
            </a:avLst>
          </a:prstGeom>
          <a:solidFill>
            <a:srgbClr val="E8E3F2"/>
          </a:solidFill>
          <a:ln w="9525">
            <a:solidFill>
              <a:srgbClr val="553C7B"/>
            </a:solidFill>
            <a:prstDash val="solid"/>
          </a:ln>
        </p:spPr>
      </p:sp>
      <p:sp>
        <p:nvSpPr>
          <p:cNvPr id="25" name="Text 22"/>
          <p:cNvSpPr/>
          <p:nvPr/>
        </p:nvSpPr>
        <p:spPr>
          <a:xfrm>
            <a:off x="859536" y="5065776"/>
            <a:ext cx="5184648" cy="694944"/>
          </a:xfrm>
          <a:prstGeom prst="rect">
            <a:avLst/>
          </a:prstGeom>
          <a:noFill/>
          <a:ln/>
        </p:spPr>
        <p:txBody>
          <a:bodyPr wrap="square" lIns="0" tIns="0" rIns="0" bIns="0" rtlCol="0" anchor="ctr"/>
          <a:lstStyle/>
          <a:p>
            <a:pPr indent="0" marL="0">
              <a:lnSpc>
                <a:spcPts val="1610"/>
              </a:lnSpc>
              <a:buNone/>
            </a:pPr>
            <a:r>
              <a:rPr lang="en-US" sz="1150" b="1" dirty="0">
                <a:solidFill>
                  <a:srgbClr val="553C7B"/>
                </a:solidFill>
                <a:latin typeface="Calibri" pitchFamily="34" charset="0"/>
                <a:ea typeface="Calibri" pitchFamily="34" charset="-122"/>
                <a:cs typeface="Calibri" pitchFamily="34" charset="-120"/>
              </a:rPr>
              <a:t>Then it does it again.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It picks one, appends it, and re-runs the whole thing. Fluency is the by-product.</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37960" y="1783080"/>
          <a:ext cx="5010912" cy="914400"/>
        </p:xfrm>
        <a:graphic>
          <a:graphicData uri="http://schemas.openxmlformats.org/drawingml/2006/table">
            <a:tbl>
              <a:tblPr/>
              <a:tblGrid>
                <a:gridCol w="1481328"/>
                <a:gridCol w="3529584"/>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means for you</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Token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Roughly a word-piece. The unit APIs bill in — cost is token count.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Context window</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How much text it can consider at once. Its only short-term memory.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System message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first instruction that sets the role. Not privileged — just early.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Temperature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How much randomness in the pick. Zero for reproducible security work.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7" name="Shape 23"/>
          <p:cNvSpPr/>
          <p:nvPr/>
        </p:nvSpPr>
        <p:spPr>
          <a:xfrm>
            <a:off x="6537960" y="4023360"/>
            <a:ext cx="5010912" cy="1828800"/>
          </a:xfrm>
          <a:prstGeom prst="roundRect">
            <a:avLst>
              <a:gd name="adj" fmla="val 3000"/>
            </a:avLst>
          </a:prstGeom>
          <a:solidFill>
            <a:srgbClr val="F7E5E8"/>
          </a:solidFill>
          <a:ln w="9525">
            <a:solidFill>
              <a:srgbClr val="A4243B"/>
            </a:solidFill>
            <a:prstDash val="solid"/>
          </a:ln>
        </p:spPr>
      </p:sp>
      <p:sp>
        <p:nvSpPr>
          <p:cNvPr id="28" name="Text 24"/>
          <p:cNvSpPr/>
          <p:nvPr/>
        </p:nvSpPr>
        <p:spPr>
          <a:xfrm>
            <a:off x="6757416" y="4114800"/>
            <a:ext cx="4572000" cy="1645920"/>
          </a:xfrm>
          <a:prstGeom prst="rect">
            <a:avLst/>
          </a:prstGeom>
          <a:noFill/>
          <a:ln/>
        </p:spPr>
        <p:txBody>
          <a:bodyPr wrap="square" lIns="0" tIns="0" rIns="0" bIns="0" rtlCol="0" anchor="ctr"/>
          <a:lstStyle/>
          <a:p>
            <a:pPr indent="0" marL="0">
              <a:lnSpc>
                <a:spcPts val="1610"/>
              </a:lnSpc>
              <a:buNone/>
            </a:pPr>
            <a:r>
              <a:rPr lang="en-US" sz="1150" b="1" dirty="0">
                <a:solidFill>
                  <a:srgbClr val="A4243B"/>
                </a:solidFill>
                <a:latin typeface="Calibri" pitchFamily="34" charset="0"/>
                <a:ea typeface="Calibri" pitchFamily="34" charset="-122"/>
                <a:cs typeface="Calibri" pitchFamily="34" charset="-120"/>
              </a:rPr>
              <a:t>The consequence you must internalise: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nothing in this mechanism consults a database, and nothing checks whether the output is true. The model produces text that is statistically plausible given what came before. A fabricated CVE number is not a malfunction — it is the same machinery working normally on a prompt where plausible and correct happened to diverge.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1 · WHY AI FOR SECURITY</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Which one do I reach for?</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A rule of thumb that keeps you out of most trouble.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640080" y="1828800"/>
            <a:ext cx="2286000" cy="749808"/>
          </a:xfrm>
          <a:prstGeom prst="roundRect">
            <a:avLst>
              <a:gd name="adj" fmla="val 7317"/>
            </a:avLst>
          </a:prstGeom>
          <a:solidFill>
            <a:srgbClr val="12202B"/>
          </a:solidFill>
          <a:ln w="15875">
            <a:solidFill>
              <a:srgbClr val="12202B"/>
            </a:solidFill>
            <a:prstDash val="solid"/>
          </a:ln>
        </p:spPr>
      </p:sp>
      <p:sp>
        <p:nvSpPr>
          <p:cNvPr id="8" name="Text 6"/>
          <p:cNvSpPr/>
          <p:nvPr/>
        </p:nvSpPr>
        <p:spPr>
          <a:xfrm>
            <a:off x="694944" y="1911096"/>
            <a:ext cx="2176272"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Your task</a:t>
            </a:r>
            <a:endParaRPr lang="en-US" sz="1200" dirty="0"/>
          </a:p>
        </p:txBody>
      </p:sp>
      <p:sp>
        <p:nvSpPr>
          <p:cNvPr id="9" name="Text 7"/>
          <p:cNvSpPr/>
          <p:nvPr/>
        </p:nvSpPr>
        <p:spPr>
          <a:xfrm>
            <a:off x="694944" y="2176272"/>
            <a:ext cx="2176272" cy="347472"/>
          </a:xfrm>
          <a:prstGeom prst="rect">
            <a:avLst/>
          </a:prstGeom>
          <a:noFill/>
          <a:ln/>
        </p:spPr>
        <p:txBody>
          <a:bodyPr wrap="square" lIns="0" tIns="0" rIns="0" bIns="0" rtlCol="0" anchor="t"/>
          <a:lstStyle/>
          <a:p>
            <a:pPr algn="ctr" indent="0" marL="0">
              <a:lnSpc>
                <a:spcPts val="1200"/>
              </a:lnSpc>
              <a:buNone/>
            </a:pPr>
            <a:r>
              <a:rPr lang="en-US" sz="950" dirty="0">
                <a:solidFill>
                  <a:srgbClr val="9FB8C6"/>
                </a:solidFill>
                <a:latin typeface="Calibri" pitchFamily="34" charset="0"/>
                <a:ea typeface="Calibri" pitchFamily="34" charset="-122"/>
                <a:cs typeface="Calibri" pitchFamily="34" charset="-120"/>
              </a:rPr>
              <a:t>start here</a:t>
            </a:r>
            <a:endParaRPr lang="en-US" sz="950" dirty="0"/>
          </a:p>
        </p:txBody>
      </p:sp>
      <p:sp>
        <p:nvSpPr>
          <p:cNvPr id="10" name="Shape 8"/>
          <p:cNvSpPr/>
          <p:nvPr/>
        </p:nvSpPr>
        <p:spPr>
          <a:xfrm flipV="1">
            <a:off x="1783080" y="2185416"/>
            <a:ext cx="0" cy="393192"/>
          </a:xfrm>
          <a:prstGeom prst="line">
            <a:avLst/>
          </a:prstGeom>
          <a:noFill/>
          <a:ln w="15875">
            <a:solidFill>
              <a:srgbClr val="C9D8E0"/>
            </a:solidFill>
            <a:prstDash val="solid"/>
          </a:ln>
        </p:spPr>
      </p:sp>
      <p:sp>
        <p:nvSpPr>
          <p:cNvPr id="11" name="Shape 9"/>
          <p:cNvSpPr/>
          <p:nvPr/>
        </p:nvSpPr>
        <p:spPr>
          <a:xfrm>
            <a:off x="1783080" y="2185416"/>
            <a:ext cx="1600200" cy="0"/>
          </a:xfrm>
          <a:prstGeom prst="line">
            <a:avLst/>
          </a:prstGeom>
          <a:noFill/>
          <a:ln w="15875">
            <a:solidFill>
              <a:srgbClr val="C9D8E0"/>
            </a:solidFill>
            <a:prstDash val="solid"/>
            <a:tailEnd type="triangle"/>
          </a:ln>
        </p:spPr>
      </p:sp>
      <p:sp>
        <p:nvSpPr>
          <p:cNvPr id="12" name="Shape 10"/>
          <p:cNvSpPr/>
          <p:nvPr/>
        </p:nvSpPr>
        <p:spPr>
          <a:xfrm>
            <a:off x="3429000" y="1783080"/>
            <a:ext cx="3063240" cy="804672"/>
          </a:xfrm>
          <a:prstGeom prst="roundRect">
            <a:avLst>
              <a:gd name="adj" fmla="val 6818"/>
            </a:avLst>
          </a:prstGeom>
          <a:solidFill>
            <a:srgbClr val="FFFFFF"/>
          </a:solidFill>
          <a:ln w="12700">
            <a:solidFill>
              <a:srgbClr val="C9D8E0"/>
            </a:solidFill>
            <a:prstDash val="solid"/>
          </a:ln>
        </p:spPr>
      </p:sp>
      <p:sp>
        <p:nvSpPr>
          <p:cNvPr id="13" name="Text 11"/>
          <p:cNvSpPr/>
          <p:nvPr/>
        </p:nvSpPr>
        <p:spPr>
          <a:xfrm>
            <a:off x="3584448" y="1783080"/>
            <a:ext cx="2788920" cy="804672"/>
          </a:xfrm>
          <a:prstGeom prst="rect">
            <a:avLst/>
          </a:prstGeom>
          <a:noFill/>
          <a:ln/>
        </p:spPr>
        <p:txBody>
          <a:bodyPr wrap="square" lIns="0" tIns="0" rIns="0" bIns="0" rtlCol="0" anchor="ctr"/>
          <a:lstStyle/>
          <a:p>
            <a:pPr indent="0" marL="0">
              <a:buNone/>
            </a:pPr>
            <a:r>
              <a:rPr lang="en-US" sz="1150" dirty="0">
                <a:solidFill>
                  <a:srgbClr val="1B2B36"/>
                </a:solidFill>
                <a:latin typeface="Calibri" pitchFamily="34" charset="0"/>
                <a:ea typeface="Calibri" pitchFamily="34" charset="-122"/>
                <a:cs typeface="Calibri" pitchFamily="34" charset="-120"/>
              </a:rPr>
              <a:t>Structured data, clear labels?</a:t>
            </a:r>
            <a:endParaRPr lang="en-US" sz="1150" dirty="0"/>
          </a:p>
        </p:txBody>
      </p:sp>
      <p:sp>
        <p:nvSpPr>
          <p:cNvPr id="14" name="Shape 12"/>
          <p:cNvSpPr/>
          <p:nvPr/>
        </p:nvSpPr>
        <p:spPr>
          <a:xfrm>
            <a:off x="6547104" y="2185416"/>
            <a:ext cx="457200" cy="0"/>
          </a:xfrm>
          <a:prstGeom prst="line">
            <a:avLst/>
          </a:prstGeom>
          <a:noFill/>
          <a:ln w="19050">
            <a:solidFill>
              <a:srgbClr val="8E77C4"/>
            </a:solidFill>
            <a:prstDash val="solid"/>
            <a:tailEnd type="triangle"/>
          </a:ln>
        </p:spPr>
      </p:sp>
      <p:sp>
        <p:nvSpPr>
          <p:cNvPr id="15" name="Shape 13"/>
          <p:cNvSpPr/>
          <p:nvPr/>
        </p:nvSpPr>
        <p:spPr>
          <a:xfrm>
            <a:off x="7059168" y="1783080"/>
            <a:ext cx="1965960" cy="804672"/>
          </a:xfrm>
          <a:prstGeom prst="roundRect">
            <a:avLst>
              <a:gd name="adj" fmla="val 6818"/>
            </a:avLst>
          </a:prstGeom>
          <a:solidFill>
            <a:srgbClr val="F1F5F8"/>
          </a:solidFill>
          <a:ln w="19050">
            <a:solidFill>
              <a:srgbClr val="8E77C4"/>
            </a:solidFill>
            <a:prstDash val="solid"/>
          </a:ln>
        </p:spPr>
      </p:sp>
      <p:sp>
        <p:nvSpPr>
          <p:cNvPr id="16" name="Text 14"/>
          <p:cNvSpPr/>
          <p:nvPr/>
        </p:nvSpPr>
        <p:spPr>
          <a:xfrm>
            <a:off x="7059168" y="1783080"/>
            <a:ext cx="1965960" cy="804672"/>
          </a:xfrm>
          <a:prstGeom prst="rect">
            <a:avLst/>
          </a:prstGeom>
          <a:noFill/>
          <a:ln/>
        </p:spPr>
        <p:txBody>
          <a:bodyPr wrap="square" lIns="0" tIns="0" rIns="0" bIns="0" rtlCol="0" anchor="ctr"/>
          <a:lstStyle/>
          <a:p>
            <a:pPr algn="ctr" indent="0" marL="0">
              <a:buNone/>
            </a:pPr>
            <a:r>
              <a:rPr lang="en-US" sz="1300" b="1" dirty="0">
                <a:solidFill>
                  <a:srgbClr val="8E77C4"/>
                </a:solidFill>
                <a:latin typeface="Calibri" pitchFamily="34" charset="0"/>
                <a:ea typeface="Calibri" pitchFamily="34" charset="-122"/>
                <a:cs typeface="Calibri" pitchFamily="34" charset="-120"/>
              </a:rPr>
              <a:t>Classic ML</a:t>
            </a:r>
            <a:endParaRPr lang="en-US" sz="1300" dirty="0"/>
          </a:p>
        </p:txBody>
      </p:sp>
      <p:sp>
        <p:nvSpPr>
          <p:cNvPr id="17" name="Text 15"/>
          <p:cNvSpPr/>
          <p:nvPr/>
        </p:nvSpPr>
        <p:spPr>
          <a:xfrm>
            <a:off x="9144000" y="1783080"/>
            <a:ext cx="2404872" cy="804672"/>
          </a:xfrm>
          <a:prstGeom prst="rect">
            <a:avLst/>
          </a:prstGeom>
          <a:noFill/>
          <a:ln/>
        </p:spPr>
        <p:txBody>
          <a:bodyPr wrap="square" lIns="0" tIns="0" rIns="0" bIns="0" rtlCol="0" anchor="ctr"/>
          <a:lstStyle/>
          <a:p>
            <a:pPr indent="0" marL="0">
              <a:buNone/>
            </a:pPr>
            <a:r>
              <a:rPr lang="en-US" sz="1050" i="1" dirty="0">
                <a:solidFill>
                  <a:srgbClr val="5C7383"/>
                </a:solidFill>
                <a:latin typeface="Calibri" pitchFamily="34" charset="0"/>
                <a:ea typeface="Calibri" pitchFamily="34" charset="-122"/>
                <a:cs typeface="Calibri" pitchFamily="34" charset="-120"/>
              </a:rPr>
              <a:t>Is this URL phishing? Cheap, fast, measurable.</a:t>
            </a:r>
            <a:endParaRPr lang="en-US" sz="1050" dirty="0"/>
          </a:p>
        </p:txBody>
      </p:sp>
      <p:sp>
        <p:nvSpPr>
          <p:cNvPr id="18" name="Shape 16"/>
          <p:cNvSpPr/>
          <p:nvPr/>
        </p:nvSpPr>
        <p:spPr>
          <a:xfrm>
            <a:off x="1783080" y="2578608"/>
            <a:ext cx="0" cy="585216"/>
          </a:xfrm>
          <a:prstGeom prst="line">
            <a:avLst/>
          </a:prstGeom>
          <a:noFill/>
          <a:ln w="15875">
            <a:solidFill>
              <a:srgbClr val="C9D8E0"/>
            </a:solidFill>
            <a:prstDash val="solid"/>
          </a:ln>
        </p:spPr>
      </p:sp>
      <p:sp>
        <p:nvSpPr>
          <p:cNvPr id="19" name="Shape 17"/>
          <p:cNvSpPr/>
          <p:nvPr/>
        </p:nvSpPr>
        <p:spPr>
          <a:xfrm>
            <a:off x="1783080" y="3163824"/>
            <a:ext cx="1600200" cy="0"/>
          </a:xfrm>
          <a:prstGeom prst="line">
            <a:avLst/>
          </a:prstGeom>
          <a:noFill/>
          <a:ln w="15875">
            <a:solidFill>
              <a:srgbClr val="C9D8E0"/>
            </a:solidFill>
            <a:prstDash val="solid"/>
            <a:tailEnd type="triangle"/>
          </a:ln>
        </p:spPr>
      </p:sp>
      <p:sp>
        <p:nvSpPr>
          <p:cNvPr id="20" name="Shape 18"/>
          <p:cNvSpPr/>
          <p:nvPr/>
        </p:nvSpPr>
        <p:spPr>
          <a:xfrm>
            <a:off x="3429000" y="2761488"/>
            <a:ext cx="3063240" cy="804672"/>
          </a:xfrm>
          <a:prstGeom prst="roundRect">
            <a:avLst>
              <a:gd name="adj" fmla="val 6818"/>
            </a:avLst>
          </a:prstGeom>
          <a:solidFill>
            <a:srgbClr val="FFFFFF"/>
          </a:solidFill>
          <a:ln w="12700">
            <a:solidFill>
              <a:srgbClr val="C9D8E0"/>
            </a:solidFill>
            <a:prstDash val="solid"/>
          </a:ln>
        </p:spPr>
      </p:sp>
      <p:sp>
        <p:nvSpPr>
          <p:cNvPr id="21" name="Text 19"/>
          <p:cNvSpPr/>
          <p:nvPr/>
        </p:nvSpPr>
        <p:spPr>
          <a:xfrm>
            <a:off x="3584448" y="2761488"/>
            <a:ext cx="2788920" cy="804672"/>
          </a:xfrm>
          <a:prstGeom prst="rect">
            <a:avLst/>
          </a:prstGeom>
          <a:noFill/>
          <a:ln/>
        </p:spPr>
        <p:txBody>
          <a:bodyPr wrap="square" lIns="0" tIns="0" rIns="0" bIns="0" rtlCol="0" anchor="ctr"/>
          <a:lstStyle/>
          <a:p>
            <a:pPr indent="0" marL="0">
              <a:buNone/>
            </a:pPr>
            <a:r>
              <a:rPr lang="en-US" sz="1150" dirty="0">
                <a:solidFill>
                  <a:srgbClr val="1B2B36"/>
                </a:solidFill>
                <a:latin typeface="Calibri" pitchFamily="34" charset="0"/>
                <a:ea typeface="Calibri" pitchFamily="34" charset="-122"/>
                <a:cs typeface="Calibri" pitchFamily="34" charset="-120"/>
              </a:rPr>
              <a:t>Free text or code, needs an explanation?</a:t>
            </a:r>
            <a:endParaRPr lang="en-US" sz="1150" dirty="0"/>
          </a:p>
        </p:txBody>
      </p:sp>
      <p:sp>
        <p:nvSpPr>
          <p:cNvPr id="22" name="Shape 20"/>
          <p:cNvSpPr/>
          <p:nvPr/>
        </p:nvSpPr>
        <p:spPr>
          <a:xfrm>
            <a:off x="6547104" y="3163824"/>
            <a:ext cx="457200" cy="0"/>
          </a:xfrm>
          <a:prstGeom prst="line">
            <a:avLst/>
          </a:prstGeom>
          <a:noFill/>
          <a:ln w="19050">
            <a:solidFill>
              <a:srgbClr val="553C7B"/>
            </a:solidFill>
            <a:prstDash val="solid"/>
            <a:tailEnd type="triangle"/>
          </a:ln>
        </p:spPr>
      </p:sp>
      <p:sp>
        <p:nvSpPr>
          <p:cNvPr id="23" name="Shape 21"/>
          <p:cNvSpPr/>
          <p:nvPr/>
        </p:nvSpPr>
        <p:spPr>
          <a:xfrm>
            <a:off x="7059168" y="2761488"/>
            <a:ext cx="1965960" cy="804672"/>
          </a:xfrm>
          <a:prstGeom prst="roundRect">
            <a:avLst>
              <a:gd name="adj" fmla="val 6818"/>
            </a:avLst>
          </a:prstGeom>
          <a:solidFill>
            <a:srgbClr val="F1F5F8"/>
          </a:solidFill>
          <a:ln w="19050">
            <a:solidFill>
              <a:srgbClr val="553C7B"/>
            </a:solidFill>
            <a:prstDash val="solid"/>
          </a:ln>
        </p:spPr>
      </p:sp>
      <p:sp>
        <p:nvSpPr>
          <p:cNvPr id="24" name="Text 22"/>
          <p:cNvSpPr/>
          <p:nvPr/>
        </p:nvSpPr>
        <p:spPr>
          <a:xfrm>
            <a:off x="7059168" y="2761488"/>
            <a:ext cx="1965960" cy="804672"/>
          </a:xfrm>
          <a:prstGeom prst="rect">
            <a:avLst/>
          </a:prstGeom>
          <a:noFill/>
          <a:ln/>
        </p:spPr>
        <p:txBody>
          <a:bodyPr wrap="square" lIns="0" tIns="0" rIns="0" bIns="0" rtlCol="0" anchor="ctr"/>
          <a:lstStyle/>
          <a:p>
            <a:pPr algn="ctr" indent="0" marL="0">
              <a:buNone/>
            </a:pPr>
            <a:r>
              <a:rPr lang="en-US" sz="1300" b="1" dirty="0">
                <a:solidFill>
                  <a:srgbClr val="553C7B"/>
                </a:solidFill>
                <a:latin typeface="Calibri" pitchFamily="34" charset="0"/>
                <a:ea typeface="Calibri" pitchFamily="34" charset="-122"/>
                <a:cs typeface="Calibri" pitchFamily="34" charset="-120"/>
              </a:rPr>
              <a:t>An LLM</a:t>
            </a:r>
            <a:endParaRPr lang="en-US" sz="1300" dirty="0"/>
          </a:p>
        </p:txBody>
      </p:sp>
      <p:sp>
        <p:nvSpPr>
          <p:cNvPr id="25" name="Text 23"/>
          <p:cNvSpPr/>
          <p:nvPr/>
        </p:nvSpPr>
        <p:spPr>
          <a:xfrm>
            <a:off x="9144000" y="2761488"/>
            <a:ext cx="2404872" cy="804672"/>
          </a:xfrm>
          <a:prstGeom prst="rect">
            <a:avLst/>
          </a:prstGeom>
          <a:noFill/>
          <a:ln/>
        </p:spPr>
        <p:txBody>
          <a:bodyPr wrap="square" lIns="0" tIns="0" rIns="0" bIns="0" rtlCol="0" anchor="ctr"/>
          <a:lstStyle/>
          <a:p>
            <a:pPr indent="0" marL="0">
              <a:buNone/>
            </a:pPr>
            <a:r>
              <a:rPr lang="en-US" sz="1050" i="1" dirty="0">
                <a:solidFill>
                  <a:srgbClr val="5C7383"/>
                </a:solidFill>
                <a:latin typeface="Calibri" pitchFamily="34" charset="0"/>
                <a:ea typeface="Calibri" pitchFamily="34" charset="-122"/>
                <a:cs typeface="Calibri" pitchFamily="34" charset="-120"/>
              </a:rPr>
              <a:t>Triage this alert and tell me why.</a:t>
            </a:r>
            <a:endParaRPr lang="en-US" sz="1050" dirty="0"/>
          </a:p>
        </p:txBody>
      </p:sp>
      <p:sp>
        <p:nvSpPr>
          <p:cNvPr id="26" name="Shape 24"/>
          <p:cNvSpPr/>
          <p:nvPr/>
        </p:nvSpPr>
        <p:spPr>
          <a:xfrm>
            <a:off x="1783080" y="2578608"/>
            <a:ext cx="0" cy="1563624"/>
          </a:xfrm>
          <a:prstGeom prst="line">
            <a:avLst/>
          </a:prstGeom>
          <a:noFill/>
          <a:ln w="15875">
            <a:solidFill>
              <a:srgbClr val="C9D8E0"/>
            </a:solidFill>
            <a:prstDash val="solid"/>
          </a:ln>
        </p:spPr>
      </p:sp>
      <p:sp>
        <p:nvSpPr>
          <p:cNvPr id="27" name="Shape 25"/>
          <p:cNvSpPr/>
          <p:nvPr/>
        </p:nvSpPr>
        <p:spPr>
          <a:xfrm>
            <a:off x="1783080" y="4142232"/>
            <a:ext cx="1600200" cy="0"/>
          </a:xfrm>
          <a:prstGeom prst="line">
            <a:avLst/>
          </a:prstGeom>
          <a:noFill/>
          <a:ln w="15875">
            <a:solidFill>
              <a:srgbClr val="C9D8E0"/>
            </a:solidFill>
            <a:prstDash val="solid"/>
            <a:tailEnd type="triangle"/>
          </a:ln>
        </p:spPr>
      </p:sp>
      <p:sp>
        <p:nvSpPr>
          <p:cNvPr id="28" name="Shape 26"/>
          <p:cNvSpPr/>
          <p:nvPr/>
        </p:nvSpPr>
        <p:spPr>
          <a:xfrm>
            <a:off x="3429000" y="3739896"/>
            <a:ext cx="3063240" cy="804672"/>
          </a:xfrm>
          <a:prstGeom prst="roundRect">
            <a:avLst>
              <a:gd name="adj" fmla="val 6818"/>
            </a:avLst>
          </a:prstGeom>
          <a:solidFill>
            <a:srgbClr val="FFFFFF"/>
          </a:solidFill>
          <a:ln w="12700">
            <a:solidFill>
              <a:srgbClr val="C9D8E0"/>
            </a:solidFill>
            <a:prstDash val="solid"/>
          </a:ln>
        </p:spPr>
      </p:sp>
      <p:sp>
        <p:nvSpPr>
          <p:cNvPr id="29" name="Text 27"/>
          <p:cNvSpPr/>
          <p:nvPr/>
        </p:nvSpPr>
        <p:spPr>
          <a:xfrm>
            <a:off x="3584448" y="3739896"/>
            <a:ext cx="2788920" cy="804672"/>
          </a:xfrm>
          <a:prstGeom prst="rect">
            <a:avLst/>
          </a:prstGeom>
          <a:noFill/>
          <a:ln/>
        </p:spPr>
        <p:txBody>
          <a:bodyPr wrap="square" lIns="0" tIns="0" rIns="0" bIns="0" rtlCol="0" anchor="ctr"/>
          <a:lstStyle/>
          <a:p>
            <a:pPr indent="0" marL="0">
              <a:buNone/>
            </a:pPr>
            <a:r>
              <a:rPr lang="en-US" sz="1150" dirty="0">
                <a:solidFill>
                  <a:srgbClr val="1B2B36"/>
                </a:solidFill>
                <a:latin typeface="Calibri" pitchFamily="34" charset="0"/>
                <a:ea typeface="Calibri" pitchFamily="34" charset="-122"/>
                <a:cs typeface="Calibri" pitchFamily="34" charset="-120"/>
              </a:rPr>
              <a:t>Several actions, in sequence, using tools?</a:t>
            </a:r>
            <a:endParaRPr lang="en-US" sz="1150" dirty="0"/>
          </a:p>
        </p:txBody>
      </p:sp>
      <p:sp>
        <p:nvSpPr>
          <p:cNvPr id="30" name="Shape 28"/>
          <p:cNvSpPr/>
          <p:nvPr/>
        </p:nvSpPr>
        <p:spPr>
          <a:xfrm>
            <a:off x="6547104" y="4142232"/>
            <a:ext cx="457200" cy="0"/>
          </a:xfrm>
          <a:prstGeom prst="line">
            <a:avLst/>
          </a:prstGeom>
          <a:noFill/>
          <a:ln w="19050">
            <a:solidFill>
              <a:srgbClr val="12202B"/>
            </a:solidFill>
            <a:prstDash val="solid"/>
            <a:tailEnd type="triangle"/>
          </a:ln>
        </p:spPr>
      </p:sp>
      <p:sp>
        <p:nvSpPr>
          <p:cNvPr id="31" name="Shape 29"/>
          <p:cNvSpPr/>
          <p:nvPr/>
        </p:nvSpPr>
        <p:spPr>
          <a:xfrm>
            <a:off x="7059168" y="3739896"/>
            <a:ext cx="1965960" cy="804672"/>
          </a:xfrm>
          <a:prstGeom prst="roundRect">
            <a:avLst>
              <a:gd name="adj" fmla="val 6818"/>
            </a:avLst>
          </a:prstGeom>
          <a:solidFill>
            <a:srgbClr val="F1F5F8"/>
          </a:solidFill>
          <a:ln w="19050">
            <a:solidFill>
              <a:srgbClr val="12202B"/>
            </a:solidFill>
            <a:prstDash val="solid"/>
          </a:ln>
        </p:spPr>
      </p:sp>
      <p:sp>
        <p:nvSpPr>
          <p:cNvPr id="32" name="Text 30"/>
          <p:cNvSpPr/>
          <p:nvPr/>
        </p:nvSpPr>
        <p:spPr>
          <a:xfrm>
            <a:off x="7059168" y="3739896"/>
            <a:ext cx="1965960" cy="804672"/>
          </a:xfrm>
          <a:prstGeom prst="rect">
            <a:avLst/>
          </a:prstGeom>
          <a:noFill/>
          <a:ln/>
        </p:spPr>
        <p:txBody>
          <a:bodyPr wrap="square" lIns="0" tIns="0" rIns="0" bIns="0" rtlCol="0" anchor="ctr"/>
          <a:lstStyle/>
          <a:p>
            <a:pPr algn="ctr" indent="0" marL="0">
              <a:buNone/>
            </a:pPr>
            <a:r>
              <a:rPr lang="en-US" sz="1300" b="1" dirty="0">
                <a:solidFill>
                  <a:srgbClr val="12202B"/>
                </a:solidFill>
                <a:latin typeface="Calibri" pitchFamily="34" charset="0"/>
                <a:ea typeface="Calibri" pitchFamily="34" charset="-122"/>
                <a:cs typeface="Calibri" pitchFamily="34" charset="-120"/>
              </a:rPr>
              <a:t>An agent</a:t>
            </a:r>
            <a:endParaRPr lang="en-US" sz="1300" dirty="0"/>
          </a:p>
        </p:txBody>
      </p:sp>
      <p:sp>
        <p:nvSpPr>
          <p:cNvPr id="33" name="Text 31"/>
          <p:cNvSpPr/>
          <p:nvPr/>
        </p:nvSpPr>
        <p:spPr>
          <a:xfrm>
            <a:off x="9144000" y="3739896"/>
            <a:ext cx="2404872" cy="804672"/>
          </a:xfrm>
          <a:prstGeom prst="rect">
            <a:avLst/>
          </a:prstGeom>
          <a:noFill/>
          <a:ln/>
        </p:spPr>
        <p:txBody>
          <a:bodyPr wrap="square" lIns="0" tIns="0" rIns="0" bIns="0" rtlCol="0" anchor="ctr"/>
          <a:lstStyle/>
          <a:p>
            <a:pPr indent="0" marL="0">
              <a:buNone/>
            </a:pPr>
            <a:r>
              <a:rPr lang="en-US" sz="1050" i="1" dirty="0">
                <a:solidFill>
                  <a:srgbClr val="5C7383"/>
                </a:solidFill>
                <a:latin typeface="Calibri" pitchFamily="34" charset="0"/>
                <a:ea typeface="Calibri" pitchFamily="34" charset="-122"/>
                <a:cs typeface="Calibri" pitchFamily="34" charset="-120"/>
              </a:rPr>
              <a:t>Enrich, correlate, then open a ticket.</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4773168"/>
          <a:ext cx="10908792" cy="914400"/>
        </p:xfrm>
        <a:graphic>
          <a:graphicData uri="http://schemas.openxmlformats.org/drawingml/2006/table">
            <a:tbl>
              <a:tblPr/>
              <a:tblGrid>
                <a:gridCol w="2926080"/>
                <a:gridCol w="4023360"/>
                <a:gridCol w="39593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Tempting mistake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it hurts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to do instead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 LLM for tabular classification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Slower, costlier, and less accurate than a model you can train in a minute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Train a small classifier; use the LLM to explain its output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One giant prompt for a multi-step job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 trace, no retry, no way to see which step failed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Break it into steps — that is what an agent is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8E77C4"/>
                </a:solidFill>
                <a:latin typeface="Calibri" pitchFamily="34" charset="0"/>
                <a:ea typeface="Calibri" pitchFamily="34" charset="-122"/>
                <a:cs typeface="Calibri" pitchFamily="34" charset="-120"/>
              </a:rPr>
              <a:t>PART 2</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AI in the SOC —</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Tool and Target</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Where AI genuinely helps a defender, where it fails, and why the systems you build are themselves something to defend.</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AI for Security</a:t>
            </a:r>
            <a:endParaRPr lang="en-US" sz="1200" dirty="0"/>
          </a:p>
        </p:txBody>
      </p:sp>
      <p:sp>
        <p:nvSpPr>
          <p:cNvPr id="8" name="Shape 6"/>
          <p:cNvSpPr/>
          <p:nvPr/>
        </p:nvSpPr>
        <p:spPr>
          <a:xfrm>
            <a:off x="7818120" y="2185416"/>
            <a:ext cx="182880" cy="182880"/>
          </a:xfrm>
          <a:prstGeom prst="ellipse">
            <a:avLst/>
          </a:prstGeom>
          <a:solidFill>
            <a:srgbClr val="8E77C4"/>
          </a:solidFill>
          <a:ln w="12700">
            <a:solidFill>
              <a:srgbClr val="8E77C4"/>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in the SOC: Tool &amp; Target</a:t>
            </a:r>
            <a:endParaRPr lang="en-US" sz="13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First AI Workflow</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 Little Python</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Frameworks, Ethics &amp; Your Week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2 · AI IN THE SOC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Where AI helps in the SOC</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Five places it shows up — and in every one, a human keeps the decision.</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640080" y="1810512"/>
            <a:ext cx="2002536" cy="841248"/>
          </a:xfrm>
          <a:prstGeom prst="roundRect">
            <a:avLst>
              <a:gd name="adj" fmla="val 6522"/>
            </a:avLst>
          </a:prstGeom>
          <a:solidFill>
            <a:srgbClr val="E8E3F2"/>
          </a:solidFill>
          <a:ln w="15875">
            <a:solidFill>
              <a:srgbClr val="553C7B"/>
            </a:solidFill>
            <a:prstDash val="solid"/>
          </a:ln>
        </p:spPr>
      </p:sp>
      <p:sp>
        <p:nvSpPr>
          <p:cNvPr id="8" name="Text 6"/>
          <p:cNvSpPr/>
          <p:nvPr/>
        </p:nvSpPr>
        <p:spPr>
          <a:xfrm>
            <a:off x="694944" y="1892808"/>
            <a:ext cx="189280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Triage</a:t>
            </a:r>
            <a:endParaRPr lang="en-US" sz="1250" dirty="0"/>
          </a:p>
        </p:txBody>
      </p:sp>
      <p:sp>
        <p:nvSpPr>
          <p:cNvPr id="9" name="Text 7"/>
          <p:cNvSpPr/>
          <p:nvPr/>
        </p:nvSpPr>
        <p:spPr>
          <a:xfrm>
            <a:off x="694944" y="2157984"/>
            <a:ext cx="1892808" cy="438912"/>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rank the flood</a:t>
            </a:r>
            <a:endParaRPr lang="en-US" sz="950" dirty="0"/>
          </a:p>
        </p:txBody>
      </p:sp>
      <p:sp>
        <p:nvSpPr>
          <p:cNvPr id="10" name="Shape 8"/>
          <p:cNvSpPr/>
          <p:nvPr/>
        </p:nvSpPr>
        <p:spPr>
          <a:xfrm>
            <a:off x="2670048" y="2231136"/>
            <a:ext cx="164592" cy="0"/>
          </a:xfrm>
          <a:prstGeom prst="line">
            <a:avLst/>
          </a:prstGeom>
          <a:noFill/>
          <a:ln w="19050">
            <a:solidFill>
              <a:srgbClr val="8E77C4"/>
            </a:solidFill>
            <a:prstDash val="solid"/>
            <a:tailEnd type="triangle"/>
          </a:ln>
        </p:spPr>
      </p:sp>
      <p:sp>
        <p:nvSpPr>
          <p:cNvPr id="11" name="Shape 9"/>
          <p:cNvSpPr/>
          <p:nvPr/>
        </p:nvSpPr>
        <p:spPr>
          <a:xfrm>
            <a:off x="2862072" y="1810512"/>
            <a:ext cx="2002536" cy="841248"/>
          </a:xfrm>
          <a:prstGeom prst="roundRect">
            <a:avLst>
              <a:gd name="adj" fmla="val 6522"/>
            </a:avLst>
          </a:prstGeom>
          <a:solidFill>
            <a:srgbClr val="F1F5F8"/>
          </a:solidFill>
          <a:ln w="15875">
            <a:solidFill>
              <a:srgbClr val="553C7B"/>
            </a:solidFill>
            <a:prstDash val="solid"/>
          </a:ln>
        </p:spPr>
      </p:sp>
      <p:sp>
        <p:nvSpPr>
          <p:cNvPr id="12" name="Text 10"/>
          <p:cNvSpPr/>
          <p:nvPr/>
        </p:nvSpPr>
        <p:spPr>
          <a:xfrm>
            <a:off x="2916936" y="1892808"/>
            <a:ext cx="189280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Detection</a:t>
            </a:r>
            <a:endParaRPr lang="en-US" sz="1250" dirty="0"/>
          </a:p>
        </p:txBody>
      </p:sp>
      <p:sp>
        <p:nvSpPr>
          <p:cNvPr id="13" name="Text 11"/>
          <p:cNvSpPr/>
          <p:nvPr/>
        </p:nvSpPr>
        <p:spPr>
          <a:xfrm>
            <a:off x="2916936" y="2157984"/>
            <a:ext cx="1892808" cy="438912"/>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classify URL, file, behaviour</a:t>
            </a:r>
            <a:endParaRPr lang="en-US" sz="950" dirty="0"/>
          </a:p>
        </p:txBody>
      </p:sp>
      <p:sp>
        <p:nvSpPr>
          <p:cNvPr id="14" name="Shape 12"/>
          <p:cNvSpPr/>
          <p:nvPr/>
        </p:nvSpPr>
        <p:spPr>
          <a:xfrm>
            <a:off x="4892040" y="2231136"/>
            <a:ext cx="164592" cy="0"/>
          </a:xfrm>
          <a:prstGeom prst="line">
            <a:avLst/>
          </a:prstGeom>
          <a:noFill/>
          <a:ln w="19050">
            <a:solidFill>
              <a:srgbClr val="8E77C4"/>
            </a:solidFill>
            <a:prstDash val="solid"/>
            <a:tailEnd type="triangle"/>
          </a:ln>
        </p:spPr>
      </p:sp>
      <p:sp>
        <p:nvSpPr>
          <p:cNvPr id="15" name="Shape 13"/>
          <p:cNvSpPr/>
          <p:nvPr/>
        </p:nvSpPr>
        <p:spPr>
          <a:xfrm>
            <a:off x="5084064" y="1810512"/>
            <a:ext cx="2002536" cy="841248"/>
          </a:xfrm>
          <a:prstGeom prst="roundRect">
            <a:avLst>
              <a:gd name="adj" fmla="val 6522"/>
            </a:avLst>
          </a:prstGeom>
          <a:solidFill>
            <a:srgbClr val="F1F5F8"/>
          </a:solidFill>
          <a:ln w="15875">
            <a:solidFill>
              <a:srgbClr val="553C7B"/>
            </a:solidFill>
            <a:prstDash val="solid"/>
          </a:ln>
        </p:spPr>
      </p:sp>
      <p:sp>
        <p:nvSpPr>
          <p:cNvPr id="16" name="Text 14"/>
          <p:cNvSpPr/>
          <p:nvPr/>
        </p:nvSpPr>
        <p:spPr>
          <a:xfrm>
            <a:off x="5138928" y="1892808"/>
            <a:ext cx="189280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Investigation</a:t>
            </a:r>
            <a:endParaRPr lang="en-US" sz="1250" dirty="0"/>
          </a:p>
        </p:txBody>
      </p:sp>
      <p:sp>
        <p:nvSpPr>
          <p:cNvPr id="17" name="Text 15"/>
          <p:cNvSpPr/>
          <p:nvPr/>
        </p:nvSpPr>
        <p:spPr>
          <a:xfrm>
            <a:off x="5138928" y="2157984"/>
            <a:ext cx="1892808" cy="438912"/>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correlate into a picture</a:t>
            </a:r>
            <a:endParaRPr lang="en-US" sz="950" dirty="0"/>
          </a:p>
        </p:txBody>
      </p:sp>
      <p:sp>
        <p:nvSpPr>
          <p:cNvPr id="18" name="Shape 16"/>
          <p:cNvSpPr/>
          <p:nvPr/>
        </p:nvSpPr>
        <p:spPr>
          <a:xfrm>
            <a:off x="7114032" y="2231136"/>
            <a:ext cx="164592" cy="0"/>
          </a:xfrm>
          <a:prstGeom prst="line">
            <a:avLst/>
          </a:prstGeom>
          <a:noFill/>
          <a:ln w="19050">
            <a:solidFill>
              <a:srgbClr val="8E77C4"/>
            </a:solidFill>
            <a:prstDash val="solid"/>
            <a:tailEnd type="triangle"/>
          </a:ln>
        </p:spPr>
      </p:sp>
      <p:sp>
        <p:nvSpPr>
          <p:cNvPr id="19" name="Shape 17"/>
          <p:cNvSpPr/>
          <p:nvPr/>
        </p:nvSpPr>
        <p:spPr>
          <a:xfrm>
            <a:off x="7306056" y="1810512"/>
            <a:ext cx="2002536" cy="841248"/>
          </a:xfrm>
          <a:prstGeom prst="roundRect">
            <a:avLst>
              <a:gd name="adj" fmla="val 6522"/>
            </a:avLst>
          </a:prstGeom>
          <a:solidFill>
            <a:srgbClr val="F1F5F8"/>
          </a:solidFill>
          <a:ln w="15875">
            <a:solidFill>
              <a:srgbClr val="553C7B"/>
            </a:solidFill>
            <a:prstDash val="solid"/>
          </a:ln>
        </p:spPr>
      </p:sp>
      <p:sp>
        <p:nvSpPr>
          <p:cNvPr id="20" name="Text 18"/>
          <p:cNvSpPr/>
          <p:nvPr/>
        </p:nvSpPr>
        <p:spPr>
          <a:xfrm>
            <a:off x="7360920" y="1892808"/>
            <a:ext cx="189280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Automation</a:t>
            </a:r>
            <a:endParaRPr lang="en-US" sz="1250" dirty="0"/>
          </a:p>
        </p:txBody>
      </p:sp>
      <p:sp>
        <p:nvSpPr>
          <p:cNvPr id="21" name="Text 19"/>
          <p:cNvSpPr/>
          <p:nvPr/>
        </p:nvSpPr>
        <p:spPr>
          <a:xfrm>
            <a:off x="7360920" y="2157984"/>
            <a:ext cx="1892808" cy="438912"/>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enrich and respond</a:t>
            </a:r>
            <a:endParaRPr lang="en-US" sz="950" dirty="0"/>
          </a:p>
        </p:txBody>
      </p:sp>
      <p:sp>
        <p:nvSpPr>
          <p:cNvPr id="22" name="Shape 20"/>
          <p:cNvSpPr/>
          <p:nvPr/>
        </p:nvSpPr>
        <p:spPr>
          <a:xfrm>
            <a:off x="9336024" y="2231136"/>
            <a:ext cx="164592" cy="0"/>
          </a:xfrm>
          <a:prstGeom prst="line">
            <a:avLst/>
          </a:prstGeom>
          <a:noFill/>
          <a:ln w="19050">
            <a:solidFill>
              <a:srgbClr val="8E77C4"/>
            </a:solidFill>
            <a:prstDash val="solid"/>
            <a:tailEnd type="triangle"/>
          </a:ln>
        </p:spPr>
      </p:sp>
      <p:sp>
        <p:nvSpPr>
          <p:cNvPr id="23" name="Shape 21"/>
          <p:cNvSpPr/>
          <p:nvPr/>
        </p:nvSpPr>
        <p:spPr>
          <a:xfrm>
            <a:off x="9528048" y="1810512"/>
            <a:ext cx="2002536" cy="841248"/>
          </a:xfrm>
          <a:prstGeom prst="roundRect">
            <a:avLst>
              <a:gd name="adj" fmla="val 6522"/>
            </a:avLst>
          </a:prstGeom>
          <a:solidFill>
            <a:srgbClr val="F1F5F8"/>
          </a:solidFill>
          <a:ln w="15875">
            <a:solidFill>
              <a:srgbClr val="553C7B"/>
            </a:solidFill>
            <a:prstDash val="solid"/>
          </a:ln>
        </p:spPr>
      </p:sp>
      <p:sp>
        <p:nvSpPr>
          <p:cNvPr id="24" name="Text 22"/>
          <p:cNvSpPr/>
          <p:nvPr/>
        </p:nvSpPr>
        <p:spPr>
          <a:xfrm>
            <a:off x="9582912" y="1892808"/>
            <a:ext cx="1892808" cy="292608"/>
          </a:xfrm>
          <a:prstGeom prst="rect">
            <a:avLst/>
          </a:prstGeom>
          <a:noFill/>
          <a:ln/>
        </p:spPr>
        <p:txBody>
          <a:bodyPr wrap="square" lIns="0" tIns="0" rIns="0" bIns="0" rtlCol="0" anchor="ctr"/>
          <a:lstStyle/>
          <a:p>
            <a:pPr algn="ctr" indent="0" marL="0">
              <a:buNone/>
            </a:pPr>
            <a:r>
              <a:rPr lang="en-US" sz="1250" b="1" dirty="0">
                <a:solidFill>
                  <a:srgbClr val="12202B"/>
                </a:solidFill>
                <a:latin typeface="Calibri" pitchFamily="34" charset="0"/>
                <a:ea typeface="Calibri" pitchFamily="34" charset="-122"/>
                <a:cs typeface="Calibri" pitchFamily="34" charset="-120"/>
              </a:rPr>
              <a:t>Reporting</a:t>
            </a:r>
            <a:endParaRPr lang="en-US" sz="1250" dirty="0"/>
          </a:p>
        </p:txBody>
      </p:sp>
      <p:sp>
        <p:nvSpPr>
          <p:cNvPr id="25" name="Text 23"/>
          <p:cNvSpPr/>
          <p:nvPr/>
        </p:nvSpPr>
        <p:spPr>
          <a:xfrm>
            <a:off x="9582912" y="2157984"/>
            <a:ext cx="1892808" cy="438912"/>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findings into prose</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871216"/>
          <a:ext cx="10908792" cy="914400"/>
        </p:xfrm>
        <a:graphic>
          <a:graphicData uri="http://schemas.openxmlformats.org/drawingml/2006/table">
            <a:tbl>
              <a:tblPr/>
              <a:tblGrid>
                <a:gridCol w="1691640"/>
                <a:gridCol w="3200400"/>
                <a:gridCol w="3017520"/>
                <a:gridCol w="29992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the AI does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saves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still needs a human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Triage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Reads the queue and ranks by likely severity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first pass over hundreds of alerts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escalation call on anything ranked high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Detection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Classifies a URL, file or behaviour as malicious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Manual feature inspection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Tuning the threshold; owning the false negatives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Investigation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Correlates events across sources into a narrative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Pivoting between six consoles by hand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Deciding which thread is worth pulling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Automation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Runs enrichment and drafts a response action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Repetitive lookups and copy-paste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Approving anything irreversible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Reporting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Turns messy findings into a readable writeup</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blank page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Verifying every claim before it ships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27" name="Shape 24"/>
          <p:cNvSpPr/>
          <p:nvPr/>
        </p:nvSpPr>
        <p:spPr>
          <a:xfrm>
            <a:off x="640080" y="5358384"/>
            <a:ext cx="10908792" cy="512064"/>
          </a:xfrm>
          <a:prstGeom prst="roundRect">
            <a:avLst>
              <a:gd name="adj" fmla="val 10714"/>
            </a:avLst>
          </a:prstGeom>
          <a:solidFill>
            <a:srgbClr val="E8E3F2"/>
          </a:solidFill>
          <a:ln w="9525">
            <a:solidFill>
              <a:srgbClr val="553C7B"/>
            </a:solidFill>
            <a:prstDash val="solid"/>
          </a:ln>
        </p:spPr>
      </p:sp>
      <p:sp>
        <p:nvSpPr>
          <p:cNvPr id="28" name="Text 25"/>
          <p:cNvSpPr/>
          <p:nvPr/>
        </p:nvSpPr>
        <p:spPr>
          <a:xfrm>
            <a:off x="859536" y="5449824"/>
            <a:ext cx="10469880" cy="329184"/>
          </a:xfrm>
          <a:prstGeom prst="rect">
            <a:avLst/>
          </a:prstGeom>
          <a:noFill/>
          <a:ln/>
        </p:spPr>
        <p:txBody>
          <a:bodyPr wrap="square" lIns="0" tIns="0" rIns="0" bIns="0" rtlCol="0" anchor="ctr"/>
          <a:lstStyle/>
          <a:p>
            <a:pPr indent="0" marL="0">
              <a:lnSpc>
                <a:spcPts val="1680"/>
              </a:lnSpc>
              <a:buNone/>
            </a:pPr>
            <a:r>
              <a:rPr lang="en-US" sz="1200" b="1" dirty="0">
                <a:solidFill>
                  <a:srgbClr val="553C7B"/>
                </a:solidFill>
                <a:latin typeface="Calibri" pitchFamily="34" charset="0"/>
                <a:ea typeface="Calibri" pitchFamily="34" charset="-122"/>
                <a:cs typeface="Calibri" pitchFamily="34" charset="-120"/>
              </a:rPr>
              <a:t>Read the last column as the syllabus.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Everything in it is judgement under uncertainty — which is precisely what does not automate.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2 · AI IN THE SOC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Where AI falls short — so you verify</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failure modes. All four follow from how the model works, not from it being immature.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640080" y="1783080"/>
            <a:ext cx="2624328" cy="1371600"/>
          </a:xfrm>
          <a:prstGeom prst="roundRect">
            <a:avLst>
              <a:gd name="adj" fmla="val 4667"/>
            </a:avLst>
          </a:prstGeom>
          <a:solidFill>
            <a:srgbClr val="F7E5E8"/>
          </a:solidFill>
          <a:ln w="9525">
            <a:solidFill>
              <a:srgbClr val="A4243B"/>
            </a:solidFill>
            <a:prstDash val="solid"/>
          </a:ln>
        </p:spPr>
      </p:sp>
      <p:sp>
        <p:nvSpPr>
          <p:cNvPr id="8" name="Text 6"/>
          <p:cNvSpPr/>
          <p:nvPr/>
        </p:nvSpPr>
        <p:spPr>
          <a:xfrm>
            <a:off x="896112" y="1965960"/>
            <a:ext cx="2112264" cy="420624"/>
          </a:xfrm>
          <a:prstGeom prst="rect">
            <a:avLst/>
          </a:prstGeom>
          <a:noFill/>
          <a:ln/>
        </p:spPr>
        <p:txBody>
          <a:bodyPr wrap="square" lIns="0" tIns="0" rIns="0" bIns="0" rtlCol="0" anchor="ctr"/>
          <a:lstStyle/>
          <a:p>
            <a:pPr indent="0" marL="0">
              <a:buNone/>
            </a:pPr>
            <a:r>
              <a:rPr lang="en-US" sz="1300" b="1" dirty="0">
                <a:solidFill>
                  <a:srgbClr val="A4243B"/>
                </a:solidFill>
                <a:latin typeface="Calibri" pitchFamily="34" charset="0"/>
                <a:ea typeface="Calibri" pitchFamily="34" charset="-122"/>
                <a:cs typeface="Calibri" pitchFamily="34" charset="-120"/>
              </a:rPr>
              <a:t>Hallucination</a:t>
            </a:r>
            <a:endParaRPr lang="en-US" sz="1300" dirty="0"/>
          </a:p>
        </p:txBody>
      </p:sp>
      <p:sp>
        <p:nvSpPr>
          <p:cNvPr id="9" name="Text 7"/>
          <p:cNvSpPr/>
          <p:nvPr/>
        </p:nvSpPr>
        <p:spPr>
          <a:xfrm>
            <a:off x="896112" y="2441448"/>
            <a:ext cx="2112264" cy="51206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Invents CVEs, commands and file paths that look entirely real.</a:t>
            </a:r>
            <a:endParaRPr lang="en-US" sz="1100" dirty="0"/>
          </a:p>
        </p:txBody>
      </p:sp>
      <p:sp>
        <p:nvSpPr>
          <p:cNvPr id="10" name="Shape 8"/>
          <p:cNvSpPr/>
          <p:nvPr/>
        </p:nvSpPr>
        <p:spPr>
          <a:xfrm>
            <a:off x="3438144" y="1783080"/>
            <a:ext cx="2624328" cy="1371600"/>
          </a:xfrm>
          <a:prstGeom prst="roundRect">
            <a:avLst>
              <a:gd name="adj" fmla="val 4667"/>
            </a:avLst>
          </a:prstGeom>
          <a:solidFill>
            <a:srgbClr val="F7E5E8"/>
          </a:solidFill>
          <a:ln w="9525">
            <a:solidFill>
              <a:srgbClr val="A4243B"/>
            </a:solidFill>
            <a:prstDash val="solid"/>
          </a:ln>
        </p:spPr>
      </p:sp>
      <p:sp>
        <p:nvSpPr>
          <p:cNvPr id="11" name="Text 9"/>
          <p:cNvSpPr/>
          <p:nvPr/>
        </p:nvSpPr>
        <p:spPr>
          <a:xfrm>
            <a:off x="3694176" y="1965960"/>
            <a:ext cx="2112264" cy="420624"/>
          </a:xfrm>
          <a:prstGeom prst="rect">
            <a:avLst/>
          </a:prstGeom>
          <a:noFill/>
          <a:ln/>
        </p:spPr>
        <p:txBody>
          <a:bodyPr wrap="square" lIns="0" tIns="0" rIns="0" bIns="0" rtlCol="0" anchor="ctr"/>
          <a:lstStyle/>
          <a:p>
            <a:pPr indent="0" marL="0">
              <a:buNone/>
            </a:pPr>
            <a:r>
              <a:rPr lang="en-US" sz="1300" b="1" dirty="0">
                <a:solidFill>
                  <a:srgbClr val="A4243B"/>
                </a:solidFill>
                <a:latin typeface="Calibri" pitchFamily="34" charset="0"/>
                <a:ea typeface="Calibri" pitchFamily="34" charset="-122"/>
                <a:cs typeface="Calibri" pitchFamily="34" charset="-120"/>
              </a:rPr>
              <a:t>No ground truth</a:t>
            </a:r>
            <a:endParaRPr lang="en-US" sz="1300" dirty="0"/>
          </a:p>
        </p:txBody>
      </p:sp>
      <p:sp>
        <p:nvSpPr>
          <p:cNvPr id="12" name="Text 10"/>
          <p:cNvSpPr/>
          <p:nvPr/>
        </p:nvSpPr>
        <p:spPr>
          <a:xfrm>
            <a:off x="3694176" y="2441448"/>
            <a:ext cx="2112264" cy="51206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Fluent and confident is not the same as correct — and it cannot tell.</a:t>
            </a:r>
            <a:endParaRPr lang="en-US" sz="1100" dirty="0"/>
          </a:p>
        </p:txBody>
      </p:sp>
      <p:sp>
        <p:nvSpPr>
          <p:cNvPr id="13" name="Shape 11"/>
          <p:cNvSpPr/>
          <p:nvPr/>
        </p:nvSpPr>
        <p:spPr>
          <a:xfrm>
            <a:off x="6236208" y="1783080"/>
            <a:ext cx="2624328" cy="1371600"/>
          </a:xfrm>
          <a:prstGeom prst="roundRect">
            <a:avLst>
              <a:gd name="adj" fmla="val 4667"/>
            </a:avLst>
          </a:prstGeom>
          <a:solidFill>
            <a:srgbClr val="F7E5E8"/>
          </a:solidFill>
          <a:ln w="9525">
            <a:solidFill>
              <a:srgbClr val="A4243B"/>
            </a:solidFill>
            <a:prstDash val="solid"/>
          </a:ln>
        </p:spPr>
      </p:sp>
      <p:sp>
        <p:nvSpPr>
          <p:cNvPr id="14" name="Text 12"/>
          <p:cNvSpPr/>
          <p:nvPr/>
        </p:nvSpPr>
        <p:spPr>
          <a:xfrm>
            <a:off x="6492240" y="1965960"/>
            <a:ext cx="2112264" cy="420624"/>
          </a:xfrm>
          <a:prstGeom prst="rect">
            <a:avLst/>
          </a:prstGeom>
          <a:noFill/>
          <a:ln/>
        </p:spPr>
        <p:txBody>
          <a:bodyPr wrap="square" lIns="0" tIns="0" rIns="0" bIns="0" rtlCol="0" anchor="ctr"/>
          <a:lstStyle/>
          <a:p>
            <a:pPr indent="0" marL="0">
              <a:buNone/>
            </a:pPr>
            <a:r>
              <a:rPr lang="en-US" sz="1300" b="1" dirty="0">
                <a:solidFill>
                  <a:srgbClr val="A4243B"/>
                </a:solidFill>
                <a:latin typeface="Calibri" pitchFamily="34" charset="0"/>
                <a:ea typeface="Calibri" pitchFamily="34" charset="-122"/>
                <a:cs typeface="Calibri" pitchFamily="34" charset="-120"/>
              </a:rPr>
              <a:t>Prompt injection</a:t>
            </a:r>
            <a:endParaRPr lang="en-US" sz="1300" dirty="0"/>
          </a:p>
        </p:txBody>
      </p:sp>
      <p:sp>
        <p:nvSpPr>
          <p:cNvPr id="15" name="Text 13"/>
          <p:cNvSpPr/>
          <p:nvPr/>
        </p:nvSpPr>
        <p:spPr>
          <a:xfrm>
            <a:off x="6492240" y="2441448"/>
            <a:ext cx="2112264" cy="51206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Untrusted text it reads can carry instructions that hijack it.</a:t>
            </a:r>
            <a:endParaRPr lang="en-US" sz="1100" dirty="0"/>
          </a:p>
        </p:txBody>
      </p:sp>
      <p:sp>
        <p:nvSpPr>
          <p:cNvPr id="16" name="Shape 14"/>
          <p:cNvSpPr/>
          <p:nvPr/>
        </p:nvSpPr>
        <p:spPr>
          <a:xfrm>
            <a:off x="9034272" y="1783080"/>
            <a:ext cx="2624328" cy="1371600"/>
          </a:xfrm>
          <a:prstGeom prst="roundRect">
            <a:avLst>
              <a:gd name="adj" fmla="val 4667"/>
            </a:avLst>
          </a:prstGeom>
          <a:solidFill>
            <a:srgbClr val="F7E5E8"/>
          </a:solidFill>
          <a:ln w="9525">
            <a:solidFill>
              <a:srgbClr val="A4243B"/>
            </a:solidFill>
            <a:prstDash val="solid"/>
          </a:ln>
        </p:spPr>
      </p:sp>
      <p:sp>
        <p:nvSpPr>
          <p:cNvPr id="17" name="Text 15"/>
          <p:cNvSpPr/>
          <p:nvPr/>
        </p:nvSpPr>
        <p:spPr>
          <a:xfrm>
            <a:off x="9290304" y="1965960"/>
            <a:ext cx="2112264" cy="420624"/>
          </a:xfrm>
          <a:prstGeom prst="rect">
            <a:avLst/>
          </a:prstGeom>
          <a:noFill/>
          <a:ln/>
        </p:spPr>
        <p:txBody>
          <a:bodyPr wrap="square" lIns="0" tIns="0" rIns="0" bIns="0" rtlCol="0" anchor="ctr"/>
          <a:lstStyle/>
          <a:p>
            <a:pPr indent="0" marL="0">
              <a:buNone/>
            </a:pPr>
            <a:r>
              <a:rPr lang="en-US" sz="1300" b="1" dirty="0">
                <a:solidFill>
                  <a:srgbClr val="A4243B"/>
                </a:solidFill>
                <a:latin typeface="Calibri" pitchFamily="34" charset="0"/>
                <a:ea typeface="Calibri" pitchFamily="34" charset="-122"/>
                <a:cs typeface="Calibri" pitchFamily="34" charset="-120"/>
              </a:rPr>
              <a:t>Stale, and blind to you</a:t>
            </a:r>
            <a:endParaRPr lang="en-US" sz="1300" dirty="0"/>
          </a:p>
        </p:txBody>
      </p:sp>
      <p:sp>
        <p:nvSpPr>
          <p:cNvPr id="18" name="Text 16"/>
          <p:cNvSpPr/>
          <p:nvPr/>
        </p:nvSpPr>
        <p:spPr>
          <a:xfrm>
            <a:off x="9290304" y="2441448"/>
            <a:ext cx="2112264" cy="51206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Training has a cutoff, and it knows nothing about your environment.</a:t>
            </a:r>
            <a:endParaRPr lang="en-US" sz="1100" dirty="0"/>
          </a:p>
        </p:txBody>
      </p:sp>
      <p:sp>
        <p:nvSpPr>
          <p:cNvPr id="19" name="Shape 17"/>
          <p:cNvSpPr/>
          <p:nvPr/>
        </p:nvSpPr>
        <p:spPr>
          <a:xfrm>
            <a:off x="640080" y="3310128"/>
            <a:ext cx="6035040" cy="1700784"/>
          </a:xfrm>
          <a:prstGeom prst="roundRect">
            <a:avLst>
              <a:gd name="adj" fmla="val 3763"/>
            </a:avLst>
          </a:prstGeom>
          <a:solidFill>
            <a:srgbClr val="1B1730"/>
          </a:solidFill>
          <a:ln w="12700">
            <a:solidFill>
              <a:srgbClr val="1B1730"/>
            </a:solidFill>
            <a:prstDash val="solid"/>
          </a:ln>
          <a:effectLst>
            <a:outerShdw sx="100000" sy="100000" kx="0" ky="0" algn="bl" rotWithShape="0" blurRad="114300" dist="25400" dir="5400000">
              <a:srgbClr val="0B1720">
                <a:alpha val="22000"/>
              </a:srgbClr>
            </a:outerShdw>
          </a:effectLst>
        </p:spPr>
      </p:sp>
      <p:sp>
        <p:nvSpPr>
          <p:cNvPr id="20" name="Text 18"/>
          <p:cNvSpPr/>
          <p:nvPr/>
        </p:nvSpPr>
        <p:spPr>
          <a:xfrm>
            <a:off x="877824" y="3429000"/>
            <a:ext cx="555955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The format is perfect. That is exactly the problem.</a:t>
            </a:r>
            <a:endParaRPr lang="en-US" sz="950" dirty="0"/>
          </a:p>
        </p:txBody>
      </p:sp>
      <p:sp>
        <p:nvSpPr>
          <p:cNvPr id="21" name="Text 19"/>
          <p:cNvSpPr/>
          <p:nvPr/>
        </p:nvSpPr>
        <p:spPr>
          <a:xfrm>
            <a:off x="877824" y="3730752"/>
            <a:ext cx="5559552" cy="1133856"/>
          </a:xfrm>
          <a:prstGeom prst="rect">
            <a:avLst/>
          </a:prstGeom>
          <a:noFill/>
          <a:ln/>
        </p:spPr>
        <p:txBody>
          <a:bodyPr wrap="square" lIns="0" tIns="0" rIns="0" bIns="0" rtlCol="0" anchor="t"/>
          <a:lstStyle/>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&gt; Which CVE is the Apache Struts RCE </a:t>
            </a:r>
            <a:pPr indent="0" marL="0">
              <a:lnSpc>
                <a:spcPts val="1425"/>
              </a:lnSpc>
              <a:buNone/>
            </a:pPr>
            <a:r>
              <a:rPr lang="en-US" sz="950" dirty="0">
                <a:solidFill>
                  <a:srgbClr val="C3AEEA"/>
                </a:solidFill>
                <a:latin typeface="Courier New" pitchFamily="34" charset="0"/>
                <a:ea typeface="Courier New" pitchFamily="34" charset="-122"/>
                <a:cs typeface="Courier New" pitchFamily="34" charset="-120"/>
              </a:rPr>
              <a:t>from</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that breach?</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"CVE-2017-5638 — the Jakarta Multipart parser."</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true</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&gt; And the follow-up advisory </a:t>
            </a:r>
            <a:pPr indent="0" marL="0">
              <a:lnSpc>
                <a:spcPts val="1425"/>
              </a:lnSpc>
              <a:buNone/>
            </a:pPr>
            <a:r>
              <a:rPr lang="en-US" sz="950" dirty="0">
                <a:solidFill>
                  <a:srgbClr val="C3AEEA"/>
                </a:solidFill>
                <a:latin typeface="Courier New" pitchFamily="34" charset="0"/>
                <a:ea typeface="Courier New" pitchFamily="34" charset="-122"/>
                <a:cs typeface="Courier New" pitchFamily="34" charset="-120"/>
              </a:rPr>
              <a:t>for</a:t>
            </a:r>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the 2023 variant?</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EBB183"/>
                </a:solidFill>
                <a:latin typeface="Courier New" pitchFamily="34" charset="0"/>
                <a:ea typeface="Courier New" pitchFamily="34" charset="-122"/>
                <a:cs typeface="Courier New" pitchFamily="34" charset="-120"/>
              </a:rPr>
              <a:t>"CVE-2023-50164, disclosed December 2023."</a:t>
            </a:r>
            <a:endParaRPr lang="en-US" sz="950" dirty="0"/>
          </a:p>
          <a:p>
            <a:pPr indent="0" marL="0">
              <a:lnSpc>
                <a:spcPts val="1425"/>
              </a:lnSpc>
              <a:buNone/>
            </a:pPr>
            <a:r>
              <a:rPr lang="en-US" sz="950" dirty="0">
                <a:solidFill>
                  <a:srgbClr val="E4EDF2"/>
                </a:solidFill>
                <a:latin typeface="Courier New" pitchFamily="34" charset="0"/>
                <a:ea typeface="Courier New" pitchFamily="34" charset="-122"/>
                <a:cs typeface="Courier New" pitchFamily="34" charset="-120"/>
              </a:rPr>
              <a:t>                 </a:t>
            </a:r>
            <a:pPr indent="0" marL="0">
              <a:lnSpc>
                <a:spcPts val="1425"/>
              </a:lnSpc>
              <a:buNone/>
            </a:pPr>
            <a:r>
              <a:rPr lang="en-US" sz="950" dirty="0">
                <a:solidFill>
                  <a:srgbClr val="76909F"/>
                </a:solidFill>
                <a:latin typeface="Courier New" pitchFamily="34" charset="0"/>
                <a:ea typeface="Courier New" pitchFamily="34" charset="-122"/>
                <a:cs typeface="Courier New" pitchFamily="34" charset="-120"/>
              </a:rPr>
              <a:t># same tone, same shape. Check it yourself.</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903720" y="3310128"/>
          <a:ext cx="4645152" cy="914400"/>
        </p:xfrm>
        <a:graphic>
          <a:graphicData uri="http://schemas.openxmlformats.org/drawingml/2006/table">
            <a:tbl>
              <a:tblPr/>
              <a:tblGrid>
                <a:gridCol w="1783080"/>
                <a:gridCol w="286207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Before you use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check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Any CVE or ID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Look it up in the actual database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Any command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Read it. Never paste blind into a shell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Any statistic</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Ask where it came from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Any confident tone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Treat as style, not evidence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
        <p:nvSpPr>
          <p:cNvPr id="23" name="Shape 20"/>
          <p:cNvSpPr/>
          <p:nvPr/>
        </p:nvSpPr>
        <p:spPr>
          <a:xfrm>
            <a:off x="640080" y="5138928"/>
            <a:ext cx="10908792" cy="713232"/>
          </a:xfrm>
          <a:prstGeom prst="roundRect">
            <a:avLst>
              <a:gd name="adj" fmla="val 7692"/>
            </a:avLst>
          </a:prstGeom>
          <a:solidFill>
            <a:srgbClr val="F7E5E8"/>
          </a:solidFill>
          <a:ln w="9525">
            <a:solidFill>
              <a:srgbClr val="A4243B"/>
            </a:solidFill>
            <a:prstDash val="solid"/>
          </a:ln>
        </p:spPr>
      </p:sp>
      <p:sp>
        <p:nvSpPr>
          <p:cNvPr id="24" name="Text 21"/>
          <p:cNvSpPr/>
          <p:nvPr/>
        </p:nvSpPr>
        <p:spPr>
          <a:xfrm>
            <a:off x="859536" y="5230368"/>
            <a:ext cx="10469880" cy="530352"/>
          </a:xfrm>
          <a:prstGeom prst="rect">
            <a:avLst/>
          </a:prstGeom>
          <a:noFill/>
          <a:ln/>
        </p:spPr>
        <p:txBody>
          <a:bodyPr wrap="square" lIns="0" tIns="0" rIns="0" bIns="0" rtlCol="0" anchor="ctr"/>
          <a:lstStyle/>
          <a:p>
            <a:pPr indent="0" marL="0">
              <a:lnSpc>
                <a:spcPts val="1680"/>
              </a:lnSpc>
              <a:buNone/>
            </a:pPr>
            <a:r>
              <a:rPr lang="en-US" sz="1200" b="1" dirty="0">
                <a:solidFill>
                  <a:srgbClr val="A4243B"/>
                </a:solidFill>
                <a:latin typeface="Calibri" pitchFamily="34" charset="0"/>
                <a:ea typeface="Calibri" pitchFamily="34" charset="-122"/>
                <a:cs typeface="Calibri" pitchFamily="34" charset="-120"/>
              </a:rPr>
              <a:t>The rule for the whole course: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every model output is a draft to verify, never a fact to trust. This is not pessimism about the technology — it is the correct operating procedure for a system that produces plausible text and has no mechanism for checking truth.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2 · AI IN THE SOC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AI as a tool — and as a target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A defender who only knows the left-hand column ships attackable systems.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640080" y="1755648"/>
            <a:ext cx="5394960" cy="2651760"/>
          </a:xfrm>
          <a:prstGeom prst="roundRect">
            <a:avLst>
              <a:gd name="adj" fmla="val 2414"/>
            </a:avLst>
          </a:prstGeom>
          <a:solidFill>
            <a:srgbClr val="E1EFE7"/>
          </a:solidFill>
          <a:ln w="15875">
            <a:solidFill>
              <a:srgbClr val="1F6B4A"/>
            </a:solidFill>
            <a:prstDash val="solid"/>
          </a:ln>
        </p:spPr>
      </p:sp>
      <p:sp>
        <p:nvSpPr>
          <p:cNvPr id="8" name="Text 6"/>
          <p:cNvSpPr/>
          <p:nvPr/>
        </p:nvSpPr>
        <p:spPr>
          <a:xfrm>
            <a:off x="896112" y="1901952"/>
            <a:ext cx="4846320" cy="219456"/>
          </a:xfrm>
          <a:prstGeom prst="rect">
            <a:avLst/>
          </a:prstGeom>
          <a:noFill/>
          <a:ln/>
        </p:spPr>
        <p:txBody>
          <a:bodyPr wrap="square" lIns="0" tIns="0" rIns="0" bIns="0" rtlCol="0" anchor="ctr"/>
          <a:lstStyle/>
          <a:p>
            <a:pPr indent="0" marL="0">
              <a:buNone/>
            </a:pPr>
            <a:r>
              <a:rPr lang="en-US" sz="950" b="1" spc="140" kern="0" dirty="0">
                <a:solidFill>
                  <a:srgbClr val="1F6B4A"/>
                </a:solidFill>
                <a:latin typeface="Calibri" pitchFamily="34" charset="0"/>
                <a:ea typeface="Calibri" pitchFamily="34" charset="-122"/>
                <a:cs typeface="Calibri" pitchFamily="34" charset="-120"/>
              </a:rPr>
              <a:t>AI FOR DEFENCE</a:t>
            </a:r>
            <a:endParaRPr lang="en-US" sz="950" dirty="0"/>
          </a:p>
        </p:txBody>
      </p:sp>
      <p:sp>
        <p:nvSpPr>
          <p:cNvPr id="9" name="Text 7"/>
          <p:cNvSpPr/>
          <p:nvPr/>
        </p:nvSpPr>
        <p:spPr>
          <a:xfrm>
            <a:off x="896112" y="2212848"/>
            <a:ext cx="4846320" cy="2084832"/>
          </a:xfrm>
          <a:prstGeom prst="rect">
            <a:avLst/>
          </a:prstGeom>
          <a:noFill/>
          <a:ln/>
        </p:spPr>
        <p:txBody>
          <a:bodyPr wrap="square" lIns="0" tIns="0" rIns="0" bIns="0" rtlCol="0" anchor="t"/>
          <a:lstStyle/>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Triage and rank an alert queue no team can read</a:t>
            </a:r>
            <a:endParaRPr lang="en-US" sz="1200" dirty="0"/>
          </a:p>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Classify URLs, files and behaviour at machine speed</a:t>
            </a:r>
            <a:endParaRPr lang="en-US" sz="1200" dirty="0"/>
          </a:p>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Correlate events across sources into a narrative</a:t>
            </a:r>
            <a:endParaRPr lang="en-US" sz="1200" dirty="0"/>
          </a:p>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Draft the incident report and the remediation steps</a:t>
            </a:r>
            <a:endParaRPr lang="en-US" sz="1200" dirty="0"/>
          </a:p>
        </p:txBody>
      </p:sp>
      <p:sp>
        <p:nvSpPr>
          <p:cNvPr id="10" name="Shape 8"/>
          <p:cNvSpPr/>
          <p:nvPr/>
        </p:nvSpPr>
        <p:spPr>
          <a:xfrm>
            <a:off x="6263640" y="1755648"/>
            <a:ext cx="5285232" cy="2651760"/>
          </a:xfrm>
          <a:prstGeom prst="roundRect">
            <a:avLst>
              <a:gd name="adj" fmla="val 2414"/>
            </a:avLst>
          </a:prstGeom>
          <a:solidFill>
            <a:srgbClr val="F7E5E8"/>
          </a:solidFill>
          <a:ln w="15875">
            <a:solidFill>
              <a:srgbClr val="A4243B"/>
            </a:solidFill>
            <a:prstDash val="solid"/>
          </a:ln>
        </p:spPr>
      </p:sp>
      <p:sp>
        <p:nvSpPr>
          <p:cNvPr id="11" name="Text 9"/>
          <p:cNvSpPr/>
          <p:nvPr/>
        </p:nvSpPr>
        <p:spPr>
          <a:xfrm>
            <a:off x="6519672" y="1901952"/>
            <a:ext cx="4754880" cy="219456"/>
          </a:xfrm>
          <a:prstGeom prst="rect">
            <a:avLst/>
          </a:prstGeom>
          <a:noFill/>
          <a:ln/>
        </p:spPr>
        <p:txBody>
          <a:bodyPr wrap="square" lIns="0" tIns="0" rIns="0" bIns="0" rtlCol="0" anchor="ctr"/>
          <a:lstStyle/>
          <a:p>
            <a:pPr indent="0" marL="0">
              <a:buNone/>
            </a:pPr>
            <a:r>
              <a:rPr lang="en-US" sz="950" b="1" spc="140" kern="0" dirty="0">
                <a:solidFill>
                  <a:srgbClr val="A4243B"/>
                </a:solidFill>
                <a:latin typeface="Calibri" pitchFamily="34" charset="0"/>
                <a:ea typeface="Calibri" pitchFamily="34" charset="-122"/>
                <a:cs typeface="Calibri" pitchFamily="34" charset="-120"/>
              </a:rPr>
              <a:t>AI AS AN ATTACK SURFACE</a:t>
            </a:r>
            <a:endParaRPr lang="en-US" sz="950" dirty="0"/>
          </a:p>
        </p:txBody>
      </p:sp>
      <p:sp>
        <p:nvSpPr>
          <p:cNvPr id="12" name="Text 10"/>
          <p:cNvSpPr/>
          <p:nvPr/>
        </p:nvSpPr>
        <p:spPr>
          <a:xfrm>
            <a:off x="6519672" y="2212848"/>
            <a:ext cx="4754880" cy="2084832"/>
          </a:xfrm>
          <a:prstGeom prst="rect">
            <a:avLst/>
          </a:prstGeom>
          <a:noFill/>
          <a:ln/>
        </p:spPr>
        <p:txBody>
          <a:bodyPr wrap="square" lIns="0" tIns="0" rIns="0" bIns="0" rtlCol="0" anchor="t"/>
          <a:lstStyle/>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Adversarial inputs crafted to make a model misclassify</a:t>
            </a:r>
            <a:endParaRPr lang="en-US" sz="1200" dirty="0"/>
          </a:p>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Prompt injection that hijacks an LLM application</a:t>
            </a:r>
            <a:endParaRPr lang="en-US" sz="1200" dirty="0"/>
          </a:p>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Data poisoning that corrupts a model during training</a:t>
            </a:r>
            <a:endParaRPr lang="en-US" sz="1200" dirty="0"/>
          </a:p>
          <a:p>
            <a:pPr marL="342900" indent="-342900">
              <a:lnSpc>
                <a:spcPts val="1680"/>
              </a:lnSpc>
              <a:spcAft>
                <a:spcPts val="900"/>
              </a:spcAft>
              <a:buSzPct val="100000"/>
              <a:buChar char="•"/>
            </a:pPr>
            <a:r>
              <a:rPr lang="en-US" sz="1200" dirty="0">
                <a:solidFill>
                  <a:srgbClr val="1B2B36"/>
                </a:solidFill>
                <a:latin typeface="Calibri" pitchFamily="34" charset="0"/>
                <a:ea typeface="Calibri" pitchFamily="34" charset="-122"/>
                <a:cs typeface="Calibri" pitchFamily="34" charset="-120"/>
              </a:rPr>
              <a:t>Model and training-data extraction from a deployed system</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4590288"/>
          <a:ext cx="10908792" cy="914400"/>
        </p:xfrm>
        <a:graphic>
          <a:graphicData uri="http://schemas.openxmlformats.org/drawingml/2006/table">
            <a:tbl>
              <a:tblPr/>
              <a:tblGrid>
                <a:gridCol w="2651760"/>
                <a:gridCol w="4206240"/>
                <a:gridCol w="405079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catalogues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When you reach for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MITRE ATLAS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Adversarial tactics and techniques against AI systems — the AI cousin of ATT&amp;CK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Threat-modelling anything you build in this course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OWASP Top 10 for LLM Apps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recurring application-level failures, injection first among them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Reviewing an LLM application before it ships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2 · AI IN THE SOC</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What makes a good AI security tool</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Five criteria. We return to them every time we evaluate something you built.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640080" y="1783080"/>
            <a:ext cx="2048256" cy="1371600"/>
          </a:xfrm>
          <a:prstGeom prst="roundRect">
            <a:avLst>
              <a:gd name="adj" fmla="val 4667"/>
            </a:avLst>
          </a:prstGeom>
          <a:solidFill>
            <a:srgbClr val="F1F5F8"/>
          </a:solidFill>
          <a:ln w="9525">
            <a:solidFill>
              <a:srgbClr val="C9D8E0"/>
            </a:solidFill>
            <a:prstDash val="solid"/>
          </a:ln>
        </p:spPr>
      </p:sp>
      <p:sp>
        <p:nvSpPr>
          <p:cNvPr id="8" name="Shape 6"/>
          <p:cNvSpPr/>
          <p:nvPr/>
        </p:nvSpPr>
        <p:spPr>
          <a:xfrm>
            <a:off x="859536" y="1984248"/>
            <a:ext cx="384048" cy="384048"/>
          </a:xfrm>
          <a:prstGeom prst="ellipse">
            <a:avLst/>
          </a:prstGeom>
          <a:solidFill>
            <a:srgbClr val="553C7B"/>
          </a:solidFill>
          <a:ln w="12700">
            <a:solidFill>
              <a:srgbClr val="553C7B"/>
            </a:solidFill>
            <a:prstDash val="solid"/>
          </a:ln>
        </p:spPr>
      </p:sp>
      <p:sp>
        <p:nvSpPr>
          <p:cNvPr id="9" name="Text 7"/>
          <p:cNvSpPr/>
          <p:nvPr/>
        </p:nvSpPr>
        <p:spPr>
          <a:xfrm>
            <a:off x="859536"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1965960"/>
            <a:ext cx="1088136"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Correct</a:t>
            </a:r>
            <a:endParaRPr lang="en-US" sz="1350" dirty="0"/>
          </a:p>
        </p:txBody>
      </p:sp>
      <p:sp>
        <p:nvSpPr>
          <p:cNvPr id="11" name="Text 9"/>
          <p:cNvSpPr/>
          <p:nvPr/>
        </p:nvSpPr>
        <p:spPr>
          <a:xfrm>
            <a:off x="896112" y="2441448"/>
            <a:ext cx="1536192" cy="512064"/>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Right call on the actual security question</a:t>
            </a:r>
            <a:endParaRPr lang="en-US" sz="1050" dirty="0"/>
          </a:p>
        </p:txBody>
      </p:sp>
      <p:sp>
        <p:nvSpPr>
          <p:cNvPr id="12" name="Shape 10"/>
          <p:cNvSpPr/>
          <p:nvPr/>
        </p:nvSpPr>
        <p:spPr>
          <a:xfrm>
            <a:off x="2862072" y="1783080"/>
            <a:ext cx="2048256" cy="1371600"/>
          </a:xfrm>
          <a:prstGeom prst="roundRect">
            <a:avLst>
              <a:gd name="adj" fmla="val 4667"/>
            </a:avLst>
          </a:prstGeom>
          <a:solidFill>
            <a:srgbClr val="F1F5F8"/>
          </a:solidFill>
          <a:ln w="9525">
            <a:solidFill>
              <a:srgbClr val="C9D8E0"/>
            </a:solidFill>
            <a:prstDash val="solid"/>
          </a:ln>
        </p:spPr>
      </p:sp>
      <p:sp>
        <p:nvSpPr>
          <p:cNvPr id="13" name="Shape 11"/>
          <p:cNvSpPr/>
          <p:nvPr/>
        </p:nvSpPr>
        <p:spPr>
          <a:xfrm>
            <a:off x="3081528" y="1984248"/>
            <a:ext cx="384048" cy="384048"/>
          </a:xfrm>
          <a:prstGeom prst="ellipse">
            <a:avLst/>
          </a:prstGeom>
          <a:solidFill>
            <a:srgbClr val="553C7B"/>
          </a:solidFill>
          <a:ln w="12700">
            <a:solidFill>
              <a:srgbClr val="553C7B"/>
            </a:solidFill>
            <a:prstDash val="solid"/>
          </a:ln>
        </p:spPr>
      </p:sp>
      <p:sp>
        <p:nvSpPr>
          <p:cNvPr id="14" name="Text 12"/>
          <p:cNvSpPr/>
          <p:nvPr/>
        </p:nvSpPr>
        <p:spPr>
          <a:xfrm>
            <a:off x="3081528"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3593592" y="1965960"/>
            <a:ext cx="1088136"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Explainable</a:t>
            </a:r>
            <a:endParaRPr lang="en-US" sz="1350" dirty="0"/>
          </a:p>
        </p:txBody>
      </p:sp>
      <p:sp>
        <p:nvSpPr>
          <p:cNvPr id="16" name="Text 14"/>
          <p:cNvSpPr/>
          <p:nvPr/>
        </p:nvSpPr>
        <p:spPr>
          <a:xfrm>
            <a:off x="3118104" y="2441448"/>
            <a:ext cx="1536192" cy="512064"/>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Reasoning an analyst can check</a:t>
            </a:r>
            <a:endParaRPr lang="en-US" sz="1050" dirty="0"/>
          </a:p>
        </p:txBody>
      </p:sp>
      <p:sp>
        <p:nvSpPr>
          <p:cNvPr id="17" name="Shape 15"/>
          <p:cNvSpPr/>
          <p:nvPr/>
        </p:nvSpPr>
        <p:spPr>
          <a:xfrm>
            <a:off x="5084064" y="1783080"/>
            <a:ext cx="2048256" cy="1371600"/>
          </a:xfrm>
          <a:prstGeom prst="roundRect">
            <a:avLst>
              <a:gd name="adj" fmla="val 4667"/>
            </a:avLst>
          </a:prstGeom>
          <a:solidFill>
            <a:srgbClr val="F1F5F8"/>
          </a:solidFill>
          <a:ln w="9525">
            <a:solidFill>
              <a:srgbClr val="C9D8E0"/>
            </a:solidFill>
            <a:prstDash val="solid"/>
          </a:ln>
        </p:spPr>
      </p:sp>
      <p:sp>
        <p:nvSpPr>
          <p:cNvPr id="18" name="Shape 16"/>
          <p:cNvSpPr/>
          <p:nvPr/>
        </p:nvSpPr>
        <p:spPr>
          <a:xfrm>
            <a:off x="5303520" y="1984248"/>
            <a:ext cx="384048" cy="384048"/>
          </a:xfrm>
          <a:prstGeom prst="ellipse">
            <a:avLst/>
          </a:prstGeom>
          <a:solidFill>
            <a:srgbClr val="553C7B"/>
          </a:solidFill>
          <a:ln w="12700">
            <a:solidFill>
              <a:srgbClr val="553C7B"/>
            </a:solidFill>
            <a:prstDash val="solid"/>
          </a:ln>
        </p:spPr>
      </p:sp>
      <p:sp>
        <p:nvSpPr>
          <p:cNvPr id="19" name="Text 17"/>
          <p:cNvSpPr/>
          <p:nvPr/>
        </p:nvSpPr>
        <p:spPr>
          <a:xfrm>
            <a:off x="5303520"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815584" y="1965960"/>
            <a:ext cx="1088136"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Safe</a:t>
            </a:r>
            <a:endParaRPr lang="en-US" sz="1350" dirty="0"/>
          </a:p>
        </p:txBody>
      </p:sp>
      <p:sp>
        <p:nvSpPr>
          <p:cNvPr id="21" name="Text 19"/>
          <p:cNvSpPr/>
          <p:nvPr/>
        </p:nvSpPr>
        <p:spPr>
          <a:xfrm>
            <a:off x="5340096" y="2441448"/>
            <a:ext cx="1536192" cy="512064"/>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No data leakage; sensible refusals</a:t>
            </a:r>
            <a:endParaRPr lang="en-US" sz="1050" dirty="0"/>
          </a:p>
        </p:txBody>
      </p:sp>
      <p:sp>
        <p:nvSpPr>
          <p:cNvPr id="22" name="Shape 20"/>
          <p:cNvSpPr/>
          <p:nvPr/>
        </p:nvSpPr>
        <p:spPr>
          <a:xfrm>
            <a:off x="7306056" y="1783080"/>
            <a:ext cx="2048256" cy="1371600"/>
          </a:xfrm>
          <a:prstGeom prst="roundRect">
            <a:avLst>
              <a:gd name="adj" fmla="val 4667"/>
            </a:avLst>
          </a:prstGeom>
          <a:solidFill>
            <a:srgbClr val="F1F5F8"/>
          </a:solidFill>
          <a:ln w="9525">
            <a:solidFill>
              <a:srgbClr val="C9D8E0"/>
            </a:solidFill>
            <a:prstDash val="solid"/>
          </a:ln>
        </p:spPr>
      </p:sp>
      <p:sp>
        <p:nvSpPr>
          <p:cNvPr id="23" name="Shape 21"/>
          <p:cNvSpPr/>
          <p:nvPr/>
        </p:nvSpPr>
        <p:spPr>
          <a:xfrm>
            <a:off x="7525512" y="1984248"/>
            <a:ext cx="384048" cy="384048"/>
          </a:xfrm>
          <a:prstGeom prst="ellipse">
            <a:avLst/>
          </a:prstGeom>
          <a:solidFill>
            <a:srgbClr val="553C7B"/>
          </a:solidFill>
          <a:ln w="12700">
            <a:solidFill>
              <a:srgbClr val="553C7B"/>
            </a:solidFill>
            <a:prstDash val="solid"/>
          </a:ln>
        </p:spPr>
      </p:sp>
      <p:sp>
        <p:nvSpPr>
          <p:cNvPr id="24" name="Text 22"/>
          <p:cNvSpPr/>
          <p:nvPr/>
        </p:nvSpPr>
        <p:spPr>
          <a:xfrm>
            <a:off x="7525512"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8037576" y="1965960"/>
            <a:ext cx="1088136"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Bounded</a:t>
            </a:r>
            <a:endParaRPr lang="en-US" sz="1350" dirty="0"/>
          </a:p>
        </p:txBody>
      </p:sp>
      <p:sp>
        <p:nvSpPr>
          <p:cNvPr id="26" name="Text 24"/>
          <p:cNvSpPr/>
          <p:nvPr/>
        </p:nvSpPr>
        <p:spPr>
          <a:xfrm>
            <a:off x="7562088" y="2441448"/>
            <a:ext cx="1536192" cy="512064"/>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Respects data and network boundaries</a:t>
            </a:r>
            <a:endParaRPr lang="en-US" sz="1050" dirty="0"/>
          </a:p>
        </p:txBody>
      </p:sp>
      <p:sp>
        <p:nvSpPr>
          <p:cNvPr id="27" name="Shape 25"/>
          <p:cNvSpPr/>
          <p:nvPr/>
        </p:nvSpPr>
        <p:spPr>
          <a:xfrm>
            <a:off x="9528048" y="1783080"/>
            <a:ext cx="2048256" cy="1371600"/>
          </a:xfrm>
          <a:prstGeom prst="roundRect">
            <a:avLst>
              <a:gd name="adj" fmla="val 4667"/>
            </a:avLst>
          </a:prstGeom>
          <a:solidFill>
            <a:srgbClr val="F1F5F8"/>
          </a:solidFill>
          <a:ln w="9525">
            <a:solidFill>
              <a:srgbClr val="C9D8E0"/>
            </a:solidFill>
            <a:prstDash val="solid"/>
          </a:ln>
        </p:spPr>
      </p:sp>
      <p:sp>
        <p:nvSpPr>
          <p:cNvPr id="28" name="Shape 26"/>
          <p:cNvSpPr/>
          <p:nvPr/>
        </p:nvSpPr>
        <p:spPr>
          <a:xfrm>
            <a:off x="9747504" y="1984248"/>
            <a:ext cx="384048" cy="384048"/>
          </a:xfrm>
          <a:prstGeom prst="ellipse">
            <a:avLst/>
          </a:prstGeom>
          <a:solidFill>
            <a:srgbClr val="553C7B"/>
          </a:solidFill>
          <a:ln w="12700">
            <a:solidFill>
              <a:srgbClr val="553C7B"/>
            </a:solidFill>
            <a:prstDash val="solid"/>
          </a:ln>
        </p:spPr>
      </p:sp>
      <p:sp>
        <p:nvSpPr>
          <p:cNvPr id="29" name="Text 27"/>
          <p:cNvSpPr/>
          <p:nvPr/>
        </p:nvSpPr>
        <p:spPr>
          <a:xfrm>
            <a:off x="9747504"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10259568" y="1965960"/>
            <a:ext cx="1088136" cy="420624"/>
          </a:xfrm>
          <a:prstGeom prst="rect">
            <a:avLst/>
          </a:prstGeom>
          <a:noFill/>
          <a:ln/>
        </p:spPr>
        <p:txBody>
          <a:bodyPr wrap="square" lIns="0" tIns="0" rIns="0" bIns="0" rtlCol="0" anchor="ctr"/>
          <a:lstStyle/>
          <a:p>
            <a:pPr indent="0" marL="0">
              <a:buNone/>
            </a:pPr>
            <a:r>
              <a:rPr lang="en-US" sz="1350" b="1" dirty="0">
                <a:solidFill>
                  <a:srgbClr val="12202B"/>
                </a:solidFill>
                <a:latin typeface="Calibri" pitchFamily="34" charset="0"/>
                <a:ea typeface="Calibri" pitchFamily="34" charset="-122"/>
                <a:cs typeface="Calibri" pitchFamily="34" charset="-120"/>
              </a:rPr>
              <a:t>Fast enough</a:t>
            </a:r>
            <a:endParaRPr lang="en-US" sz="1350" dirty="0"/>
          </a:p>
        </p:txBody>
      </p:sp>
      <p:sp>
        <p:nvSpPr>
          <p:cNvPr id="31" name="Text 29"/>
          <p:cNvSpPr/>
          <p:nvPr/>
        </p:nvSpPr>
        <p:spPr>
          <a:xfrm>
            <a:off x="9784080" y="2441448"/>
            <a:ext cx="1536192" cy="512064"/>
          </a:xfrm>
          <a:prstGeom prst="rect">
            <a:avLst/>
          </a:prstGeom>
          <a:noFill/>
          <a:ln/>
        </p:spPr>
        <p:txBody>
          <a:bodyPr wrap="square" lIns="0" tIns="0" rIns="0" bIns="0" rtlCol="0" anchor="t"/>
          <a:lstStyle/>
          <a:p>
            <a:pPr indent="0" marL="0">
              <a:lnSpc>
                <a:spcPts val="1491"/>
              </a:lnSpc>
              <a:buNone/>
            </a:pPr>
            <a:r>
              <a:rPr lang="en-US" sz="1050" dirty="0">
                <a:solidFill>
                  <a:srgbClr val="1B2B36"/>
                </a:solidFill>
                <a:latin typeface="Calibri" pitchFamily="34" charset="0"/>
                <a:ea typeface="Calibri" pitchFamily="34" charset="-122"/>
                <a:cs typeface="Calibri" pitchFamily="34" charset="-120"/>
              </a:rPr>
              <a:t>Fits the analyst's real workflow</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3346704"/>
          <a:ext cx="10908792" cy="914400"/>
        </p:xfrm>
        <a:graphic>
          <a:graphicData uri="http://schemas.openxmlformats.org/drawingml/2006/table">
            <a:tbl>
              <a:tblPr/>
              <a:tblGrid>
                <a:gridCol w="1691640"/>
                <a:gridCol w="4572000"/>
                <a:gridCol w="46451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Criterion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you actually test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failure looks like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Correct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held-out set of labelled cases; measure, do not eyeball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Demos beautifully, misses the one alert that mattered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Explainable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Ask a colleague to accept or reject the verdict using only the explanation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confident verdict with reasoning nobody can check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Try to make it leak its prompt, its keys, or another tenant's data</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Real logs pasted into a third-party API without anyone deciding to</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Bounded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Name the worst action it can reach. If it takes a sentence, scope is too wide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read-only assistant that turned out to be able to write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Fast enough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Time it under a realistic queue, not on one alert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Technically accurate; analysts route around it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8E77C4"/>
                </a:solidFill>
                <a:latin typeface="Calibri" pitchFamily="34" charset="0"/>
                <a:ea typeface="Calibri" pitchFamily="34" charset="-122"/>
                <a:cs typeface="Calibri" pitchFamily="34" charset="-120"/>
              </a:rPr>
              <a:t>PART 3</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Your First</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AI Security Workflow</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An alert arrives, a model reads it, and an analyst gets a decision with its reasoning attached. Twelve lines of code.</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AI for Security</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AI in the SOC: Tool &amp; Target</a:t>
            </a:r>
            <a:endParaRPr lang="en-US" sz="1200" dirty="0"/>
          </a:p>
        </p:txBody>
      </p:sp>
      <p:sp>
        <p:nvSpPr>
          <p:cNvPr id="10" name="Shape 8"/>
          <p:cNvSpPr/>
          <p:nvPr/>
        </p:nvSpPr>
        <p:spPr>
          <a:xfrm>
            <a:off x="7818120" y="2843784"/>
            <a:ext cx="182880" cy="182880"/>
          </a:xfrm>
          <a:prstGeom prst="ellipse">
            <a:avLst/>
          </a:prstGeom>
          <a:solidFill>
            <a:srgbClr val="8E77C4"/>
          </a:solidFill>
          <a:ln w="12700">
            <a:solidFill>
              <a:srgbClr val="8E77C4"/>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Your First AI Workflow</a:t>
            </a:r>
            <a:endParaRPr lang="en-US" sz="13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 Little Python</a:t>
            </a:r>
            <a:endParaRPr lang="en-US" sz="12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Frameworks, Ethics &amp; Your Week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3 · YOUR FIRST AI WORKFLOW</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A motivating example: alert to action</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 explanation is what separates a useful assistant from a black box.</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640080" y="1828800"/>
            <a:ext cx="2487168" cy="914400"/>
          </a:xfrm>
          <a:prstGeom prst="roundRect">
            <a:avLst>
              <a:gd name="adj" fmla="val 6000"/>
            </a:avLst>
          </a:prstGeom>
          <a:solidFill>
            <a:srgbClr val="F1F5F8"/>
          </a:solidFill>
          <a:ln w="15875">
            <a:solidFill>
              <a:srgbClr val="C9D8E0"/>
            </a:solidFill>
            <a:prstDash val="solid"/>
          </a:ln>
        </p:spPr>
      </p:sp>
      <p:sp>
        <p:nvSpPr>
          <p:cNvPr id="8" name="Text 6"/>
          <p:cNvSpPr/>
          <p:nvPr/>
        </p:nvSpPr>
        <p:spPr>
          <a:xfrm>
            <a:off x="694944" y="1911096"/>
            <a:ext cx="2377440" cy="292608"/>
          </a:xfrm>
          <a:prstGeom prst="rect">
            <a:avLst/>
          </a:prstGeom>
          <a:noFill/>
          <a:ln/>
        </p:spPr>
        <p:txBody>
          <a:bodyPr wrap="square" lIns="0" tIns="0" rIns="0" bIns="0" rtlCol="0" anchor="ctr"/>
          <a:lstStyle/>
          <a:p>
            <a:pPr algn="ctr" indent="0" marL="0">
              <a:buNone/>
            </a:pPr>
            <a:r>
              <a:rPr lang="en-US" sz="1300" b="1" dirty="0">
                <a:solidFill>
                  <a:srgbClr val="12202B"/>
                </a:solidFill>
                <a:latin typeface="Calibri" pitchFamily="34" charset="0"/>
                <a:ea typeface="Calibri" pitchFamily="34" charset="-122"/>
                <a:cs typeface="Calibri" pitchFamily="34" charset="-120"/>
              </a:rPr>
              <a:t>Alert arrives</a:t>
            </a:r>
            <a:endParaRPr lang="en-US" sz="1300" dirty="0"/>
          </a:p>
        </p:txBody>
      </p:sp>
      <p:sp>
        <p:nvSpPr>
          <p:cNvPr id="9" name="Text 7"/>
          <p:cNvSpPr/>
          <p:nvPr/>
        </p:nvSpPr>
        <p:spPr>
          <a:xfrm>
            <a:off x="694944"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from a sensor or SIEM</a:t>
            </a:r>
            <a:endParaRPr lang="en-US" sz="950" dirty="0"/>
          </a:p>
        </p:txBody>
      </p:sp>
      <p:sp>
        <p:nvSpPr>
          <p:cNvPr id="10" name="Shape 8"/>
          <p:cNvSpPr/>
          <p:nvPr/>
        </p:nvSpPr>
        <p:spPr>
          <a:xfrm>
            <a:off x="3172968" y="2286000"/>
            <a:ext cx="292608" cy="0"/>
          </a:xfrm>
          <a:prstGeom prst="line">
            <a:avLst/>
          </a:prstGeom>
          <a:noFill/>
          <a:ln w="22225">
            <a:solidFill>
              <a:srgbClr val="8E77C4"/>
            </a:solidFill>
            <a:prstDash val="solid"/>
            <a:tailEnd type="triangle"/>
          </a:ln>
        </p:spPr>
      </p:sp>
      <p:sp>
        <p:nvSpPr>
          <p:cNvPr id="11" name="Shape 9"/>
          <p:cNvSpPr/>
          <p:nvPr/>
        </p:nvSpPr>
        <p:spPr>
          <a:xfrm>
            <a:off x="3511296" y="1828800"/>
            <a:ext cx="2487168" cy="914400"/>
          </a:xfrm>
          <a:prstGeom prst="roundRect">
            <a:avLst>
              <a:gd name="adj" fmla="val 6000"/>
            </a:avLst>
          </a:prstGeom>
          <a:solidFill>
            <a:srgbClr val="E8E3F2"/>
          </a:solidFill>
          <a:ln w="15875">
            <a:solidFill>
              <a:srgbClr val="553C7B"/>
            </a:solidFill>
            <a:prstDash val="solid"/>
          </a:ln>
        </p:spPr>
      </p:sp>
      <p:sp>
        <p:nvSpPr>
          <p:cNvPr id="12" name="Text 10"/>
          <p:cNvSpPr/>
          <p:nvPr/>
        </p:nvSpPr>
        <p:spPr>
          <a:xfrm>
            <a:off x="3566160" y="1911096"/>
            <a:ext cx="2377440" cy="292608"/>
          </a:xfrm>
          <a:prstGeom prst="rect">
            <a:avLst/>
          </a:prstGeom>
          <a:noFill/>
          <a:ln/>
        </p:spPr>
        <p:txBody>
          <a:bodyPr wrap="square" lIns="0" tIns="0" rIns="0" bIns="0" rtlCol="0" anchor="ctr"/>
          <a:lstStyle/>
          <a:p>
            <a:pPr algn="ctr" indent="0" marL="0">
              <a:buNone/>
            </a:pPr>
            <a:r>
              <a:rPr lang="en-US" sz="1300" b="1" dirty="0">
                <a:solidFill>
                  <a:srgbClr val="12202B"/>
                </a:solidFill>
                <a:latin typeface="Calibri" pitchFamily="34" charset="0"/>
                <a:ea typeface="Calibri" pitchFamily="34" charset="-122"/>
                <a:cs typeface="Calibri" pitchFamily="34" charset="-120"/>
              </a:rPr>
              <a:t>LLM reads it</a:t>
            </a:r>
            <a:endParaRPr lang="en-US" sz="1300" dirty="0"/>
          </a:p>
        </p:txBody>
      </p:sp>
      <p:sp>
        <p:nvSpPr>
          <p:cNvPr id="13" name="Text 11"/>
          <p:cNvSpPr/>
          <p:nvPr/>
        </p:nvSpPr>
        <p:spPr>
          <a:xfrm>
            <a:off x="3566160"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with a role and a task</a:t>
            </a:r>
            <a:endParaRPr lang="en-US" sz="950" dirty="0"/>
          </a:p>
        </p:txBody>
      </p:sp>
      <p:sp>
        <p:nvSpPr>
          <p:cNvPr id="14" name="Shape 12"/>
          <p:cNvSpPr/>
          <p:nvPr/>
        </p:nvSpPr>
        <p:spPr>
          <a:xfrm>
            <a:off x="6044184" y="2286000"/>
            <a:ext cx="292608" cy="0"/>
          </a:xfrm>
          <a:prstGeom prst="line">
            <a:avLst/>
          </a:prstGeom>
          <a:noFill/>
          <a:ln w="22225">
            <a:solidFill>
              <a:srgbClr val="8E77C4"/>
            </a:solidFill>
            <a:prstDash val="solid"/>
            <a:tailEnd type="triangle"/>
          </a:ln>
        </p:spPr>
      </p:sp>
      <p:sp>
        <p:nvSpPr>
          <p:cNvPr id="15" name="Shape 13"/>
          <p:cNvSpPr/>
          <p:nvPr/>
        </p:nvSpPr>
        <p:spPr>
          <a:xfrm>
            <a:off x="6382512" y="1828800"/>
            <a:ext cx="2487168" cy="914400"/>
          </a:xfrm>
          <a:prstGeom prst="roundRect">
            <a:avLst>
              <a:gd name="adj" fmla="val 6000"/>
            </a:avLst>
          </a:prstGeom>
          <a:solidFill>
            <a:srgbClr val="E8E3F2"/>
          </a:solidFill>
          <a:ln w="15875">
            <a:solidFill>
              <a:srgbClr val="553C7B"/>
            </a:solidFill>
            <a:prstDash val="solid"/>
          </a:ln>
        </p:spPr>
      </p:sp>
      <p:sp>
        <p:nvSpPr>
          <p:cNvPr id="16" name="Text 14"/>
          <p:cNvSpPr/>
          <p:nvPr/>
        </p:nvSpPr>
        <p:spPr>
          <a:xfrm>
            <a:off x="6437376" y="1911096"/>
            <a:ext cx="2377440" cy="292608"/>
          </a:xfrm>
          <a:prstGeom prst="rect">
            <a:avLst/>
          </a:prstGeom>
          <a:noFill/>
          <a:ln/>
        </p:spPr>
        <p:txBody>
          <a:bodyPr wrap="square" lIns="0" tIns="0" rIns="0" bIns="0" rtlCol="0" anchor="ctr"/>
          <a:lstStyle/>
          <a:p>
            <a:pPr algn="ctr" indent="0" marL="0">
              <a:buNone/>
            </a:pPr>
            <a:r>
              <a:rPr lang="en-US" sz="1300" b="1" dirty="0">
                <a:solidFill>
                  <a:srgbClr val="12202B"/>
                </a:solidFill>
                <a:latin typeface="Calibri" pitchFamily="34" charset="0"/>
                <a:ea typeface="Calibri" pitchFamily="34" charset="-122"/>
                <a:cs typeface="Calibri" pitchFamily="34" charset="-120"/>
              </a:rPr>
              <a:t>Verdict + reason</a:t>
            </a:r>
            <a:endParaRPr lang="en-US" sz="1300" dirty="0"/>
          </a:p>
        </p:txBody>
      </p:sp>
      <p:sp>
        <p:nvSpPr>
          <p:cNvPr id="17" name="Text 15"/>
          <p:cNvSpPr/>
          <p:nvPr/>
        </p:nvSpPr>
        <p:spPr>
          <a:xfrm>
            <a:off x="6437376"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5C7383"/>
                </a:solidFill>
                <a:latin typeface="Calibri" pitchFamily="34" charset="0"/>
                <a:ea typeface="Calibri" pitchFamily="34" charset="-122"/>
                <a:cs typeface="Calibri" pitchFamily="34" charset="-120"/>
              </a:rPr>
              <a:t>benign / suspicious, and why</a:t>
            </a:r>
            <a:endParaRPr lang="en-US" sz="950" dirty="0"/>
          </a:p>
        </p:txBody>
      </p:sp>
      <p:sp>
        <p:nvSpPr>
          <p:cNvPr id="18" name="Shape 16"/>
          <p:cNvSpPr/>
          <p:nvPr/>
        </p:nvSpPr>
        <p:spPr>
          <a:xfrm>
            <a:off x="8915400" y="2286000"/>
            <a:ext cx="292608" cy="0"/>
          </a:xfrm>
          <a:prstGeom prst="line">
            <a:avLst/>
          </a:prstGeom>
          <a:noFill/>
          <a:ln w="22225">
            <a:solidFill>
              <a:srgbClr val="8E77C4"/>
            </a:solidFill>
            <a:prstDash val="solid"/>
            <a:tailEnd type="triangle"/>
          </a:ln>
        </p:spPr>
      </p:sp>
      <p:sp>
        <p:nvSpPr>
          <p:cNvPr id="19" name="Shape 17"/>
          <p:cNvSpPr/>
          <p:nvPr/>
        </p:nvSpPr>
        <p:spPr>
          <a:xfrm>
            <a:off x="9253728" y="1828800"/>
            <a:ext cx="2487168" cy="914400"/>
          </a:xfrm>
          <a:prstGeom prst="roundRect">
            <a:avLst>
              <a:gd name="adj" fmla="val 6000"/>
            </a:avLst>
          </a:prstGeom>
          <a:solidFill>
            <a:srgbClr val="12202B"/>
          </a:solidFill>
          <a:ln w="15875">
            <a:solidFill>
              <a:srgbClr val="12202B"/>
            </a:solidFill>
            <a:prstDash val="solid"/>
          </a:ln>
        </p:spPr>
      </p:sp>
      <p:sp>
        <p:nvSpPr>
          <p:cNvPr id="20" name="Text 18"/>
          <p:cNvSpPr/>
          <p:nvPr/>
        </p:nvSpPr>
        <p:spPr>
          <a:xfrm>
            <a:off x="9308592" y="1911096"/>
            <a:ext cx="23774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Analyst decides</a:t>
            </a:r>
            <a:endParaRPr lang="en-US" sz="1300" dirty="0"/>
          </a:p>
        </p:txBody>
      </p:sp>
      <p:sp>
        <p:nvSpPr>
          <p:cNvPr id="21" name="Text 19"/>
          <p:cNvSpPr/>
          <p:nvPr/>
        </p:nvSpPr>
        <p:spPr>
          <a:xfrm>
            <a:off x="9308592" y="2176272"/>
            <a:ext cx="2377440" cy="512064"/>
          </a:xfrm>
          <a:prstGeom prst="rect">
            <a:avLst/>
          </a:prstGeom>
          <a:noFill/>
          <a:ln/>
        </p:spPr>
        <p:txBody>
          <a:bodyPr wrap="square" lIns="0" tIns="0" rIns="0" bIns="0" rtlCol="0" anchor="t"/>
          <a:lstStyle/>
          <a:p>
            <a:pPr algn="ctr" indent="0" marL="0">
              <a:lnSpc>
                <a:spcPts val="1200"/>
              </a:lnSpc>
              <a:buNone/>
            </a:pPr>
            <a:r>
              <a:rPr lang="en-US" sz="950" dirty="0">
                <a:solidFill>
                  <a:srgbClr val="9FB8C6"/>
                </a:solidFill>
                <a:latin typeface="Calibri" pitchFamily="34" charset="0"/>
                <a:ea typeface="Calibri" pitchFamily="34" charset="-122"/>
                <a:cs typeface="Calibri" pitchFamily="34" charset="-120"/>
              </a:rPr>
              <a:t>acts, with the reasoning to hand</a:t>
            </a:r>
            <a:endParaRPr lang="en-US" sz="950" dirty="0"/>
          </a:p>
        </p:txBody>
      </p:sp>
      <p:sp>
        <p:nvSpPr>
          <p:cNvPr id="22" name="Shape 20"/>
          <p:cNvSpPr/>
          <p:nvPr/>
        </p:nvSpPr>
        <p:spPr>
          <a:xfrm>
            <a:off x="6382512" y="2852928"/>
            <a:ext cx="2487168" cy="32004"/>
          </a:xfrm>
          <a:prstGeom prst="rect">
            <a:avLst/>
          </a:prstGeom>
          <a:solidFill>
            <a:srgbClr val="A4243B"/>
          </a:solidFill>
          <a:ln w="12700">
            <a:solidFill>
              <a:srgbClr val="A4243B"/>
            </a:solidFill>
            <a:prstDash val="solid"/>
          </a:ln>
        </p:spPr>
      </p:sp>
      <p:sp>
        <p:nvSpPr>
          <p:cNvPr id="23" name="Text 21"/>
          <p:cNvSpPr/>
          <p:nvPr/>
        </p:nvSpPr>
        <p:spPr>
          <a:xfrm>
            <a:off x="5925312" y="2907792"/>
            <a:ext cx="3401568" cy="237744"/>
          </a:xfrm>
          <a:prstGeom prst="rect">
            <a:avLst/>
          </a:prstGeom>
          <a:noFill/>
          <a:ln/>
        </p:spPr>
        <p:txBody>
          <a:bodyPr wrap="square" lIns="0" tIns="0" rIns="0" bIns="0" rtlCol="0" anchor="ctr"/>
          <a:lstStyle/>
          <a:p>
            <a:pPr algn="ctr" indent="0" marL="0">
              <a:buNone/>
            </a:pPr>
            <a:r>
              <a:rPr lang="en-US" sz="950" i="1" dirty="0">
                <a:solidFill>
                  <a:srgbClr val="A4243B"/>
                </a:solidFill>
                <a:latin typeface="Calibri" pitchFamily="34" charset="0"/>
                <a:ea typeface="Calibri" pitchFamily="34" charset="-122"/>
                <a:cs typeface="Calibri" pitchFamily="34" charset="-120"/>
              </a:rPr>
              <a:t>this box is the whole value — and the whole risk</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3364992"/>
          <a:ext cx="10908792" cy="914400"/>
        </p:xfrm>
        <a:graphic>
          <a:graphicData uri="http://schemas.openxmlformats.org/drawingml/2006/table">
            <a:tbl>
              <a:tblPr/>
              <a:tblGrid>
                <a:gridCol w="2834640"/>
                <a:gridCol w="4023360"/>
                <a:gridCol w="405079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Without the explanation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With the explanation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 it matters here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"Suspicious."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"Suspicious — 14 failed root logins in 40 seconds followed by a success."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analyst can confirm or reject it in five seconds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You trust it or you redo the work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 audit the reasoning, not just the verdict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wrong verdict with visible reasoning is caught; a wrong verdict alone is not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Nothing to write in the ticket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justification is already drafted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output feeds the next step of the workflow</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3 · YOUR FIRST AI WORKFLOW</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demo — the whole thing</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Do not worry about the mechanics yet. Notice how little there is.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640080" y="1737360"/>
            <a:ext cx="6720840" cy="4114800"/>
          </a:xfrm>
          <a:prstGeom prst="roundRect">
            <a:avLst>
              <a:gd name="adj" fmla="val 1556"/>
            </a:avLst>
          </a:prstGeom>
          <a:solidFill>
            <a:srgbClr val="1B1730"/>
          </a:solidFill>
          <a:ln w="12700">
            <a:solidFill>
              <a:srgbClr val="1B1730"/>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856232"/>
            <a:ext cx="624535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alert_triage.py</a:t>
            </a:r>
            <a:endParaRPr lang="en-US" sz="950" dirty="0"/>
          </a:p>
        </p:txBody>
      </p:sp>
      <p:sp>
        <p:nvSpPr>
          <p:cNvPr id="9" name="Text 7"/>
          <p:cNvSpPr/>
          <p:nvPr/>
        </p:nvSpPr>
        <p:spPr>
          <a:xfrm>
            <a:off x="877824" y="2157984"/>
            <a:ext cx="6245352" cy="3547872"/>
          </a:xfrm>
          <a:prstGeom prst="rect">
            <a:avLst/>
          </a:prstGeom>
          <a:noFill/>
          <a:ln/>
        </p:spPr>
        <p:txBody>
          <a:bodyPr wrap="square" lIns="0" tIns="0" rIns="0" bIns="0" rtlCol="0" anchor="t"/>
          <a:lstStyle/>
          <a:p>
            <a:pPr indent="0" marL="0">
              <a:lnSpc>
                <a:spcPts val="1575"/>
              </a:lnSpc>
              <a:buNone/>
            </a:pPr>
            <a:r>
              <a:rPr lang="en-US" sz="1050" dirty="0">
                <a:solidFill>
                  <a:srgbClr val="C3AEEA"/>
                </a:solidFill>
                <a:latin typeface="Courier New" pitchFamily="34" charset="0"/>
                <a:ea typeface="Courier New" pitchFamily="34" charset="-122"/>
                <a:cs typeface="Courier New" pitchFamily="34" charset="-120"/>
              </a:rPr>
              <a:t>import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os</a:t>
            </a:r>
            <a:endParaRPr lang="en-US" sz="1050" dirty="0"/>
          </a:p>
          <a:p>
            <a:pPr indent="0" marL="0">
              <a:lnSpc>
                <a:spcPts val="1575"/>
              </a:lnSpc>
              <a:buNone/>
            </a:pPr>
            <a:r>
              <a:rPr lang="en-US" sz="1050" dirty="0">
                <a:solidFill>
                  <a:srgbClr val="C3AEEA"/>
                </a:solidFill>
                <a:latin typeface="Courier New" pitchFamily="34" charset="0"/>
                <a:ea typeface="Courier New" pitchFamily="34" charset="-122"/>
                <a:cs typeface="Courier New" pitchFamily="34" charset="-120"/>
              </a:rPr>
              <a:t>from</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dotenv </a:t>
            </a:r>
            <a:pPr indent="0" marL="0">
              <a:lnSpc>
                <a:spcPts val="1575"/>
              </a:lnSpc>
              <a:buNone/>
            </a:pPr>
            <a:r>
              <a:rPr lang="en-US" sz="1050" dirty="0">
                <a:solidFill>
                  <a:srgbClr val="C3AEEA"/>
                </a:solidFill>
                <a:latin typeface="Courier New" pitchFamily="34" charset="0"/>
                <a:ea typeface="Courier New" pitchFamily="34" charset="-122"/>
                <a:cs typeface="Courier New" pitchFamily="34" charset="-120"/>
              </a:rPr>
              <a:t>import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load_dotenv</a:t>
            </a:r>
            <a:endParaRPr lang="en-US" sz="1050" dirty="0"/>
          </a:p>
          <a:p>
            <a:pPr indent="0" marL="0">
              <a:lnSpc>
                <a:spcPts val="1575"/>
              </a:lnSpc>
              <a:buNone/>
            </a:pPr>
            <a:r>
              <a:rPr lang="en-US" sz="1050" dirty="0">
                <a:solidFill>
                  <a:srgbClr val="C3AEEA"/>
                </a:solidFill>
                <a:latin typeface="Courier New" pitchFamily="34" charset="0"/>
                <a:ea typeface="Courier New" pitchFamily="34" charset="-122"/>
                <a:cs typeface="Courier New" pitchFamily="34" charset="-120"/>
              </a:rPr>
              <a:t>from</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openai </a:t>
            </a:r>
            <a:pPr indent="0" marL="0">
              <a:lnSpc>
                <a:spcPts val="1575"/>
              </a:lnSpc>
              <a:buNone/>
            </a:pPr>
            <a:r>
              <a:rPr lang="en-US" sz="1050" dirty="0">
                <a:solidFill>
                  <a:srgbClr val="C3AEEA"/>
                </a:solidFill>
                <a:latin typeface="Courier New" pitchFamily="34" charset="0"/>
                <a:ea typeface="Courier New" pitchFamily="34" charset="-122"/>
                <a:cs typeface="Courier New" pitchFamily="34" charset="-120"/>
              </a:rPr>
              <a:t>import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OpenAI</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9FC4EE"/>
                </a:solidFill>
                <a:latin typeface="Courier New" pitchFamily="34" charset="0"/>
                <a:ea typeface="Courier New" pitchFamily="34" charset="-122"/>
                <a:cs typeface="Courier New" pitchFamily="34" charset="-120"/>
              </a:rPr>
              <a:t>load_dotenv</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76909F"/>
                </a:solidFill>
                <a:latin typeface="Courier New" pitchFamily="34" charset="0"/>
                <a:ea typeface="Courier New" pitchFamily="34" charset="-122"/>
                <a:cs typeface="Courier New" pitchFamily="34" charset="-120"/>
              </a:rPr>
              <a:t># reads OPENAI_API_KEY from a .env file</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client = </a:t>
            </a:r>
            <a:pPr indent="0" marL="0">
              <a:lnSpc>
                <a:spcPts val="1575"/>
              </a:lnSpc>
              <a:buNone/>
            </a:pPr>
            <a:r>
              <a:rPr lang="en-US" sz="1050" dirty="0">
                <a:solidFill>
                  <a:srgbClr val="9FC4EE"/>
                </a:solidFill>
                <a:latin typeface="Courier New" pitchFamily="34" charset="0"/>
                <a:ea typeface="Courier New" pitchFamily="34" charset="-122"/>
                <a:cs typeface="Courier New" pitchFamily="34" charset="-120"/>
              </a:rPr>
              <a:t>OpenAI</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76909F"/>
                </a:solidFill>
                <a:latin typeface="Courier New" pitchFamily="34" charset="0"/>
                <a:ea typeface="Courier New" pitchFamily="34" charset="-122"/>
                <a:cs typeface="Courier New" pitchFamily="34" charset="-120"/>
              </a:rPr>
              <a:t># the key is never typed into this file</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alert =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"14 failed SSH logins for user 'root' from 203.0.113.45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"within 40 seconds, followed by one successful login."</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resp = client.chat.completions.</a:t>
            </a:r>
            <a:pPr indent="0" marL="0">
              <a:lnSpc>
                <a:spcPts val="1575"/>
              </a:lnSpc>
              <a:buNone/>
            </a:pPr>
            <a:r>
              <a:rPr lang="en-US" sz="1050" dirty="0">
                <a:solidFill>
                  <a:srgbClr val="9FC4EE"/>
                </a:solidFill>
                <a:latin typeface="Courier New" pitchFamily="34" charset="0"/>
                <a:ea typeface="Courier New" pitchFamily="34" charset="-122"/>
                <a:cs typeface="Courier New" pitchFamily="34" charset="-120"/>
              </a:rPr>
              <a:t>create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model=</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"gpt-4.1-mini"</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temperature=0,       </a:t>
            </a:r>
            <a:pPr indent="0" marL="0">
              <a:lnSpc>
                <a:spcPts val="1575"/>
              </a:lnSpc>
              <a:buNone/>
            </a:pPr>
            <a:r>
              <a:rPr lang="en-US" sz="1050" dirty="0">
                <a:solidFill>
                  <a:srgbClr val="76909F"/>
                </a:solidFill>
                <a:latin typeface="Courier New" pitchFamily="34" charset="0"/>
                <a:ea typeface="Courier New" pitchFamily="34" charset="-122"/>
                <a:cs typeface="Courier New" pitchFamily="34" charset="-120"/>
              </a:rPr>
              <a:t># same input, same answer, every run</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messages=[</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"role"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"system"</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"content"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"You are a SOC analyst. Classify the alert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"as benign or suspicious, then explain in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"one sentence."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"role"</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"user"</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pPr indent="0" marL="0">
              <a:lnSpc>
                <a:spcPts val="1575"/>
              </a:lnSpc>
              <a:buNone/>
            </a:pPr>
            <a:r>
              <a:rPr lang="en-US" sz="1050" dirty="0">
                <a:solidFill>
                  <a:srgbClr val="EBB183"/>
                </a:solidFill>
                <a:latin typeface="Courier New" pitchFamily="34" charset="0"/>
                <a:ea typeface="Courier New" pitchFamily="34" charset="-122"/>
                <a:cs typeface="Courier New" pitchFamily="34" charset="-120"/>
              </a:rPr>
              <a:t>"content"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alert},</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a:t>
            </a:r>
            <a:endParaRPr lang="en-US" sz="1050" dirty="0"/>
          </a:p>
          <a:p>
            <a:pPr indent="0" marL="0">
              <a:lnSpc>
                <a:spcPts val="1575"/>
              </a:lnSpc>
              <a:buNone/>
            </a:pPr>
            <a:r>
              <a:rPr lang="en-US" sz="1050" dirty="0">
                <a:solidFill>
                  <a:srgbClr val="9FC4EE"/>
                </a:solidFill>
                <a:latin typeface="Courier New" pitchFamily="34" charset="0"/>
                <a:ea typeface="Courier New" pitchFamily="34" charset="-122"/>
                <a:cs typeface="Courier New" pitchFamily="34" charset="-120"/>
              </a:rPr>
              <a:t>print</a:t>
            </a:r>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(resp.choices[0].message.content)</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635240" y="1737360"/>
          <a:ext cx="3913632" cy="914400"/>
        </p:xfrm>
        <a:graphic>
          <a:graphicData uri="http://schemas.openxmlformats.org/drawingml/2006/table">
            <a:tbl>
              <a:tblPr/>
              <a:tblGrid>
                <a:gridCol w="1481328"/>
                <a:gridCol w="2432304"/>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Line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is doing</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load_dotenv()</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Pulls the key from a file Git ignores</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Finds the key in the environment by itself</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system</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Sets the role and the output contract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user</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The untrusted content — the alert itself</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temperature=0</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Reproducible: re-runs give the same verdict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1" name="Shape 8"/>
          <p:cNvSpPr/>
          <p:nvPr/>
        </p:nvSpPr>
        <p:spPr>
          <a:xfrm>
            <a:off x="7635240" y="4224528"/>
            <a:ext cx="3913632" cy="1627632"/>
          </a:xfrm>
          <a:prstGeom prst="roundRect">
            <a:avLst>
              <a:gd name="adj" fmla="val 3371"/>
            </a:avLst>
          </a:prstGeom>
          <a:solidFill>
            <a:srgbClr val="F7E5E8"/>
          </a:solidFill>
          <a:ln w="9525">
            <a:solidFill>
              <a:srgbClr val="A4243B"/>
            </a:solidFill>
            <a:prstDash val="solid"/>
          </a:ln>
        </p:spPr>
      </p:sp>
      <p:sp>
        <p:nvSpPr>
          <p:cNvPr id="12" name="Text 9"/>
          <p:cNvSpPr/>
          <p:nvPr/>
        </p:nvSpPr>
        <p:spPr>
          <a:xfrm>
            <a:off x="7854696" y="4315968"/>
            <a:ext cx="3474720" cy="1444752"/>
          </a:xfrm>
          <a:prstGeom prst="rect">
            <a:avLst/>
          </a:prstGeom>
          <a:noFill/>
          <a:ln/>
        </p:spPr>
        <p:txBody>
          <a:bodyPr wrap="square" lIns="0" tIns="0" rIns="0" bIns="0" rtlCol="0" anchor="ctr"/>
          <a:lstStyle/>
          <a:p>
            <a:pPr indent="0" marL="0">
              <a:lnSpc>
                <a:spcPts val="1540"/>
              </a:lnSpc>
              <a:buNone/>
            </a:pPr>
            <a:r>
              <a:rPr lang="en-US" sz="1100" b="1" dirty="0">
                <a:solidFill>
                  <a:srgbClr val="A4243B"/>
                </a:solidFill>
                <a:latin typeface="Calibri" pitchFamily="34" charset="0"/>
                <a:ea typeface="Calibri" pitchFamily="34" charset="-122"/>
                <a:cs typeface="Calibri" pitchFamily="34" charset="-120"/>
              </a:rPr>
              <a:t>Notice what is in the user message.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The alert text is attacker-influenceable — it came from a log. Anything written into a filename or a user agent lands in that field. Hold that thought; it is the whole of the prompt-injection module.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3 · YOUR FIRST AI WORKFLOW</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The demo — what comes back</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A verdict, and a sentence you can check in five seconds.</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640080" y="1737360"/>
            <a:ext cx="6720840" cy="1572768"/>
          </a:xfrm>
          <a:prstGeom prst="roundRect">
            <a:avLst>
              <a:gd name="adj" fmla="val 4070"/>
            </a:avLst>
          </a:prstGeom>
          <a:solidFill>
            <a:srgbClr val="14231C"/>
          </a:solidFill>
          <a:ln w="12700">
            <a:solidFill>
              <a:srgbClr val="14231C"/>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856232"/>
            <a:ext cx="624535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Output</a:t>
            </a:r>
            <a:endParaRPr lang="en-US" sz="950" dirty="0"/>
          </a:p>
        </p:txBody>
      </p:sp>
      <p:sp>
        <p:nvSpPr>
          <p:cNvPr id="9" name="Text 7"/>
          <p:cNvSpPr/>
          <p:nvPr/>
        </p:nvSpPr>
        <p:spPr>
          <a:xfrm>
            <a:off x="877824" y="2157984"/>
            <a:ext cx="6245352" cy="1005840"/>
          </a:xfrm>
          <a:prstGeom prst="rect">
            <a:avLst/>
          </a:prstGeom>
          <a:noFill/>
          <a:ln/>
        </p:spPr>
        <p:txBody>
          <a:bodyPr wrap="square" lIns="0" tIns="0" rIns="0" bIns="0" rtlCol="0" anchor="t"/>
          <a:lstStyle/>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Suspicious. Fourteen failed root logins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from</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a single address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in</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40 seconds followed by a success is a classic brute-force pattern</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ending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in</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a likely compromise; isolate the host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and</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rotate</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credentials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for</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that account.</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3493008"/>
          <a:ext cx="6720840" cy="914400"/>
        </p:xfrm>
        <a:graphic>
          <a:graphicData uri="http://schemas.openxmlformats.org/drawingml/2006/table">
            <a:tbl>
              <a:tblPr/>
              <a:tblGrid>
                <a:gridCol w="2286000"/>
                <a:gridCol w="2212848"/>
                <a:gridCol w="2221992"/>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got right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added</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you must still check</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The verdict — this is the correct call</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A named pattern: brute force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Is 203.0.113.45 actually external?</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The reasoning cites the evidence in the alert</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An unrequested remediation step</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Did the success come from the same source?</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00" b="1" dirty="0">
                          <a:solidFill>
                            <a:srgbClr val="12202B"/>
                          </a:solidFill>
                          <a:latin typeface="Calibri" pitchFamily="34" charset="0"/>
                          <a:ea typeface="Calibri" pitchFamily="34" charset="-122"/>
                          <a:cs typeface="Calibri" pitchFamily="34" charset="-120"/>
                        </a:rPr>
                        <a:t>Format followed the instruction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Confidence it has not earned</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B2B36"/>
                          </a:solidFill>
                          <a:latin typeface="Calibri" pitchFamily="34" charset="0"/>
                          <a:ea typeface="Calibri" pitchFamily="34" charset="-122"/>
                          <a:cs typeface="Calibri" pitchFamily="34" charset="-120"/>
                        </a:rPr>
                        <a:t>Is this host in scope for isolation?</a:t>
                      </a:r>
                      <a:endParaRPr lang="en-US" sz="100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1" name="Shape 8"/>
          <p:cNvSpPr/>
          <p:nvPr/>
        </p:nvSpPr>
        <p:spPr>
          <a:xfrm>
            <a:off x="7635240" y="1737360"/>
            <a:ext cx="3913632" cy="2359152"/>
          </a:xfrm>
          <a:prstGeom prst="roundRect">
            <a:avLst>
              <a:gd name="adj" fmla="val 2713"/>
            </a:avLst>
          </a:prstGeom>
          <a:solidFill>
            <a:srgbClr val="F1F5F8"/>
          </a:solidFill>
          <a:ln w="9525">
            <a:solidFill>
              <a:srgbClr val="C9D8E0"/>
            </a:solidFill>
            <a:prstDash val="solid"/>
          </a:ln>
        </p:spPr>
      </p:sp>
      <p:sp>
        <p:nvSpPr>
          <p:cNvPr id="12" name="Text 9"/>
          <p:cNvSpPr/>
          <p:nvPr/>
        </p:nvSpPr>
        <p:spPr>
          <a:xfrm>
            <a:off x="7891272" y="1920240"/>
            <a:ext cx="3401568"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Why this example is easy</a:t>
            </a:r>
            <a:endParaRPr lang="en-US" sz="1450" dirty="0"/>
          </a:p>
        </p:txBody>
      </p:sp>
      <p:sp>
        <p:nvSpPr>
          <p:cNvPr id="13" name="Text 10"/>
          <p:cNvSpPr/>
          <p:nvPr/>
        </p:nvSpPr>
        <p:spPr>
          <a:xfrm>
            <a:off x="7891272" y="2395728"/>
            <a:ext cx="3401568" cy="1499616"/>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Any analyst spots this pattern instantly. That is deliberate — the demo shows the shape, not the value.</a:t>
            </a:r>
            <a:endParaRPr lang="en-US" sz="1100" dirty="0"/>
          </a:p>
          <a:p>
            <a:pPr indent="0" marL="0">
              <a:lnSpc>
                <a:spcPts val="1562"/>
              </a:lnSpc>
              <a:buNone/>
            </a:pPr>
            <a:endParaRPr lang="en-US" sz="1100" dirty="0"/>
          </a:p>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The value appears at 500 alerts an hour with no clean threshold, where a first-pass reader with a stated reason lets a human spend attention where it counts.</a:t>
            </a:r>
            <a:endParaRPr lang="en-US" sz="1100" dirty="0"/>
          </a:p>
        </p:txBody>
      </p:sp>
      <p:sp>
        <p:nvSpPr>
          <p:cNvPr id="14" name="Shape 11"/>
          <p:cNvSpPr/>
          <p:nvPr/>
        </p:nvSpPr>
        <p:spPr>
          <a:xfrm>
            <a:off x="7635240" y="4242816"/>
            <a:ext cx="3913632" cy="1609344"/>
          </a:xfrm>
          <a:prstGeom prst="roundRect">
            <a:avLst>
              <a:gd name="adj" fmla="val 3409"/>
            </a:avLst>
          </a:prstGeom>
          <a:solidFill>
            <a:srgbClr val="E8E3F2"/>
          </a:solidFill>
          <a:ln w="9525">
            <a:solidFill>
              <a:srgbClr val="553C7B"/>
            </a:solidFill>
            <a:prstDash val="solid"/>
          </a:ln>
        </p:spPr>
      </p:sp>
      <p:sp>
        <p:nvSpPr>
          <p:cNvPr id="15" name="Text 12"/>
          <p:cNvSpPr/>
          <p:nvPr/>
        </p:nvSpPr>
        <p:spPr>
          <a:xfrm>
            <a:off x="7854696" y="4334256"/>
            <a:ext cx="3474720" cy="1426464"/>
          </a:xfrm>
          <a:prstGeom prst="rect">
            <a:avLst/>
          </a:prstGeom>
          <a:noFill/>
          <a:ln/>
        </p:spPr>
        <p:txBody>
          <a:bodyPr wrap="square" lIns="0" tIns="0" rIns="0" bIns="0" rtlCol="0" anchor="ctr"/>
          <a:lstStyle/>
          <a:p>
            <a:pPr indent="0" marL="0">
              <a:lnSpc>
                <a:spcPts val="1540"/>
              </a:lnSpc>
              <a:buNone/>
            </a:pPr>
            <a:r>
              <a:rPr lang="en-US" sz="1100" b="1" dirty="0">
                <a:solidFill>
                  <a:srgbClr val="553C7B"/>
                </a:solidFill>
                <a:latin typeface="Calibri" pitchFamily="34" charset="0"/>
                <a:ea typeface="Calibri" pitchFamily="34" charset="-122"/>
                <a:cs typeface="Calibri" pitchFamily="34" charset="-120"/>
              </a:rPr>
              <a:t>The habit to build now: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read the second column and the third together. The model volunteered a remediation nobody asked for. It may well be right — and it also has no idea whether that host can be isolated, or whether it is a domain controller. Helpfulness beyond the question asked is where automation quietly acquires scope.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3 · YOUR FIRST AI WORKFLOW</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Two models, one prompt — and where the key lives</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There is no such thing as "the AI says." There is what a particular model said, once.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720840" cy="914400"/>
        </p:xfrm>
        <a:graphic>
          <a:graphicData uri="http://schemas.openxmlformats.org/drawingml/2006/table">
            <a:tbl>
              <a:tblPr/>
              <a:tblGrid>
                <a:gridCol w="1463040"/>
                <a:gridCol w="2651760"/>
                <a:gridCol w="2606040"/>
              </a:tblGrid>
              <a:tr h="0">
                <a:tc>
                  <a:txBody>
                    <a:bodyPr/>
                    <a:lstStyle/>
                    <a:p>
                      <a:pPr algn="l" indent="0" marL="0">
                        <a:buNone/>
                      </a:pP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Model A</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Model 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Suspicious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Suspicious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Names the pattern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"classic brute force"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"anomalous authentication sequence"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Volunteers action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Isolate the host; rotate credentials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None — sticks to the question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Hedging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"appears consistent with"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Useful to an analyst?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More actionable, more assumed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More cautious, less immediately usable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8" name="Shape 5"/>
          <p:cNvSpPr/>
          <p:nvPr/>
        </p:nvSpPr>
        <p:spPr>
          <a:xfrm>
            <a:off x="640080" y="4160520"/>
            <a:ext cx="6720840" cy="914400"/>
          </a:xfrm>
          <a:prstGeom prst="roundRect">
            <a:avLst>
              <a:gd name="adj" fmla="val 6000"/>
            </a:avLst>
          </a:prstGeom>
          <a:solidFill>
            <a:srgbClr val="E8E3F2"/>
          </a:solidFill>
          <a:ln w="9525">
            <a:solidFill>
              <a:srgbClr val="553C7B"/>
            </a:solidFill>
            <a:prstDash val="solid"/>
          </a:ln>
        </p:spPr>
      </p:sp>
      <p:sp>
        <p:nvSpPr>
          <p:cNvPr id="9" name="Text 6"/>
          <p:cNvSpPr/>
          <p:nvPr/>
        </p:nvSpPr>
        <p:spPr>
          <a:xfrm>
            <a:off x="859536" y="4251960"/>
            <a:ext cx="6281928" cy="731520"/>
          </a:xfrm>
          <a:prstGeom prst="rect">
            <a:avLst/>
          </a:prstGeom>
          <a:noFill/>
          <a:ln/>
        </p:spPr>
        <p:txBody>
          <a:bodyPr wrap="square" lIns="0" tIns="0" rIns="0" bIns="0" rtlCol="0" anchor="ctr"/>
          <a:lstStyle/>
          <a:p>
            <a:pPr indent="0" marL="0">
              <a:lnSpc>
                <a:spcPts val="1610"/>
              </a:lnSpc>
              <a:buNone/>
            </a:pPr>
            <a:r>
              <a:rPr lang="en-US" sz="1150" b="1" dirty="0">
                <a:solidFill>
                  <a:srgbClr val="553C7B"/>
                </a:solidFill>
                <a:latin typeface="Calibri" pitchFamily="34" charset="0"/>
                <a:ea typeface="Calibri" pitchFamily="34" charset="-122"/>
                <a:cs typeface="Calibri" pitchFamily="34" charset="-120"/>
              </a:rPr>
              <a:t>Same prompt, same alert, different answers.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Neither is wrong. They differ in confidence, vocabulary and willingness to volunteer. That variance is a property of the system you are building on, and your design has to survive it.</a:t>
            </a:r>
            <a:endParaRPr lang="en-US" sz="1150" dirty="0"/>
          </a:p>
        </p:txBody>
      </p:sp>
      <p:sp>
        <p:nvSpPr>
          <p:cNvPr id="10" name="Shape 7"/>
          <p:cNvSpPr/>
          <p:nvPr/>
        </p:nvSpPr>
        <p:spPr>
          <a:xfrm>
            <a:off x="7635240" y="1783080"/>
            <a:ext cx="3913632" cy="2148840"/>
          </a:xfrm>
          <a:prstGeom prst="roundRect">
            <a:avLst>
              <a:gd name="adj" fmla="val 2979"/>
            </a:avLst>
          </a:prstGeom>
          <a:solidFill>
            <a:srgbClr val="1B1730"/>
          </a:solidFill>
          <a:ln w="12700">
            <a:solidFill>
              <a:srgbClr val="1B1730"/>
            </a:solidFill>
            <a:prstDash val="solid"/>
          </a:ln>
          <a:effectLst>
            <a:outerShdw sx="100000" sy="100000" kx="0" ky="0" algn="bl" rotWithShape="0" blurRad="114300" dist="25400" dir="5400000">
              <a:srgbClr val="0B1720">
                <a:alpha val="22000"/>
              </a:srgbClr>
            </a:outerShdw>
          </a:effectLst>
        </p:spPr>
      </p:sp>
      <p:sp>
        <p:nvSpPr>
          <p:cNvPr id="11" name="Text 8"/>
          <p:cNvSpPr/>
          <p:nvPr/>
        </p:nvSpPr>
        <p:spPr>
          <a:xfrm>
            <a:off x="7872984" y="1901952"/>
            <a:ext cx="3438144"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.env  —  and .gitignore</a:t>
            </a:r>
            <a:endParaRPr lang="en-US" sz="950" dirty="0"/>
          </a:p>
        </p:txBody>
      </p:sp>
      <p:sp>
        <p:nvSpPr>
          <p:cNvPr id="12" name="Text 9"/>
          <p:cNvSpPr/>
          <p:nvPr/>
        </p:nvSpPr>
        <p:spPr>
          <a:xfrm>
            <a:off x="7872984" y="2203704"/>
            <a:ext cx="3438144" cy="1581912"/>
          </a:xfrm>
          <a:prstGeom prst="rect">
            <a:avLst/>
          </a:prstGeom>
          <a:noFill/>
          <a:ln/>
        </p:spPr>
        <p:txBody>
          <a:bodyPr wrap="square" lIns="0" tIns="0" rIns="0" bIns="0" rtlCol="0" anchor="t"/>
          <a:lstStyle/>
          <a:p>
            <a:pPr indent="0" marL="0">
              <a:lnSpc>
                <a:spcPts val="1575"/>
              </a:lnSpc>
              <a:buNone/>
            </a:pPr>
            <a:r>
              <a:rPr lang="en-US" sz="1050" dirty="0">
                <a:solidFill>
                  <a:srgbClr val="76909F"/>
                </a:solidFill>
                <a:latin typeface="Courier New" pitchFamily="34" charset="0"/>
                <a:ea typeface="Courier New" pitchFamily="34" charset="-122"/>
                <a:cs typeface="Courier New" pitchFamily="34" charset="-120"/>
              </a:rPr>
              <a:t># .env   (never committed)</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OPENAI_API_KEY=sk-...</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 </a:t>
            </a:r>
            <a:endParaRPr lang="en-US" sz="1050" dirty="0"/>
          </a:p>
          <a:p>
            <a:pPr indent="0" marL="0">
              <a:lnSpc>
                <a:spcPts val="1575"/>
              </a:lnSpc>
              <a:buNone/>
            </a:pPr>
            <a:r>
              <a:rPr lang="en-US" sz="1050" dirty="0">
                <a:solidFill>
                  <a:srgbClr val="76909F"/>
                </a:solidFill>
                <a:latin typeface="Courier New" pitchFamily="34" charset="0"/>
                <a:ea typeface="Courier New" pitchFamily="34" charset="-122"/>
                <a:cs typeface="Courier New" pitchFamily="34" charset="-120"/>
              </a:rPr>
              <a:t># .gitignore</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.env</a:t>
            </a:r>
            <a:endParaRPr lang="en-US" sz="1050" dirty="0"/>
          </a:p>
          <a:p>
            <a:pPr indent="0" marL="0">
              <a:lnSpc>
                <a:spcPts val="1575"/>
              </a:lnSpc>
              <a:buNone/>
            </a:pPr>
            <a:r>
              <a:rPr lang="en-US" sz="1050" dirty="0">
                <a:solidFill>
                  <a:srgbClr val="E4EDF2"/>
                </a:solidFill>
                <a:latin typeface="Courier New" pitchFamily="34" charset="0"/>
                <a:ea typeface="Courier New" pitchFamily="34" charset="-122"/>
                <a:cs typeface="Courier New" pitchFamily="34" charset="-120"/>
              </a:rPr>
              <a:t>*.key</a:t>
            </a:r>
            <a:endParaRPr lang="en-US" sz="1050" dirty="0"/>
          </a:p>
        </p:txBody>
      </p:sp>
      <p:sp>
        <p:nvSpPr>
          <p:cNvPr id="13" name="Shape 10"/>
          <p:cNvSpPr/>
          <p:nvPr/>
        </p:nvSpPr>
        <p:spPr>
          <a:xfrm>
            <a:off x="7635240" y="4096512"/>
            <a:ext cx="3913632" cy="1755648"/>
          </a:xfrm>
          <a:prstGeom prst="roundRect">
            <a:avLst>
              <a:gd name="adj" fmla="val 3646"/>
            </a:avLst>
          </a:prstGeom>
          <a:solidFill>
            <a:srgbClr val="F7E5E8"/>
          </a:solidFill>
          <a:ln w="9525">
            <a:solidFill>
              <a:srgbClr val="A4243B"/>
            </a:solidFill>
            <a:prstDash val="solid"/>
          </a:ln>
        </p:spPr>
      </p:sp>
      <p:sp>
        <p:nvSpPr>
          <p:cNvPr id="14" name="Text 11"/>
          <p:cNvSpPr/>
          <p:nvPr/>
        </p:nvSpPr>
        <p:spPr>
          <a:xfrm>
            <a:off x="7891272" y="4279392"/>
            <a:ext cx="3401568" cy="420624"/>
          </a:xfrm>
          <a:prstGeom prst="rect">
            <a:avLst/>
          </a:prstGeom>
          <a:noFill/>
          <a:ln/>
        </p:spPr>
        <p:txBody>
          <a:bodyPr wrap="square" lIns="0" tIns="0" rIns="0" bIns="0" rtlCol="0" anchor="ctr"/>
          <a:lstStyle/>
          <a:p>
            <a:pPr indent="0" marL="0">
              <a:buNone/>
            </a:pPr>
            <a:r>
              <a:rPr lang="en-US" sz="1450" b="1" dirty="0">
                <a:solidFill>
                  <a:srgbClr val="A4243B"/>
                </a:solidFill>
                <a:latin typeface="Calibri" pitchFamily="34" charset="0"/>
                <a:ea typeface="Calibri" pitchFamily="34" charset="-122"/>
                <a:cs typeface="Calibri" pitchFamily="34" charset="-120"/>
              </a:rPr>
              <a:t>Keys: the three rules</a:t>
            </a:r>
            <a:endParaRPr lang="en-US" sz="1450" dirty="0"/>
          </a:p>
        </p:txBody>
      </p:sp>
      <p:sp>
        <p:nvSpPr>
          <p:cNvPr id="15" name="Text 12"/>
          <p:cNvSpPr/>
          <p:nvPr/>
        </p:nvSpPr>
        <p:spPr>
          <a:xfrm>
            <a:off x="7891272" y="4754880"/>
            <a:ext cx="3401568" cy="89611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Never in code, a cell, or a screenshot.</a:t>
            </a:r>
            <a:endParaRPr lang="en-US" sz="1100" dirty="0"/>
          </a:p>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Never in a commit — history keeps it forever, and bots scan public repos within minutes.</a:t>
            </a:r>
            <a:endParaRPr lang="en-US" sz="1100" dirty="0"/>
          </a:p>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If one leaks, rotate it immediately. Assume compromise from the moment of the push.</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8E77C4"/>
                </a:solidFill>
                <a:latin typeface="Calibri" pitchFamily="34" charset="0"/>
                <a:ea typeface="Calibri" pitchFamily="34" charset="-122"/>
                <a:cs typeface="Calibri" pitchFamily="34" charset="-120"/>
              </a:rPr>
              <a:t>PART 4</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 Little Python</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How much programming this course actually needs, why reading matters more than writing, and three free ways to get there.</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AI for Security</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AI in the SOC: Tool &amp; Target</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First AI Workflow</a:t>
            </a:r>
            <a:endParaRPr lang="en-US" sz="1200" dirty="0"/>
          </a:p>
        </p:txBody>
      </p:sp>
      <p:sp>
        <p:nvSpPr>
          <p:cNvPr id="12" name="Shape 10"/>
          <p:cNvSpPr/>
          <p:nvPr/>
        </p:nvSpPr>
        <p:spPr>
          <a:xfrm>
            <a:off x="7818120" y="3502152"/>
            <a:ext cx="182880" cy="182880"/>
          </a:xfrm>
          <a:prstGeom prst="ellipse">
            <a:avLst/>
          </a:prstGeom>
          <a:solidFill>
            <a:srgbClr val="8E77C4"/>
          </a:solidFill>
          <a:ln w="12700">
            <a:solidFill>
              <a:srgbClr val="8E77C4"/>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Little Python</a:t>
            </a:r>
            <a:endParaRPr lang="en-US" sz="1300" dirty="0"/>
          </a:p>
        </p:txBody>
      </p:sp>
      <p:sp>
        <p:nvSpPr>
          <p:cNvPr id="14" name="Shape 12"/>
          <p:cNvSpPr/>
          <p:nvPr/>
        </p:nvSpPr>
        <p:spPr>
          <a:xfrm>
            <a:off x="7818120" y="4160520"/>
            <a:ext cx="182880" cy="182880"/>
          </a:xfrm>
          <a:prstGeom prst="ellipse">
            <a:avLst/>
          </a:prstGeom>
          <a:solidFill>
            <a:srgbClr val="1D3444"/>
          </a:solidFill>
          <a:ln w="12700">
            <a:solidFill>
              <a:srgbClr val="3A5566"/>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Frameworks, Ethics &amp; Your Week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4 · A LITTLE PYTHON</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You will not write much code — but you must read it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Reading is a much lower bar than writing, and it is the one that actually matters here.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29</a:t>
            </a:r>
            <a:endParaRPr lang="en-US" sz="900" dirty="0"/>
          </a:p>
        </p:txBody>
      </p:sp>
      <p:sp>
        <p:nvSpPr>
          <p:cNvPr id="7" name="Shape 5"/>
          <p:cNvSpPr/>
          <p:nvPr/>
        </p:nvSpPr>
        <p:spPr>
          <a:xfrm>
            <a:off x="640080" y="1783080"/>
            <a:ext cx="5943600" cy="2514600"/>
          </a:xfrm>
          <a:prstGeom prst="roundRect">
            <a:avLst>
              <a:gd name="adj" fmla="val 2545"/>
            </a:avLst>
          </a:prstGeom>
          <a:solidFill>
            <a:srgbClr val="1B1730"/>
          </a:solidFill>
          <a:ln w="12700">
            <a:solidFill>
              <a:srgbClr val="1B1730"/>
            </a:solidFill>
            <a:prstDash val="solid"/>
          </a:ln>
          <a:effectLst>
            <a:outerShdw sx="100000" sy="100000" kx="0" ky="0" algn="bl" rotWithShape="0" blurRad="114300" dist="25400" dir="5400000">
              <a:srgbClr val="0B1720">
                <a:alpha val="22000"/>
              </a:srgbClr>
            </a:outerShdw>
          </a:effectLst>
        </p:spPr>
      </p:sp>
      <p:sp>
        <p:nvSpPr>
          <p:cNvPr id="8" name="Text 6"/>
          <p:cNvSpPr/>
          <p:nvPr/>
        </p:nvSpPr>
        <p:spPr>
          <a:xfrm>
            <a:off x="877824" y="1901952"/>
            <a:ext cx="5468112" cy="237744"/>
          </a:xfrm>
          <a:prstGeom prst="rect">
            <a:avLst/>
          </a:prstGeom>
          <a:noFill/>
          <a:ln/>
        </p:spPr>
        <p:txBody>
          <a:bodyPr wrap="square" lIns="0" tIns="0" rIns="0" bIns="0" rtlCol="0" anchor="ctr"/>
          <a:lstStyle/>
          <a:p>
            <a:pPr indent="0" marL="0">
              <a:buNone/>
            </a:pPr>
            <a:r>
              <a:rPr lang="en-US" sz="950" b="1" spc="130" kern="0" dirty="0">
                <a:solidFill>
                  <a:srgbClr val="9FB8C6"/>
                </a:solidFill>
                <a:latin typeface="Calibri" pitchFamily="34" charset="0"/>
                <a:ea typeface="Calibri" pitchFamily="34" charset="-122"/>
                <a:cs typeface="Calibri" pitchFamily="34" charset="-120"/>
              </a:rPr>
              <a:t>If you can follow this, you have enough Python for this course</a:t>
            </a:r>
            <a:endParaRPr lang="en-US" sz="950" dirty="0"/>
          </a:p>
        </p:txBody>
      </p:sp>
      <p:sp>
        <p:nvSpPr>
          <p:cNvPr id="9" name="Text 7"/>
          <p:cNvSpPr/>
          <p:nvPr/>
        </p:nvSpPr>
        <p:spPr>
          <a:xfrm>
            <a:off x="877824" y="2203704"/>
            <a:ext cx="5468112" cy="1947672"/>
          </a:xfrm>
          <a:prstGeom prst="rect">
            <a:avLst/>
          </a:prstGeom>
          <a:noFill/>
          <a:ln/>
        </p:spPr>
        <p:txBody>
          <a:bodyPr wrap="square" lIns="0" tIns="0" rIns="0" bIns="0" rtlCol="0" anchor="t"/>
          <a:lstStyle/>
          <a:p>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import</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pandas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as</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pd</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logs = pd.</a:t>
            </a:r>
            <a:pPr indent="0" marL="0">
              <a:lnSpc>
                <a:spcPts val="1650"/>
              </a:lnSpc>
              <a:buNone/>
            </a:pPr>
            <a:r>
              <a:rPr lang="en-US" sz="1100" dirty="0">
                <a:solidFill>
                  <a:srgbClr val="9FC4EE"/>
                </a:solidFill>
                <a:latin typeface="Courier New" pitchFamily="34" charset="0"/>
                <a:ea typeface="Courier New" pitchFamily="34" charset="-122"/>
                <a:cs typeface="Courier New" pitchFamily="34" charset="-120"/>
              </a:rPr>
              <a:t>read_csv</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pPr indent="0" marL="0">
              <a:lnSpc>
                <a:spcPts val="1650"/>
              </a:lnSpc>
              <a:buNone/>
            </a:pPr>
            <a:r>
              <a:rPr lang="en-US" sz="1100" dirty="0">
                <a:solidFill>
                  <a:srgbClr val="EBB183"/>
                </a:solidFill>
                <a:latin typeface="Courier New" pitchFamily="34" charset="0"/>
                <a:ea typeface="Courier New" pitchFamily="34" charset="-122"/>
                <a:cs typeface="Courier New" pitchFamily="34" charset="-120"/>
              </a:rPr>
              <a:t>"auth.log.csv"</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failed = logs[logs[</a:t>
            </a:r>
            <a:pPr indent="0" marL="0">
              <a:lnSpc>
                <a:spcPts val="1650"/>
              </a:lnSpc>
              <a:buNone/>
            </a:pPr>
            <a:r>
              <a:rPr lang="en-US" sz="1100" dirty="0">
                <a:solidFill>
                  <a:srgbClr val="EBB183"/>
                </a:solidFill>
                <a:latin typeface="Courier New" pitchFamily="34" charset="0"/>
                <a:ea typeface="Courier New" pitchFamily="34" charset="-122"/>
                <a:cs typeface="Courier New" pitchFamily="34" charset="-120"/>
              </a:rPr>
              <a:t>"result"</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 </a:t>
            </a:r>
            <a:pPr indent="0" marL="0">
              <a:lnSpc>
                <a:spcPts val="1650"/>
              </a:lnSpc>
              <a:buNone/>
            </a:pPr>
            <a:r>
              <a:rPr lang="en-US" sz="1100" dirty="0">
                <a:solidFill>
                  <a:srgbClr val="EBB183"/>
                </a:solidFill>
                <a:latin typeface="Courier New" pitchFamily="34" charset="0"/>
                <a:ea typeface="Courier New" pitchFamily="34" charset="-122"/>
                <a:cs typeface="Courier New" pitchFamily="34" charset="-120"/>
              </a:rPr>
              <a:t>"FAIL"</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by_ip = failed.</a:t>
            </a:r>
            <a:pPr indent="0" marL="0">
              <a:lnSpc>
                <a:spcPts val="1650"/>
              </a:lnSpc>
              <a:buNone/>
            </a:pPr>
            <a:r>
              <a:rPr lang="en-US" sz="1100" dirty="0">
                <a:solidFill>
                  <a:srgbClr val="9FC4EE"/>
                </a:solidFill>
                <a:latin typeface="Courier New" pitchFamily="34" charset="0"/>
                <a:ea typeface="Courier New" pitchFamily="34" charset="-122"/>
                <a:cs typeface="Courier New" pitchFamily="34" charset="-120"/>
              </a:rPr>
              <a:t>groupby</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pPr indent="0" marL="0">
              <a:lnSpc>
                <a:spcPts val="1650"/>
              </a:lnSpc>
              <a:buNone/>
            </a:pPr>
            <a:r>
              <a:rPr lang="en-US" sz="1100" dirty="0">
                <a:solidFill>
                  <a:srgbClr val="EBB183"/>
                </a:solidFill>
                <a:latin typeface="Courier New" pitchFamily="34" charset="0"/>
                <a:ea typeface="Courier New" pitchFamily="34" charset="-122"/>
                <a:cs typeface="Courier New" pitchFamily="34" charset="-120"/>
              </a:rPr>
              <a:t>"src_ip"</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pPr indent="0" marL="0">
              <a:lnSpc>
                <a:spcPts val="1650"/>
              </a:lnSpc>
              <a:buNone/>
            </a:pPr>
            <a:r>
              <a:rPr lang="en-US" sz="1100" dirty="0">
                <a:solidFill>
                  <a:srgbClr val="9FC4EE"/>
                </a:solidFill>
                <a:latin typeface="Courier New" pitchFamily="34" charset="0"/>
                <a:ea typeface="Courier New" pitchFamily="34" charset="-122"/>
                <a:cs typeface="Courier New" pitchFamily="34" charset="-120"/>
              </a:rPr>
              <a:t>size</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suspects = by_ip[by_ip &gt; 10]</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for</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ip, count </a:t>
            </a:r>
            <a:pPr indent="0" marL="0">
              <a:lnSpc>
                <a:spcPts val="1650"/>
              </a:lnSpc>
              <a:buNone/>
            </a:pPr>
            <a:r>
              <a:rPr lang="en-US" sz="1100" dirty="0">
                <a:solidFill>
                  <a:srgbClr val="C3AEEA"/>
                </a:solidFill>
                <a:latin typeface="Courier New" pitchFamily="34" charset="0"/>
                <a:ea typeface="Courier New" pitchFamily="34" charset="-122"/>
                <a:cs typeface="Courier New" pitchFamily="34" charset="-120"/>
              </a:rPr>
              <a:t>in</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suspects.</a:t>
            </a:r>
            <a:pPr indent="0" marL="0">
              <a:lnSpc>
                <a:spcPts val="1650"/>
              </a:lnSpc>
              <a:buNone/>
            </a:pPr>
            <a:r>
              <a:rPr lang="en-US" sz="1100" dirty="0">
                <a:solidFill>
                  <a:srgbClr val="9FC4EE"/>
                </a:solidFill>
                <a:latin typeface="Courier New" pitchFamily="34" charset="0"/>
                <a:ea typeface="Courier New" pitchFamily="34" charset="-122"/>
                <a:cs typeface="Courier New" pitchFamily="34" charset="-120"/>
              </a:rPr>
              <a:t>items</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endParaRPr lang="en-US" sz="1100" dirty="0"/>
          </a:p>
          <a:p>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    </a:t>
            </a:r>
            <a:pPr indent="0" marL="0">
              <a:lnSpc>
                <a:spcPts val="1650"/>
              </a:lnSpc>
              <a:buNone/>
            </a:pPr>
            <a:r>
              <a:rPr lang="en-US" sz="1100" dirty="0">
                <a:solidFill>
                  <a:srgbClr val="9FC4EE"/>
                </a:solidFill>
                <a:latin typeface="Courier New" pitchFamily="34" charset="0"/>
                <a:ea typeface="Courier New" pitchFamily="34" charset="-122"/>
                <a:cs typeface="Courier New" pitchFamily="34" charset="-120"/>
              </a:rPr>
              <a:t>print</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(f</a:t>
            </a:r>
            <a:pPr indent="0" marL="0">
              <a:lnSpc>
                <a:spcPts val="1650"/>
              </a:lnSpc>
              <a:buNone/>
            </a:pPr>
            <a:r>
              <a:rPr lang="en-US" sz="1100" dirty="0">
                <a:solidFill>
                  <a:srgbClr val="EBB183"/>
                </a:solidFill>
                <a:latin typeface="Courier New" pitchFamily="34" charset="0"/>
                <a:ea typeface="Courier New" pitchFamily="34" charset="-122"/>
                <a:cs typeface="Courier New" pitchFamily="34" charset="-120"/>
              </a:rPr>
              <a:t>"{ip}: {count} failed attempts"</a:t>
            </a:r>
            <a:pPr indent="0" marL="0">
              <a:lnSpc>
                <a:spcPts val="1650"/>
              </a:lnSpc>
              <a:buNone/>
            </a:pPr>
            <a:r>
              <a:rPr lang="en-US" sz="1100" dirty="0">
                <a:solidFill>
                  <a:srgbClr val="E4EDF2"/>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40080" y="4480560"/>
            <a:ext cx="5943600" cy="1371600"/>
          </a:xfrm>
          <a:prstGeom prst="roundRect">
            <a:avLst>
              <a:gd name="adj" fmla="val 4000"/>
            </a:avLst>
          </a:prstGeom>
          <a:solidFill>
            <a:srgbClr val="E8E3F2"/>
          </a:solidFill>
          <a:ln w="9525">
            <a:solidFill>
              <a:srgbClr val="553C7B"/>
            </a:solidFill>
            <a:prstDash val="solid"/>
          </a:ln>
        </p:spPr>
      </p:sp>
      <p:sp>
        <p:nvSpPr>
          <p:cNvPr id="11" name="Text 9"/>
          <p:cNvSpPr/>
          <p:nvPr/>
        </p:nvSpPr>
        <p:spPr>
          <a:xfrm>
            <a:off x="859536" y="4572000"/>
            <a:ext cx="5504688" cy="1188720"/>
          </a:xfrm>
          <a:prstGeom prst="rect">
            <a:avLst/>
          </a:prstGeom>
          <a:noFill/>
          <a:ln/>
        </p:spPr>
        <p:txBody>
          <a:bodyPr wrap="square" lIns="0" tIns="0" rIns="0" bIns="0" rtlCol="0" anchor="ctr"/>
          <a:lstStyle/>
          <a:p>
            <a:pPr indent="0" marL="0">
              <a:lnSpc>
                <a:spcPts val="1610"/>
              </a:lnSpc>
              <a:buNone/>
            </a:pPr>
            <a:r>
              <a:rPr lang="en-US" sz="1150" b="1" dirty="0">
                <a:solidFill>
                  <a:srgbClr val="553C7B"/>
                </a:solidFill>
                <a:latin typeface="Calibri" pitchFamily="34" charset="0"/>
                <a:ea typeface="Calibri" pitchFamily="34" charset="-122"/>
                <a:cs typeface="Calibri" pitchFamily="34" charset="-120"/>
              </a:rPr>
              <a:t>That is brute-force detection.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Nine lines, no machine learning. You do not need to have written it — you need to look at it and know that it filters failures, counts them per source address, and keeps the noisy ones. That is the level.</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690872" cy="914400"/>
        </p:xfrm>
        <a:graphic>
          <a:graphicData uri="http://schemas.openxmlformats.org/drawingml/2006/table">
            <a:tbl>
              <a:tblPr/>
              <a:tblGrid>
                <a:gridCol w="2148840"/>
                <a:gridCol w="254203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You need to recognise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So that you can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Variables, strings, f-strings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Follow what a cell is building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Lists and dictionaries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Read an API request and its response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Loops and if/else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See where the logic branches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Functions and imports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Know what came from where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A traceback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Fix your own errors instead of stalling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13" name="Shape 10"/>
          <p:cNvSpPr/>
          <p:nvPr/>
        </p:nvSpPr>
        <p:spPr>
          <a:xfrm>
            <a:off x="6858000" y="4206240"/>
            <a:ext cx="4690872" cy="1645920"/>
          </a:xfrm>
          <a:prstGeom prst="roundRect">
            <a:avLst>
              <a:gd name="adj" fmla="val 3889"/>
            </a:avLst>
          </a:prstGeom>
          <a:solidFill>
            <a:srgbClr val="F1F5F8"/>
          </a:solidFill>
          <a:ln w="9525">
            <a:solidFill>
              <a:srgbClr val="C9D8E0"/>
            </a:solidFill>
            <a:prstDash val="solid"/>
          </a:ln>
        </p:spPr>
      </p:sp>
      <p:sp>
        <p:nvSpPr>
          <p:cNvPr id="14" name="Text 11"/>
          <p:cNvSpPr/>
          <p:nvPr/>
        </p:nvSpPr>
        <p:spPr>
          <a:xfrm>
            <a:off x="7114032" y="4389120"/>
            <a:ext cx="4178808"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Why bother, if AI can write it?</a:t>
            </a:r>
            <a:endParaRPr lang="en-US" sz="1450" dirty="0"/>
          </a:p>
        </p:txBody>
      </p:sp>
      <p:sp>
        <p:nvSpPr>
          <p:cNvPr id="15" name="Text 12"/>
          <p:cNvSpPr/>
          <p:nvPr/>
        </p:nvSpPr>
        <p:spPr>
          <a:xfrm>
            <a:off x="7114032" y="4864608"/>
            <a:ext cx="4178808" cy="786384"/>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Because you cannot debug what you cannot read, you cannot adapt an example to your own data, and you cannot tell when generated code is doing something you did not intend. Reading is the review skill.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4 · A LITTLE PYTHON</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Python: a recommended review for Weeks 1–3</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Three free options. Pick one that matches how you learn — there is nothing to submit.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640080" y="1783080"/>
            <a:ext cx="3483864" cy="1874520"/>
          </a:xfrm>
          <a:prstGeom prst="roundRect">
            <a:avLst>
              <a:gd name="adj" fmla="val 3415"/>
            </a:avLst>
          </a:prstGeom>
          <a:solidFill>
            <a:srgbClr val="E8E3F2"/>
          </a:solidFill>
          <a:ln w="19050">
            <a:solidFill>
              <a:srgbClr val="553C7B"/>
            </a:solidFill>
            <a:prstDash val="solid"/>
          </a:ln>
        </p:spPr>
      </p:sp>
      <p:sp>
        <p:nvSpPr>
          <p:cNvPr id="8" name="Text 6"/>
          <p:cNvSpPr/>
          <p:nvPr/>
        </p:nvSpPr>
        <p:spPr>
          <a:xfrm>
            <a:off x="859536" y="1883664"/>
            <a:ext cx="3044952" cy="201168"/>
          </a:xfrm>
          <a:prstGeom prst="rect">
            <a:avLst/>
          </a:prstGeom>
          <a:noFill/>
          <a:ln/>
        </p:spPr>
        <p:txBody>
          <a:bodyPr wrap="square" lIns="0" tIns="0" rIns="0" bIns="0" rtlCol="0" anchor="ctr"/>
          <a:lstStyle/>
          <a:p>
            <a:pPr indent="0" marL="0">
              <a:buNone/>
            </a:pPr>
            <a:r>
              <a:rPr lang="en-US" sz="850" b="1" spc="120" kern="0" dirty="0">
                <a:solidFill>
                  <a:srgbClr val="553C7B"/>
                </a:solidFill>
                <a:latin typeface="Calibri" pitchFamily="34" charset="0"/>
                <a:ea typeface="Calibri" pitchFamily="34" charset="-122"/>
                <a:cs typeface="Calibri" pitchFamily="34" charset="-120"/>
              </a:rPr>
              <a:t>RECOMMENDED</a:t>
            </a:r>
            <a:endParaRPr lang="en-US" sz="850" dirty="0"/>
          </a:p>
        </p:txBody>
      </p:sp>
      <p:sp>
        <p:nvSpPr>
          <p:cNvPr id="9" name="Text 7"/>
          <p:cNvSpPr/>
          <p:nvPr/>
        </p:nvSpPr>
        <p:spPr>
          <a:xfrm>
            <a:off x="859536" y="2103120"/>
            <a:ext cx="3044952" cy="310896"/>
          </a:xfrm>
          <a:prstGeom prst="rect">
            <a:avLst/>
          </a:prstGeom>
          <a:noFill/>
          <a:ln/>
        </p:spPr>
        <p:txBody>
          <a:bodyPr wrap="square" lIns="0" tIns="0" rIns="0" bIns="0" rtlCol="0" anchor="ctr"/>
          <a:lstStyle/>
          <a:p>
            <a:pPr indent="0" marL="0">
              <a:buNone/>
            </a:pPr>
            <a:r>
              <a:rPr lang="en-US" sz="1550" b="1" dirty="0">
                <a:solidFill>
                  <a:srgbClr val="12202B"/>
                </a:solidFill>
                <a:latin typeface="Cambria" pitchFamily="34" charset="0"/>
                <a:ea typeface="Cambria" pitchFamily="34" charset="-122"/>
                <a:cs typeface="Cambria" pitchFamily="34" charset="-120"/>
              </a:rPr>
              <a:t>LinkedIn Learning</a:t>
            </a:r>
            <a:endParaRPr lang="en-US" sz="1550" dirty="0"/>
          </a:p>
        </p:txBody>
      </p:sp>
      <p:sp>
        <p:nvSpPr>
          <p:cNvPr id="10" name="Text 8"/>
          <p:cNvSpPr/>
          <p:nvPr/>
        </p:nvSpPr>
        <p:spPr>
          <a:xfrm>
            <a:off x="859536" y="2414016"/>
            <a:ext cx="3044952" cy="237744"/>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"Python for Non-Programmers"</a:t>
            </a:r>
            <a:endParaRPr lang="en-US" sz="1100" dirty="0"/>
          </a:p>
        </p:txBody>
      </p:sp>
      <p:sp>
        <p:nvSpPr>
          <p:cNvPr id="11" name="Text 9"/>
          <p:cNvSpPr/>
          <p:nvPr/>
        </p:nvSpPr>
        <p:spPr>
          <a:xfrm>
            <a:off x="859536" y="2688336"/>
            <a:ext cx="3044952" cy="914400"/>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About two hours, video-led, free to you through UC. The one I recommend most for absolute beginners.</a:t>
            </a:r>
            <a:endParaRPr lang="en-US" sz="1100" dirty="0"/>
          </a:p>
        </p:txBody>
      </p:sp>
      <p:sp>
        <p:nvSpPr>
          <p:cNvPr id="12" name="Shape 10"/>
          <p:cNvSpPr/>
          <p:nvPr/>
        </p:nvSpPr>
        <p:spPr>
          <a:xfrm>
            <a:off x="4352544" y="1783080"/>
            <a:ext cx="3483864" cy="1874520"/>
          </a:xfrm>
          <a:prstGeom prst="roundRect">
            <a:avLst>
              <a:gd name="adj" fmla="val 3415"/>
            </a:avLst>
          </a:prstGeom>
          <a:solidFill>
            <a:srgbClr val="F1F5F8"/>
          </a:solidFill>
          <a:ln w="9525">
            <a:solidFill>
              <a:srgbClr val="C9D8E0"/>
            </a:solidFill>
            <a:prstDash val="solid"/>
          </a:ln>
        </p:spPr>
      </p:sp>
      <p:sp>
        <p:nvSpPr>
          <p:cNvPr id="13" name="Text 11"/>
          <p:cNvSpPr/>
          <p:nvPr/>
        </p:nvSpPr>
        <p:spPr>
          <a:xfrm>
            <a:off x="4572000" y="1938528"/>
            <a:ext cx="3044952" cy="310896"/>
          </a:xfrm>
          <a:prstGeom prst="rect">
            <a:avLst/>
          </a:prstGeom>
          <a:noFill/>
          <a:ln/>
        </p:spPr>
        <p:txBody>
          <a:bodyPr wrap="square" lIns="0" tIns="0" rIns="0" bIns="0" rtlCol="0" anchor="ctr"/>
          <a:lstStyle/>
          <a:p>
            <a:pPr indent="0" marL="0">
              <a:buNone/>
            </a:pPr>
            <a:r>
              <a:rPr lang="en-US" sz="1550" b="1" dirty="0">
                <a:solidFill>
                  <a:srgbClr val="12202B"/>
                </a:solidFill>
                <a:latin typeface="Cambria" pitchFamily="34" charset="0"/>
                <a:ea typeface="Cambria" pitchFamily="34" charset="-122"/>
                <a:cs typeface="Cambria" pitchFamily="34" charset="-120"/>
              </a:rPr>
              <a:t>learnpython.org</a:t>
            </a:r>
            <a:endParaRPr lang="en-US" sz="1550" dirty="0"/>
          </a:p>
        </p:txBody>
      </p:sp>
      <p:sp>
        <p:nvSpPr>
          <p:cNvPr id="14" name="Text 12"/>
          <p:cNvSpPr/>
          <p:nvPr/>
        </p:nvSpPr>
        <p:spPr>
          <a:xfrm>
            <a:off x="4572000" y="2249424"/>
            <a:ext cx="3044952" cy="237744"/>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Interactive, in the browser</a:t>
            </a:r>
            <a:endParaRPr lang="en-US" sz="1100" dirty="0"/>
          </a:p>
        </p:txBody>
      </p:sp>
      <p:sp>
        <p:nvSpPr>
          <p:cNvPr id="15" name="Text 13"/>
          <p:cNvSpPr/>
          <p:nvPr/>
        </p:nvSpPr>
        <p:spPr>
          <a:xfrm>
            <a:off x="4572000" y="2523744"/>
            <a:ext cx="3044952" cy="914400"/>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Nothing to install. You run each lesson's code in the page. Best if you learn by doing.</a:t>
            </a:r>
            <a:endParaRPr lang="en-US" sz="1100" dirty="0"/>
          </a:p>
        </p:txBody>
      </p:sp>
      <p:sp>
        <p:nvSpPr>
          <p:cNvPr id="16" name="Shape 14"/>
          <p:cNvSpPr/>
          <p:nvPr/>
        </p:nvSpPr>
        <p:spPr>
          <a:xfrm>
            <a:off x="8065008" y="1783080"/>
            <a:ext cx="3483864" cy="1874520"/>
          </a:xfrm>
          <a:prstGeom prst="roundRect">
            <a:avLst>
              <a:gd name="adj" fmla="val 3415"/>
            </a:avLst>
          </a:prstGeom>
          <a:solidFill>
            <a:srgbClr val="F1F5F8"/>
          </a:solidFill>
          <a:ln w="9525">
            <a:solidFill>
              <a:srgbClr val="C9D8E0"/>
            </a:solidFill>
            <a:prstDash val="solid"/>
          </a:ln>
        </p:spPr>
      </p:sp>
      <p:sp>
        <p:nvSpPr>
          <p:cNvPr id="17" name="Text 15"/>
          <p:cNvSpPr/>
          <p:nvPr/>
        </p:nvSpPr>
        <p:spPr>
          <a:xfrm>
            <a:off x="8284464" y="1938528"/>
            <a:ext cx="3044952" cy="310896"/>
          </a:xfrm>
          <a:prstGeom prst="rect">
            <a:avLst/>
          </a:prstGeom>
          <a:noFill/>
          <a:ln/>
        </p:spPr>
        <p:txBody>
          <a:bodyPr wrap="square" lIns="0" tIns="0" rIns="0" bIns="0" rtlCol="0" anchor="ctr"/>
          <a:lstStyle/>
          <a:p>
            <a:pPr indent="0" marL="0">
              <a:buNone/>
            </a:pPr>
            <a:r>
              <a:rPr lang="en-US" sz="1550" b="1" dirty="0">
                <a:solidFill>
                  <a:srgbClr val="12202B"/>
                </a:solidFill>
                <a:latin typeface="Cambria" pitchFamily="34" charset="0"/>
                <a:ea typeface="Cambria" pitchFamily="34" charset="-122"/>
                <a:cs typeface="Cambria" pitchFamily="34" charset="-120"/>
              </a:rPr>
              <a:t>A free YouTube course</a:t>
            </a:r>
            <a:endParaRPr lang="en-US" sz="1550" dirty="0"/>
          </a:p>
        </p:txBody>
      </p:sp>
      <p:sp>
        <p:nvSpPr>
          <p:cNvPr id="18" name="Text 16"/>
          <p:cNvSpPr/>
          <p:nvPr/>
        </p:nvSpPr>
        <p:spPr>
          <a:xfrm>
            <a:off x="8284464" y="2249424"/>
            <a:ext cx="3044952" cy="237744"/>
          </a:xfrm>
          <a:prstGeom prst="rect">
            <a:avLst/>
          </a:prstGeom>
          <a:noFill/>
          <a:ln/>
        </p:spPr>
        <p:txBody>
          <a:bodyPr wrap="square" lIns="0" tIns="0" rIns="0" bIns="0" rtlCol="0" anchor="ctr"/>
          <a:lstStyle/>
          <a:p>
            <a:pPr indent="0" marL="0">
              <a:buNone/>
            </a:pPr>
            <a:r>
              <a:rPr lang="en-US" sz="1100" i="1" dirty="0">
                <a:solidFill>
                  <a:srgbClr val="5C7383"/>
                </a:solidFill>
                <a:latin typeface="Calibri" pitchFamily="34" charset="0"/>
                <a:ea typeface="Calibri" pitchFamily="34" charset="-122"/>
                <a:cs typeface="Calibri" pitchFamily="34" charset="-120"/>
              </a:rPr>
              <a:t>~2 hours, video</a:t>
            </a:r>
            <a:endParaRPr lang="en-US" sz="1100" dirty="0"/>
          </a:p>
        </p:txBody>
      </p:sp>
      <p:sp>
        <p:nvSpPr>
          <p:cNvPr id="19" name="Text 17"/>
          <p:cNvSpPr/>
          <p:nvPr/>
        </p:nvSpPr>
        <p:spPr>
          <a:xfrm>
            <a:off x="8284464" y="2523744"/>
            <a:ext cx="3044952" cy="914400"/>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Linked on the module page. Best if you want it playing while you follow along in Colab.</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3822192"/>
          <a:ext cx="10908792" cy="914400"/>
        </p:xfrm>
        <a:graphic>
          <a:graphicData uri="http://schemas.openxmlformats.org/drawingml/2006/table">
            <a:tbl>
              <a:tblPr/>
              <a:tblGrid>
                <a:gridCol w="2926080"/>
                <a:gridCol w="2194560"/>
                <a:gridCol w="1828800"/>
                <a:gridCol w="39593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Option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Format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Time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Choose it if</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LinkedIn Learning — Python for Non-Programmers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Video, structured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~2 hrs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 have never programmed and want a guided path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learnpython.org</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Interactive browser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Self-paced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 would rather type than watch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Free YouTube course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Video</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~2 hrs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 want something to follow along with in Colab</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21" name="Shape 18"/>
          <p:cNvSpPr/>
          <p:nvPr/>
        </p:nvSpPr>
        <p:spPr>
          <a:xfrm>
            <a:off x="640080" y="5486400"/>
            <a:ext cx="10908792" cy="640080"/>
          </a:xfrm>
          <a:prstGeom prst="roundRect">
            <a:avLst>
              <a:gd name="adj" fmla="val 8571"/>
            </a:avLst>
          </a:prstGeom>
          <a:solidFill>
            <a:srgbClr val="E8E3F2"/>
          </a:solidFill>
          <a:ln w="9525">
            <a:solidFill>
              <a:srgbClr val="553C7B"/>
            </a:solidFill>
            <a:prstDash val="solid"/>
          </a:ln>
        </p:spPr>
      </p:sp>
      <p:sp>
        <p:nvSpPr>
          <p:cNvPr id="22" name="Text 19"/>
          <p:cNvSpPr/>
          <p:nvPr/>
        </p:nvSpPr>
        <p:spPr>
          <a:xfrm>
            <a:off x="859536" y="5577840"/>
            <a:ext cx="10469880" cy="457200"/>
          </a:xfrm>
          <a:prstGeom prst="rect">
            <a:avLst/>
          </a:prstGeom>
          <a:noFill/>
          <a:ln/>
        </p:spPr>
        <p:txBody>
          <a:bodyPr wrap="square" lIns="0" tIns="0" rIns="0" bIns="0" rtlCol="0" anchor="ctr"/>
          <a:lstStyle/>
          <a:p>
            <a:pPr indent="0" marL="0">
              <a:lnSpc>
                <a:spcPts val="1680"/>
              </a:lnSpc>
              <a:buNone/>
            </a:pPr>
            <a:r>
              <a:rPr lang="en-US" sz="1200" b="1" dirty="0">
                <a:solidFill>
                  <a:srgbClr val="553C7B"/>
                </a:solidFill>
                <a:latin typeface="Calibri" pitchFamily="34" charset="0"/>
                <a:ea typeface="Calibri" pitchFamily="34" charset="-122"/>
                <a:cs typeface="Calibri" pitchFamily="34" charset="-120"/>
              </a:rPr>
              <a:t>Recommended, not assigned.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Nothing to submit, no marks attached. Do only as much as you need to read the code card on the previous slide comfortably.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202B"/>
        </a:solidFill>
      </p:bgPr>
    </p:bg>
    <p:spTree>
      <p:nvGrpSpPr>
        <p:cNvPr id="1" name=""/>
        <p:cNvGrpSpPr/>
        <p:nvPr/>
      </p:nvGrpSpPr>
      <p:grpSpPr>
        <a:xfrm>
          <a:off x="0" y="0"/>
          <a:ext cx="0" cy="0"/>
          <a:chOff x="0" y="0"/>
          <a:chExt cx="0" cy="0"/>
        </a:xfrm>
      </p:grpSpPr>
      <p:sp>
        <p:nvSpPr>
          <p:cNvPr id="2" name="Text 0"/>
          <p:cNvSpPr/>
          <p:nvPr/>
        </p:nvSpPr>
        <p:spPr>
          <a:xfrm>
            <a:off x="640080" y="1417320"/>
            <a:ext cx="6766560" cy="274320"/>
          </a:xfrm>
          <a:prstGeom prst="rect">
            <a:avLst/>
          </a:prstGeom>
          <a:noFill/>
          <a:ln/>
        </p:spPr>
        <p:txBody>
          <a:bodyPr wrap="square" lIns="0" tIns="0" rIns="0" bIns="0" rtlCol="0" anchor="ctr"/>
          <a:lstStyle/>
          <a:p>
            <a:pPr indent="0" marL="0">
              <a:buNone/>
            </a:pPr>
            <a:r>
              <a:rPr lang="en-US" sz="1100" b="1" spc="220" kern="0" dirty="0">
                <a:solidFill>
                  <a:srgbClr val="8E77C4"/>
                </a:solidFill>
                <a:latin typeface="Calibri" pitchFamily="34" charset="0"/>
                <a:ea typeface="Calibri" pitchFamily="34" charset="-122"/>
                <a:cs typeface="Calibri" pitchFamily="34" charset="-120"/>
              </a:rPr>
              <a:t>PART 5</a:t>
            </a:r>
            <a:endParaRPr lang="en-US" sz="1100" dirty="0"/>
          </a:p>
        </p:txBody>
      </p:sp>
      <p:sp>
        <p:nvSpPr>
          <p:cNvPr id="3" name="Text 1"/>
          <p:cNvSpPr/>
          <p:nvPr/>
        </p:nvSpPr>
        <p:spPr>
          <a:xfrm>
            <a:off x="640080" y="1783080"/>
            <a:ext cx="676656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Frameworks, Ethics</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&amp; Your Week</a:t>
            </a:r>
            <a:endParaRPr lang="en-US" sz="3800" dirty="0"/>
          </a:p>
        </p:txBody>
      </p:sp>
      <p:sp>
        <p:nvSpPr>
          <p:cNvPr id="4" name="Text 2"/>
          <p:cNvSpPr/>
          <p:nvPr/>
        </p:nvSpPr>
        <p:spPr>
          <a:xfrm>
            <a:off x="640080" y="3127248"/>
            <a:ext cx="6309360" cy="1097280"/>
          </a:xfrm>
          <a:prstGeom prst="rect">
            <a:avLst/>
          </a:prstGeom>
          <a:noFill/>
          <a:ln/>
        </p:spPr>
        <p:txBody>
          <a:bodyPr wrap="square" lIns="0" tIns="0" rIns="0" bIns="0" rtlCol="0" anchor="t"/>
          <a:lstStyle/>
          <a:p>
            <a:pPr indent="0" marL="0">
              <a:lnSpc>
                <a:spcPts val="2200"/>
              </a:lnSpc>
              <a:buNone/>
            </a:pPr>
            <a:r>
              <a:rPr lang="en-US" sz="1450" dirty="0">
                <a:solidFill>
                  <a:srgbClr val="9FB8C6"/>
                </a:solidFill>
                <a:latin typeface="Calibri" pitchFamily="34" charset="0"/>
                <a:ea typeface="Calibri" pitchFamily="34" charset="-122"/>
                <a:cs typeface="Calibri" pitchFamily="34" charset="-120"/>
              </a:rPr>
              <a:t>The three references we lean on all term, the ground rules that start today, and what this week asks of you.</a:t>
            </a:r>
            <a:endParaRPr lang="en-US" sz="1450" dirty="0"/>
          </a:p>
        </p:txBody>
      </p:sp>
      <p:sp>
        <p:nvSpPr>
          <p:cNvPr id="5" name="Text 3"/>
          <p:cNvSpPr/>
          <p:nvPr/>
        </p:nvSpPr>
        <p:spPr>
          <a:xfrm>
            <a:off x="7818120" y="1033272"/>
            <a:ext cx="3749040" cy="237744"/>
          </a:xfrm>
          <a:prstGeom prst="rect">
            <a:avLst/>
          </a:prstGeom>
          <a:noFill/>
          <a:ln/>
        </p:spPr>
        <p:txBody>
          <a:bodyPr wrap="square" lIns="0" tIns="0" rIns="0" bIns="0" rtlCol="0" anchor="ctr"/>
          <a:lstStyle/>
          <a:p>
            <a:pPr indent="0" marL="0">
              <a:buNone/>
            </a:pPr>
            <a:r>
              <a:rPr lang="en-US" sz="950" b="1" spc="160" kern="0" dirty="0">
                <a:solidFill>
                  <a:srgbClr val="9FB8C6"/>
                </a:solidFill>
                <a:latin typeface="Calibri" pitchFamily="34" charset="0"/>
                <a:ea typeface="Calibri" pitchFamily="34" charset="-122"/>
                <a:cs typeface="Calibri" pitchFamily="34" charset="-120"/>
              </a:rPr>
              <a:t>MODULE MAP</a:t>
            </a:r>
            <a:endParaRPr lang="en-US" sz="950" dirty="0"/>
          </a:p>
        </p:txBody>
      </p:sp>
      <p:sp>
        <p:nvSpPr>
          <p:cNvPr id="6" name="Shape 4"/>
          <p:cNvSpPr/>
          <p:nvPr/>
        </p:nvSpPr>
        <p:spPr>
          <a:xfrm>
            <a:off x="7818120" y="1527048"/>
            <a:ext cx="182880" cy="182880"/>
          </a:xfrm>
          <a:prstGeom prst="ellipse">
            <a:avLst/>
          </a:prstGeom>
          <a:solidFill>
            <a:srgbClr val="1D3444"/>
          </a:solidFill>
          <a:ln w="12700">
            <a:solidFill>
              <a:srgbClr val="3A5566"/>
            </a:solidFill>
            <a:prstDash val="solid"/>
          </a:ln>
        </p:spPr>
      </p:sp>
      <p:sp>
        <p:nvSpPr>
          <p:cNvPr id="7" name="Text 5"/>
          <p:cNvSpPr/>
          <p:nvPr/>
        </p:nvSpPr>
        <p:spPr>
          <a:xfrm>
            <a:off x="8147304" y="1417320"/>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Why AI for Security</a:t>
            </a:r>
            <a:endParaRPr lang="en-US" sz="1200" dirty="0"/>
          </a:p>
        </p:txBody>
      </p:sp>
      <p:sp>
        <p:nvSpPr>
          <p:cNvPr id="8" name="Shape 6"/>
          <p:cNvSpPr/>
          <p:nvPr/>
        </p:nvSpPr>
        <p:spPr>
          <a:xfrm>
            <a:off x="7818120" y="2185416"/>
            <a:ext cx="182880" cy="182880"/>
          </a:xfrm>
          <a:prstGeom prst="ellipse">
            <a:avLst/>
          </a:prstGeom>
          <a:solidFill>
            <a:srgbClr val="1D3444"/>
          </a:solidFill>
          <a:ln w="12700">
            <a:solidFill>
              <a:srgbClr val="3A5566"/>
            </a:solidFill>
            <a:prstDash val="solid"/>
          </a:ln>
        </p:spPr>
      </p:sp>
      <p:sp>
        <p:nvSpPr>
          <p:cNvPr id="9" name="Text 7"/>
          <p:cNvSpPr/>
          <p:nvPr/>
        </p:nvSpPr>
        <p:spPr>
          <a:xfrm>
            <a:off x="8147304" y="2075688"/>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AI in the SOC: Tool &amp; Target</a:t>
            </a:r>
            <a:endParaRPr lang="en-US" sz="1200" dirty="0"/>
          </a:p>
        </p:txBody>
      </p:sp>
      <p:sp>
        <p:nvSpPr>
          <p:cNvPr id="10" name="Shape 8"/>
          <p:cNvSpPr/>
          <p:nvPr/>
        </p:nvSpPr>
        <p:spPr>
          <a:xfrm>
            <a:off x="7818120" y="2843784"/>
            <a:ext cx="182880" cy="182880"/>
          </a:xfrm>
          <a:prstGeom prst="ellipse">
            <a:avLst/>
          </a:prstGeom>
          <a:solidFill>
            <a:srgbClr val="1D3444"/>
          </a:solidFill>
          <a:ln w="12700">
            <a:solidFill>
              <a:srgbClr val="3A5566"/>
            </a:solidFill>
            <a:prstDash val="solid"/>
          </a:ln>
        </p:spPr>
      </p:sp>
      <p:sp>
        <p:nvSpPr>
          <p:cNvPr id="11" name="Text 9"/>
          <p:cNvSpPr/>
          <p:nvPr/>
        </p:nvSpPr>
        <p:spPr>
          <a:xfrm>
            <a:off x="8147304" y="2734056"/>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Your First AI Workflow</a:t>
            </a:r>
            <a:endParaRPr lang="en-US" sz="1200" dirty="0"/>
          </a:p>
        </p:txBody>
      </p:sp>
      <p:sp>
        <p:nvSpPr>
          <p:cNvPr id="12" name="Shape 10"/>
          <p:cNvSpPr/>
          <p:nvPr/>
        </p:nvSpPr>
        <p:spPr>
          <a:xfrm>
            <a:off x="7818120" y="3502152"/>
            <a:ext cx="182880" cy="182880"/>
          </a:xfrm>
          <a:prstGeom prst="ellipse">
            <a:avLst/>
          </a:prstGeom>
          <a:solidFill>
            <a:srgbClr val="1D3444"/>
          </a:solidFill>
          <a:ln w="12700">
            <a:solidFill>
              <a:srgbClr val="3A5566"/>
            </a:solidFill>
            <a:prstDash val="solid"/>
          </a:ln>
        </p:spPr>
      </p:sp>
      <p:sp>
        <p:nvSpPr>
          <p:cNvPr id="13" name="Text 11"/>
          <p:cNvSpPr/>
          <p:nvPr/>
        </p:nvSpPr>
        <p:spPr>
          <a:xfrm>
            <a:off x="8147304" y="3392424"/>
            <a:ext cx="3429000" cy="420624"/>
          </a:xfrm>
          <a:prstGeom prst="rect">
            <a:avLst/>
          </a:prstGeom>
          <a:noFill/>
          <a:ln/>
        </p:spPr>
        <p:txBody>
          <a:bodyPr wrap="square" lIns="0" tIns="0" rIns="0" bIns="0" rtlCol="0" anchor="ctr"/>
          <a:lstStyle/>
          <a:p>
            <a:pPr indent="0" marL="0">
              <a:buNone/>
            </a:pPr>
            <a:r>
              <a:rPr lang="en-US" sz="1200" dirty="0">
                <a:solidFill>
                  <a:srgbClr val="7C99A8"/>
                </a:solidFill>
                <a:latin typeface="Calibri" pitchFamily="34" charset="0"/>
                <a:ea typeface="Calibri" pitchFamily="34" charset="-122"/>
                <a:cs typeface="Calibri" pitchFamily="34" charset="-120"/>
              </a:rPr>
              <a:t>A Little Python</a:t>
            </a:r>
            <a:endParaRPr lang="en-US" sz="1200" dirty="0"/>
          </a:p>
        </p:txBody>
      </p:sp>
      <p:sp>
        <p:nvSpPr>
          <p:cNvPr id="14" name="Shape 12"/>
          <p:cNvSpPr/>
          <p:nvPr/>
        </p:nvSpPr>
        <p:spPr>
          <a:xfrm>
            <a:off x="7818120" y="4160520"/>
            <a:ext cx="182880" cy="182880"/>
          </a:xfrm>
          <a:prstGeom prst="ellipse">
            <a:avLst/>
          </a:prstGeom>
          <a:solidFill>
            <a:srgbClr val="8E77C4"/>
          </a:solidFill>
          <a:ln w="12700">
            <a:solidFill>
              <a:srgbClr val="8E77C4"/>
            </a:solidFill>
            <a:prstDash val="solid"/>
          </a:ln>
        </p:spPr>
      </p:sp>
      <p:sp>
        <p:nvSpPr>
          <p:cNvPr id="15" name="Text 13"/>
          <p:cNvSpPr/>
          <p:nvPr/>
        </p:nvSpPr>
        <p:spPr>
          <a:xfrm>
            <a:off x="8147304" y="4050792"/>
            <a:ext cx="342900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Frameworks, Ethics &amp; Your Week</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Three references we return to all term</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Bookmark them today. They come back in almost every module.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33</a:t>
            </a:r>
            <a:endParaRPr lang="en-US" sz="900" dirty="0"/>
          </a:p>
        </p:txBody>
      </p:sp>
      <p:sp>
        <p:nvSpPr>
          <p:cNvPr id="7" name="Shape 5"/>
          <p:cNvSpPr/>
          <p:nvPr/>
        </p:nvSpPr>
        <p:spPr>
          <a:xfrm>
            <a:off x="640080" y="1783080"/>
            <a:ext cx="3483864" cy="2103120"/>
          </a:xfrm>
          <a:prstGeom prst="roundRect">
            <a:avLst>
              <a:gd name="adj" fmla="val 3043"/>
            </a:avLst>
          </a:prstGeom>
          <a:solidFill>
            <a:srgbClr val="F1F5F8"/>
          </a:solidFill>
          <a:ln w="15875">
            <a:solidFill>
              <a:srgbClr val="553C7B"/>
            </a:solidFill>
            <a:prstDash val="solid"/>
          </a:ln>
        </p:spPr>
      </p:sp>
      <p:sp>
        <p:nvSpPr>
          <p:cNvPr id="8" name="Text 6"/>
          <p:cNvSpPr/>
          <p:nvPr/>
        </p:nvSpPr>
        <p:spPr>
          <a:xfrm>
            <a:off x="877824" y="1938528"/>
            <a:ext cx="3008376" cy="329184"/>
          </a:xfrm>
          <a:prstGeom prst="rect">
            <a:avLst/>
          </a:prstGeom>
          <a:noFill/>
          <a:ln/>
        </p:spPr>
        <p:txBody>
          <a:bodyPr wrap="square" lIns="0" tIns="0" rIns="0" bIns="0" rtlCol="0" anchor="ctr"/>
          <a:lstStyle/>
          <a:p>
            <a:pPr indent="0" marL="0">
              <a:buNone/>
            </a:pPr>
            <a:r>
              <a:rPr lang="en-US" sz="1700" b="1" dirty="0">
                <a:solidFill>
                  <a:srgbClr val="553C7B"/>
                </a:solidFill>
                <a:latin typeface="Cambria" pitchFamily="34" charset="0"/>
                <a:ea typeface="Cambria" pitchFamily="34" charset="-122"/>
                <a:cs typeface="Cambria" pitchFamily="34" charset="-120"/>
              </a:rPr>
              <a:t>MITRE ATLAS</a:t>
            </a:r>
            <a:endParaRPr lang="en-US" sz="1700" dirty="0"/>
          </a:p>
        </p:txBody>
      </p:sp>
      <p:sp>
        <p:nvSpPr>
          <p:cNvPr id="9" name="Text 7"/>
          <p:cNvSpPr/>
          <p:nvPr/>
        </p:nvSpPr>
        <p:spPr>
          <a:xfrm>
            <a:off x="877824" y="2286000"/>
            <a:ext cx="3008376" cy="384048"/>
          </a:xfrm>
          <a:prstGeom prst="rect">
            <a:avLst/>
          </a:prstGeom>
          <a:noFill/>
          <a:ln/>
        </p:spPr>
        <p:txBody>
          <a:bodyPr wrap="square" lIns="0" tIns="0" rIns="0" bIns="0" rtlCol="0" anchor="t"/>
          <a:lstStyle/>
          <a:p>
            <a:pPr indent="0" marL="0">
              <a:lnSpc>
                <a:spcPts val="1400"/>
              </a:lnSpc>
              <a:buNone/>
            </a:pPr>
            <a:r>
              <a:rPr lang="en-US" sz="1100" i="1" dirty="0">
                <a:solidFill>
                  <a:srgbClr val="5C7383"/>
                </a:solidFill>
                <a:latin typeface="Calibri" pitchFamily="34" charset="0"/>
                <a:ea typeface="Calibri" pitchFamily="34" charset="-122"/>
                <a:cs typeface="Calibri" pitchFamily="34" charset="-120"/>
              </a:rPr>
              <a:t>Adversarial threat landscape for AI systems</a:t>
            </a:r>
            <a:endParaRPr lang="en-US" sz="1100" dirty="0"/>
          </a:p>
        </p:txBody>
      </p:sp>
      <p:sp>
        <p:nvSpPr>
          <p:cNvPr id="10" name="Text 8"/>
          <p:cNvSpPr/>
          <p:nvPr/>
        </p:nvSpPr>
        <p:spPr>
          <a:xfrm>
            <a:off x="877824" y="2724912"/>
            <a:ext cx="3008376" cy="1005840"/>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A catalogue of tactics and techniques used against AI — deliberately structured like ATT&amp;CK, so it reads immediately if you know that.</a:t>
            </a:r>
            <a:endParaRPr lang="en-US" sz="1100" dirty="0"/>
          </a:p>
        </p:txBody>
      </p:sp>
      <p:sp>
        <p:nvSpPr>
          <p:cNvPr id="11" name="Shape 9"/>
          <p:cNvSpPr/>
          <p:nvPr/>
        </p:nvSpPr>
        <p:spPr>
          <a:xfrm>
            <a:off x="4352544" y="1783080"/>
            <a:ext cx="3483864" cy="2103120"/>
          </a:xfrm>
          <a:prstGeom prst="roundRect">
            <a:avLst>
              <a:gd name="adj" fmla="val 3043"/>
            </a:avLst>
          </a:prstGeom>
          <a:solidFill>
            <a:srgbClr val="F1F5F8"/>
          </a:solidFill>
          <a:ln w="15875">
            <a:solidFill>
              <a:srgbClr val="553C7B"/>
            </a:solidFill>
            <a:prstDash val="solid"/>
          </a:ln>
        </p:spPr>
      </p:sp>
      <p:sp>
        <p:nvSpPr>
          <p:cNvPr id="12" name="Text 10"/>
          <p:cNvSpPr/>
          <p:nvPr/>
        </p:nvSpPr>
        <p:spPr>
          <a:xfrm>
            <a:off x="4590288" y="1938528"/>
            <a:ext cx="3008376" cy="329184"/>
          </a:xfrm>
          <a:prstGeom prst="rect">
            <a:avLst/>
          </a:prstGeom>
          <a:noFill/>
          <a:ln/>
        </p:spPr>
        <p:txBody>
          <a:bodyPr wrap="square" lIns="0" tIns="0" rIns="0" bIns="0" rtlCol="0" anchor="ctr"/>
          <a:lstStyle/>
          <a:p>
            <a:pPr indent="0" marL="0">
              <a:buNone/>
            </a:pPr>
            <a:r>
              <a:rPr lang="en-US" sz="1700" b="1" dirty="0">
                <a:solidFill>
                  <a:srgbClr val="553C7B"/>
                </a:solidFill>
                <a:latin typeface="Cambria" pitchFamily="34" charset="0"/>
                <a:ea typeface="Cambria" pitchFamily="34" charset="-122"/>
                <a:cs typeface="Cambria" pitchFamily="34" charset="-120"/>
              </a:rPr>
              <a:t>NIST AI RMF</a:t>
            </a:r>
            <a:endParaRPr lang="en-US" sz="1700" dirty="0"/>
          </a:p>
        </p:txBody>
      </p:sp>
      <p:sp>
        <p:nvSpPr>
          <p:cNvPr id="13" name="Text 11"/>
          <p:cNvSpPr/>
          <p:nvPr/>
        </p:nvSpPr>
        <p:spPr>
          <a:xfrm>
            <a:off x="4590288" y="2286000"/>
            <a:ext cx="3008376" cy="384048"/>
          </a:xfrm>
          <a:prstGeom prst="rect">
            <a:avLst/>
          </a:prstGeom>
          <a:noFill/>
          <a:ln/>
        </p:spPr>
        <p:txBody>
          <a:bodyPr wrap="square" lIns="0" tIns="0" rIns="0" bIns="0" rtlCol="0" anchor="t"/>
          <a:lstStyle/>
          <a:p>
            <a:pPr indent="0" marL="0">
              <a:lnSpc>
                <a:spcPts val="1400"/>
              </a:lnSpc>
              <a:buNone/>
            </a:pPr>
            <a:r>
              <a:rPr lang="en-US" sz="1100" i="1" dirty="0">
                <a:solidFill>
                  <a:srgbClr val="5C7383"/>
                </a:solidFill>
                <a:latin typeface="Calibri" pitchFamily="34" charset="0"/>
                <a:ea typeface="Calibri" pitchFamily="34" charset="-122"/>
                <a:cs typeface="Calibri" pitchFamily="34" charset="-120"/>
              </a:rPr>
              <a:t>AI Risk Management Framework</a:t>
            </a:r>
            <a:endParaRPr lang="en-US" sz="1100" dirty="0"/>
          </a:p>
        </p:txBody>
      </p:sp>
      <p:sp>
        <p:nvSpPr>
          <p:cNvPr id="14" name="Text 12"/>
          <p:cNvSpPr/>
          <p:nvPr/>
        </p:nvSpPr>
        <p:spPr>
          <a:xfrm>
            <a:off x="4590288" y="2724912"/>
            <a:ext cx="3008376" cy="1005840"/>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The vocabulary for governing AI risk: govern, map, measure, manage. What you cite when someone asks how the risk was assessed.</a:t>
            </a:r>
            <a:endParaRPr lang="en-US" sz="1100" dirty="0"/>
          </a:p>
        </p:txBody>
      </p:sp>
      <p:sp>
        <p:nvSpPr>
          <p:cNvPr id="15" name="Shape 13"/>
          <p:cNvSpPr/>
          <p:nvPr/>
        </p:nvSpPr>
        <p:spPr>
          <a:xfrm>
            <a:off x="8065008" y="1783080"/>
            <a:ext cx="3483864" cy="2103120"/>
          </a:xfrm>
          <a:prstGeom prst="roundRect">
            <a:avLst>
              <a:gd name="adj" fmla="val 3043"/>
            </a:avLst>
          </a:prstGeom>
          <a:solidFill>
            <a:srgbClr val="F1F5F8"/>
          </a:solidFill>
          <a:ln w="15875">
            <a:solidFill>
              <a:srgbClr val="553C7B"/>
            </a:solidFill>
            <a:prstDash val="solid"/>
          </a:ln>
        </p:spPr>
      </p:sp>
      <p:sp>
        <p:nvSpPr>
          <p:cNvPr id="16" name="Text 14"/>
          <p:cNvSpPr/>
          <p:nvPr/>
        </p:nvSpPr>
        <p:spPr>
          <a:xfrm>
            <a:off x="8302752" y="1938528"/>
            <a:ext cx="3008376" cy="329184"/>
          </a:xfrm>
          <a:prstGeom prst="rect">
            <a:avLst/>
          </a:prstGeom>
          <a:noFill/>
          <a:ln/>
        </p:spPr>
        <p:txBody>
          <a:bodyPr wrap="square" lIns="0" tIns="0" rIns="0" bIns="0" rtlCol="0" anchor="ctr"/>
          <a:lstStyle/>
          <a:p>
            <a:pPr indent="0" marL="0">
              <a:buNone/>
            </a:pPr>
            <a:r>
              <a:rPr lang="en-US" sz="1700" b="1" dirty="0">
                <a:solidFill>
                  <a:srgbClr val="553C7B"/>
                </a:solidFill>
                <a:latin typeface="Cambria" pitchFamily="34" charset="0"/>
                <a:ea typeface="Cambria" pitchFamily="34" charset="-122"/>
                <a:cs typeface="Cambria" pitchFamily="34" charset="-120"/>
              </a:rPr>
              <a:t>OWASP</a:t>
            </a:r>
            <a:endParaRPr lang="en-US" sz="1700" dirty="0"/>
          </a:p>
        </p:txBody>
      </p:sp>
      <p:sp>
        <p:nvSpPr>
          <p:cNvPr id="17" name="Text 15"/>
          <p:cNvSpPr/>
          <p:nvPr/>
        </p:nvSpPr>
        <p:spPr>
          <a:xfrm>
            <a:off x="8302752" y="2286000"/>
            <a:ext cx="3008376" cy="384048"/>
          </a:xfrm>
          <a:prstGeom prst="rect">
            <a:avLst/>
          </a:prstGeom>
          <a:noFill/>
          <a:ln/>
        </p:spPr>
        <p:txBody>
          <a:bodyPr wrap="square" lIns="0" tIns="0" rIns="0" bIns="0" rtlCol="0" anchor="t"/>
          <a:lstStyle/>
          <a:p>
            <a:pPr indent="0" marL="0">
              <a:lnSpc>
                <a:spcPts val="1400"/>
              </a:lnSpc>
              <a:buNone/>
            </a:pPr>
            <a:r>
              <a:rPr lang="en-US" sz="1100" i="1" dirty="0">
                <a:solidFill>
                  <a:srgbClr val="5C7383"/>
                </a:solidFill>
                <a:latin typeface="Calibri" pitchFamily="34" charset="0"/>
                <a:ea typeface="Calibri" pitchFamily="34" charset="-122"/>
                <a:cs typeface="Calibri" pitchFamily="34" charset="-120"/>
              </a:rPr>
              <a:t>Top 10 for LLM Applications</a:t>
            </a:r>
            <a:endParaRPr lang="en-US" sz="1100" dirty="0"/>
          </a:p>
        </p:txBody>
      </p:sp>
      <p:sp>
        <p:nvSpPr>
          <p:cNvPr id="18" name="Text 16"/>
          <p:cNvSpPr/>
          <p:nvPr/>
        </p:nvSpPr>
        <p:spPr>
          <a:xfrm>
            <a:off x="8302752" y="2724912"/>
            <a:ext cx="3008376" cy="1005840"/>
          </a:xfrm>
          <a:prstGeom prst="rect">
            <a:avLst/>
          </a:prstGeom>
          <a:noFill/>
          <a:ln/>
        </p:spPr>
        <p:txBody>
          <a:bodyPr wrap="square" lIns="0" tIns="0" rIns="0" bIns="0" rtlCol="0" anchor="t"/>
          <a:lstStyle/>
          <a:p>
            <a:pPr indent="0" marL="0">
              <a:lnSpc>
                <a:spcPts val="1500"/>
              </a:lnSpc>
              <a:buNone/>
            </a:pPr>
            <a:r>
              <a:rPr lang="en-US" sz="1100" dirty="0">
                <a:solidFill>
                  <a:srgbClr val="1B2B36"/>
                </a:solidFill>
                <a:latin typeface="Calibri" pitchFamily="34" charset="0"/>
                <a:ea typeface="Calibri" pitchFamily="34" charset="-122"/>
                <a:cs typeface="Calibri" pitchFamily="34" charset="-120"/>
              </a:rPr>
              <a:t>The recurring application-level failures, with prompt injection at the top. Our checklist before anything ships.</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4096512"/>
          <a:ext cx="10908792" cy="914400"/>
        </p:xfrm>
        <a:graphic>
          <a:graphicData uri="http://schemas.openxmlformats.org/drawingml/2006/table">
            <a:tbl>
              <a:tblPr/>
              <a:tblGrid>
                <a:gridCol w="2377440"/>
                <a:gridCol w="4206240"/>
                <a:gridCol w="432511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Answers the question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Where it shows up in this course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MITRE ATLAS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How would someone attack this AI system?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Threat-modelling every mini-project; the adversarial-ML module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NIST AI RMF</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How do we govern and document the risk?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risk section of your capstone report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OWASP LLM Top 10</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What goes wrong in LLM applications specifically?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injection module, and every code review this term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Course roadmap at a glance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Four phases across sixteen weeks — each one builds on the toolchain you set up in the next module.</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640080" y="1847088"/>
            <a:ext cx="2528316" cy="1572768"/>
          </a:xfrm>
          <a:prstGeom prst="roundRect">
            <a:avLst>
              <a:gd name="adj" fmla="val 4070"/>
            </a:avLst>
          </a:prstGeom>
          <a:solidFill>
            <a:srgbClr val="FFFFFF"/>
          </a:solidFill>
          <a:ln w="19050">
            <a:solidFill>
              <a:srgbClr val="8E77C4"/>
            </a:solidFill>
            <a:prstDash val="solid"/>
          </a:ln>
        </p:spPr>
      </p:sp>
      <p:sp>
        <p:nvSpPr>
          <p:cNvPr id="8" name="Shape 6"/>
          <p:cNvSpPr/>
          <p:nvPr/>
        </p:nvSpPr>
        <p:spPr>
          <a:xfrm>
            <a:off x="640080" y="1847088"/>
            <a:ext cx="2528316" cy="64008"/>
          </a:xfrm>
          <a:prstGeom prst="rect">
            <a:avLst/>
          </a:prstGeom>
          <a:solidFill>
            <a:srgbClr val="8E77C4"/>
          </a:solidFill>
          <a:ln w="12700">
            <a:solidFill>
              <a:srgbClr val="8E77C4"/>
            </a:solidFill>
            <a:prstDash val="solid"/>
          </a:ln>
        </p:spPr>
      </p:sp>
      <p:sp>
        <p:nvSpPr>
          <p:cNvPr id="9" name="Text 7"/>
          <p:cNvSpPr/>
          <p:nvPr/>
        </p:nvSpPr>
        <p:spPr>
          <a:xfrm>
            <a:off x="841248" y="2011680"/>
            <a:ext cx="2125980" cy="219456"/>
          </a:xfrm>
          <a:prstGeom prst="rect">
            <a:avLst/>
          </a:prstGeom>
          <a:noFill/>
          <a:ln/>
        </p:spPr>
        <p:txBody>
          <a:bodyPr wrap="square" lIns="0" tIns="0" rIns="0" bIns="0" rtlCol="0" anchor="ctr"/>
          <a:lstStyle/>
          <a:p>
            <a:pPr indent="0" marL="0">
              <a:buNone/>
            </a:pPr>
            <a:r>
              <a:rPr lang="en-US" sz="950" b="1" spc="110" kern="0" dirty="0">
                <a:solidFill>
                  <a:srgbClr val="8E77C4"/>
                </a:solidFill>
                <a:latin typeface="Calibri" pitchFamily="34" charset="0"/>
                <a:ea typeface="Calibri" pitchFamily="34" charset="-122"/>
                <a:cs typeface="Calibri" pitchFamily="34" charset="-120"/>
              </a:rPr>
              <a:t>Weeks 1–3</a:t>
            </a:r>
            <a:endParaRPr lang="en-US" sz="950" dirty="0"/>
          </a:p>
        </p:txBody>
      </p:sp>
      <p:sp>
        <p:nvSpPr>
          <p:cNvPr id="10" name="Text 8"/>
          <p:cNvSpPr/>
          <p:nvPr/>
        </p:nvSpPr>
        <p:spPr>
          <a:xfrm>
            <a:off x="841248" y="2231136"/>
            <a:ext cx="2125980" cy="384048"/>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Foundations</a:t>
            </a:r>
            <a:endParaRPr lang="en-US" sz="1500" dirty="0"/>
          </a:p>
        </p:txBody>
      </p:sp>
      <p:sp>
        <p:nvSpPr>
          <p:cNvPr id="11" name="Text 9"/>
          <p:cNvSpPr/>
          <p:nvPr/>
        </p:nvSpPr>
        <p:spPr>
          <a:xfrm>
            <a:off x="841248" y="2670048"/>
            <a:ext cx="2125980" cy="676656"/>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This module · Tools &amp; Environment · LLMs on local and cloud</a:t>
            </a:r>
            <a:endParaRPr lang="en-US" sz="1050" dirty="0"/>
          </a:p>
        </p:txBody>
      </p:sp>
      <p:sp>
        <p:nvSpPr>
          <p:cNvPr id="12" name="Shape 10"/>
          <p:cNvSpPr/>
          <p:nvPr/>
        </p:nvSpPr>
        <p:spPr>
          <a:xfrm>
            <a:off x="3204972" y="2633472"/>
            <a:ext cx="192024" cy="0"/>
          </a:xfrm>
          <a:prstGeom prst="line">
            <a:avLst/>
          </a:prstGeom>
          <a:noFill/>
          <a:ln w="19050">
            <a:solidFill>
              <a:srgbClr val="C9D8E0"/>
            </a:solidFill>
            <a:prstDash val="solid"/>
            <a:tailEnd type="triangle"/>
          </a:ln>
        </p:spPr>
      </p:sp>
      <p:sp>
        <p:nvSpPr>
          <p:cNvPr id="13" name="Shape 11"/>
          <p:cNvSpPr/>
          <p:nvPr/>
        </p:nvSpPr>
        <p:spPr>
          <a:xfrm>
            <a:off x="3433572" y="1847088"/>
            <a:ext cx="2528316" cy="1572768"/>
          </a:xfrm>
          <a:prstGeom prst="roundRect">
            <a:avLst>
              <a:gd name="adj" fmla="val 4070"/>
            </a:avLst>
          </a:prstGeom>
          <a:solidFill>
            <a:srgbClr val="FFFFFF"/>
          </a:solidFill>
          <a:ln w="19050">
            <a:solidFill>
              <a:srgbClr val="553C7B"/>
            </a:solidFill>
            <a:prstDash val="solid"/>
          </a:ln>
        </p:spPr>
      </p:sp>
      <p:sp>
        <p:nvSpPr>
          <p:cNvPr id="14" name="Shape 12"/>
          <p:cNvSpPr/>
          <p:nvPr/>
        </p:nvSpPr>
        <p:spPr>
          <a:xfrm>
            <a:off x="3433572" y="1847088"/>
            <a:ext cx="2528316" cy="64008"/>
          </a:xfrm>
          <a:prstGeom prst="rect">
            <a:avLst/>
          </a:prstGeom>
          <a:solidFill>
            <a:srgbClr val="553C7B"/>
          </a:solidFill>
          <a:ln w="12700">
            <a:solidFill>
              <a:srgbClr val="553C7B"/>
            </a:solidFill>
            <a:prstDash val="solid"/>
          </a:ln>
        </p:spPr>
      </p:sp>
      <p:sp>
        <p:nvSpPr>
          <p:cNvPr id="15" name="Text 13"/>
          <p:cNvSpPr/>
          <p:nvPr/>
        </p:nvSpPr>
        <p:spPr>
          <a:xfrm>
            <a:off x="3634740" y="2011680"/>
            <a:ext cx="2125980" cy="219456"/>
          </a:xfrm>
          <a:prstGeom prst="rect">
            <a:avLst/>
          </a:prstGeom>
          <a:noFill/>
          <a:ln/>
        </p:spPr>
        <p:txBody>
          <a:bodyPr wrap="square" lIns="0" tIns="0" rIns="0" bIns="0" rtlCol="0" anchor="ctr"/>
          <a:lstStyle/>
          <a:p>
            <a:pPr indent="0" marL="0">
              <a:buNone/>
            </a:pPr>
            <a:r>
              <a:rPr lang="en-US" sz="950" b="1" spc="110" kern="0" dirty="0">
                <a:solidFill>
                  <a:srgbClr val="553C7B"/>
                </a:solidFill>
                <a:latin typeface="Calibri" pitchFamily="34" charset="0"/>
                <a:ea typeface="Calibri" pitchFamily="34" charset="-122"/>
                <a:cs typeface="Calibri" pitchFamily="34" charset="-120"/>
              </a:rPr>
              <a:t>Weeks 4–8</a:t>
            </a:r>
            <a:endParaRPr lang="en-US" sz="950" dirty="0"/>
          </a:p>
        </p:txBody>
      </p:sp>
      <p:sp>
        <p:nvSpPr>
          <p:cNvPr id="16" name="Text 14"/>
          <p:cNvSpPr/>
          <p:nvPr/>
        </p:nvSpPr>
        <p:spPr>
          <a:xfrm>
            <a:off x="3634740" y="2231136"/>
            <a:ext cx="2125980" cy="384048"/>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The modern stack</a:t>
            </a:r>
            <a:endParaRPr lang="en-US" sz="1500" dirty="0"/>
          </a:p>
        </p:txBody>
      </p:sp>
      <p:sp>
        <p:nvSpPr>
          <p:cNvPr id="17" name="Text 15"/>
          <p:cNvSpPr/>
          <p:nvPr/>
        </p:nvSpPr>
        <p:spPr>
          <a:xfrm>
            <a:off x="3634740" y="2670048"/>
            <a:ext cx="2125980" cy="676656"/>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RAG · LangChain · LangGraph · MCP</a:t>
            </a:r>
            <a:endParaRPr lang="en-US" sz="1050" dirty="0"/>
          </a:p>
        </p:txBody>
      </p:sp>
      <p:sp>
        <p:nvSpPr>
          <p:cNvPr id="18" name="Shape 16"/>
          <p:cNvSpPr/>
          <p:nvPr/>
        </p:nvSpPr>
        <p:spPr>
          <a:xfrm>
            <a:off x="5998464" y="2633472"/>
            <a:ext cx="192024" cy="0"/>
          </a:xfrm>
          <a:prstGeom prst="line">
            <a:avLst/>
          </a:prstGeom>
          <a:noFill/>
          <a:ln w="19050">
            <a:solidFill>
              <a:srgbClr val="C9D8E0"/>
            </a:solidFill>
            <a:prstDash val="solid"/>
            <a:tailEnd type="triangle"/>
          </a:ln>
        </p:spPr>
      </p:sp>
      <p:sp>
        <p:nvSpPr>
          <p:cNvPr id="19" name="Shape 17"/>
          <p:cNvSpPr/>
          <p:nvPr/>
        </p:nvSpPr>
        <p:spPr>
          <a:xfrm>
            <a:off x="6227064" y="1847088"/>
            <a:ext cx="2528316" cy="1572768"/>
          </a:xfrm>
          <a:prstGeom prst="roundRect">
            <a:avLst>
              <a:gd name="adj" fmla="val 4070"/>
            </a:avLst>
          </a:prstGeom>
          <a:solidFill>
            <a:srgbClr val="FFFFFF"/>
          </a:solidFill>
          <a:ln w="19050">
            <a:solidFill>
              <a:srgbClr val="12202B"/>
            </a:solidFill>
            <a:prstDash val="solid"/>
          </a:ln>
        </p:spPr>
      </p:sp>
      <p:sp>
        <p:nvSpPr>
          <p:cNvPr id="20" name="Shape 18"/>
          <p:cNvSpPr/>
          <p:nvPr/>
        </p:nvSpPr>
        <p:spPr>
          <a:xfrm>
            <a:off x="6227064" y="1847088"/>
            <a:ext cx="2528316" cy="64008"/>
          </a:xfrm>
          <a:prstGeom prst="rect">
            <a:avLst/>
          </a:prstGeom>
          <a:solidFill>
            <a:srgbClr val="12202B"/>
          </a:solidFill>
          <a:ln w="12700">
            <a:solidFill>
              <a:srgbClr val="12202B"/>
            </a:solidFill>
            <a:prstDash val="solid"/>
          </a:ln>
        </p:spPr>
      </p:sp>
      <p:sp>
        <p:nvSpPr>
          <p:cNvPr id="21" name="Text 19"/>
          <p:cNvSpPr/>
          <p:nvPr/>
        </p:nvSpPr>
        <p:spPr>
          <a:xfrm>
            <a:off x="6428232" y="2011680"/>
            <a:ext cx="2125980" cy="219456"/>
          </a:xfrm>
          <a:prstGeom prst="rect">
            <a:avLst/>
          </a:prstGeom>
          <a:noFill/>
          <a:ln/>
        </p:spPr>
        <p:txBody>
          <a:bodyPr wrap="square" lIns="0" tIns="0" rIns="0" bIns="0" rtlCol="0" anchor="ctr"/>
          <a:lstStyle/>
          <a:p>
            <a:pPr indent="0" marL="0">
              <a:buNone/>
            </a:pPr>
            <a:r>
              <a:rPr lang="en-US" sz="950" b="1" spc="110" kern="0" dirty="0">
                <a:solidFill>
                  <a:srgbClr val="12202B"/>
                </a:solidFill>
                <a:latin typeface="Calibri" pitchFamily="34" charset="0"/>
                <a:ea typeface="Calibri" pitchFamily="34" charset="-122"/>
                <a:cs typeface="Calibri" pitchFamily="34" charset="-120"/>
              </a:rPr>
              <a:t>Weeks 9–12</a:t>
            </a:r>
            <a:endParaRPr lang="en-US" sz="950" dirty="0"/>
          </a:p>
        </p:txBody>
      </p:sp>
      <p:sp>
        <p:nvSpPr>
          <p:cNvPr id="22" name="Text 20"/>
          <p:cNvSpPr/>
          <p:nvPr/>
        </p:nvSpPr>
        <p:spPr>
          <a:xfrm>
            <a:off x="6428232" y="2231136"/>
            <a:ext cx="2125980" cy="384048"/>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Offence &amp; build</a:t>
            </a:r>
            <a:endParaRPr lang="en-US" sz="1500" dirty="0"/>
          </a:p>
        </p:txBody>
      </p:sp>
      <p:sp>
        <p:nvSpPr>
          <p:cNvPr id="23" name="Text 21"/>
          <p:cNvSpPr/>
          <p:nvPr/>
        </p:nvSpPr>
        <p:spPr>
          <a:xfrm>
            <a:off x="6428232" y="2670048"/>
            <a:ext cx="2125980" cy="676656"/>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Orchestrated pen-test · vibe-coding a security app</a:t>
            </a:r>
            <a:endParaRPr lang="en-US" sz="1050" dirty="0"/>
          </a:p>
        </p:txBody>
      </p:sp>
      <p:sp>
        <p:nvSpPr>
          <p:cNvPr id="24" name="Shape 22"/>
          <p:cNvSpPr/>
          <p:nvPr/>
        </p:nvSpPr>
        <p:spPr>
          <a:xfrm>
            <a:off x="8791956" y="2633472"/>
            <a:ext cx="192024" cy="0"/>
          </a:xfrm>
          <a:prstGeom prst="line">
            <a:avLst/>
          </a:prstGeom>
          <a:noFill/>
          <a:ln w="19050">
            <a:solidFill>
              <a:srgbClr val="C9D8E0"/>
            </a:solidFill>
            <a:prstDash val="solid"/>
            <a:tailEnd type="triangle"/>
          </a:ln>
        </p:spPr>
      </p:sp>
      <p:sp>
        <p:nvSpPr>
          <p:cNvPr id="25" name="Shape 23"/>
          <p:cNvSpPr/>
          <p:nvPr/>
        </p:nvSpPr>
        <p:spPr>
          <a:xfrm>
            <a:off x="9020556" y="1847088"/>
            <a:ext cx="2528316" cy="1572768"/>
          </a:xfrm>
          <a:prstGeom prst="roundRect">
            <a:avLst>
              <a:gd name="adj" fmla="val 4070"/>
            </a:avLst>
          </a:prstGeom>
          <a:solidFill>
            <a:srgbClr val="FFFFFF"/>
          </a:solidFill>
          <a:ln w="19050">
            <a:solidFill>
              <a:srgbClr val="A4243B"/>
            </a:solidFill>
            <a:prstDash val="solid"/>
          </a:ln>
        </p:spPr>
      </p:sp>
      <p:sp>
        <p:nvSpPr>
          <p:cNvPr id="26" name="Shape 24"/>
          <p:cNvSpPr/>
          <p:nvPr/>
        </p:nvSpPr>
        <p:spPr>
          <a:xfrm>
            <a:off x="9020556" y="1847088"/>
            <a:ext cx="2528316" cy="64008"/>
          </a:xfrm>
          <a:prstGeom prst="rect">
            <a:avLst/>
          </a:prstGeom>
          <a:solidFill>
            <a:srgbClr val="A4243B"/>
          </a:solidFill>
          <a:ln w="12700">
            <a:solidFill>
              <a:srgbClr val="A4243B"/>
            </a:solidFill>
            <a:prstDash val="solid"/>
          </a:ln>
        </p:spPr>
      </p:sp>
      <p:sp>
        <p:nvSpPr>
          <p:cNvPr id="27" name="Text 25"/>
          <p:cNvSpPr/>
          <p:nvPr/>
        </p:nvSpPr>
        <p:spPr>
          <a:xfrm>
            <a:off x="9221724" y="2011680"/>
            <a:ext cx="2125980" cy="219456"/>
          </a:xfrm>
          <a:prstGeom prst="rect">
            <a:avLst/>
          </a:prstGeom>
          <a:noFill/>
          <a:ln/>
        </p:spPr>
        <p:txBody>
          <a:bodyPr wrap="square" lIns="0" tIns="0" rIns="0" bIns="0" rtlCol="0" anchor="ctr"/>
          <a:lstStyle/>
          <a:p>
            <a:pPr indent="0" marL="0">
              <a:buNone/>
            </a:pPr>
            <a:r>
              <a:rPr lang="en-US" sz="950" b="1" spc="110" kern="0" dirty="0">
                <a:solidFill>
                  <a:srgbClr val="A4243B"/>
                </a:solidFill>
                <a:latin typeface="Calibri" pitchFamily="34" charset="0"/>
                <a:ea typeface="Calibri" pitchFamily="34" charset="-122"/>
                <a:cs typeface="Calibri" pitchFamily="34" charset="-120"/>
              </a:rPr>
              <a:t>Weeks 13–16</a:t>
            </a:r>
            <a:endParaRPr lang="en-US" sz="950" dirty="0"/>
          </a:p>
        </p:txBody>
      </p:sp>
      <p:sp>
        <p:nvSpPr>
          <p:cNvPr id="28" name="Text 26"/>
          <p:cNvSpPr/>
          <p:nvPr/>
        </p:nvSpPr>
        <p:spPr>
          <a:xfrm>
            <a:off x="9221724" y="2231136"/>
            <a:ext cx="2125980" cy="384048"/>
          </a:xfrm>
          <a:prstGeom prst="rect">
            <a:avLst/>
          </a:prstGeom>
          <a:noFill/>
          <a:ln/>
        </p:spPr>
        <p:txBody>
          <a:bodyPr wrap="square" lIns="0" tIns="0" rIns="0" bIns="0" rtlCol="0" anchor="ctr"/>
          <a:lstStyle/>
          <a:p>
            <a:pPr indent="0" marL="0">
              <a:buNone/>
            </a:pPr>
            <a:r>
              <a:rPr lang="en-US" sz="1500" b="1" dirty="0">
                <a:solidFill>
                  <a:srgbClr val="12202B"/>
                </a:solidFill>
                <a:latin typeface="Cambria" pitchFamily="34" charset="0"/>
                <a:ea typeface="Cambria" pitchFamily="34" charset="-122"/>
                <a:cs typeface="Cambria" pitchFamily="34" charset="-120"/>
              </a:rPr>
              <a:t>ML, DL &amp; capstone</a:t>
            </a:r>
            <a:endParaRPr lang="en-US" sz="1500" dirty="0"/>
          </a:p>
        </p:txBody>
      </p:sp>
      <p:sp>
        <p:nvSpPr>
          <p:cNvPr id="29" name="Text 27"/>
          <p:cNvSpPr/>
          <p:nvPr/>
        </p:nvSpPr>
        <p:spPr>
          <a:xfrm>
            <a:off x="9221724" y="2670048"/>
            <a:ext cx="2125980" cy="676656"/>
          </a:xfrm>
          <a:prstGeom prst="rect">
            <a:avLst/>
          </a:prstGeom>
          <a:noFill/>
          <a:ln/>
        </p:spPr>
        <p:txBody>
          <a:bodyPr wrap="square" lIns="0" tIns="0" rIns="0" bIns="0" rtlCol="0" anchor="t"/>
          <a:lstStyle/>
          <a:p>
            <a:pPr indent="0" marL="0">
              <a:lnSpc>
                <a:spcPts val="1400"/>
              </a:lnSpc>
              <a:buNone/>
            </a:pPr>
            <a:r>
              <a:rPr lang="en-US" sz="1050" dirty="0">
                <a:solidFill>
                  <a:srgbClr val="1B2B36"/>
                </a:solidFill>
                <a:latin typeface="Calibri" pitchFamily="34" charset="0"/>
                <a:ea typeface="Calibri" pitchFamily="34" charset="-122"/>
                <a:cs typeface="Calibri" pitchFamily="34" charset="-120"/>
              </a:rPr>
              <a:t>Classic ML · deep learning for detection · the ML capstone</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3657600"/>
          <a:ext cx="10908792" cy="914400"/>
        </p:xfrm>
        <a:graphic>
          <a:graphicData uri="http://schemas.openxmlformats.org/drawingml/2006/table">
            <a:tbl>
              <a:tblPr/>
              <a:tblGrid>
                <a:gridCol w="2377440"/>
                <a:gridCol w="4572000"/>
                <a:gridCol w="39593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you are assessed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asks of you</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 am looking for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Labs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Stand the thing up and prove it runs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Evidence it worked on your machine, not a copied screenshot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Discussion forum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One insight, in your own words, plus two replies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Your understanding — not a paste from a model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Seven mini-projects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Build something small that answers a security question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Design choices you can defend, and honest limitations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Capstone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An end-to-end ML security project with a written report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five criteria from Part 2, applied to your own work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Ethics and responsible use — from day one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These apply from today through the capstone. Two of them carry legal weight.</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36</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3200400"/>
                <a:gridCol w="4206240"/>
                <a:gridCol w="3502152"/>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means concretely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Work only in isolated labs, or on apps you built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Your Kali VM, the provided targets, your own code. Never a live system you do not own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Unauthorised scanning or access can violate the CFAA and equivalent laws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Use synthetic or provided data</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Never real PII, secrets, credentials or live incident data in a prompt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cloud model call is third-party processing — treat prompts as retained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Keep keys out of code and commits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.env file that .gitignore excludes; Colab Secrets in notebooks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Public repos are scanned within minutes; history keeps a leaked key forever</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Rotate anything that leaks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Immediately, before you finish investigating how</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window between exposure and rotation is the whole risk</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Set spend limits on paid APIs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hard cap in the provider console, today</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A runaway loop is a real and common way to lose a term's budget</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8" name="Shape 5"/>
          <p:cNvSpPr/>
          <p:nvPr/>
        </p:nvSpPr>
        <p:spPr>
          <a:xfrm>
            <a:off x="640080" y="4846320"/>
            <a:ext cx="10908792" cy="1005840"/>
          </a:xfrm>
          <a:prstGeom prst="roundRect">
            <a:avLst>
              <a:gd name="adj" fmla="val 5455"/>
            </a:avLst>
          </a:prstGeom>
          <a:solidFill>
            <a:srgbClr val="F7E5E8"/>
          </a:solidFill>
          <a:ln w="9525">
            <a:solidFill>
              <a:srgbClr val="A4243B"/>
            </a:solidFill>
            <a:prstDash val="solid"/>
          </a:ln>
        </p:spPr>
      </p:sp>
      <p:sp>
        <p:nvSpPr>
          <p:cNvPr id="9" name="Text 6"/>
          <p:cNvSpPr/>
          <p:nvPr/>
        </p:nvSpPr>
        <p:spPr>
          <a:xfrm>
            <a:off x="859536" y="4937760"/>
            <a:ext cx="10469880" cy="822960"/>
          </a:xfrm>
          <a:prstGeom prst="rect">
            <a:avLst/>
          </a:prstGeom>
          <a:noFill/>
          <a:ln/>
        </p:spPr>
        <p:txBody>
          <a:bodyPr wrap="square" lIns="0" tIns="0" rIns="0" bIns="0" rtlCol="0" anchor="ctr"/>
          <a:lstStyle/>
          <a:p>
            <a:pPr indent="0" marL="0">
              <a:lnSpc>
                <a:spcPts val="1680"/>
              </a:lnSpc>
              <a:buNone/>
            </a:pPr>
            <a:r>
              <a:rPr lang="en-US" sz="1200" b="1" dirty="0">
                <a:solidFill>
                  <a:srgbClr val="A4243B"/>
                </a:solidFill>
                <a:latin typeface="Calibri" pitchFamily="34" charset="0"/>
                <a:ea typeface="Calibri" pitchFamily="34" charset="-122"/>
                <a:cs typeface="Calibri" pitchFamily="34" charset="-120"/>
              </a:rPr>
              <a:t>The two that catch good students: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pointing a tool at your employer's network to make a project feel realistic, and pasting a real incident log into a model to get better help. Both are done with good intentions. Both are serious. If you are ever unsure whether something is in scope, ask me first — that costs you a day, and the alternative can cost considerably more.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Your week — and what comes next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One required task, one short self-check, and an optional run of the notebook.</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37</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406640" cy="914400"/>
        </p:xfrm>
        <a:graphic>
          <a:graphicData uri="http://schemas.openxmlformats.org/drawingml/2006/table">
            <a:tbl>
              <a:tblPr/>
              <a:tblGrid>
                <a:gridCol w="457200"/>
                <a:gridCol w="3017520"/>
                <a:gridCol w="2194560"/>
                <a:gridCol w="1737360"/>
              </a:tblGrid>
              <a:tr h="0">
                <a:tc>
                  <a:txBody>
                    <a:bodyPr/>
                    <a:lstStyle/>
                    <a:p>
                      <a:pPr algn="l" indent="0" marL="0">
                        <a:buNone/>
                      </a:pP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Do this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involves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12202B"/>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Watch this lecture and the lab demonstration</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 recording and the demo walkthrough</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Onboarding assignment on the forum</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Introduce yourself, then reply to two classmates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 graded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Python reading self-check (1–5)</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Five short snippets; say what each one does</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Yes — ungraded</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Start the recommended Python review</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Only if the self-check felt uncomfortable</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1F5F8"/>
                    </a:solidFill>
                  </a:tcPr>
                </a:tc>
              </a:tr>
              <a:tr h="0">
                <a:tc>
                  <a:txBody>
                    <a:bodyPr/>
                    <a:lstStyle/>
                    <a:p>
                      <a:pPr algn="l" indent="0" marL="0">
                        <a:buNone/>
                      </a:pPr>
                      <a:r>
                        <a:rPr lang="en-US" sz="1050" b="1" dirty="0">
                          <a:solidFill>
                            <a:srgbClr val="12202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Run the triage notebook yourself</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Then post how it went, and anything that surprised you</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B2B36"/>
                          </a:solidFill>
                          <a:latin typeface="Calibri" pitchFamily="34" charset="0"/>
                          <a:ea typeface="Calibri" pitchFamily="34" charset="-122"/>
                          <a:cs typeface="Calibri" pitchFamily="34" charset="-120"/>
                        </a:rPr>
                        <a:t>Optional</a:t>
                      </a:r>
                      <a:endParaRPr lang="en-US" sz="1050" dirty="0">
                        <a:latin typeface="Calibri" charset="0"/>
                        <a:ea typeface="Calibri" charset="0"/>
                        <a:cs typeface="Calibri" charset="0"/>
                      </a:endParaRPr>
                    </a:p>
                  </a:txBody>
                  <a:tcPr marL="114300" marR="114300" marT="76200" marB="76200" anchor="ctr">
                    <a:lnL w="6350" cap="flat" cmpd="sng" algn="ctr">
                      <a:solidFill>
                        <a:srgbClr val="C9D8E0"/>
                      </a:solidFill>
                      <a:prstDash val="solid"/>
                      <a:round/>
                      <a:headEnd type="none" w="med" len="med"/>
                      <a:tailEnd type="none" w="med" len="med"/>
                    </a:lnL>
                    <a:lnR w="6350" cap="flat" cmpd="sng" algn="ctr">
                      <a:solidFill>
                        <a:srgbClr val="C9D8E0"/>
                      </a:solidFill>
                      <a:prstDash val="solid"/>
                      <a:round/>
                      <a:headEnd type="none" w="med" len="med"/>
                      <a:tailEnd type="none" w="med" len="med"/>
                    </a:lnR>
                    <a:lnT w="6350" cap="flat" cmpd="sng" algn="ctr">
                      <a:solidFill>
                        <a:srgbClr val="C9D8E0"/>
                      </a:solidFill>
                      <a:prstDash val="solid"/>
                      <a:round/>
                      <a:headEnd type="none" w="med" len="med"/>
                      <a:tailEnd type="none" w="med" len="med"/>
                    </a:lnT>
                    <a:lnB w="6350" cap="flat" cmpd="sng" algn="ctr">
                      <a:solidFill>
                        <a:srgbClr val="C9D8E0"/>
                      </a:solidFill>
                      <a:prstDash val="solid"/>
                      <a:round/>
                      <a:headEnd type="none" w="med" len="med"/>
                      <a:tailEnd type="none" w="med" len="med"/>
                    </a:lnB>
                    <a:solidFill>
                      <a:srgbClr val="FFFFFF"/>
                    </a:solidFill>
                  </a:tcPr>
                </a:tc>
              </a:tr>
            </a:tbl>
          </a:graphicData>
        </a:graphic>
      </p:graphicFrame>
      <p:sp>
        <p:nvSpPr>
          <p:cNvPr id="8" name="Shape 5"/>
          <p:cNvSpPr/>
          <p:nvPr/>
        </p:nvSpPr>
        <p:spPr>
          <a:xfrm>
            <a:off x="8275320" y="1783080"/>
            <a:ext cx="3273552" cy="2304288"/>
          </a:xfrm>
          <a:prstGeom prst="roundRect">
            <a:avLst>
              <a:gd name="adj" fmla="val 2778"/>
            </a:avLst>
          </a:prstGeom>
          <a:solidFill>
            <a:srgbClr val="F1F5F8"/>
          </a:solidFill>
          <a:ln w="9525">
            <a:solidFill>
              <a:srgbClr val="C9D8E0"/>
            </a:solidFill>
            <a:prstDash val="solid"/>
          </a:ln>
        </p:spPr>
      </p:sp>
      <p:sp>
        <p:nvSpPr>
          <p:cNvPr id="9" name="Text 6"/>
          <p:cNvSpPr/>
          <p:nvPr/>
        </p:nvSpPr>
        <p:spPr>
          <a:xfrm>
            <a:off x="8531352" y="1965960"/>
            <a:ext cx="2761488"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Next module — Tools &amp; Environment</a:t>
            </a:r>
            <a:endParaRPr lang="en-US" sz="1450" dirty="0"/>
          </a:p>
        </p:txBody>
      </p:sp>
      <p:sp>
        <p:nvSpPr>
          <p:cNvPr id="10" name="Text 7"/>
          <p:cNvSpPr/>
          <p:nvPr/>
        </p:nvSpPr>
        <p:spPr>
          <a:xfrm>
            <a:off x="8531352" y="2441448"/>
            <a:ext cx="2761488" cy="1444752"/>
          </a:xfrm>
          <a:prstGeom prst="rect">
            <a:avLst/>
          </a:prstGeom>
          <a:noFill/>
          <a:ln/>
        </p:spPr>
        <p:txBody>
          <a:bodyPr wrap="square" lIns="0" tIns="0" rIns="0" bIns="0" rtlCol="0" anchor="t"/>
          <a:lstStyle/>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You stand up the toolchain you will use all semester: editor, Python, notebooks, Git, secrets handling, and the isolated security lab.</a:t>
            </a:r>
            <a:endParaRPr lang="en-US" sz="1100" dirty="0"/>
          </a:p>
          <a:p>
            <a:pPr indent="0" marL="0">
              <a:lnSpc>
                <a:spcPts val="1562"/>
              </a:lnSpc>
              <a:buNone/>
            </a:pPr>
            <a:endParaRPr lang="en-US" sz="1100" dirty="0"/>
          </a:p>
          <a:p>
            <a:pPr indent="0" marL="0">
              <a:lnSpc>
                <a:spcPts val="1562"/>
              </a:lnSpc>
              <a:buNone/>
            </a:pPr>
            <a:r>
              <a:rPr lang="en-US" sz="1100" dirty="0">
                <a:solidFill>
                  <a:srgbClr val="1B2B36"/>
                </a:solidFill>
                <a:latin typeface="Calibri" pitchFamily="34" charset="0"/>
                <a:ea typeface="Calibri" pitchFamily="34" charset="-122"/>
                <a:cs typeface="Calibri" pitchFamily="34" charset="-120"/>
              </a:rPr>
              <a:t>Plus, optionally, a free cloud GPU VM through NAIRR.</a:t>
            </a:r>
            <a:endParaRPr lang="en-US" sz="1100" dirty="0"/>
          </a:p>
        </p:txBody>
      </p:sp>
      <p:sp>
        <p:nvSpPr>
          <p:cNvPr id="11" name="Shape 8"/>
          <p:cNvSpPr/>
          <p:nvPr/>
        </p:nvSpPr>
        <p:spPr>
          <a:xfrm>
            <a:off x="8275320" y="4279392"/>
            <a:ext cx="3273552" cy="1225296"/>
          </a:xfrm>
          <a:prstGeom prst="roundRect">
            <a:avLst>
              <a:gd name="adj" fmla="val 4478"/>
            </a:avLst>
          </a:prstGeom>
          <a:solidFill>
            <a:srgbClr val="E8E3F2"/>
          </a:solidFill>
          <a:ln w="9525">
            <a:solidFill>
              <a:srgbClr val="553C7B"/>
            </a:solidFill>
            <a:prstDash val="solid"/>
          </a:ln>
        </p:spPr>
      </p:sp>
      <p:sp>
        <p:nvSpPr>
          <p:cNvPr id="12" name="Text 9"/>
          <p:cNvSpPr/>
          <p:nvPr/>
        </p:nvSpPr>
        <p:spPr>
          <a:xfrm>
            <a:off x="8494776" y="4370832"/>
            <a:ext cx="2834640" cy="1042416"/>
          </a:xfrm>
          <a:prstGeom prst="rect">
            <a:avLst/>
          </a:prstGeom>
          <a:noFill/>
          <a:ln/>
        </p:spPr>
        <p:txBody>
          <a:bodyPr wrap="square" lIns="0" tIns="0" rIns="0" bIns="0" rtlCol="0" anchor="ctr"/>
          <a:lstStyle/>
          <a:p>
            <a:pPr indent="0" marL="0">
              <a:lnSpc>
                <a:spcPts val="1540"/>
              </a:lnSpc>
              <a:buNone/>
            </a:pPr>
            <a:r>
              <a:rPr lang="en-US" sz="1100" b="1" dirty="0">
                <a:solidFill>
                  <a:srgbClr val="553C7B"/>
                </a:solidFill>
                <a:latin typeface="Calibri" pitchFamily="34" charset="0"/>
                <a:ea typeface="Calibri" pitchFamily="34" charset="-122"/>
                <a:cs typeface="Calibri" pitchFamily="34" charset="-120"/>
              </a:rPr>
              <a:t>Do the forum post early.  </a:t>
            </a:r>
            <a:pPr indent="0" marL="0">
              <a:lnSpc>
                <a:spcPts val="1540"/>
              </a:lnSpc>
              <a:buNone/>
            </a:pPr>
            <a:r>
              <a:rPr lang="en-US" sz="1100" dirty="0">
                <a:solidFill>
                  <a:srgbClr val="12202B"/>
                </a:solidFill>
                <a:latin typeface="Calibri" pitchFamily="34" charset="0"/>
                <a:ea typeface="Calibri" pitchFamily="34" charset="-122"/>
                <a:cs typeface="Calibri" pitchFamily="34" charset="-120"/>
              </a:rPr>
              <a:t>The replies are the point, and they only work if people have posted before the end of the week.</a:t>
            </a:r>
            <a:endParaRPr lang="en-US" sz="1100" dirty="0"/>
          </a:p>
        </p:txBody>
      </p:sp>
      <p:sp>
        <p:nvSpPr>
          <p:cNvPr id="13" name="Shape 10"/>
          <p:cNvSpPr/>
          <p:nvPr/>
        </p:nvSpPr>
        <p:spPr>
          <a:xfrm>
            <a:off x="640080" y="4617720"/>
            <a:ext cx="7406640" cy="1234440"/>
          </a:xfrm>
          <a:prstGeom prst="roundRect">
            <a:avLst>
              <a:gd name="adj" fmla="val 4444"/>
            </a:avLst>
          </a:prstGeom>
          <a:solidFill>
            <a:srgbClr val="E8E3F2"/>
          </a:solidFill>
          <a:ln w="9525">
            <a:solidFill>
              <a:srgbClr val="553C7B"/>
            </a:solidFill>
            <a:prstDash val="solid"/>
          </a:ln>
        </p:spPr>
      </p:sp>
      <p:sp>
        <p:nvSpPr>
          <p:cNvPr id="14" name="Text 11"/>
          <p:cNvSpPr/>
          <p:nvPr/>
        </p:nvSpPr>
        <p:spPr>
          <a:xfrm>
            <a:off x="859536" y="4709160"/>
            <a:ext cx="6967728" cy="1051560"/>
          </a:xfrm>
          <a:prstGeom prst="rect">
            <a:avLst/>
          </a:prstGeom>
          <a:noFill/>
          <a:ln/>
        </p:spPr>
        <p:txBody>
          <a:bodyPr wrap="square" lIns="0" tIns="0" rIns="0" bIns="0" rtlCol="0" anchor="ctr"/>
          <a:lstStyle/>
          <a:p>
            <a:pPr indent="0" marL="0">
              <a:lnSpc>
                <a:spcPts val="1610"/>
              </a:lnSpc>
              <a:buNone/>
            </a:pPr>
            <a:r>
              <a:rPr lang="en-US" sz="1150" b="1" dirty="0">
                <a:solidFill>
                  <a:srgbClr val="553C7B"/>
                </a:solidFill>
                <a:latin typeface="Calibri" pitchFamily="34" charset="0"/>
                <a:ea typeface="Calibri" pitchFamily="34" charset="-122"/>
                <a:cs typeface="Calibri" pitchFamily="34" charset="-120"/>
              </a:rPr>
              <a:t>On the self-check: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it is ungraded and I never see individual answers — it exists so you can calibrate. If three of the five snippets are opaque to you, that is useful information and the review will fix it in an afternoon. If all five are obvious, skip Part 4 entirely and spend the time on the forum instead.</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How to succeed in this course</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Five habits that separate the students who finish strong.</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38</a:t>
            </a:r>
            <a:endParaRPr lang="en-US" sz="900" dirty="0"/>
          </a:p>
        </p:txBody>
      </p:sp>
      <p:sp>
        <p:nvSpPr>
          <p:cNvPr id="7" name="Shape 5"/>
          <p:cNvSpPr/>
          <p:nvPr/>
        </p:nvSpPr>
        <p:spPr>
          <a:xfrm>
            <a:off x="640080" y="1783080"/>
            <a:ext cx="3483864" cy="1874520"/>
          </a:xfrm>
          <a:prstGeom prst="roundRect">
            <a:avLst>
              <a:gd name="adj" fmla="val 3415"/>
            </a:avLst>
          </a:prstGeom>
          <a:solidFill>
            <a:srgbClr val="F1F5F8"/>
          </a:solidFill>
          <a:ln w="9525">
            <a:solidFill>
              <a:srgbClr val="C9D8E0"/>
            </a:solidFill>
            <a:prstDash val="solid"/>
          </a:ln>
        </p:spPr>
      </p:sp>
      <p:sp>
        <p:nvSpPr>
          <p:cNvPr id="8" name="Shape 6"/>
          <p:cNvSpPr/>
          <p:nvPr/>
        </p:nvSpPr>
        <p:spPr>
          <a:xfrm>
            <a:off x="859536" y="1984248"/>
            <a:ext cx="384048" cy="384048"/>
          </a:xfrm>
          <a:prstGeom prst="ellipse">
            <a:avLst/>
          </a:prstGeom>
          <a:solidFill>
            <a:srgbClr val="553C7B"/>
          </a:solidFill>
          <a:ln w="12700">
            <a:solidFill>
              <a:srgbClr val="553C7B"/>
            </a:solidFill>
            <a:prstDash val="solid"/>
          </a:ln>
        </p:spPr>
      </p:sp>
      <p:sp>
        <p:nvSpPr>
          <p:cNvPr id="9" name="Text 7"/>
          <p:cNvSpPr/>
          <p:nvPr/>
        </p:nvSpPr>
        <p:spPr>
          <a:xfrm>
            <a:off x="859536"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1965960"/>
            <a:ext cx="252374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Run everything yourself</a:t>
            </a:r>
            <a:endParaRPr lang="en-US" sz="1450" dirty="0"/>
          </a:p>
        </p:txBody>
      </p:sp>
      <p:sp>
        <p:nvSpPr>
          <p:cNvPr id="11" name="Text 9"/>
          <p:cNvSpPr/>
          <p:nvPr/>
        </p:nvSpPr>
        <p:spPr>
          <a:xfrm>
            <a:off x="896112" y="2441448"/>
            <a:ext cx="2971800" cy="1014984"/>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Reading a notebook is not the same as running it. The errors are where the learning is.</a:t>
            </a:r>
            <a:endParaRPr lang="en-US" sz="1150" dirty="0"/>
          </a:p>
        </p:txBody>
      </p:sp>
      <p:sp>
        <p:nvSpPr>
          <p:cNvPr id="12" name="Shape 10"/>
          <p:cNvSpPr/>
          <p:nvPr/>
        </p:nvSpPr>
        <p:spPr>
          <a:xfrm>
            <a:off x="4352544" y="1783080"/>
            <a:ext cx="3483864" cy="1874520"/>
          </a:xfrm>
          <a:prstGeom prst="roundRect">
            <a:avLst>
              <a:gd name="adj" fmla="val 3415"/>
            </a:avLst>
          </a:prstGeom>
          <a:solidFill>
            <a:srgbClr val="F1F5F8"/>
          </a:solidFill>
          <a:ln w="9525">
            <a:solidFill>
              <a:srgbClr val="C9D8E0"/>
            </a:solidFill>
            <a:prstDash val="solid"/>
          </a:ln>
        </p:spPr>
      </p:sp>
      <p:sp>
        <p:nvSpPr>
          <p:cNvPr id="13" name="Shape 11"/>
          <p:cNvSpPr/>
          <p:nvPr/>
        </p:nvSpPr>
        <p:spPr>
          <a:xfrm>
            <a:off x="4572000" y="1984248"/>
            <a:ext cx="384048" cy="384048"/>
          </a:xfrm>
          <a:prstGeom prst="ellipse">
            <a:avLst/>
          </a:prstGeom>
          <a:solidFill>
            <a:srgbClr val="553C7B"/>
          </a:solidFill>
          <a:ln w="12700">
            <a:solidFill>
              <a:srgbClr val="553C7B"/>
            </a:solidFill>
            <a:prstDash val="solid"/>
          </a:ln>
        </p:spPr>
      </p:sp>
      <p:sp>
        <p:nvSpPr>
          <p:cNvPr id="14" name="Text 12"/>
          <p:cNvSpPr/>
          <p:nvPr/>
        </p:nvSpPr>
        <p:spPr>
          <a:xfrm>
            <a:off x="4572000"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084064" y="1965960"/>
            <a:ext cx="252374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Break it on purpose</a:t>
            </a:r>
            <a:endParaRPr lang="en-US" sz="1450" dirty="0"/>
          </a:p>
        </p:txBody>
      </p:sp>
      <p:sp>
        <p:nvSpPr>
          <p:cNvPr id="16" name="Text 14"/>
          <p:cNvSpPr/>
          <p:nvPr/>
        </p:nvSpPr>
        <p:spPr>
          <a:xfrm>
            <a:off x="4608576" y="2441448"/>
            <a:ext cx="2971800" cy="1014984"/>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Change a parameter, feed it bad input, see what happens. Curiosity beats completion.</a:t>
            </a:r>
            <a:endParaRPr lang="en-US" sz="1150" dirty="0"/>
          </a:p>
        </p:txBody>
      </p:sp>
      <p:sp>
        <p:nvSpPr>
          <p:cNvPr id="17" name="Shape 15"/>
          <p:cNvSpPr/>
          <p:nvPr/>
        </p:nvSpPr>
        <p:spPr>
          <a:xfrm>
            <a:off x="8065008" y="1783080"/>
            <a:ext cx="3483864" cy="1874520"/>
          </a:xfrm>
          <a:prstGeom prst="roundRect">
            <a:avLst>
              <a:gd name="adj" fmla="val 3415"/>
            </a:avLst>
          </a:prstGeom>
          <a:solidFill>
            <a:srgbClr val="F1F5F8"/>
          </a:solidFill>
          <a:ln w="9525">
            <a:solidFill>
              <a:srgbClr val="C9D8E0"/>
            </a:solidFill>
            <a:prstDash val="solid"/>
          </a:ln>
        </p:spPr>
      </p:sp>
      <p:sp>
        <p:nvSpPr>
          <p:cNvPr id="18" name="Shape 16"/>
          <p:cNvSpPr/>
          <p:nvPr/>
        </p:nvSpPr>
        <p:spPr>
          <a:xfrm>
            <a:off x="8284464" y="1984248"/>
            <a:ext cx="384048" cy="384048"/>
          </a:xfrm>
          <a:prstGeom prst="ellipse">
            <a:avLst/>
          </a:prstGeom>
          <a:solidFill>
            <a:srgbClr val="553C7B"/>
          </a:solidFill>
          <a:ln w="12700">
            <a:solidFill>
              <a:srgbClr val="553C7B"/>
            </a:solidFill>
            <a:prstDash val="solid"/>
          </a:ln>
        </p:spPr>
      </p:sp>
      <p:sp>
        <p:nvSpPr>
          <p:cNvPr id="19" name="Text 17"/>
          <p:cNvSpPr/>
          <p:nvPr/>
        </p:nvSpPr>
        <p:spPr>
          <a:xfrm>
            <a:off x="8284464"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796528" y="1965960"/>
            <a:ext cx="252374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Verify before you submit</a:t>
            </a:r>
            <a:endParaRPr lang="en-US" sz="1450" dirty="0"/>
          </a:p>
        </p:txBody>
      </p:sp>
      <p:sp>
        <p:nvSpPr>
          <p:cNvPr id="21" name="Text 19"/>
          <p:cNvSpPr/>
          <p:nvPr/>
        </p:nvSpPr>
        <p:spPr>
          <a:xfrm>
            <a:off x="8321040" y="2441448"/>
            <a:ext cx="2971800" cy="1014984"/>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Every CVE, every command, every statistic. An unverified claim costs marks.</a:t>
            </a:r>
            <a:endParaRPr lang="en-US" sz="1150" dirty="0"/>
          </a:p>
        </p:txBody>
      </p:sp>
      <p:sp>
        <p:nvSpPr>
          <p:cNvPr id="22" name="Shape 20"/>
          <p:cNvSpPr/>
          <p:nvPr/>
        </p:nvSpPr>
        <p:spPr>
          <a:xfrm>
            <a:off x="640080" y="3867912"/>
            <a:ext cx="3483864" cy="1874520"/>
          </a:xfrm>
          <a:prstGeom prst="roundRect">
            <a:avLst>
              <a:gd name="adj" fmla="val 3415"/>
            </a:avLst>
          </a:prstGeom>
          <a:solidFill>
            <a:srgbClr val="F1F5F8"/>
          </a:solidFill>
          <a:ln w="9525">
            <a:solidFill>
              <a:srgbClr val="C9D8E0"/>
            </a:solidFill>
            <a:prstDash val="solid"/>
          </a:ln>
        </p:spPr>
      </p:sp>
      <p:sp>
        <p:nvSpPr>
          <p:cNvPr id="23" name="Shape 21"/>
          <p:cNvSpPr/>
          <p:nvPr/>
        </p:nvSpPr>
        <p:spPr>
          <a:xfrm>
            <a:off x="859536" y="4069080"/>
            <a:ext cx="384048" cy="384048"/>
          </a:xfrm>
          <a:prstGeom prst="ellipse">
            <a:avLst/>
          </a:prstGeom>
          <a:solidFill>
            <a:srgbClr val="553C7B"/>
          </a:solidFill>
          <a:ln w="12700">
            <a:solidFill>
              <a:srgbClr val="553C7B"/>
            </a:solidFill>
            <a:prstDash val="solid"/>
          </a:ln>
        </p:spPr>
      </p:sp>
      <p:sp>
        <p:nvSpPr>
          <p:cNvPr id="24" name="Text 22"/>
          <p:cNvSpPr/>
          <p:nvPr/>
        </p:nvSpPr>
        <p:spPr>
          <a:xfrm>
            <a:off x="859536"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371600" y="4050792"/>
            <a:ext cx="252374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Ask early</a:t>
            </a:r>
            <a:endParaRPr lang="en-US" sz="1450" dirty="0"/>
          </a:p>
        </p:txBody>
      </p:sp>
      <p:sp>
        <p:nvSpPr>
          <p:cNvPr id="26" name="Text 24"/>
          <p:cNvSpPr/>
          <p:nvPr/>
        </p:nvSpPr>
        <p:spPr>
          <a:xfrm>
            <a:off x="896112" y="4526280"/>
            <a:ext cx="2971800" cy="1014984"/>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A question in week two is a conversation. The same question in week twelve is a rescue.</a:t>
            </a:r>
            <a:endParaRPr lang="en-US" sz="1150" dirty="0"/>
          </a:p>
        </p:txBody>
      </p:sp>
      <p:sp>
        <p:nvSpPr>
          <p:cNvPr id="27" name="Shape 25"/>
          <p:cNvSpPr/>
          <p:nvPr/>
        </p:nvSpPr>
        <p:spPr>
          <a:xfrm>
            <a:off x="4352544" y="3867912"/>
            <a:ext cx="3483864" cy="1874520"/>
          </a:xfrm>
          <a:prstGeom prst="roundRect">
            <a:avLst>
              <a:gd name="adj" fmla="val 3415"/>
            </a:avLst>
          </a:prstGeom>
          <a:solidFill>
            <a:srgbClr val="F1F5F8"/>
          </a:solidFill>
          <a:ln w="9525">
            <a:solidFill>
              <a:srgbClr val="C9D8E0"/>
            </a:solidFill>
            <a:prstDash val="solid"/>
          </a:ln>
        </p:spPr>
      </p:sp>
      <p:sp>
        <p:nvSpPr>
          <p:cNvPr id="28" name="Shape 26"/>
          <p:cNvSpPr/>
          <p:nvPr/>
        </p:nvSpPr>
        <p:spPr>
          <a:xfrm>
            <a:off x="4572000" y="4069080"/>
            <a:ext cx="384048" cy="384048"/>
          </a:xfrm>
          <a:prstGeom prst="ellipse">
            <a:avLst/>
          </a:prstGeom>
          <a:solidFill>
            <a:srgbClr val="553C7B"/>
          </a:solidFill>
          <a:ln w="12700">
            <a:solidFill>
              <a:srgbClr val="553C7B"/>
            </a:solidFill>
            <a:prstDash val="solid"/>
          </a:ln>
        </p:spPr>
      </p:sp>
      <p:sp>
        <p:nvSpPr>
          <p:cNvPr id="29" name="Text 27"/>
          <p:cNvSpPr/>
          <p:nvPr/>
        </p:nvSpPr>
        <p:spPr>
          <a:xfrm>
            <a:off x="457200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084064" y="4050792"/>
            <a:ext cx="2523744" cy="420624"/>
          </a:xfrm>
          <a:prstGeom prst="rect">
            <a:avLst/>
          </a:prstGeom>
          <a:noFill/>
          <a:ln/>
        </p:spPr>
        <p:txBody>
          <a:bodyPr wrap="square" lIns="0" tIns="0" rIns="0" bIns="0" rtlCol="0" anchor="ctr"/>
          <a:lstStyle/>
          <a:p>
            <a:pPr indent="0" marL="0">
              <a:buNone/>
            </a:pPr>
            <a:r>
              <a:rPr lang="en-US" sz="1450" b="1" dirty="0">
                <a:solidFill>
                  <a:srgbClr val="12202B"/>
                </a:solidFill>
                <a:latin typeface="Calibri" pitchFamily="34" charset="0"/>
                <a:ea typeface="Calibri" pitchFamily="34" charset="-122"/>
                <a:cs typeface="Calibri" pitchFamily="34" charset="-120"/>
              </a:rPr>
              <a:t>Write in your own words</a:t>
            </a:r>
            <a:endParaRPr lang="en-US" sz="1450" dirty="0"/>
          </a:p>
        </p:txBody>
      </p:sp>
      <p:sp>
        <p:nvSpPr>
          <p:cNvPr id="31" name="Text 29"/>
          <p:cNvSpPr/>
          <p:nvPr/>
        </p:nvSpPr>
        <p:spPr>
          <a:xfrm>
            <a:off x="4608576" y="4526280"/>
            <a:ext cx="2971800" cy="1014984"/>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The forum and the reports are where understanding gets demonstrated. Pasted text demonstrates nothing.</a:t>
            </a:r>
            <a:endParaRPr lang="en-US" sz="1150" dirty="0"/>
          </a:p>
        </p:txBody>
      </p:sp>
      <p:sp>
        <p:nvSpPr>
          <p:cNvPr id="32" name="Shape 30"/>
          <p:cNvSpPr/>
          <p:nvPr/>
        </p:nvSpPr>
        <p:spPr>
          <a:xfrm>
            <a:off x="8065008" y="3867912"/>
            <a:ext cx="3483864" cy="1874520"/>
          </a:xfrm>
          <a:prstGeom prst="roundRect">
            <a:avLst>
              <a:gd name="adj" fmla="val 2927"/>
            </a:avLst>
          </a:prstGeom>
          <a:solidFill>
            <a:srgbClr val="E8E3F2"/>
          </a:solidFill>
          <a:ln w="9525">
            <a:solidFill>
              <a:srgbClr val="553C7B"/>
            </a:solidFill>
            <a:prstDash val="solid"/>
          </a:ln>
        </p:spPr>
      </p:sp>
      <p:sp>
        <p:nvSpPr>
          <p:cNvPr id="33" name="Text 31"/>
          <p:cNvSpPr/>
          <p:nvPr/>
        </p:nvSpPr>
        <p:spPr>
          <a:xfrm>
            <a:off x="8284464" y="3959352"/>
            <a:ext cx="3044952" cy="1691640"/>
          </a:xfrm>
          <a:prstGeom prst="rect">
            <a:avLst/>
          </a:prstGeom>
          <a:noFill/>
          <a:ln/>
        </p:spPr>
        <p:txBody>
          <a:bodyPr wrap="square" lIns="0" tIns="0" rIns="0" bIns="0" rtlCol="0" anchor="ctr"/>
          <a:lstStyle/>
          <a:p>
            <a:pPr indent="0" marL="0">
              <a:lnSpc>
                <a:spcPts val="1610"/>
              </a:lnSpc>
              <a:buNone/>
            </a:pPr>
            <a:r>
              <a:rPr lang="en-US" sz="1150" b="1" dirty="0">
                <a:solidFill>
                  <a:srgbClr val="553C7B"/>
                </a:solidFill>
                <a:latin typeface="Calibri" pitchFamily="34" charset="0"/>
                <a:ea typeface="Calibri" pitchFamily="34" charset="-122"/>
                <a:cs typeface="Calibri" pitchFamily="34" charset="-120"/>
              </a:rPr>
              <a:t>The one that matters most:  </a:t>
            </a:r>
            <a:pPr indent="0" marL="0">
              <a:lnSpc>
                <a:spcPts val="1610"/>
              </a:lnSpc>
              <a:buNone/>
            </a:pPr>
            <a:r>
              <a:rPr lang="en-US" sz="1150" dirty="0">
                <a:solidFill>
                  <a:srgbClr val="12202B"/>
                </a:solidFill>
                <a:latin typeface="Calibri" pitchFamily="34" charset="0"/>
                <a:ea typeface="Calibri" pitchFamily="34" charset="-122"/>
                <a:cs typeface="Calibri" pitchFamily="34" charset="-120"/>
              </a:rPr>
              <a:t>number five. Everything else on this slide is technique. That one is the difference between having used AI and having learned something — which is the subject of the next slide.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Use AI as a tutor — the Feynman test</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There are no restrictions on AI use in this course. There is one condition.</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39</a:t>
            </a:r>
            <a:endParaRPr lang="en-US" sz="900" dirty="0"/>
          </a:p>
        </p:txBody>
      </p:sp>
      <p:sp>
        <p:nvSpPr>
          <p:cNvPr id="7" name="Shape 5"/>
          <p:cNvSpPr/>
          <p:nvPr/>
        </p:nvSpPr>
        <p:spPr>
          <a:xfrm>
            <a:off x="640080" y="1755648"/>
            <a:ext cx="5394960" cy="2395728"/>
          </a:xfrm>
          <a:prstGeom prst="roundRect">
            <a:avLst>
              <a:gd name="adj" fmla="val 2672"/>
            </a:avLst>
          </a:prstGeom>
          <a:solidFill>
            <a:srgbClr val="F7E5E8"/>
          </a:solidFill>
          <a:ln w="15875">
            <a:solidFill>
              <a:srgbClr val="A4243B"/>
            </a:solidFill>
            <a:prstDash val="solid"/>
          </a:ln>
        </p:spPr>
      </p:sp>
      <p:sp>
        <p:nvSpPr>
          <p:cNvPr id="8" name="Text 6"/>
          <p:cNvSpPr/>
          <p:nvPr/>
        </p:nvSpPr>
        <p:spPr>
          <a:xfrm>
            <a:off x="896112" y="1901952"/>
            <a:ext cx="4846320" cy="219456"/>
          </a:xfrm>
          <a:prstGeom prst="rect">
            <a:avLst/>
          </a:prstGeom>
          <a:noFill/>
          <a:ln/>
        </p:spPr>
        <p:txBody>
          <a:bodyPr wrap="square" lIns="0" tIns="0" rIns="0" bIns="0" rtlCol="0" anchor="ctr"/>
          <a:lstStyle/>
          <a:p>
            <a:pPr indent="0" marL="0">
              <a:buNone/>
            </a:pPr>
            <a:r>
              <a:rPr lang="en-US" sz="950" b="1" spc="140" kern="0" dirty="0">
                <a:solidFill>
                  <a:srgbClr val="A4243B"/>
                </a:solidFill>
                <a:latin typeface="Calibri" pitchFamily="34" charset="0"/>
                <a:ea typeface="Calibri" pitchFamily="34" charset="-122"/>
                <a:cs typeface="Calibri" pitchFamily="34" charset="-120"/>
              </a:rPr>
              <a:t>USING IT AS A VENDING MACHINE</a:t>
            </a:r>
            <a:endParaRPr lang="en-US" sz="950" dirty="0"/>
          </a:p>
        </p:txBody>
      </p:sp>
      <p:sp>
        <p:nvSpPr>
          <p:cNvPr id="9" name="Text 7"/>
          <p:cNvSpPr/>
          <p:nvPr/>
        </p:nvSpPr>
        <p:spPr>
          <a:xfrm>
            <a:off x="896112" y="2231136"/>
            <a:ext cx="4846320" cy="438912"/>
          </a:xfrm>
          <a:prstGeom prst="rect">
            <a:avLst/>
          </a:prstGeom>
          <a:noFill/>
          <a:ln/>
        </p:spPr>
        <p:txBody>
          <a:bodyPr wrap="square" lIns="0" tIns="0" rIns="0" bIns="0" rtlCol="0" anchor="ctr"/>
          <a:lstStyle/>
          <a:p>
            <a:pPr indent="0" marL="0">
              <a:lnSpc>
                <a:spcPts val="1500"/>
              </a:lnSpc>
              <a:buNone/>
            </a:pPr>
            <a:r>
              <a:rPr lang="en-US" sz="1150" b="1" dirty="0">
                <a:solidFill>
                  <a:srgbClr val="A4243B"/>
                </a:solidFill>
                <a:latin typeface="Calibri" pitchFamily="34" charset="0"/>
                <a:ea typeface="Calibri" pitchFamily="34" charset="-122"/>
                <a:cs typeface="Calibri" pitchFamily="34" charset="-120"/>
              </a:rPr>
              <a:t>Ask  </a:t>
            </a:r>
            <a:pPr indent="0" marL="0">
              <a:lnSpc>
                <a:spcPts val="1500"/>
              </a:lnSpc>
              <a:buNone/>
            </a:pPr>
            <a:r>
              <a:rPr lang="en-US" sz="1150" dirty="0">
                <a:solidFill>
                  <a:srgbClr val="1B2B36"/>
                </a:solidFill>
                <a:latin typeface="Calibri" pitchFamily="34" charset="0"/>
                <a:ea typeface="Calibri" pitchFamily="34" charset="-122"/>
                <a:cs typeface="Calibri" pitchFamily="34" charset="-120"/>
              </a:rPr>
              <a:t>"Write my forum post about RAG."</a:t>
            </a:r>
            <a:endParaRPr lang="en-US" sz="1150" dirty="0"/>
          </a:p>
        </p:txBody>
      </p:sp>
      <p:sp>
        <p:nvSpPr>
          <p:cNvPr id="10" name="Text 8"/>
          <p:cNvSpPr/>
          <p:nvPr/>
        </p:nvSpPr>
        <p:spPr>
          <a:xfrm>
            <a:off x="896112" y="2706624"/>
            <a:ext cx="4846320" cy="438912"/>
          </a:xfrm>
          <a:prstGeom prst="rect">
            <a:avLst/>
          </a:prstGeom>
          <a:noFill/>
          <a:ln/>
        </p:spPr>
        <p:txBody>
          <a:bodyPr wrap="square" lIns="0" tIns="0" rIns="0" bIns="0" rtlCol="0" anchor="ctr"/>
          <a:lstStyle/>
          <a:p>
            <a:pPr indent="0" marL="0">
              <a:lnSpc>
                <a:spcPts val="1500"/>
              </a:lnSpc>
              <a:buNone/>
            </a:pPr>
            <a:r>
              <a:rPr lang="en-US" sz="1150" b="1" dirty="0">
                <a:solidFill>
                  <a:srgbClr val="A4243B"/>
                </a:solidFill>
                <a:latin typeface="Calibri" pitchFamily="34" charset="0"/>
                <a:ea typeface="Calibri" pitchFamily="34" charset="-122"/>
                <a:cs typeface="Calibri" pitchFamily="34" charset="-120"/>
              </a:rPr>
              <a:t>Get  </a:t>
            </a:r>
            <a:pPr indent="0" marL="0">
              <a:lnSpc>
                <a:spcPts val="1500"/>
              </a:lnSpc>
              <a:buNone/>
            </a:pPr>
            <a:r>
              <a:rPr lang="en-US" sz="1150" dirty="0">
                <a:solidFill>
                  <a:srgbClr val="1B2B36"/>
                </a:solidFill>
                <a:latin typeface="Calibri" pitchFamily="34" charset="0"/>
                <a:ea typeface="Calibri" pitchFamily="34" charset="-122"/>
                <a:cs typeface="Calibri" pitchFamily="34" charset="-120"/>
              </a:rPr>
              <a:t>A fluent paragraph.</a:t>
            </a:r>
            <a:endParaRPr lang="en-US" sz="1150" dirty="0"/>
          </a:p>
        </p:txBody>
      </p:sp>
      <p:sp>
        <p:nvSpPr>
          <p:cNvPr id="11" name="Text 9"/>
          <p:cNvSpPr/>
          <p:nvPr/>
        </p:nvSpPr>
        <p:spPr>
          <a:xfrm>
            <a:off x="896112" y="3182112"/>
            <a:ext cx="4846320" cy="438912"/>
          </a:xfrm>
          <a:prstGeom prst="rect">
            <a:avLst/>
          </a:prstGeom>
          <a:noFill/>
          <a:ln/>
        </p:spPr>
        <p:txBody>
          <a:bodyPr wrap="square" lIns="0" tIns="0" rIns="0" bIns="0" rtlCol="0" anchor="ctr"/>
          <a:lstStyle/>
          <a:p>
            <a:pPr indent="0" marL="0">
              <a:lnSpc>
                <a:spcPts val="1500"/>
              </a:lnSpc>
              <a:buNone/>
            </a:pPr>
            <a:r>
              <a:rPr lang="en-US" sz="1150" b="1" dirty="0">
                <a:solidFill>
                  <a:srgbClr val="A4243B"/>
                </a:solidFill>
                <a:latin typeface="Calibri" pitchFamily="34" charset="0"/>
                <a:ea typeface="Calibri" pitchFamily="34" charset="-122"/>
                <a:cs typeface="Calibri" pitchFamily="34" charset="-120"/>
              </a:rPr>
              <a:t>Post  </a:t>
            </a:r>
            <a:pPr indent="0" marL="0">
              <a:lnSpc>
                <a:spcPts val="1500"/>
              </a:lnSpc>
              <a:buNone/>
            </a:pPr>
            <a:r>
              <a:rPr lang="en-US" sz="1150" dirty="0">
                <a:solidFill>
                  <a:srgbClr val="1B2B36"/>
                </a:solidFill>
                <a:latin typeface="Calibri" pitchFamily="34" charset="0"/>
                <a:ea typeface="Calibri" pitchFamily="34" charset="-122"/>
                <a:cs typeface="Calibri" pitchFamily="34" charset="-120"/>
              </a:rPr>
              <a:t>It, unchanged.</a:t>
            </a:r>
            <a:endParaRPr lang="en-US" sz="1150" dirty="0"/>
          </a:p>
        </p:txBody>
      </p:sp>
      <p:sp>
        <p:nvSpPr>
          <p:cNvPr id="12" name="Text 10"/>
          <p:cNvSpPr/>
          <p:nvPr/>
        </p:nvSpPr>
        <p:spPr>
          <a:xfrm>
            <a:off x="896112" y="3657600"/>
            <a:ext cx="4846320" cy="438912"/>
          </a:xfrm>
          <a:prstGeom prst="rect">
            <a:avLst/>
          </a:prstGeom>
          <a:noFill/>
          <a:ln/>
        </p:spPr>
        <p:txBody>
          <a:bodyPr wrap="square" lIns="0" tIns="0" rIns="0" bIns="0" rtlCol="0" anchor="ctr"/>
          <a:lstStyle/>
          <a:p>
            <a:pPr indent="0" marL="0">
              <a:lnSpc>
                <a:spcPts val="1500"/>
              </a:lnSpc>
              <a:buNone/>
            </a:pPr>
            <a:r>
              <a:rPr lang="en-US" sz="1150" b="1" dirty="0">
                <a:solidFill>
                  <a:srgbClr val="A4243B"/>
                </a:solidFill>
                <a:latin typeface="Calibri" pitchFamily="34" charset="0"/>
                <a:ea typeface="Calibri" pitchFamily="34" charset="-122"/>
                <a:cs typeface="Calibri" pitchFamily="34" charset="-120"/>
              </a:rPr>
              <a:t>Learn  </a:t>
            </a:r>
            <a:pPr indent="0" marL="0">
              <a:lnSpc>
                <a:spcPts val="1500"/>
              </a:lnSpc>
              <a:buNone/>
            </a:pPr>
            <a:r>
              <a:rPr lang="en-US" sz="1150" dirty="0">
                <a:solidFill>
                  <a:srgbClr val="1B2B36"/>
                </a:solidFill>
                <a:latin typeface="Calibri" pitchFamily="34" charset="0"/>
                <a:ea typeface="Calibri" pitchFamily="34" charset="-122"/>
                <a:cs typeface="Calibri" pitchFamily="34" charset="-120"/>
              </a:rPr>
              <a:t>Nothing. And your classmates could have generated the same text themselves.</a:t>
            </a:r>
            <a:endParaRPr lang="en-US" sz="1150" dirty="0"/>
          </a:p>
        </p:txBody>
      </p:sp>
      <p:sp>
        <p:nvSpPr>
          <p:cNvPr id="13" name="Shape 11"/>
          <p:cNvSpPr/>
          <p:nvPr/>
        </p:nvSpPr>
        <p:spPr>
          <a:xfrm>
            <a:off x="6263640" y="1755648"/>
            <a:ext cx="5285232" cy="2395728"/>
          </a:xfrm>
          <a:prstGeom prst="roundRect">
            <a:avLst>
              <a:gd name="adj" fmla="val 2672"/>
            </a:avLst>
          </a:prstGeom>
          <a:solidFill>
            <a:srgbClr val="E1EFE7"/>
          </a:solidFill>
          <a:ln w="15875">
            <a:solidFill>
              <a:srgbClr val="1F6B4A"/>
            </a:solidFill>
            <a:prstDash val="solid"/>
          </a:ln>
        </p:spPr>
      </p:sp>
      <p:sp>
        <p:nvSpPr>
          <p:cNvPr id="14" name="Text 12"/>
          <p:cNvSpPr/>
          <p:nvPr/>
        </p:nvSpPr>
        <p:spPr>
          <a:xfrm>
            <a:off x="6519672" y="1901952"/>
            <a:ext cx="4754880" cy="219456"/>
          </a:xfrm>
          <a:prstGeom prst="rect">
            <a:avLst/>
          </a:prstGeom>
          <a:noFill/>
          <a:ln/>
        </p:spPr>
        <p:txBody>
          <a:bodyPr wrap="square" lIns="0" tIns="0" rIns="0" bIns="0" rtlCol="0" anchor="ctr"/>
          <a:lstStyle/>
          <a:p>
            <a:pPr indent="0" marL="0">
              <a:buNone/>
            </a:pPr>
            <a:r>
              <a:rPr lang="en-US" sz="950" b="1" spc="140" kern="0" dirty="0">
                <a:solidFill>
                  <a:srgbClr val="1F6B4A"/>
                </a:solidFill>
                <a:latin typeface="Calibri" pitchFamily="34" charset="0"/>
                <a:ea typeface="Calibri" pitchFamily="34" charset="-122"/>
                <a:cs typeface="Calibri" pitchFamily="34" charset="-120"/>
              </a:rPr>
              <a:t>USING IT AS A TUTOR</a:t>
            </a:r>
            <a:endParaRPr lang="en-US" sz="950" dirty="0"/>
          </a:p>
        </p:txBody>
      </p:sp>
      <p:sp>
        <p:nvSpPr>
          <p:cNvPr id="15" name="Text 13"/>
          <p:cNvSpPr/>
          <p:nvPr/>
        </p:nvSpPr>
        <p:spPr>
          <a:xfrm>
            <a:off x="6519672" y="2231136"/>
            <a:ext cx="4754880" cy="438912"/>
          </a:xfrm>
          <a:prstGeom prst="rect">
            <a:avLst/>
          </a:prstGeom>
          <a:noFill/>
          <a:ln/>
        </p:spPr>
        <p:txBody>
          <a:bodyPr wrap="square" lIns="0" tIns="0" rIns="0" bIns="0" rtlCol="0" anchor="ctr"/>
          <a:lstStyle/>
          <a:p>
            <a:pPr indent="0" marL="0">
              <a:lnSpc>
                <a:spcPts val="1400"/>
              </a:lnSpc>
              <a:buNone/>
            </a:pPr>
            <a:r>
              <a:rPr lang="en-US" sz="1100" b="1" dirty="0">
                <a:solidFill>
                  <a:srgbClr val="1F6B4A"/>
                </a:solidFill>
                <a:latin typeface="Calibri" pitchFamily="34" charset="0"/>
                <a:ea typeface="Calibri" pitchFamily="34" charset="-122"/>
                <a:cs typeface="Calibri" pitchFamily="34" charset="-120"/>
              </a:rPr>
              <a:t>Ask  </a:t>
            </a:r>
            <a:pPr indent="0" marL="0">
              <a:lnSpc>
                <a:spcPts val="1400"/>
              </a:lnSpc>
              <a:buNone/>
            </a:pPr>
            <a:r>
              <a:rPr lang="en-US" sz="1100" dirty="0">
                <a:solidFill>
                  <a:srgbClr val="1B2B36"/>
                </a:solidFill>
                <a:latin typeface="Calibri" pitchFamily="34" charset="0"/>
                <a:ea typeface="Calibri" pitchFamily="34" charset="-122"/>
                <a:cs typeface="Calibri" pitchFamily="34" charset="-120"/>
              </a:rPr>
              <a:t>"My professor asked this and I don't know where to start. Teach me the background with simple examples."</a:t>
            </a:r>
            <a:endParaRPr lang="en-US" sz="1100" dirty="0"/>
          </a:p>
        </p:txBody>
      </p:sp>
      <p:sp>
        <p:nvSpPr>
          <p:cNvPr id="16" name="Text 14"/>
          <p:cNvSpPr/>
          <p:nvPr/>
        </p:nvSpPr>
        <p:spPr>
          <a:xfrm>
            <a:off x="6519672" y="2706624"/>
            <a:ext cx="4754880" cy="438912"/>
          </a:xfrm>
          <a:prstGeom prst="rect">
            <a:avLst/>
          </a:prstGeom>
          <a:noFill/>
          <a:ln/>
        </p:spPr>
        <p:txBody>
          <a:bodyPr wrap="square" lIns="0" tIns="0" rIns="0" bIns="0" rtlCol="0" anchor="ctr"/>
          <a:lstStyle/>
          <a:p>
            <a:pPr indent="0" marL="0">
              <a:lnSpc>
                <a:spcPts val="1400"/>
              </a:lnSpc>
              <a:buNone/>
            </a:pPr>
            <a:r>
              <a:rPr lang="en-US" sz="1100" b="1" dirty="0">
                <a:solidFill>
                  <a:srgbClr val="1F6B4A"/>
                </a:solidFill>
                <a:latin typeface="Calibri" pitchFamily="34" charset="0"/>
                <a:ea typeface="Calibri" pitchFamily="34" charset="-122"/>
                <a:cs typeface="Calibri" pitchFamily="34" charset="-120"/>
              </a:rPr>
              <a:t>Push  </a:t>
            </a:r>
            <a:pPr indent="0" marL="0">
              <a:lnSpc>
                <a:spcPts val="1400"/>
              </a:lnSpc>
              <a:buNone/>
            </a:pPr>
            <a:r>
              <a:rPr lang="en-US" sz="1100" dirty="0">
                <a:solidFill>
                  <a:srgbClr val="1B2B36"/>
                </a:solidFill>
                <a:latin typeface="Calibri" pitchFamily="34" charset="0"/>
                <a:ea typeface="Calibri" pitchFamily="34" charset="-122"/>
                <a:cs typeface="Calibri" pitchFamily="34" charset="-120"/>
              </a:rPr>
              <a:t>"Why does that work? Give me a case where it fails."</a:t>
            </a:r>
            <a:endParaRPr lang="en-US" sz="1100" dirty="0"/>
          </a:p>
        </p:txBody>
      </p:sp>
      <p:sp>
        <p:nvSpPr>
          <p:cNvPr id="17" name="Text 15"/>
          <p:cNvSpPr/>
          <p:nvPr/>
        </p:nvSpPr>
        <p:spPr>
          <a:xfrm>
            <a:off x="6519672" y="3182112"/>
            <a:ext cx="4754880" cy="438912"/>
          </a:xfrm>
          <a:prstGeom prst="rect">
            <a:avLst/>
          </a:prstGeom>
          <a:noFill/>
          <a:ln/>
        </p:spPr>
        <p:txBody>
          <a:bodyPr wrap="square" lIns="0" tIns="0" rIns="0" bIns="0" rtlCol="0" anchor="ctr"/>
          <a:lstStyle/>
          <a:p>
            <a:pPr indent="0" marL="0">
              <a:lnSpc>
                <a:spcPts val="1400"/>
              </a:lnSpc>
              <a:buNone/>
            </a:pPr>
            <a:r>
              <a:rPr lang="en-US" sz="1100" b="1" dirty="0">
                <a:solidFill>
                  <a:srgbClr val="1F6B4A"/>
                </a:solidFill>
                <a:latin typeface="Calibri" pitchFamily="34" charset="0"/>
                <a:ea typeface="Calibri" pitchFamily="34" charset="-122"/>
                <a:cs typeface="Calibri" pitchFamily="34" charset="-120"/>
              </a:rPr>
              <a:t>Close  </a:t>
            </a:r>
            <a:pPr indent="0" marL="0">
              <a:lnSpc>
                <a:spcPts val="1400"/>
              </a:lnSpc>
              <a:buNone/>
            </a:pPr>
            <a:r>
              <a:rPr lang="en-US" sz="1100" dirty="0">
                <a:solidFill>
                  <a:srgbClr val="1B2B36"/>
                </a:solidFill>
                <a:latin typeface="Calibri" pitchFamily="34" charset="0"/>
                <a:ea typeface="Calibri" pitchFamily="34" charset="-122"/>
                <a:cs typeface="Calibri" pitchFamily="34" charset="-120"/>
              </a:rPr>
              <a:t>Shut the tab. Write the post from memory.</a:t>
            </a:r>
            <a:endParaRPr lang="en-US" sz="1100" dirty="0"/>
          </a:p>
        </p:txBody>
      </p:sp>
      <p:sp>
        <p:nvSpPr>
          <p:cNvPr id="18" name="Text 16"/>
          <p:cNvSpPr/>
          <p:nvPr/>
        </p:nvSpPr>
        <p:spPr>
          <a:xfrm>
            <a:off x="6519672" y="3657600"/>
            <a:ext cx="4754880" cy="438912"/>
          </a:xfrm>
          <a:prstGeom prst="rect">
            <a:avLst/>
          </a:prstGeom>
          <a:noFill/>
          <a:ln/>
        </p:spPr>
        <p:txBody>
          <a:bodyPr wrap="square" lIns="0" tIns="0" rIns="0" bIns="0" rtlCol="0" anchor="ctr"/>
          <a:lstStyle/>
          <a:p>
            <a:pPr indent="0" marL="0">
              <a:lnSpc>
                <a:spcPts val="1400"/>
              </a:lnSpc>
              <a:buNone/>
            </a:pPr>
            <a:r>
              <a:rPr lang="en-US" sz="1100" b="1" dirty="0">
                <a:solidFill>
                  <a:srgbClr val="1F6B4A"/>
                </a:solidFill>
                <a:latin typeface="Calibri" pitchFamily="34" charset="0"/>
                <a:ea typeface="Calibri" pitchFamily="34" charset="-122"/>
                <a:cs typeface="Calibri" pitchFamily="34" charset="-120"/>
              </a:rPr>
              <a:t>Learn  </a:t>
            </a:r>
            <a:pPr indent="0" marL="0">
              <a:lnSpc>
                <a:spcPts val="1400"/>
              </a:lnSpc>
              <a:buNone/>
            </a:pPr>
            <a:r>
              <a:rPr lang="en-US" sz="1100" dirty="0">
                <a:solidFill>
                  <a:srgbClr val="1B2B36"/>
                </a:solidFill>
                <a:latin typeface="Calibri" pitchFamily="34" charset="0"/>
                <a:ea typeface="Calibri" pitchFamily="34" charset="-122"/>
                <a:cs typeface="Calibri" pitchFamily="34" charset="-120"/>
              </a:rPr>
              <a:t>If you can explain it in your own words, you understand it.</a:t>
            </a:r>
            <a:endParaRPr lang="en-US" sz="1100" dirty="0"/>
          </a:p>
        </p:txBody>
      </p:sp>
      <p:sp>
        <p:nvSpPr>
          <p:cNvPr id="19" name="Shape 17"/>
          <p:cNvSpPr/>
          <p:nvPr/>
        </p:nvSpPr>
        <p:spPr>
          <a:xfrm>
            <a:off x="640080" y="4334256"/>
            <a:ext cx="10908792" cy="1481328"/>
          </a:xfrm>
          <a:prstGeom prst="roundRect">
            <a:avLst>
              <a:gd name="adj" fmla="val 3704"/>
            </a:avLst>
          </a:prstGeom>
          <a:solidFill>
            <a:srgbClr val="E8E3F2"/>
          </a:solidFill>
          <a:ln w="9525">
            <a:solidFill>
              <a:srgbClr val="553C7B"/>
            </a:solidFill>
            <a:prstDash val="solid"/>
          </a:ln>
        </p:spPr>
      </p:sp>
      <p:sp>
        <p:nvSpPr>
          <p:cNvPr id="20" name="Text 18"/>
          <p:cNvSpPr/>
          <p:nvPr/>
        </p:nvSpPr>
        <p:spPr>
          <a:xfrm>
            <a:off x="859536" y="4425696"/>
            <a:ext cx="10469880" cy="1298448"/>
          </a:xfrm>
          <a:prstGeom prst="rect">
            <a:avLst/>
          </a:prstGeom>
          <a:noFill/>
          <a:ln/>
        </p:spPr>
        <p:txBody>
          <a:bodyPr wrap="square" lIns="0" tIns="0" rIns="0" bIns="0" rtlCol="0" anchor="ctr"/>
          <a:lstStyle/>
          <a:p>
            <a:pPr indent="0" marL="0">
              <a:lnSpc>
                <a:spcPts val="1680"/>
              </a:lnSpc>
              <a:buNone/>
            </a:pPr>
            <a:r>
              <a:rPr lang="en-US" sz="1200" b="1" dirty="0">
                <a:solidFill>
                  <a:srgbClr val="553C7B"/>
                </a:solidFill>
                <a:latin typeface="Calibri" pitchFamily="34" charset="0"/>
                <a:ea typeface="Calibri" pitchFamily="34" charset="-122"/>
                <a:cs typeface="Calibri" pitchFamily="34" charset="-120"/>
              </a:rPr>
              <a:t>Why I do not block AI tools:  </a:t>
            </a:r>
            <a:pPr indent="0" marL="0">
              <a:lnSpc>
                <a:spcPts val="1680"/>
              </a:lnSpc>
              <a:buNone/>
            </a:pPr>
            <a:r>
              <a:rPr lang="en-US" sz="1200" dirty="0">
                <a:solidFill>
                  <a:srgbClr val="12202B"/>
                </a:solidFill>
                <a:latin typeface="Calibri" pitchFamily="34" charset="0"/>
                <a:ea typeface="Calibri" pitchFamily="34" charset="-122"/>
                <a:cs typeface="Calibri" pitchFamily="34" charset="-120"/>
              </a:rPr>
              <a:t>blocking does not work — phones, VPNs, and a world that already runs on this — and more importantly it would be pedagogically backwards, because a model is a genuinely excellent tutor with infinite patience. So use it as much as you like. The condition is the Feynman test: if you can explain it clearly in your own words, you understand it. That is what the forum posts, the mini-project presentations, and the capstone report are actually measuring — not what the AI produced, but what you can explain.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08792" cy="237744"/>
          </a:xfrm>
          <a:prstGeom prst="rect">
            <a:avLst/>
          </a:prstGeom>
          <a:noFill/>
          <a:ln/>
        </p:spPr>
        <p:txBody>
          <a:bodyPr wrap="square" lIns="0" tIns="0" rIns="0" bIns="0" rtlCol="0" anchor="ctr"/>
          <a:lstStyle/>
          <a:p>
            <a:pPr indent="0" marL="0">
              <a:buNone/>
            </a:pPr>
            <a:r>
              <a:rPr lang="en-US" sz="1000" b="1" spc="160" kern="0" dirty="0">
                <a:solidFill>
                  <a:srgbClr val="553C7B"/>
                </a:solidFill>
                <a:latin typeface="Calibri" pitchFamily="34" charset="0"/>
                <a:ea typeface="Calibri" pitchFamily="34" charset="-122"/>
                <a:cs typeface="Calibri" pitchFamily="34" charset="-120"/>
              </a:rPr>
              <a:t>PART 5 · FRAMEWORKS, ETHICS &amp; YOUR WEEK</a:t>
            </a:r>
            <a:endParaRPr lang="en-US" sz="1000" dirty="0"/>
          </a:p>
        </p:txBody>
      </p:sp>
      <p:sp>
        <p:nvSpPr>
          <p:cNvPr id="3" name="Text 1"/>
          <p:cNvSpPr/>
          <p:nvPr/>
        </p:nvSpPr>
        <p:spPr>
          <a:xfrm>
            <a:off x="640080" y="585216"/>
            <a:ext cx="10908792" cy="566928"/>
          </a:xfrm>
          <a:prstGeom prst="rect">
            <a:avLst/>
          </a:prstGeom>
          <a:noFill/>
          <a:ln/>
        </p:spPr>
        <p:txBody>
          <a:bodyPr wrap="square" lIns="0" tIns="0" rIns="0" bIns="0" rtlCol="0" anchor="ctr"/>
          <a:lstStyle/>
          <a:p>
            <a:pPr indent="0" marL="0">
              <a:buNone/>
            </a:pPr>
            <a:r>
              <a:rPr lang="en-US" sz="3100" b="1" dirty="0">
                <a:solidFill>
                  <a:srgbClr val="12202B"/>
                </a:solidFill>
                <a:latin typeface="Cambria" pitchFamily="34" charset="0"/>
                <a:ea typeface="Cambria" pitchFamily="34" charset="-122"/>
                <a:cs typeface="Cambria" pitchFamily="34" charset="-120"/>
              </a:rPr>
              <a:t>Recap</a:t>
            </a:r>
            <a:endParaRPr lang="en-US" sz="3100" dirty="0"/>
          </a:p>
        </p:txBody>
      </p:sp>
      <p:sp>
        <p:nvSpPr>
          <p:cNvPr id="4" name="Text 2"/>
          <p:cNvSpPr/>
          <p:nvPr/>
        </p:nvSpPr>
        <p:spPr>
          <a:xfrm>
            <a:off x="640080" y="1207008"/>
            <a:ext cx="10908792" cy="310896"/>
          </a:xfrm>
          <a:prstGeom prst="rect">
            <a:avLst/>
          </a:prstGeom>
          <a:noFill/>
          <a:ln/>
        </p:spPr>
        <p:txBody>
          <a:bodyPr wrap="square" lIns="0" tIns="0" rIns="0" bIns="0" rtlCol="0" anchor="ctr"/>
          <a:lstStyle/>
          <a:p>
            <a:pPr indent="0" marL="0">
              <a:buNone/>
            </a:pPr>
            <a:r>
              <a:rPr lang="en-US" sz="1400" i="1" dirty="0">
                <a:solidFill>
                  <a:srgbClr val="5C7383"/>
                </a:solidFill>
                <a:latin typeface="Calibri" pitchFamily="34" charset="0"/>
                <a:ea typeface="Calibri" pitchFamily="34" charset="-122"/>
                <a:cs typeface="Calibri" pitchFamily="34" charset="-120"/>
              </a:rPr>
              <a:t>Five things to carry out of today.</a:t>
            </a:r>
            <a:endParaRPr lang="en-US" sz="1400" dirty="0"/>
          </a:p>
        </p:txBody>
      </p:sp>
      <p:sp>
        <p:nvSpPr>
          <p:cNvPr id="5" name="Text 3"/>
          <p:cNvSpPr/>
          <p:nvPr/>
        </p:nvSpPr>
        <p:spPr>
          <a:xfrm>
            <a:off x="640080" y="6382512"/>
            <a:ext cx="5486400" cy="256032"/>
          </a:xfrm>
          <a:prstGeom prst="rect">
            <a:avLst/>
          </a:prstGeom>
          <a:noFill/>
          <a:ln/>
        </p:spPr>
        <p:txBody>
          <a:bodyPr wrap="square" lIns="0" tIns="0" rIns="0" bIns="0" rtlCol="0" anchor="ctr"/>
          <a:lstStyle/>
          <a:p>
            <a:pPr indent="0" marL="0">
              <a:buNone/>
            </a:pPr>
            <a:r>
              <a:rPr lang="en-US" sz="900" dirty="0">
                <a:solidFill>
                  <a:srgbClr val="5C7383"/>
                </a:solidFill>
                <a:latin typeface="Calibri" pitchFamily="34" charset="0"/>
                <a:ea typeface="Calibri" pitchFamily="34" charset="-122"/>
                <a:cs typeface="Calibri" pitchFamily="34" charset="-120"/>
              </a:rPr>
              <a:t>Introduction · The CyberAI Landscape</a:t>
            </a:r>
            <a:endParaRPr lang="en-US" sz="900" dirty="0"/>
          </a:p>
        </p:txBody>
      </p:sp>
      <p:sp>
        <p:nvSpPr>
          <p:cNvPr id="6" name="Text 4"/>
          <p:cNvSpPr/>
          <p:nvPr/>
        </p:nvSpPr>
        <p:spPr>
          <a:xfrm>
            <a:off x="10454335" y="6382512"/>
            <a:ext cx="1097280" cy="256032"/>
          </a:xfrm>
          <a:prstGeom prst="rect">
            <a:avLst/>
          </a:prstGeom>
          <a:noFill/>
          <a:ln/>
        </p:spPr>
        <p:txBody>
          <a:bodyPr wrap="square" lIns="0" tIns="0" rIns="0" bIns="0" rtlCol="0" anchor="ctr"/>
          <a:lstStyle/>
          <a:p>
            <a:pPr algn="r" indent="0" marL="0">
              <a:buNone/>
            </a:pPr>
            <a:r>
              <a:rPr lang="en-US" sz="900" dirty="0">
                <a:solidFill>
                  <a:srgbClr val="5C7383"/>
                </a:solidFill>
                <a:latin typeface="Calibri" pitchFamily="34" charset="0"/>
                <a:ea typeface="Calibri" pitchFamily="34" charset="-122"/>
                <a:cs typeface="Calibri" pitchFamily="34" charset="-120"/>
              </a:rPr>
              <a:t>40</a:t>
            </a:r>
            <a:endParaRPr lang="en-US" sz="900" dirty="0"/>
          </a:p>
        </p:txBody>
      </p:sp>
      <p:sp>
        <p:nvSpPr>
          <p:cNvPr id="7" name="Shape 5"/>
          <p:cNvSpPr/>
          <p:nvPr/>
        </p:nvSpPr>
        <p:spPr>
          <a:xfrm>
            <a:off x="640080" y="1783080"/>
            <a:ext cx="3483864" cy="1664208"/>
          </a:xfrm>
          <a:prstGeom prst="roundRect">
            <a:avLst>
              <a:gd name="adj" fmla="val 3846"/>
            </a:avLst>
          </a:prstGeom>
          <a:solidFill>
            <a:srgbClr val="F1F5F8"/>
          </a:solidFill>
          <a:ln w="9525">
            <a:solidFill>
              <a:srgbClr val="C9D8E0"/>
            </a:solidFill>
            <a:prstDash val="solid"/>
          </a:ln>
        </p:spPr>
      </p:sp>
      <p:sp>
        <p:nvSpPr>
          <p:cNvPr id="8" name="Shape 6"/>
          <p:cNvSpPr/>
          <p:nvPr/>
        </p:nvSpPr>
        <p:spPr>
          <a:xfrm>
            <a:off x="859536" y="1984248"/>
            <a:ext cx="384048" cy="384048"/>
          </a:xfrm>
          <a:prstGeom prst="ellipse">
            <a:avLst/>
          </a:prstGeom>
          <a:solidFill>
            <a:srgbClr val="553C7B"/>
          </a:solidFill>
          <a:ln w="12700">
            <a:solidFill>
              <a:srgbClr val="553C7B"/>
            </a:solidFill>
            <a:prstDash val="solid"/>
          </a:ln>
        </p:spPr>
      </p:sp>
      <p:sp>
        <p:nvSpPr>
          <p:cNvPr id="9" name="Text 7"/>
          <p:cNvSpPr/>
          <p:nvPr/>
        </p:nvSpPr>
        <p:spPr>
          <a:xfrm>
            <a:off x="859536"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71600" y="1965960"/>
            <a:ext cx="2523744"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Three families, one skill</a:t>
            </a:r>
            <a:endParaRPr lang="en-US" sz="1400" dirty="0"/>
          </a:p>
        </p:txBody>
      </p:sp>
      <p:sp>
        <p:nvSpPr>
          <p:cNvPr id="11" name="Text 9"/>
          <p:cNvSpPr/>
          <p:nvPr/>
        </p:nvSpPr>
        <p:spPr>
          <a:xfrm>
            <a:off x="896112" y="2441448"/>
            <a:ext cx="2971800" cy="80467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Classic ML, LLMs, agents. Matching the family to the task is most of the judgement.</a:t>
            </a:r>
            <a:endParaRPr lang="en-US" sz="1150" dirty="0"/>
          </a:p>
        </p:txBody>
      </p:sp>
      <p:sp>
        <p:nvSpPr>
          <p:cNvPr id="12" name="Shape 10"/>
          <p:cNvSpPr/>
          <p:nvPr/>
        </p:nvSpPr>
        <p:spPr>
          <a:xfrm>
            <a:off x="4352544" y="1783080"/>
            <a:ext cx="3483864" cy="1664208"/>
          </a:xfrm>
          <a:prstGeom prst="roundRect">
            <a:avLst>
              <a:gd name="adj" fmla="val 3846"/>
            </a:avLst>
          </a:prstGeom>
          <a:solidFill>
            <a:srgbClr val="F1F5F8"/>
          </a:solidFill>
          <a:ln w="9525">
            <a:solidFill>
              <a:srgbClr val="C9D8E0"/>
            </a:solidFill>
            <a:prstDash val="solid"/>
          </a:ln>
        </p:spPr>
      </p:sp>
      <p:sp>
        <p:nvSpPr>
          <p:cNvPr id="13" name="Shape 11"/>
          <p:cNvSpPr/>
          <p:nvPr/>
        </p:nvSpPr>
        <p:spPr>
          <a:xfrm>
            <a:off x="4572000" y="1984248"/>
            <a:ext cx="384048" cy="384048"/>
          </a:xfrm>
          <a:prstGeom prst="ellipse">
            <a:avLst/>
          </a:prstGeom>
          <a:solidFill>
            <a:srgbClr val="553C7B"/>
          </a:solidFill>
          <a:ln w="12700">
            <a:solidFill>
              <a:srgbClr val="553C7B"/>
            </a:solidFill>
            <a:prstDash val="solid"/>
          </a:ln>
        </p:spPr>
      </p:sp>
      <p:sp>
        <p:nvSpPr>
          <p:cNvPr id="14" name="Text 12"/>
          <p:cNvSpPr/>
          <p:nvPr/>
        </p:nvSpPr>
        <p:spPr>
          <a:xfrm>
            <a:off x="4572000"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084064" y="1965960"/>
            <a:ext cx="2523744"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It predicts plausible text</a:t>
            </a:r>
            <a:endParaRPr lang="en-US" sz="1400" dirty="0"/>
          </a:p>
        </p:txBody>
      </p:sp>
      <p:sp>
        <p:nvSpPr>
          <p:cNvPr id="16" name="Text 14"/>
          <p:cNvSpPr/>
          <p:nvPr/>
        </p:nvSpPr>
        <p:spPr>
          <a:xfrm>
            <a:off x="4608576" y="2441448"/>
            <a:ext cx="2971800" cy="80467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No database, no notion of truth. Hallucination is the mechanism working normally.</a:t>
            </a:r>
            <a:endParaRPr lang="en-US" sz="1150" dirty="0"/>
          </a:p>
        </p:txBody>
      </p:sp>
      <p:sp>
        <p:nvSpPr>
          <p:cNvPr id="17" name="Shape 15"/>
          <p:cNvSpPr/>
          <p:nvPr/>
        </p:nvSpPr>
        <p:spPr>
          <a:xfrm>
            <a:off x="8065008" y="1783080"/>
            <a:ext cx="3483864" cy="1664208"/>
          </a:xfrm>
          <a:prstGeom prst="roundRect">
            <a:avLst>
              <a:gd name="adj" fmla="val 3846"/>
            </a:avLst>
          </a:prstGeom>
          <a:solidFill>
            <a:srgbClr val="F1F5F8"/>
          </a:solidFill>
          <a:ln w="9525">
            <a:solidFill>
              <a:srgbClr val="C9D8E0"/>
            </a:solidFill>
            <a:prstDash val="solid"/>
          </a:ln>
        </p:spPr>
      </p:sp>
      <p:sp>
        <p:nvSpPr>
          <p:cNvPr id="18" name="Shape 16"/>
          <p:cNvSpPr/>
          <p:nvPr/>
        </p:nvSpPr>
        <p:spPr>
          <a:xfrm>
            <a:off x="8284464" y="1984248"/>
            <a:ext cx="384048" cy="384048"/>
          </a:xfrm>
          <a:prstGeom prst="ellipse">
            <a:avLst/>
          </a:prstGeom>
          <a:solidFill>
            <a:srgbClr val="553C7B"/>
          </a:solidFill>
          <a:ln w="12700">
            <a:solidFill>
              <a:srgbClr val="553C7B"/>
            </a:solidFill>
            <a:prstDash val="solid"/>
          </a:ln>
        </p:spPr>
      </p:sp>
      <p:sp>
        <p:nvSpPr>
          <p:cNvPr id="19" name="Text 17"/>
          <p:cNvSpPr/>
          <p:nvPr/>
        </p:nvSpPr>
        <p:spPr>
          <a:xfrm>
            <a:off x="8284464" y="1984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796528" y="1965960"/>
            <a:ext cx="2523744"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Tool and target</a:t>
            </a:r>
            <a:endParaRPr lang="en-US" sz="1400" dirty="0"/>
          </a:p>
        </p:txBody>
      </p:sp>
      <p:sp>
        <p:nvSpPr>
          <p:cNvPr id="21" name="Text 19"/>
          <p:cNvSpPr/>
          <p:nvPr/>
        </p:nvSpPr>
        <p:spPr>
          <a:xfrm>
            <a:off x="8321040" y="2441448"/>
            <a:ext cx="2971800" cy="80467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Every AI system you build is itself an attack surface. MITRE ATLAS is the catalogue.</a:t>
            </a:r>
            <a:endParaRPr lang="en-US" sz="1150" dirty="0"/>
          </a:p>
        </p:txBody>
      </p:sp>
      <p:sp>
        <p:nvSpPr>
          <p:cNvPr id="22" name="Shape 20"/>
          <p:cNvSpPr/>
          <p:nvPr/>
        </p:nvSpPr>
        <p:spPr>
          <a:xfrm>
            <a:off x="640080" y="3657600"/>
            <a:ext cx="3483864" cy="1664208"/>
          </a:xfrm>
          <a:prstGeom prst="roundRect">
            <a:avLst>
              <a:gd name="adj" fmla="val 3846"/>
            </a:avLst>
          </a:prstGeom>
          <a:solidFill>
            <a:srgbClr val="F1F5F8"/>
          </a:solidFill>
          <a:ln w="9525">
            <a:solidFill>
              <a:srgbClr val="C9D8E0"/>
            </a:solidFill>
            <a:prstDash val="solid"/>
          </a:ln>
        </p:spPr>
      </p:sp>
      <p:sp>
        <p:nvSpPr>
          <p:cNvPr id="23" name="Shape 21"/>
          <p:cNvSpPr/>
          <p:nvPr/>
        </p:nvSpPr>
        <p:spPr>
          <a:xfrm>
            <a:off x="859536" y="3858768"/>
            <a:ext cx="384048" cy="384048"/>
          </a:xfrm>
          <a:prstGeom prst="ellipse">
            <a:avLst/>
          </a:prstGeom>
          <a:solidFill>
            <a:srgbClr val="553C7B"/>
          </a:solidFill>
          <a:ln w="12700">
            <a:solidFill>
              <a:srgbClr val="553C7B"/>
            </a:solidFill>
            <a:prstDash val="solid"/>
          </a:ln>
        </p:spPr>
      </p:sp>
      <p:sp>
        <p:nvSpPr>
          <p:cNvPr id="24" name="Text 22"/>
          <p:cNvSpPr/>
          <p:nvPr/>
        </p:nvSpPr>
        <p:spPr>
          <a:xfrm>
            <a:off x="859536"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371600" y="3840480"/>
            <a:ext cx="2523744"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Read Python, don't write it</a:t>
            </a:r>
            <a:endParaRPr lang="en-US" sz="1400" dirty="0"/>
          </a:p>
        </p:txBody>
      </p:sp>
      <p:sp>
        <p:nvSpPr>
          <p:cNvPr id="26" name="Text 24"/>
          <p:cNvSpPr/>
          <p:nvPr/>
        </p:nvSpPr>
        <p:spPr>
          <a:xfrm>
            <a:off x="896112" y="4315968"/>
            <a:ext cx="2971800" cy="80467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Enough to follow a notebook, fix an error, adapt an example. That is the bar.</a:t>
            </a:r>
            <a:endParaRPr lang="en-US" sz="1150" dirty="0"/>
          </a:p>
        </p:txBody>
      </p:sp>
      <p:sp>
        <p:nvSpPr>
          <p:cNvPr id="27" name="Shape 25"/>
          <p:cNvSpPr/>
          <p:nvPr/>
        </p:nvSpPr>
        <p:spPr>
          <a:xfrm>
            <a:off x="4352544" y="3657600"/>
            <a:ext cx="3483864" cy="1664208"/>
          </a:xfrm>
          <a:prstGeom prst="roundRect">
            <a:avLst>
              <a:gd name="adj" fmla="val 3846"/>
            </a:avLst>
          </a:prstGeom>
          <a:solidFill>
            <a:srgbClr val="F1F5F8"/>
          </a:solidFill>
          <a:ln w="9525">
            <a:solidFill>
              <a:srgbClr val="C9D8E0"/>
            </a:solidFill>
            <a:prstDash val="solid"/>
          </a:ln>
        </p:spPr>
      </p:sp>
      <p:sp>
        <p:nvSpPr>
          <p:cNvPr id="28" name="Shape 26"/>
          <p:cNvSpPr/>
          <p:nvPr/>
        </p:nvSpPr>
        <p:spPr>
          <a:xfrm>
            <a:off x="4572000" y="3858768"/>
            <a:ext cx="384048" cy="384048"/>
          </a:xfrm>
          <a:prstGeom prst="ellipse">
            <a:avLst/>
          </a:prstGeom>
          <a:solidFill>
            <a:srgbClr val="553C7B"/>
          </a:solidFill>
          <a:ln w="12700">
            <a:solidFill>
              <a:srgbClr val="553C7B"/>
            </a:solidFill>
            <a:prstDash val="solid"/>
          </a:ln>
        </p:spPr>
      </p:sp>
      <p:sp>
        <p:nvSpPr>
          <p:cNvPr id="29" name="Text 27"/>
          <p:cNvSpPr/>
          <p:nvPr/>
        </p:nvSpPr>
        <p:spPr>
          <a:xfrm>
            <a:off x="4572000" y="3858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084064" y="3840480"/>
            <a:ext cx="2523744" cy="420624"/>
          </a:xfrm>
          <a:prstGeom prst="rect">
            <a:avLst/>
          </a:prstGeom>
          <a:noFill/>
          <a:ln/>
        </p:spPr>
        <p:txBody>
          <a:bodyPr wrap="square" lIns="0" tIns="0" rIns="0" bIns="0" rtlCol="0" anchor="ctr"/>
          <a:lstStyle/>
          <a:p>
            <a:pPr indent="0" marL="0">
              <a:buNone/>
            </a:pPr>
            <a:r>
              <a:rPr lang="en-US" sz="1400" b="1" dirty="0">
                <a:solidFill>
                  <a:srgbClr val="12202B"/>
                </a:solidFill>
                <a:latin typeface="Calibri" pitchFamily="34" charset="0"/>
                <a:ea typeface="Calibri" pitchFamily="34" charset="-122"/>
                <a:cs typeface="Calibri" pitchFamily="34" charset="-120"/>
              </a:rPr>
              <a:t>Verify everything</a:t>
            </a:r>
            <a:endParaRPr lang="en-US" sz="1400" dirty="0"/>
          </a:p>
        </p:txBody>
      </p:sp>
      <p:sp>
        <p:nvSpPr>
          <p:cNvPr id="31" name="Text 29"/>
          <p:cNvSpPr/>
          <p:nvPr/>
        </p:nvSpPr>
        <p:spPr>
          <a:xfrm>
            <a:off x="4608576" y="4315968"/>
            <a:ext cx="2971800" cy="804672"/>
          </a:xfrm>
          <a:prstGeom prst="rect">
            <a:avLst/>
          </a:prstGeom>
          <a:noFill/>
          <a:ln/>
        </p:spPr>
        <p:txBody>
          <a:bodyPr wrap="square" lIns="0" tIns="0" rIns="0" bIns="0" rtlCol="0" anchor="t"/>
          <a:lstStyle/>
          <a:p>
            <a:pPr indent="0" marL="0">
              <a:lnSpc>
                <a:spcPts val="1633"/>
              </a:lnSpc>
              <a:buNone/>
            </a:pPr>
            <a:r>
              <a:rPr lang="en-US" sz="1150" dirty="0">
                <a:solidFill>
                  <a:srgbClr val="1B2B36"/>
                </a:solidFill>
                <a:latin typeface="Calibri" pitchFamily="34" charset="0"/>
                <a:ea typeface="Calibri" pitchFamily="34" charset="-122"/>
                <a:cs typeface="Calibri" pitchFamily="34" charset="-120"/>
              </a:rPr>
              <a:t>Every output is a draft. Every CVE gets looked up. Every command gets read.</a:t>
            </a:r>
            <a:endParaRPr lang="en-US" sz="1150" dirty="0"/>
          </a:p>
        </p:txBody>
      </p:sp>
      <p:sp>
        <p:nvSpPr>
          <p:cNvPr id="32" name="Shape 30"/>
          <p:cNvSpPr/>
          <p:nvPr/>
        </p:nvSpPr>
        <p:spPr>
          <a:xfrm>
            <a:off x="8065008" y="3657600"/>
            <a:ext cx="3483864" cy="1664208"/>
          </a:xfrm>
          <a:prstGeom prst="roundRect">
            <a:avLst>
              <a:gd name="adj" fmla="val 3297"/>
            </a:avLst>
          </a:prstGeom>
          <a:solidFill>
            <a:srgbClr val="12202B"/>
          </a:solidFill>
          <a:ln w="9525">
            <a:solidFill>
              <a:srgbClr val="12202B"/>
            </a:solidFill>
            <a:prstDash val="solid"/>
          </a:ln>
        </p:spPr>
      </p:sp>
      <p:sp>
        <p:nvSpPr>
          <p:cNvPr id="33" name="Text 31"/>
          <p:cNvSpPr/>
          <p:nvPr/>
        </p:nvSpPr>
        <p:spPr>
          <a:xfrm>
            <a:off x="8284464" y="3749040"/>
            <a:ext cx="3044952" cy="1481328"/>
          </a:xfrm>
          <a:prstGeom prst="rect">
            <a:avLst/>
          </a:prstGeom>
          <a:noFill/>
          <a:ln/>
        </p:spPr>
        <p:txBody>
          <a:bodyPr wrap="square" lIns="0" tIns="0" rIns="0" bIns="0" rtlCol="0" anchor="ctr"/>
          <a:lstStyle/>
          <a:p>
            <a:pPr indent="0" marL="0">
              <a:lnSpc>
                <a:spcPts val="1680"/>
              </a:lnSpc>
              <a:buNone/>
            </a:pPr>
            <a:r>
              <a:rPr lang="en-US" sz="1200" b="1" dirty="0">
                <a:solidFill>
                  <a:srgbClr val="8E77C4"/>
                </a:solidFill>
                <a:latin typeface="Calibri" pitchFamily="34" charset="0"/>
                <a:ea typeface="Calibri" pitchFamily="34" charset="-122"/>
                <a:cs typeface="Calibri" pitchFamily="34" charset="-120"/>
              </a:rPr>
              <a:t>Next:  </a:t>
            </a:r>
            <a:pPr indent="0" marL="0">
              <a:lnSpc>
                <a:spcPts val="1680"/>
              </a:lnSpc>
              <a:buNone/>
            </a:pPr>
            <a:r>
              <a:rPr lang="en-US" sz="1200" dirty="0">
                <a:solidFill>
                  <a:srgbClr val="FFFFFF"/>
                </a:solidFill>
                <a:latin typeface="Calibri" pitchFamily="34" charset="0"/>
                <a:ea typeface="Calibri" pitchFamily="34" charset="-122"/>
                <a:cs typeface="Calibri" pitchFamily="34" charset="-120"/>
              </a:rPr>
              <a:t>head into the lab and run your first AI security triage workflow yourself. Then Module 2 — Tools &amp; Environment. Welcome aboard.</a:t>
            </a:r>
            <a:endParaRPr lang="en-US" sz="12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1 · WHY AI FOR SECURITY</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From assistant to agent</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shift this course is about, in one picture: from answering a question to pursuing a goal.</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6</a:t>
            </a:r>
          </a:p>
        </p:txBody>
      </p:sp>
      <p:pic>
        <p:nvPicPr>
          <p:cNvPr id="7" name="Picture 6" descr="assistant_vs_agent.png"/>
          <p:cNvPicPr>
            <a:picLocks noChangeAspect="1"/>
          </p:cNvPicPr>
          <p:nvPr/>
        </p:nvPicPr>
        <p:blipFill>
          <a:blip r:embed="rId3"/>
          <a:stretch>
            <a:fillRect/>
          </a:stretch>
        </p:blipFill>
        <p:spPr>
          <a:xfrm>
            <a:off x="640080" y="1818060"/>
            <a:ext cx="10908792" cy="3313318"/>
          </a:xfrm>
          <a:prstGeom prst="rect">
            <a:avLst/>
          </a:prstGeom>
        </p:spPr>
      </p:pic>
      <p:sp>
        <p:nvSpPr>
          <p:cNvPr id="8" name="Rounded Rectangle 7"/>
          <p:cNvSpPr/>
          <p:nvPr/>
        </p:nvSpPr>
        <p:spPr>
          <a:xfrm>
            <a:off x="640080" y="5303520"/>
            <a:ext cx="6949440" cy="914400"/>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422392"/>
            <a:ext cx="6510527" cy="676656"/>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The distinction that organises the whole course.  </a:t>
            </a:r>
            <a:r>
              <a:rPr sz="1100" b="0" i="0">
                <a:solidFill>
                  <a:srgbClr val="1B2B36"/>
                </a:solidFill>
                <a:latin typeface="Calibri"/>
              </a:rPr>
              <a:t>Capability and risk arrive together: the moment a system chooses its own next action, “was that authorised?” becomes a real question rather than a hypothetical one.</a:t>
            </a:r>
          </a:p>
        </p:txBody>
      </p:sp>
      <p:sp>
        <p:nvSpPr>
          <p:cNvPr id="10" name="Rounded Rectangle 9"/>
          <p:cNvSpPr/>
          <p:nvPr/>
        </p:nvSpPr>
        <p:spPr>
          <a:xfrm>
            <a:off x="7863840" y="5303520"/>
            <a:ext cx="3685032" cy="914400"/>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83296" y="5449824"/>
            <a:ext cx="3246120"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Where we are going</a:t>
            </a:r>
          </a:p>
        </p:txBody>
      </p:sp>
      <p:sp>
        <p:nvSpPr>
          <p:cNvPr id="12" name="TextBox 11"/>
          <p:cNvSpPr txBox="1"/>
          <p:nvPr/>
        </p:nvSpPr>
        <p:spPr>
          <a:xfrm>
            <a:off x="8083296" y="5815583"/>
            <a:ext cx="3246120" cy="256032"/>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Modules 1–7 build the parts. Module 8 assembles them into something that acts on its own.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1 · WHY AI FOR SECURITY</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What is inside an agent</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Role, task, memory and planning — sitting on top of a model, and on top of a layer of tools.</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7</a:t>
            </a:r>
          </a:p>
        </p:txBody>
      </p:sp>
      <p:pic>
        <p:nvPicPr>
          <p:cNvPr id="7" name="Picture 6" descr="agent_anatomy.png"/>
          <p:cNvPicPr>
            <a:picLocks noChangeAspect="1"/>
          </p:cNvPicPr>
          <p:nvPr/>
        </p:nvPicPr>
        <p:blipFill>
          <a:blip r:embed="rId3"/>
          <a:stretch>
            <a:fillRect/>
          </a:stretch>
        </p:blipFill>
        <p:spPr>
          <a:xfrm>
            <a:off x="660234" y="1783080"/>
            <a:ext cx="10868482" cy="3749039"/>
          </a:xfrm>
          <a:prstGeom prst="rect">
            <a:avLst/>
          </a:prstGeom>
        </p:spPr>
      </p:pic>
      <p:sp>
        <p:nvSpPr>
          <p:cNvPr id="8" name="Rounded Rectangle 7"/>
          <p:cNvSpPr/>
          <p:nvPr/>
        </p:nvSpPr>
        <p:spPr>
          <a:xfrm>
            <a:off x="640080" y="5632704"/>
            <a:ext cx="10908792" cy="585216"/>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751576"/>
            <a:ext cx="10469880" cy="347472"/>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Each box becomes a module.  </a:t>
            </a:r>
            <a:r>
              <a:rPr sz="1100" b="0" i="0">
                <a:solidFill>
                  <a:srgbClr val="1B2B36"/>
                </a:solidFill>
                <a:latin typeface="Calibri"/>
              </a:rPr>
              <a:t>Memory and retrieval in module 4, orchestration in 5 and 6, the tool layer in 7, the whole loop in 8. Structure adapted from Santos, Agentic AI for Cybersecurity, Ch. 1, Fig.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1 · WHY AI FOR SECURITY</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Four kinds of agent</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reasoning pattern is the design decision. Match it to the task rather than reaching for the most capable one.</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8</a:t>
            </a:r>
          </a:p>
        </p:txBody>
      </p:sp>
      <p:graphicFrame>
        <p:nvGraphicFramePr>
          <p:cNvPr id="7" name="Table 6"/>
          <p:cNvGraphicFramePr>
            <a:graphicFrameLocks noGrp="1"/>
          </p:cNvGraphicFramePr>
          <p:nvPr/>
        </p:nvGraphicFramePr>
        <p:xfrm>
          <a:off x="640080" y="1783080"/>
          <a:ext cx="10908791" cy="3566160"/>
        </p:xfrm>
        <a:graphic>
          <a:graphicData uri="http://schemas.openxmlformats.org/drawingml/2006/table">
            <a:tbl>
              <a:tblPr firstRow="1" bandRow="1">
                <a:tableStyleId>{5C22544A-7EE6-4342-B048-85BDC9FD1C3A}</a:tableStyleId>
              </a:tblPr>
              <a:tblGrid>
                <a:gridCol w="1363599"/>
                <a:gridCol w="2272665"/>
                <a:gridCol w="2454478"/>
                <a:gridCol w="2363571"/>
                <a:gridCol w="2454478"/>
              </a:tblGrid>
              <a:tr h="891540">
                <a:tc>
                  <a:txBody>
                    <a:bodyPr wrap="square"/>
                    <a:lstStyle/>
                    <a:p>
                      <a:r>
                        <a:rPr sz="900" b="1">
                          <a:solidFill>
                            <a:srgbClr val="73305F"/>
                          </a:solidFill>
                          <a:latin typeface="Calibri"/>
                        </a:rPr>
                        <a:t/>
                      </a:r>
                    </a:p>
                  </a:txBody>
                  <a:tcPr marL="91440" marR="73152" marT="36576" marB="36576" anchor="ctr">
                    <a:solidFill>
                      <a:srgbClr val="F1E4ED"/>
                    </a:solidFill>
                  </a:tcPr>
                </a:tc>
                <a:tc>
                  <a:txBody>
                    <a:bodyPr wrap="square"/>
                    <a:lstStyle/>
                    <a:p>
                      <a:r>
                        <a:rPr sz="900" b="1">
                          <a:solidFill>
                            <a:srgbClr val="73305F"/>
                          </a:solidFill>
                          <a:latin typeface="Calibri"/>
                        </a:rPr>
                        <a:t>Routing</a:t>
                      </a:r>
                    </a:p>
                  </a:txBody>
                  <a:tcPr marL="91440" marR="73152" marT="36576" marB="36576" anchor="ctr">
                    <a:solidFill>
                      <a:srgbClr val="F1E4ED"/>
                    </a:solidFill>
                  </a:tcPr>
                </a:tc>
                <a:tc>
                  <a:txBody>
                    <a:bodyPr wrap="square"/>
                    <a:lstStyle/>
                    <a:p>
                      <a:r>
                        <a:rPr sz="900" b="1">
                          <a:solidFill>
                            <a:srgbClr val="73305F"/>
                          </a:solidFill>
                          <a:latin typeface="Calibri"/>
                        </a:rPr>
                        <a:t>Query planning</a:t>
                      </a:r>
                    </a:p>
                  </a:txBody>
                  <a:tcPr marL="91440" marR="73152" marT="36576" marB="36576" anchor="ctr">
                    <a:solidFill>
                      <a:srgbClr val="F1E4ED"/>
                    </a:solidFill>
                  </a:tcPr>
                </a:tc>
                <a:tc>
                  <a:txBody>
                    <a:bodyPr wrap="square"/>
                    <a:lstStyle/>
                    <a:p>
                      <a:r>
                        <a:rPr sz="900" b="1">
                          <a:solidFill>
                            <a:srgbClr val="73305F"/>
                          </a:solidFill>
                          <a:latin typeface="Calibri"/>
                        </a:rPr>
                        <a:t>ReAct</a:t>
                      </a:r>
                    </a:p>
                  </a:txBody>
                  <a:tcPr marL="91440" marR="73152" marT="36576" marB="36576" anchor="ctr">
                    <a:solidFill>
                      <a:srgbClr val="F1E4ED"/>
                    </a:solidFill>
                  </a:tcPr>
                </a:tc>
                <a:tc>
                  <a:txBody>
                    <a:bodyPr wrap="square"/>
                    <a:lstStyle/>
                    <a:p>
                      <a:r>
                        <a:rPr sz="900" b="1">
                          <a:solidFill>
                            <a:srgbClr val="73305F"/>
                          </a:solidFill>
                          <a:latin typeface="Calibri"/>
                        </a:rPr>
                        <a:t>Dynamic planning</a:t>
                      </a:r>
                    </a:p>
                  </a:txBody>
                  <a:tcPr marL="91440" marR="73152" marT="36576" marB="36576" anchor="ctr">
                    <a:solidFill>
                      <a:srgbClr val="F1E4ED"/>
                    </a:solidFill>
                  </a:tcPr>
                </a:tc>
              </a:tr>
              <a:tr h="891540">
                <a:tc>
                  <a:txBody>
                    <a:bodyPr wrap="square"/>
                    <a:lstStyle/>
                    <a:p>
                      <a:r>
                        <a:rPr sz="840" b="0">
                          <a:solidFill>
                            <a:srgbClr val="1B2B36"/>
                          </a:solidFill>
                          <a:latin typeface="Calibri"/>
                        </a:rPr>
                        <a:t>Primary goal</a:t>
                      </a:r>
                    </a:p>
                  </a:txBody>
                  <a:tcPr marL="91440" marR="73152" marT="36576" marB="36576" anchor="ctr">
                    <a:solidFill>
                      <a:srgbClr val="FFFFFF"/>
                    </a:solidFill>
                  </a:tcPr>
                </a:tc>
                <a:tc>
                  <a:txBody>
                    <a:bodyPr wrap="square"/>
                    <a:lstStyle/>
                    <a:p>
                      <a:r>
                        <a:rPr sz="840" b="0">
                          <a:solidFill>
                            <a:srgbClr val="1B2B36"/>
                          </a:solidFill>
                          <a:latin typeface="Calibri"/>
                        </a:rPr>
                        <a:t>Find the single best source, model or tool for a query.</a:t>
                      </a:r>
                    </a:p>
                  </a:txBody>
                  <a:tcPr marL="91440" marR="73152" marT="36576" marB="36576" anchor="ctr">
                    <a:solidFill>
                      <a:srgbClr val="FFFFFF"/>
                    </a:solidFill>
                  </a:tcPr>
                </a:tc>
                <a:tc>
                  <a:txBody>
                    <a:bodyPr wrap="square"/>
                    <a:lstStyle/>
                    <a:p>
                      <a:r>
                        <a:rPr sz="840" b="0">
                          <a:solidFill>
                            <a:srgbClr val="1B2B36"/>
                          </a:solidFill>
                          <a:latin typeface="Calibri"/>
                        </a:rPr>
                        <a:t>Break a complex query into parts and synthesise a complete result.</a:t>
                      </a:r>
                    </a:p>
                  </a:txBody>
                  <a:tcPr marL="91440" marR="73152" marT="36576" marB="36576" anchor="ctr">
                    <a:solidFill>
                      <a:srgbClr val="FFFFFF"/>
                    </a:solidFill>
                  </a:tcPr>
                </a:tc>
                <a:tc>
                  <a:txBody>
                    <a:bodyPr wrap="square"/>
                    <a:lstStyle/>
                    <a:p>
                      <a:r>
                        <a:rPr sz="840" b="0">
                          <a:solidFill>
                            <a:srgbClr val="1B2B36"/>
                          </a:solidFill>
                          <a:latin typeface="Calibri"/>
                        </a:rPr>
                        <a:t>Accomplish a goal by selecting and using a sequence of tools.</a:t>
                      </a:r>
                    </a:p>
                  </a:txBody>
                  <a:tcPr marL="91440" marR="73152" marT="36576" marB="36576" anchor="ctr">
                    <a:solidFill>
                      <a:srgbClr val="FFFFFF"/>
                    </a:solidFill>
                  </a:tcPr>
                </a:tc>
                <a:tc>
                  <a:txBody>
                    <a:bodyPr wrap="square"/>
                    <a:lstStyle/>
                    <a:p>
                      <a:r>
                        <a:rPr sz="840" b="0">
                          <a:solidFill>
                            <a:srgbClr val="1B2B36"/>
                          </a:solidFill>
                          <a:latin typeface="Calibri"/>
                        </a:rPr>
                        <a:t>Form a high-level strategy, execute it, and adjust as new information arrives.</a:t>
                      </a:r>
                    </a:p>
                  </a:txBody>
                  <a:tcPr marL="91440" marR="73152" marT="36576" marB="36576" anchor="ctr">
                    <a:solidFill>
                      <a:srgbClr val="FFFFFF"/>
                    </a:solidFill>
                  </a:tcPr>
                </a:tc>
              </a:tr>
              <a:tr h="891540">
                <a:tc>
                  <a:txBody>
                    <a:bodyPr wrap="square"/>
                    <a:lstStyle/>
                    <a:p>
                      <a:r>
                        <a:rPr sz="840" b="0">
                          <a:solidFill>
                            <a:srgbClr val="1B2B36"/>
                          </a:solidFill>
                          <a:latin typeface="Calibri"/>
                        </a:rPr>
                        <a:t>Core mechanism</a:t>
                      </a:r>
                    </a:p>
                  </a:txBody>
                  <a:tcPr marL="91440" marR="73152" marT="36576" marB="36576" anchor="ctr">
                    <a:solidFill>
                      <a:srgbClr val="F1F5F8"/>
                    </a:solidFill>
                  </a:tcPr>
                </a:tc>
                <a:tc>
                  <a:txBody>
                    <a:bodyPr wrap="square"/>
                    <a:lstStyle/>
                    <a:p>
                      <a:r>
                        <a:rPr sz="840" b="0">
                          <a:solidFill>
                            <a:srgbClr val="1B2B36"/>
                          </a:solidFill>
                          <a:latin typeface="Calibri"/>
                        </a:rPr>
                        <a:t>Classification and selection from a predefined list.</a:t>
                      </a:r>
                    </a:p>
                  </a:txBody>
                  <a:tcPr marL="91440" marR="73152" marT="36576" marB="36576" anchor="ctr">
                    <a:solidFill>
                      <a:srgbClr val="F1F5F8"/>
                    </a:solidFill>
                  </a:tcPr>
                </a:tc>
                <a:tc>
                  <a:txBody>
                    <a:bodyPr wrap="square"/>
                    <a:lstStyle/>
                    <a:p>
                      <a:r>
                        <a:rPr sz="840" b="0">
                          <a:solidFill>
                            <a:srgbClr val="1B2B36"/>
                          </a:solidFill>
                          <a:latin typeface="Calibri"/>
                        </a:rPr>
                        <a:t>Decomposition and synthesis — route sub-questions, combine answers.</a:t>
                      </a:r>
                    </a:p>
                  </a:txBody>
                  <a:tcPr marL="91440" marR="73152" marT="36576" marB="36576" anchor="ctr">
                    <a:solidFill>
                      <a:srgbClr val="F1F5F8"/>
                    </a:solidFill>
                  </a:tcPr>
                </a:tc>
                <a:tc>
                  <a:txBody>
                    <a:bodyPr wrap="square"/>
                    <a:lstStyle/>
                    <a:p>
                      <a:r>
                        <a:rPr sz="840" b="0">
                          <a:solidFill>
                            <a:srgbClr val="1B2B36"/>
                          </a:solidFill>
                          <a:latin typeface="Calibri"/>
                        </a:rPr>
                        <a:t>A reason–act loop: reason, act with a tool, observe, repeat.</a:t>
                      </a:r>
                    </a:p>
                  </a:txBody>
                  <a:tcPr marL="91440" marR="73152" marT="36576" marB="36576" anchor="ctr">
                    <a:solidFill>
                      <a:srgbClr val="F1F5F8"/>
                    </a:solidFill>
                  </a:tcPr>
                </a:tc>
                <a:tc>
                  <a:txBody>
                    <a:bodyPr wrap="square"/>
                    <a:lstStyle/>
                    <a:p>
                      <a:r>
                        <a:rPr sz="840" b="0">
                          <a:solidFill>
                            <a:srgbClr val="1B2B36"/>
                          </a:solidFill>
                          <a:latin typeface="Calibri"/>
                        </a:rPr>
                        <a:t>Plan–execute: a planner LLM writes the plan, an executor runs each step.</a:t>
                      </a:r>
                    </a:p>
                  </a:txBody>
                  <a:tcPr marL="91440" marR="73152" marT="36576" marB="36576" anchor="ctr">
                    <a:solidFill>
                      <a:srgbClr val="F1F5F8"/>
                    </a:solidFill>
                  </a:tcPr>
                </a:tc>
              </a:tr>
              <a:tr h="891540">
                <a:tc>
                  <a:txBody>
                    <a:bodyPr wrap="square"/>
                    <a:lstStyle/>
                    <a:p>
                      <a:r>
                        <a:rPr sz="840" b="0">
                          <a:solidFill>
                            <a:srgbClr val="1B2B36"/>
                          </a:solidFill>
                          <a:latin typeface="Calibri"/>
                        </a:rPr>
                        <a:t>When to use it</a:t>
                      </a:r>
                    </a:p>
                  </a:txBody>
                  <a:tcPr marL="91440" marR="73152" marT="36576" marB="36576" anchor="ctr">
                    <a:solidFill>
                      <a:srgbClr val="FFFFFF"/>
                    </a:solidFill>
                  </a:tcPr>
                </a:tc>
                <a:tc>
                  <a:txBody>
                    <a:bodyPr wrap="square"/>
                    <a:lstStyle/>
                    <a:p>
                      <a:r>
                        <a:rPr sz="840" b="0">
                          <a:solidFill>
                            <a:srgbClr val="1B2B36"/>
                          </a:solidFill>
                          <a:latin typeface="Calibri"/>
                        </a:rPr>
                        <a:t>Several distinct, well-defined sources and the problem is choosing one.</a:t>
                      </a:r>
                    </a:p>
                  </a:txBody>
                  <a:tcPr marL="91440" marR="73152" marT="36576" marB="36576" anchor="ctr">
                    <a:solidFill>
                      <a:srgbClr val="FFFFFF"/>
                    </a:solidFill>
                  </a:tcPr>
                </a:tc>
                <a:tc>
                  <a:txBody>
                    <a:bodyPr wrap="square"/>
                    <a:lstStyle/>
                    <a:p>
                      <a:r>
                        <a:rPr sz="840" b="0">
                          <a:solidFill>
                            <a:srgbClr val="1B2B36"/>
                          </a:solidFill>
                          <a:latin typeface="Calibri"/>
                        </a:rPr>
                        <a:t>Questions no single source can answer.</a:t>
                      </a:r>
                    </a:p>
                  </a:txBody>
                  <a:tcPr marL="91440" marR="73152" marT="36576" marB="36576" anchor="ctr">
                    <a:solidFill>
                      <a:srgbClr val="FFFFFF"/>
                    </a:solidFill>
                  </a:tcPr>
                </a:tc>
                <a:tc>
                  <a:txBody>
                    <a:bodyPr wrap="square"/>
                    <a:lstStyle/>
                    <a:p>
                      <a:r>
                        <a:rPr sz="840" b="0">
                          <a:solidFill>
                            <a:srgbClr val="1B2B36"/>
                          </a:solidFill>
                          <a:latin typeface="Calibri"/>
                        </a:rPr>
                        <a:t>The steps are not known in advance.</a:t>
                      </a:r>
                    </a:p>
                  </a:txBody>
                  <a:tcPr marL="91440" marR="73152" marT="36576" marB="36576" anchor="ctr">
                    <a:solidFill>
                      <a:srgbClr val="FFFFFF"/>
                    </a:solidFill>
                  </a:tcPr>
                </a:tc>
                <a:tc>
                  <a:txBody>
                    <a:bodyPr wrap="square"/>
                    <a:lstStyle/>
                    <a:p>
                      <a:r>
                        <a:rPr sz="840" b="0">
                          <a:solidFill>
                            <a:srgbClr val="1B2B36"/>
                          </a:solidFill>
                          <a:latin typeface="Calibri"/>
                        </a:rPr>
                        <a:t>Long-running tasks where the initial conditions change.</a:t>
                      </a:r>
                    </a:p>
                  </a:txBody>
                  <a:tcPr marL="91440" marR="73152" marT="36576" marB="36576" anchor="ctr">
                    <a:solidFill>
                      <a:srgbClr val="FFFFFF"/>
                    </a:solidFill>
                  </a:tcPr>
                </a:tc>
              </a:tr>
            </a:tbl>
          </a:graphicData>
        </a:graphic>
      </p:graphicFrame>
      <p:sp>
        <p:nvSpPr>
          <p:cNvPr id="8" name="Rounded Rectangle 7"/>
          <p:cNvSpPr/>
          <p:nvPr/>
        </p:nvSpPr>
        <p:spPr>
          <a:xfrm>
            <a:off x="640080" y="5468112"/>
            <a:ext cx="8138160" cy="749808"/>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586984"/>
            <a:ext cx="7699248" cy="512063"/>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Reach for the simplest pattern that fits.  </a:t>
            </a:r>
            <a:r>
              <a:rPr sz="1100" b="0" i="0">
                <a:solidFill>
                  <a:srgbClr val="1B2B36"/>
                </a:solidFill>
                <a:latin typeface="Calibri"/>
              </a:rPr>
              <a:t>The instinct is that dynamic planning is “best”. It is the most expensive and the hardest to debug — and a great deal of real security work is a routing agent.</a:t>
            </a:r>
          </a:p>
        </p:txBody>
      </p:sp>
      <p:sp>
        <p:nvSpPr>
          <p:cNvPr id="10" name="TextBox 9"/>
          <p:cNvSpPr txBox="1"/>
          <p:nvPr/>
        </p:nvSpPr>
        <p:spPr>
          <a:xfrm>
            <a:off x="8961120" y="5632704"/>
            <a:ext cx="2587752" cy="457200"/>
          </a:xfrm>
          <a:prstGeom prst="rect">
            <a:avLst/>
          </a:prstGeom>
          <a:noFill/>
        </p:spPr>
        <p:txBody>
          <a:bodyPr wrap="square" lIns="0" rIns="0" tIns="0" bIns="0">
            <a:spAutoFit/>
          </a:bodyPr>
          <a:lstStyle/>
          <a:p>
            <a:pPr algn="r">
              <a:spcAft>
                <a:spcPts val="200"/>
              </a:spcAft>
            </a:pPr>
            <a:r>
              <a:rPr sz="800" b="0" i="1">
                <a:solidFill>
                  <a:srgbClr val="7C99A8"/>
                </a:solidFill>
                <a:latin typeface="Calibri"/>
              </a:rPr>
              <a:t>Adapted from Santos,
Agentic AI for Cybersecurity, Table 1-1.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AI IN THE SOC</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3 a.m., two ways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textbook opens on this scene. It is the clearest picture of what the course is aiming at.</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14</a:t>
            </a:r>
          </a:p>
        </p:txBody>
      </p:sp>
      <p:pic>
        <p:nvPicPr>
          <p:cNvPr id="7" name="Picture 6" descr="soc_3am.png"/>
          <p:cNvPicPr>
            <a:picLocks noChangeAspect="1"/>
          </p:cNvPicPr>
          <p:nvPr/>
        </p:nvPicPr>
        <p:blipFill>
          <a:blip r:embed="rId3"/>
          <a:stretch>
            <a:fillRect/>
          </a:stretch>
        </p:blipFill>
        <p:spPr>
          <a:xfrm>
            <a:off x="640080" y="1800661"/>
            <a:ext cx="10908792" cy="3677301"/>
          </a:xfrm>
          <a:prstGeom prst="rect">
            <a:avLst/>
          </a:prstGeom>
        </p:spPr>
      </p:pic>
      <p:sp>
        <p:nvSpPr>
          <p:cNvPr id="8" name="Rounded Rectangle 7"/>
          <p:cNvSpPr/>
          <p:nvPr/>
        </p:nvSpPr>
        <p:spPr>
          <a:xfrm>
            <a:off x="640080" y="5596128"/>
            <a:ext cx="10908792" cy="62179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715000"/>
            <a:ext cx="10469880" cy="384048"/>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Nothing here is a general intelligence.  </a:t>
            </a:r>
            <a:r>
              <a:rPr sz="1100" b="0" i="0">
                <a:solidFill>
                  <a:srgbClr val="1B2B36"/>
                </a:solidFill>
                <a:latin typeface="Calibri"/>
              </a:rPr>
              <a:t>Every one of those is a narrow agent with a role and two or three tools — which is precisely why it is buildable, and what module 8 asks you to build. Scene from Santos, Ch. 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2 · AI IN THE SOC</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Where the attacks land</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Every stage you added for capability is a stage an attacker can reach. This is the map we return to all term.</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16</a:t>
            </a:r>
          </a:p>
        </p:txBody>
      </p:sp>
      <p:pic>
        <p:nvPicPr>
          <p:cNvPr id="7" name="Picture 6" descr="attack_surface.png"/>
          <p:cNvPicPr>
            <a:picLocks noChangeAspect="1"/>
          </p:cNvPicPr>
          <p:nvPr/>
        </p:nvPicPr>
        <p:blipFill>
          <a:blip r:embed="rId3"/>
          <a:stretch>
            <a:fillRect/>
          </a:stretch>
        </p:blipFill>
        <p:spPr>
          <a:xfrm>
            <a:off x="640080" y="1854414"/>
            <a:ext cx="10908792" cy="3222322"/>
          </a:xfrm>
          <a:prstGeom prst="rect">
            <a:avLst/>
          </a:prstGeom>
        </p:spPr>
      </p:pic>
      <p:sp>
        <p:nvSpPr>
          <p:cNvPr id="8" name="Rounded Rectangle 7"/>
          <p:cNvSpPr/>
          <p:nvPr/>
        </p:nvSpPr>
        <p:spPr>
          <a:xfrm>
            <a:off x="640080" y="5285232"/>
            <a:ext cx="10908792" cy="932688"/>
          </a:xfrm>
          <a:prstGeom prst="roundRect">
            <a:avLst>
              <a:gd name="adj" fmla="val 3500"/>
            </a:avLst>
          </a:prstGeom>
          <a:solidFill>
            <a:srgbClr val="F7E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404104"/>
            <a:ext cx="10469880" cy="694944"/>
          </a:xfrm>
          <a:prstGeom prst="rect">
            <a:avLst/>
          </a:prstGeom>
          <a:noFill/>
        </p:spPr>
        <p:txBody>
          <a:bodyPr wrap="square" lIns="0" rIns="0" tIns="0" bIns="0">
            <a:spAutoFit/>
          </a:bodyPr>
          <a:lstStyle/>
          <a:p>
            <a:pPr>
              <a:lnSpc>
                <a:spcPct val="116000"/>
              </a:lnSpc>
              <a:spcAft>
                <a:spcPts val="200"/>
              </a:spcAft>
            </a:pPr>
            <a:r>
              <a:rPr sz="1100" b="1" i="0">
                <a:solidFill>
                  <a:srgbClr val="A4243B"/>
                </a:solidFill>
                <a:latin typeface="Calibri"/>
              </a:rPr>
              <a:t>Read the red row as a syllabus.  </a:t>
            </a:r>
            <a:r>
              <a:rPr sz="1100" b="0" i="0">
                <a:solidFill>
                  <a:srgbClr val="1B2B36"/>
                </a:solidFill>
                <a:latin typeface="Calibri"/>
              </a:rPr>
              <a:t>Prompt injection and data poisoning arrive properly in module 4, insecure output handling in module 9, excessive agency in module 8, and the governance frameworks in module 10. Nothing on this row is hypothetical — every one has a published incident behind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FIRST AI WORKFLOW</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demo, end to end</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SimpleAlertClassifier.ipynb in full. Four cells: load the keys, build the prompt, ask each model, compare.</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21</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SimpleAlertClassifier.ipynb — CELLS 4, 6 AND 8</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790" b="0" i="0">
                <a:solidFill>
                  <a:srgbClr val="76909F"/>
                </a:solidFill>
                <a:latin typeface="Courier New"/>
              </a:rPr>
              <a:t># --- cell 4: load the keys, safely -------------------------</a:t>
            </a:r>
          </a:p>
          <a:p>
            <a:pPr>
              <a:lnSpc>
                <a:spcPct val="112000"/>
              </a:lnSpc>
              <a:spcAft>
                <a:spcPts val="100"/>
              </a:spcAft>
            </a:pPr>
            <a:r>
              <a:rPr sz="790" b="0" i="0">
                <a:solidFill>
                  <a:srgbClr val="D9A6CE"/>
                </a:solidFill>
                <a:latin typeface="Courier New"/>
              </a:rPr>
              <a:t>try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from</a:t>
            </a:r>
            <a:r>
              <a:rPr sz="790" b="0" i="0">
                <a:solidFill>
                  <a:srgbClr val="E4EDF2"/>
                </a:solidFill>
                <a:latin typeface="Courier New"/>
              </a:rPr>
              <a:t> </a:t>
            </a:r>
            <a:r>
              <a:rPr sz="790" b="0" i="0">
                <a:solidFill>
                  <a:srgbClr val="E4EDF2"/>
                </a:solidFill>
                <a:latin typeface="Courier New"/>
              </a:rPr>
              <a:t>google</a:t>
            </a:r>
            <a:r>
              <a:rPr sz="790" b="0" i="0">
                <a:solidFill>
                  <a:srgbClr val="E4EDF2"/>
                </a:solidFill>
                <a:latin typeface="Courier New"/>
              </a:rPr>
              <a:t>.</a:t>
            </a:r>
            <a:r>
              <a:rPr sz="790" b="0" i="0">
                <a:solidFill>
                  <a:srgbClr val="E4EDF2"/>
                </a:solidFill>
                <a:latin typeface="Courier New"/>
              </a:rPr>
              <a:t>colab</a:t>
            </a:r>
            <a:r>
              <a:rPr sz="790" b="0" i="0">
                <a:solidFill>
                  <a:srgbClr val="E4EDF2"/>
                </a:solidFill>
                <a:latin typeface="Courier New"/>
              </a:rPr>
              <a:t> </a:t>
            </a:r>
            <a:r>
              <a:rPr sz="790" b="0" i="0">
                <a:solidFill>
                  <a:srgbClr val="D9A6CE"/>
                </a:solidFill>
                <a:latin typeface="Courier New"/>
              </a:rPr>
              <a:t>import</a:t>
            </a:r>
            <a:r>
              <a:rPr sz="790" b="0" i="0">
                <a:solidFill>
                  <a:srgbClr val="E4EDF2"/>
                </a:solidFill>
                <a:latin typeface="Courier New"/>
              </a:rPr>
              <a:t> </a:t>
            </a:r>
            <a:r>
              <a:rPr sz="790" b="0" i="0">
                <a:solidFill>
                  <a:srgbClr val="E4EDF2"/>
                </a:solidFill>
                <a:latin typeface="Courier New"/>
              </a:rPr>
              <a:t>userdata</a:t>
            </a:r>
            <a:r>
              <a:rPr sz="790" b="0" i="0">
                <a:solidFill>
                  <a:srgbClr val="E4EDF2"/>
                </a:solidFill>
                <a:latin typeface="Courier New"/>
              </a:rPr>
              <a:t>          </a:t>
            </a:r>
            <a:r>
              <a:rPr sz="790" b="0" i="0">
                <a:solidFill>
                  <a:srgbClr val="76909F"/>
                </a:solidFill>
                <a:latin typeface="Courier New"/>
              </a:rPr>
              <a:t># Colab Secrets</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for</a:t>
            </a:r>
            <a:r>
              <a:rPr sz="790" b="0" i="0">
                <a:solidFill>
                  <a:srgbClr val="E4EDF2"/>
                </a:solidFill>
                <a:latin typeface="Courier New"/>
              </a:rPr>
              <a:t> </a:t>
            </a:r>
            <a:r>
              <a:rPr sz="790" b="0" i="0">
                <a:solidFill>
                  <a:srgbClr val="E4EDF2"/>
                </a:solidFill>
                <a:latin typeface="Courier New"/>
              </a:rPr>
              <a:t>k</a:t>
            </a:r>
            <a:r>
              <a:rPr sz="790" b="0" i="0">
                <a:solidFill>
                  <a:srgbClr val="E4EDF2"/>
                </a:solidFill>
                <a:latin typeface="Courier New"/>
              </a:rPr>
              <a:t> </a:t>
            </a:r>
            <a:r>
              <a:rPr sz="790" b="0" i="0">
                <a:solidFill>
                  <a:srgbClr val="D9A6CE"/>
                </a:solidFill>
                <a:latin typeface="Courier New"/>
              </a:rPr>
              <a:t>in</a:t>
            </a:r>
            <a:r>
              <a:rPr sz="790" b="0" i="0">
                <a:solidFill>
                  <a:srgbClr val="E4EDF2"/>
                </a:solidFill>
                <a:latin typeface="Courier New"/>
              </a:rPr>
              <a:t> (</a:t>
            </a:r>
            <a:r>
              <a:rPr sz="790" b="0" i="0">
                <a:solidFill>
                  <a:srgbClr val="EBB183"/>
                </a:solidFill>
                <a:latin typeface="Courier New"/>
              </a:rPr>
              <a:t>"ANTHROPIC_API_KEY"</a:t>
            </a:r>
            <a:r>
              <a:rPr sz="790" b="0" i="0">
                <a:solidFill>
                  <a:srgbClr val="E4EDF2"/>
                </a:solidFill>
                <a:latin typeface="Courier New"/>
              </a:rPr>
              <a:t>, </a:t>
            </a:r>
            <a:r>
              <a:rPr sz="790" b="0" i="0">
                <a:solidFill>
                  <a:srgbClr val="EBB183"/>
                </a:solidFill>
                <a:latin typeface="Courier New"/>
              </a:rPr>
              <a:t>"OPENAI_API_KEY"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if</a:t>
            </a:r>
            <a:r>
              <a:rPr sz="790" b="0" i="0">
                <a:solidFill>
                  <a:srgbClr val="E4EDF2"/>
                </a:solidFill>
                <a:latin typeface="Courier New"/>
              </a:rPr>
              <a:t> </a:t>
            </a:r>
            <a:r>
              <a:rPr sz="790" b="0" i="0">
                <a:solidFill>
                  <a:srgbClr val="E4EDF2"/>
                </a:solidFill>
                <a:latin typeface="Courier New"/>
              </a:rPr>
              <a:t>userdata</a:t>
            </a:r>
            <a:r>
              <a:rPr sz="790" b="0" i="0">
                <a:solidFill>
                  <a:srgbClr val="E4EDF2"/>
                </a:solidFill>
                <a:latin typeface="Courier New"/>
              </a:rPr>
              <a:t>.</a:t>
            </a:r>
            <a:r>
              <a:rPr sz="790" b="0" i="0">
                <a:solidFill>
                  <a:srgbClr val="9FC4EE"/>
                </a:solidFill>
                <a:latin typeface="Courier New"/>
              </a:rPr>
              <a:t>get</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 </a:t>
            </a:r>
            <a:r>
              <a:rPr sz="790" b="0" i="0">
                <a:solidFill>
                  <a:srgbClr val="E4EDF2"/>
                </a:solidFill>
                <a:latin typeface="Courier New"/>
              </a:rPr>
              <a:t>os</a:t>
            </a:r>
            <a:r>
              <a:rPr sz="790" b="0" i="0">
                <a:solidFill>
                  <a:srgbClr val="E4EDF2"/>
                </a:solidFill>
                <a:latin typeface="Courier New"/>
              </a:rPr>
              <a:t>.</a:t>
            </a:r>
            <a:r>
              <a:rPr sz="790" b="0" i="0">
                <a:solidFill>
                  <a:srgbClr val="E4EDF2"/>
                </a:solidFill>
                <a:latin typeface="Courier New"/>
              </a:rPr>
              <a:t>environ</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 = </a:t>
            </a:r>
            <a:r>
              <a:rPr sz="790" b="0" i="0">
                <a:solidFill>
                  <a:srgbClr val="E4EDF2"/>
                </a:solidFill>
                <a:latin typeface="Courier New"/>
              </a:rPr>
              <a:t>userdata</a:t>
            </a:r>
            <a:r>
              <a:rPr sz="790" b="0" i="0">
                <a:solidFill>
                  <a:srgbClr val="E4EDF2"/>
                </a:solidFill>
                <a:latin typeface="Courier New"/>
              </a:rPr>
              <a:t>.</a:t>
            </a:r>
            <a:r>
              <a:rPr sz="790" b="0" i="0">
                <a:solidFill>
                  <a:srgbClr val="9FC4EE"/>
                </a:solidFill>
                <a:latin typeface="Courier New"/>
              </a:rPr>
              <a:t>get</a:t>
            </a:r>
            <a:r>
              <a:rPr sz="790" b="0" i="0">
                <a:solidFill>
                  <a:srgbClr val="E4EDF2"/>
                </a:solidFill>
                <a:latin typeface="Courier New"/>
              </a:rPr>
              <a:t>(</a:t>
            </a:r>
            <a:r>
              <a:rPr sz="790" b="0" i="0">
                <a:solidFill>
                  <a:srgbClr val="E4EDF2"/>
                </a:solidFill>
                <a:latin typeface="Courier New"/>
              </a:rPr>
              <a:t>k</a:t>
            </a:r>
            <a:r>
              <a:rPr sz="790" b="0" i="0">
                <a:solidFill>
                  <a:srgbClr val="E4EDF2"/>
                </a:solidFill>
                <a:latin typeface="Courier New"/>
              </a:rPr>
              <a:t>)</a:t>
            </a:r>
          </a:p>
          <a:p>
            <a:pPr>
              <a:lnSpc>
                <a:spcPct val="112000"/>
              </a:lnSpc>
              <a:spcAft>
                <a:spcPts val="100"/>
              </a:spcAft>
            </a:pPr>
            <a:r>
              <a:rPr sz="790" b="0" i="0">
                <a:solidFill>
                  <a:srgbClr val="D9A6CE"/>
                </a:solidFill>
                <a:latin typeface="Courier New"/>
              </a:rPr>
              <a:t>except</a:t>
            </a:r>
            <a:r>
              <a:rPr sz="790" b="0" i="0">
                <a:solidFill>
                  <a:srgbClr val="E4EDF2"/>
                </a:solidFill>
                <a:latin typeface="Courier New"/>
              </a:rPr>
              <a:t> </a:t>
            </a:r>
            <a:r>
              <a:rPr sz="790" b="0" i="0">
                <a:solidFill>
                  <a:srgbClr val="E4EDF2"/>
                </a:solidFill>
                <a:latin typeface="Courier New"/>
              </a:rPr>
              <a:t>Exception</a:t>
            </a:r>
            <a:r>
              <a:rPr sz="790" b="0" i="0">
                <a:solidFill>
                  <a:srgbClr val="E4EDF2"/>
                </a:solidFill>
                <a:latin typeface="Courier New"/>
              </a:rPr>
              <a:t>: </a:t>
            </a:r>
            <a:r>
              <a:rPr sz="790" b="0" i="0">
                <a:solidFill>
                  <a:srgbClr val="D9A6CE"/>
                </a:solidFill>
                <a:latin typeface="Courier New"/>
              </a:rPr>
              <a:t>pass</a:t>
            </a:r>
          </a:p>
          <a:p>
            <a:pPr>
              <a:lnSpc>
                <a:spcPct val="112000"/>
              </a:lnSpc>
              <a:spcAft>
                <a:spcPts val="100"/>
              </a:spcAft>
            </a:pPr>
            <a:r>
              <a:rPr sz="790" b="0" i="0">
                <a:solidFill>
                  <a:srgbClr val="D9A6CE"/>
                </a:solidFill>
                <a:latin typeface="Courier New"/>
              </a:rPr>
              <a:t>try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from</a:t>
            </a:r>
            <a:r>
              <a:rPr sz="790" b="0" i="0">
                <a:solidFill>
                  <a:srgbClr val="E4EDF2"/>
                </a:solidFill>
                <a:latin typeface="Courier New"/>
              </a:rPr>
              <a:t> </a:t>
            </a:r>
            <a:r>
              <a:rPr sz="790" b="0" i="0">
                <a:solidFill>
                  <a:srgbClr val="E4EDF2"/>
                </a:solidFill>
                <a:latin typeface="Courier New"/>
              </a:rPr>
              <a:t>dotenv</a:t>
            </a:r>
            <a:r>
              <a:rPr sz="790" b="0" i="0">
                <a:solidFill>
                  <a:srgbClr val="E4EDF2"/>
                </a:solidFill>
                <a:latin typeface="Courier New"/>
              </a:rPr>
              <a:t> </a:t>
            </a:r>
            <a:r>
              <a:rPr sz="790" b="0" i="0">
                <a:solidFill>
                  <a:srgbClr val="D9A6CE"/>
                </a:solidFill>
                <a:latin typeface="Courier New"/>
              </a:rPr>
              <a:t>import</a:t>
            </a:r>
            <a:r>
              <a:rPr sz="790" b="0" i="0">
                <a:solidFill>
                  <a:srgbClr val="E4EDF2"/>
                </a:solidFill>
                <a:latin typeface="Courier New"/>
              </a:rPr>
              <a:t> </a:t>
            </a:r>
            <a:r>
              <a:rPr sz="790" b="0" i="0">
                <a:solidFill>
                  <a:srgbClr val="E4EDF2"/>
                </a:solidFill>
                <a:latin typeface="Courier New"/>
              </a:rPr>
              <a:t>load_dotenv</a:t>
            </a:r>
            <a:r>
              <a:rPr sz="790" b="0" i="0">
                <a:solidFill>
                  <a:srgbClr val="E4EDF2"/>
                </a:solidFill>
                <a:latin typeface="Courier New"/>
              </a:rPr>
              <a:t>, </a:t>
            </a:r>
            <a:r>
              <a:rPr sz="790" b="0" i="0">
                <a:solidFill>
                  <a:srgbClr val="E4EDF2"/>
                </a:solidFill>
                <a:latin typeface="Courier New"/>
              </a:rPr>
              <a:t>find_dotenv</a:t>
            </a:r>
            <a:r>
              <a:rPr sz="790" b="0" i="0">
                <a:solidFill>
                  <a:srgbClr val="E4EDF2"/>
                </a:solidFill>
                <a:latin typeface="Courier New"/>
              </a:rPr>
              <a:t>   </a:t>
            </a:r>
            <a:r>
              <a:rPr sz="790" b="0" i="0">
                <a:solidFill>
                  <a:srgbClr val="76909F"/>
                </a:solidFill>
                <a:latin typeface="Courier New"/>
              </a:rPr>
              <a:t># local .env</a:t>
            </a:r>
          </a:p>
          <a:p>
            <a:pPr>
              <a:lnSpc>
                <a:spcPct val="112000"/>
              </a:lnSpc>
              <a:spcAft>
                <a:spcPts val="100"/>
              </a:spcAft>
            </a:pPr>
            <a:r>
              <a:rPr sz="790" b="0" i="0">
                <a:solidFill>
                  <a:srgbClr val="E4EDF2"/>
                </a:solidFill>
                <a:latin typeface="Courier New"/>
              </a:rPr>
              <a:t>    </a:t>
            </a:r>
            <a:r>
              <a:rPr sz="790" b="0" i="0">
                <a:solidFill>
                  <a:srgbClr val="9FC4EE"/>
                </a:solidFill>
                <a:latin typeface="Courier New"/>
              </a:rPr>
              <a:t>load_dotenv</a:t>
            </a:r>
            <a:r>
              <a:rPr sz="790" b="0" i="0">
                <a:solidFill>
                  <a:srgbClr val="E4EDF2"/>
                </a:solidFill>
                <a:latin typeface="Courier New"/>
              </a:rPr>
              <a:t>(</a:t>
            </a:r>
            <a:r>
              <a:rPr sz="790" b="0" i="0">
                <a:solidFill>
                  <a:srgbClr val="9FC4EE"/>
                </a:solidFill>
                <a:latin typeface="Courier New"/>
              </a:rPr>
              <a:t>find_dotenv</a:t>
            </a:r>
            <a:r>
              <a:rPr sz="790" b="0" i="0">
                <a:solidFill>
                  <a:srgbClr val="E4EDF2"/>
                </a:solidFill>
                <a:latin typeface="Courier New"/>
              </a:rPr>
              <a:t>())</a:t>
            </a:r>
          </a:p>
          <a:p>
            <a:pPr>
              <a:lnSpc>
                <a:spcPct val="112000"/>
              </a:lnSpc>
              <a:spcAft>
                <a:spcPts val="100"/>
              </a:spcAft>
            </a:pPr>
            <a:r>
              <a:rPr sz="790" b="0" i="0">
                <a:solidFill>
                  <a:srgbClr val="D9A6CE"/>
                </a:solidFill>
                <a:latin typeface="Courier New"/>
              </a:rPr>
              <a:t>except</a:t>
            </a:r>
            <a:r>
              <a:rPr sz="790" b="0" i="0">
                <a:solidFill>
                  <a:srgbClr val="E4EDF2"/>
                </a:solidFill>
                <a:latin typeface="Courier New"/>
              </a:rPr>
              <a:t> </a:t>
            </a:r>
            <a:r>
              <a:rPr sz="790" b="0" i="0">
                <a:solidFill>
                  <a:srgbClr val="E4EDF2"/>
                </a:solidFill>
                <a:latin typeface="Courier New"/>
              </a:rPr>
              <a:t>Exception</a:t>
            </a:r>
            <a:r>
              <a:rPr sz="790" b="0" i="0">
                <a:solidFill>
                  <a:srgbClr val="E4EDF2"/>
                </a:solidFill>
                <a:latin typeface="Courier New"/>
              </a:rPr>
              <a:t>: </a:t>
            </a:r>
            <a:r>
              <a:rPr sz="790" b="0" i="0">
                <a:solidFill>
                  <a:srgbClr val="D9A6CE"/>
                </a:solidFill>
                <a:latin typeface="Courier New"/>
              </a:rPr>
              <a:t>pass</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E4EDF2"/>
                </a:solidFill>
                <a:latin typeface="Courier New"/>
              </a:rPr>
              <a:t>HAS_ANTHROPIC</a:t>
            </a:r>
            <a:r>
              <a:rPr sz="790" b="0" i="0">
                <a:solidFill>
                  <a:srgbClr val="E4EDF2"/>
                </a:solidFill>
                <a:latin typeface="Courier New"/>
              </a:rPr>
              <a:t> = </a:t>
            </a:r>
            <a:r>
              <a:rPr sz="790" b="0" i="0">
                <a:solidFill>
                  <a:srgbClr val="9FC4EE"/>
                </a:solidFill>
                <a:latin typeface="Courier New"/>
              </a:rPr>
              <a:t>bool</a:t>
            </a:r>
            <a:r>
              <a:rPr sz="790" b="0" i="0">
                <a:solidFill>
                  <a:srgbClr val="E4EDF2"/>
                </a:solidFill>
                <a:latin typeface="Courier New"/>
              </a:rPr>
              <a:t>(</a:t>
            </a:r>
            <a:r>
              <a:rPr sz="790" b="0" i="0">
                <a:solidFill>
                  <a:srgbClr val="E4EDF2"/>
                </a:solidFill>
                <a:latin typeface="Courier New"/>
              </a:rPr>
              <a:t>os</a:t>
            </a:r>
            <a:r>
              <a:rPr sz="790" b="0" i="0">
                <a:solidFill>
                  <a:srgbClr val="E4EDF2"/>
                </a:solidFill>
                <a:latin typeface="Courier New"/>
              </a:rPr>
              <a:t>.</a:t>
            </a:r>
            <a:r>
              <a:rPr sz="790" b="0" i="0">
                <a:solidFill>
                  <a:srgbClr val="9FC4EE"/>
                </a:solidFill>
                <a:latin typeface="Courier New"/>
              </a:rPr>
              <a:t>getenv</a:t>
            </a:r>
            <a:r>
              <a:rPr sz="790" b="0" i="0">
                <a:solidFill>
                  <a:srgbClr val="E4EDF2"/>
                </a:solidFill>
                <a:latin typeface="Courier New"/>
              </a:rPr>
              <a:t>(</a:t>
            </a:r>
            <a:r>
              <a:rPr sz="790" b="0" i="0">
                <a:solidFill>
                  <a:srgbClr val="EBB183"/>
                </a:solidFill>
                <a:latin typeface="Courier New"/>
              </a:rPr>
              <a:t>"ANTHROPIC_API_KEY"</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CLAUDE_MODEL</a:t>
            </a:r>
            <a:r>
              <a:rPr sz="790" b="0" i="0">
                <a:solidFill>
                  <a:srgbClr val="E4EDF2"/>
                </a:solidFill>
                <a:latin typeface="Courier New"/>
              </a:rPr>
              <a:t>  = </a:t>
            </a:r>
            <a:r>
              <a:rPr sz="790" b="0" i="0">
                <a:solidFill>
                  <a:srgbClr val="EBB183"/>
                </a:solidFill>
                <a:latin typeface="Courier New"/>
              </a:rPr>
              <a:t>"claude-haiku-4-5-20251001"</a:t>
            </a:r>
          </a:p>
          <a:p>
            <a:pPr>
              <a:lnSpc>
                <a:spcPct val="112000"/>
              </a:lnSpc>
              <a:spcAft>
                <a:spcPts val="100"/>
              </a:spcAft>
            </a:pPr>
            <a:r>
              <a:rPr sz="790" b="0" i="0">
                <a:solidFill>
                  <a:srgbClr val="9FC4EE"/>
                </a:solidFill>
                <a:latin typeface="Courier New"/>
              </a:rPr>
              <a:t>print</a:t>
            </a:r>
            <a:r>
              <a:rPr sz="790" b="0" i="0">
                <a:solidFill>
                  <a:srgbClr val="E4EDF2"/>
                </a:solidFill>
                <a:latin typeface="Courier New"/>
              </a:rPr>
              <a:t>(</a:t>
            </a:r>
            <a:r>
              <a:rPr sz="790" b="0" i="0">
                <a:solidFill>
                  <a:srgbClr val="EBB183"/>
                </a:solidFill>
                <a:latin typeface="Courier New"/>
              </a:rPr>
              <a:t>"Anthropic key:"</a:t>
            </a:r>
            <a:r>
              <a:rPr sz="790" b="0" i="0">
                <a:solidFill>
                  <a:srgbClr val="E4EDF2"/>
                </a:solidFill>
                <a:latin typeface="Courier New"/>
              </a:rPr>
              <a:t>, </a:t>
            </a:r>
            <a:r>
              <a:rPr sz="790" b="0" i="0">
                <a:solidFill>
                  <a:srgbClr val="EBB183"/>
                </a:solidFill>
                <a:latin typeface="Courier New"/>
              </a:rPr>
              <a:t>"found"</a:t>
            </a:r>
            <a:r>
              <a:rPr sz="790" b="0" i="0">
                <a:solidFill>
                  <a:srgbClr val="E4EDF2"/>
                </a:solidFill>
                <a:latin typeface="Courier New"/>
              </a:rPr>
              <a:t> </a:t>
            </a:r>
            <a:r>
              <a:rPr sz="790" b="0" i="0">
                <a:solidFill>
                  <a:srgbClr val="D9A6CE"/>
                </a:solidFill>
                <a:latin typeface="Courier New"/>
              </a:rPr>
              <a:t>if</a:t>
            </a:r>
            <a:r>
              <a:rPr sz="790" b="0" i="0">
                <a:solidFill>
                  <a:srgbClr val="E4EDF2"/>
                </a:solidFill>
                <a:latin typeface="Courier New"/>
              </a:rPr>
              <a:t> </a:t>
            </a:r>
            <a:r>
              <a:rPr sz="790" b="0" i="0">
                <a:solidFill>
                  <a:srgbClr val="E4EDF2"/>
                </a:solidFill>
                <a:latin typeface="Courier New"/>
              </a:rPr>
              <a:t>HAS_ANTHROPIC</a:t>
            </a:r>
            <a:r>
              <a:rPr sz="790" b="0" i="0">
                <a:solidFill>
                  <a:srgbClr val="E4EDF2"/>
                </a:solidFill>
                <a:latin typeface="Courier New"/>
              </a:rPr>
              <a:t> </a:t>
            </a:r>
            <a:r>
              <a:rPr sz="790" b="0" i="0">
                <a:solidFill>
                  <a:srgbClr val="D9A6CE"/>
                </a:solidFill>
                <a:latin typeface="Courier New"/>
              </a:rPr>
              <a:t>else</a:t>
            </a:r>
            <a:r>
              <a:rPr sz="790" b="0" i="0">
                <a:solidFill>
                  <a:srgbClr val="E4EDF2"/>
                </a:solidFill>
                <a:latin typeface="Courier New"/>
              </a:rPr>
              <a:t> </a:t>
            </a:r>
            <a:r>
              <a:rPr sz="790" b="0" i="0">
                <a:solidFill>
                  <a:srgbClr val="EBB183"/>
                </a:solidFill>
                <a:latin typeface="Courier New"/>
              </a:rPr>
              <a:t>"MISSING"</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r>
          </a:p>
          <a:p>
            <a:pPr>
              <a:lnSpc>
                <a:spcPct val="112000"/>
              </a:lnSpc>
              <a:spcAft>
                <a:spcPts val="100"/>
              </a:spcAft>
            </a:pPr>
            <a:r>
              <a:rPr sz="790" b="0" i="0">
                <a:solidFill>
                  <a:srgbClr val="76909F"/>
                </a:solidFill>
                <a:latin typeface="Courier New"/>
              </a:rPr>
              <a:t># --- cell 6: the alert and the prompt ----------------------</a:t>
            </a:r>
          </a:p>
          <a:p>
            <a:pPr>
              <a:lnSpc>
                <a:spcPct val="112000"/>
              </a:lnSpc>
              <a:spcAft>
                <a:spcPts val="100"/>
              </a:spcAft>
            </a:pPr>
            <a:r>
              <a:rPr sz="790" b="0" i="0">
                <a:solidFill>
                  <a:srgbClr val="E4EDF2"/>
                </a:solidFill>
                <a:latin typeface="Courier New"/>
              </a:rPr>
              <a:t>alert</a:t>
            </a:r>
            <a:r>
              <a:rPr sz="790" b="0" i="0">
                <a:solidFill>
                  <a:srgbClr val="E4EDF2"/>
                </a:solidFill>
                <a:latin typeface="Courier New"/>
              </a:rPr>
              <a:t>  = </a:t>
            </a:r>
            <a:r>
              <a:rPr sz="790" b="0" i="0">
                <a:solidFill>
                  <a:srgbClr val="EBB183"/>
                </a:solidFill>
                <a:latin typeface="Courier New"/>
              </a:rPr>
              <a:t>"5 failed logins for 'admin' from 203.0.113.7 ..."</a:t>
            </a:r>
          </a:p>
          <a:p>
            <a:pPr>
              <a:lnSpc>
                <a:spcPct val="112000"/>
              </a:lnSpc>
              <a:spcAft>
                <a:spcPts val="100"/>
              </a:spcAft>
            </a:pPr>
            <a:r>
              <a:rPr sz="790" b="0" i="0">
                <a:solidFill>
                  <a:srgbClr val="E4EDF2"/>
                </a:solidFill>
                <a:latin typeface="Courier New"/>
              </a:rPr>
              <a:t>PROMPT</a:t>
            </a:r>
            <a:r>
              <a:rPr sz="790" b="0" i="0">
                <a:solidFill>
                  <a:srgbClr val="E4EDF2"/>
                </a:solidFill>
                <a:latin typeface="Courier New"/>
              </a:rPr>
              <a:t> = </a:t>
            </a:r>
            <a:r>
              <a:rPr sz="790" b="0" i="0">
                <a:solidFill>
                  <a:srgbClr val="E4EDF2"/>
                </a:solidFill>
                <a:latin typeface="Courier New"/>
              </a:rPr>
              <a:t>f</a:t>
            </a:r>
            <a:r>
              <a:rPr sz="790" b="0" i="0">
                <a:solidFill>
                  <a:srgbClr val="EBB183"/>
                </a:solidFill>
                <a:latin typeface="Courier New"/>
              </a:rPr>
              <a:t>"Classify this security alert as benign or "</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f</a:t>
            </a:r>
            <a:r>
              <a:rPr sz="790" b="0" i="0">
                <a:solidFill>
                  <a:srgbClr val="EBB183"/>
                </a:solidFill>
                <a:latin typeface="Courier New"/>
              </a:rPr>
              <a:t>"suspicious and explain in one sentence: {alert}"</a:t>
            </a:r>
          </a:p>
          <a:p>
            <a:pPr>
              <a:lnSpc>
                <a:spcPct val="112000"/>
              </a:lnSpc>
              <a:spcAft>
                <a:spcPts val="100"/>
              </a:spcAft>
            </a:pPr>
            <a:r>
              <a:rPr sz="790" b="0" i="0">
                <a:solidFill>
                  <a:srgbClr val="76909F"/>
                </a:solidFill>
                <a:latin typeface="Courier New"/>
              </a:rPr>
              <a:t># --- cell 8: ask Claude ------------------------------------</a:t>
            </a:r>
          </a:p>
          <a:p>
            <a:pPr>
              <a:lnSpc>
                <a:spcPct val="112000"/>
              </a:lnSpc>
              <a:spcAft>
                <a:spcPts val="100"/>
              </a:spcAft>
            </a:pPr>
            <a:r>
              <a:rPr sz="790" b="0" i="0">
                <a:solidFill>
                  <a:srgbClr val="D9A6CE"/>
                </a:solidFill>
                <a:latin typeface="Courier New"/>
              </a:rPr>
              <a:t>def</a:t>
            </a:r>
            <a:r>
              <a:rPr sz="790" b="0" i="0">
                <a:solidFill>
                  <a:srgbClr val="E4EDF2"/>
                </a:solidFill>
                <a:latin typeface="Courier New"/>
              </a:rPr>
              <a:t> </a:t>
            </a:r>
            <a:r>
              <a:rPr sz="790" b="0" i="0">
                <a:solidFill>
                  <a:srgbClr val="9FC4EE"/>
                </a:solidFill>
                <a:latin typeface="Courier New"/>
              </a:rPr>
              <a:t>classify_with_claude</a:t>
            </a:r>
            <a:r>
              <a:rPr sz="790" b="0" i="0">
                <a:solidFill>
                  <a:srgbClr val="E4EDF2"/>
                </a:solidFill>
                <a:latin typeface="Courier New"/>
              </a:rPr>
              <a:t>(</a:t>
            </a:r>
            <a:r>
              <a:rPr sz="790" b="0" i="0">
                <a:solidFill>
                  <a:srgbClr val="E4EDF2"/>
                </a:solidFill>
                <a:latin typeface="Courier New"/>
              </a:rPr>
              <a:t>alert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if</a:t>
            </a:r>
            <a:r>
              <a:rPr sz="790" b="0" i="0">
                <a:solidFill>
                  <a:srgbClr val="E4EDF2"/>
                </a:solidFill>
                <a:latin typeface="Courier New"/>
              </a:rPr>
              <a:t> </a:t>
            </a:r>
            <a:r>
              <a:rPr sz="790" b="0" i="0">
                <a:solidFill>
                  <a:srgbClr val="D9A6CE"/>
                </a:solidFill>
                <a:latin typeface="Courier New"/>
              </a:rPr>
              <a:t>not</a:t>
            </a:r>
            <a:r>
              <a:rPr sz="790" b="0" i="0">
                <a:solidFill>
                  <a:srgbClr val="E4EDF2"/>
                </a:solidFill>
                <a:latin typeface="Courier New"/>
              </a:rPr>
              <a:t> </a:t>
            </a:r>
            <a:r>
              <a:rPr sz="790" b="0" i="0">
                <a:solidFill>
                  <a:srgbClr val="E4EDF2"/>
                </a:solidFill>
                <a:latin typeface="Courier New"/>
              </a:rPr>
              <a:t>HAS_ANTHROPIC</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return</a:t>
            </a:r>
            <a:r>
              <a:rPr sz="790" b="0" i="0">
                <a:solidFill>
                  <a:srgbClr val="E4EDF2"/>
                </a:solidFill>
                <a:latin typeface="Courier New"/>
              </a:rPr>
              <a:t> </a:t>
            </a:r>
            <a:r>
              <a:rPr sz="790" b="0" i="0">
                <a:solidFill>
                  <a:srgbClr val="EBB183"/>
                </a:solidFill>
                <a:latin typeface="Courier New"/>
              </a:rPr>
              <a:t>"[skipped — no ANTHROPIC_API_KEY set]"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msg</a:t>
            </a:r>
            <a:r>
              <a:rPr sz="790" b="0" i="0">
                <a:solidFill>
                  <a:srgbClr val="E4EDF2"/>
                </a:solidFill>
                <a:latin typeface="Courier New"/>
              </a:rPr>
              <a:t> = </a:t>
            </a:r>
            <a:r>
              <a:rPr sz="790" b="0" i="0">
                <a:solidFill>
                  <a:srgbClr val="9FC4EE"/>
                </a:solidFill>
                <a:latin typeface="Courier New"/>
              </a:rPr>
              <a:t>Anthropic</a:t>
            </a:r>
            <a:r>
              <a:rPr sz="790" b="0" i="0">
                <a:solidFill>
                  <a:srgbClr val="E4EDF2"/>
                </a:solidFill>
                <a:latin typeface="Courier New"/>
              </a:rPr>
              <a:t>(</a:t>
            </a:r>
            <a:r>
              <a:rPr sz="790" b="0" i="0">
                <a:solidFill>
                  <a:srgbClr val="E4EDF2"/>
                </a:solidFill>
                <a:latin typeface="Courier New"/>
              </a:rPr>
              <a:t>api_key</a:t>
            </a:r>
            <a:r>
              <a:rPr sz="790" b="0" i="0">
                <a:solidFill>
                  <a:srgbClr val="E4EDF2"/>
                </a:solidFill>
                <a:latin typeface="Courier New"/>
              </a:rPr>
              <a:t>=</a:t>
            </a:r>
            <a:r>
              <a:rPr sz="790" b="0" i="0">
                <a:solidFill>
                  <a:srgbClr val="E4EDF2"/>
                </a:solidFill>
                <a:latin typeface="Courier New"/>
              </a:rPr>
              <a:t>ANTHROPIC_API_KEY</a:t>
            </a:r>
            <a:r>
              <a:rPr sz="790" b="0" i="0">
                <a:solidFill>
                  <a:srgbClr val="E4EDF2"/>
                </a:solidFill>
                <a:latin typeface="Courier New"/>
              </a:rPr>
              <a:t>).</a:t>
            </a:r>
            <a:r>
              <a:rPr sz="790" b="0" i="0">
                <a:solidFill>
                  <a:srgbClr val="E4EDF2"/>
                </a:solidFill>
                <a:latin typeface="Courier New"/>
              </a:rPr>
              <a:t>messages</a:t>
            </a:r>
            <a:r>
              <a:rPr sz="790" b="0" i="0">
                <a:solidFill>
                  <a:srgbClr val="E4EDF2"/>
                </a:solidFill>
                <a:latin typeface="Courier New"/>
              </a:rPr>
              <a:t>.</a:t>
            </a:r>
            <a:r>
              <a:rPr sz="790" b="0" i="0">
                <a:solidFill>
                  <a:srgbClr val="9FC4EE"/>
                </a:solidFill>
                <a:latin typeface="Courier New"/>
              </a:rPr>
              <a:t>create</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model</a:t>
            </a:r>
            <a:r>
              <a:rPr sz="790" b="0" i="0">
                <a:solidFill>
                  <a:srgbClr val="E4EDF2"/>
                </a:solidFill>
                <a:latin typeface="Courier New"/>
              </a:rPr>
              <a:t>=</a:t>
            </a:r>
            <a:r>
              <a:rPr sz="790" b="0" i="0">
                <a:solidFill>
                  <a:srgbClr val="E4EDF2"/>
                </a:solidFill>
                <a:latin typeface="Courier New"/>
              </a:rPr>
              <a:t>CLAUDE_MODEL</a:t>
            </a:r>
            <a:r>
              <a:rPr sz="790" b="0" i="0">
                <a:solidFill>
                  <a:srgbClr val="E4EDF2"/>
                </a:solidFill>
                <a:latin typeface="Courier New"/>
              </a:rPr>
              <a:t>, </a:t>
            </a:r>
            <a:r>
              <a:rPr sz="790" b="0" i="0">
                <a:solidFill>
                  <a:srgbClr val="E4EDF2"/>
                </a:solidFill>
                <a:latin typeface="Courier New"/>
              </a:rPr>
              <a:t>max_tokens</a:t>
            </a:r>
            <a:r>
              <a:rPr sz="790" b="0" i="0">
                <a:solidFill>
                  <a:srgbClr val="E4EDF2"/>
                </a:solidFill>
                <a:latin typeface="Courier New"/>
              </a:rPr>
              <a:t>=</a:t>
            </a:r>
            <a:r>
              <a:rPr sz="790" b="0" i="0">
                <a:solidFill>
                  <a:srgbClr val="9FC4EE"/>
                </a:solidFill>
                <a:latin typeface="Courier New"/>
              </a:rPr>
              <a:t>150</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E4EDF2"/>
                </a:solidFill>
                <a:latin typeface="Courier New"/>
              </a:rPr>
              <a:t>messages</a:t>
            </a:r>
            <a:r>
              <a:rPr sz="790" b="0" i="0">
                <a:solidFill>
                  <a:srgbClr val="E4EDF2"/>
                </a:solidFill>
                <a:latin typeface="Courier New"/>
              </a:rPr>
              <a:t>=[{</a:t>
            </a:r>
            <a:r>
              <a:rPr sz="790" b="0" i="0">
                <a:solidFill>
                  <a:srgbClr val="EBB183"/>
                </a:solidFill>
                <a:latin typeface="Courier New"/>
              </a:rPr>
              <a:t>"role"</a:t>
            </a:r>
            <a:r>
              <a:rPr sz="790" b="0" i="0">
                <a:solidFill>
                  <a:srgbClr val="E4EDF2"/>
                </a:solidFill>
                <a:latin typeface="Courier New"/>
              </a:rPr>
              <a:t>: </a:t>
            </a:r>
            <a:r>
              <a:rPr sz="790" b="0" i="0">
                <a:solidFill>
                  <a:srgbClr val="EBB183"/>
                </a:solidFill>
                <a:latin typeface="Courier New"/>
              </a:rPr>
              <a:t>"user"</a:t>
            </a:r>
            <a:r>
              <a:rPr sz="790" b="0" i="0">
                <a:solidFill>
                  <a:srgbClr val="E4EDF2"/>
                </a:solidFill>
                <a:latin typeface="Courier New"/>
              </a:rPr>
              <a:t>, </a:t>
            </a:r>
            <a:r>
              <a:rPr sz="790" b="0" i="0">
                <a:solidFill>
                  <a:srgbClr val="EBB183"/>
                </a:solidFill>
                <a:latin typeface="Courier New"/>
              </a:rPr>
              <a:t>"content"</a:t>
            </a:r>
            <a:r>
              <a:rPr sz="790" b="0" i="0">
                <a:solidFill>
                  <a:srgbClr val="E4EDF2"/>
                </a:solidFill>
                <a:latin typeface="Courier New"/>
              </a:rPr>
              <a:t>: </a:t>
            </a:r>
            <a:r>
              <a:rPr sz="790" b="0" i="0">
                <a:solidFill>
                  <a:srgbClr val="E4EDF2"/>
                </a:solidFill>
                <a:latin typeface="Courier New"/>
              </a:rPr>
              <a:t>PROMPT</a:t>
            </a:r>
            <a:r>
              <a:rPr sz="790" b="0" i="0">
                <a:solidFill>
                  <a:srgbClr val="E4EDF2"/>
                </a:solidFill>
                <a:latin typeface="Courier New"/>
              </a:rPr>
              <a:t>}])</a:t>
            </a:r>
          </a:p>
          <a:p>
            <a:pPr>
              <a:lnSpc>
                <a:spcPct val="112000"/>
              </a:lnSpc>
              <a:spcAft>
                <a:spcPts val="100"/>
              </a:spcAft>
            </a:pPr>
            <a:r>
              <a:rPr sz="790" b="0" i="0">
                <a:solidFill>
                  <a:srgbClr val="E4EDF2"/>
                </a:solidFill>
                <a:latin typeface="Courier New"/>
              </a:rPr>
              <a:t>    </a:t>
            </a:r>
            <a:r>
              <a:rPr sz="790" b="0" i="0">
                <a:solidFill>
                  <a:srgbClr val="D9A6CE"/>
                </a:solidFill>
                <a:latin typeface="Courier New"/>
              </a:rPr>
              <a:t>return</a:t>
            </a:r>
            <a:r>
              <a:rPr sz="790" b="0" i="0">
                <a:solidFill>
                  <a:srgbClr val="E4EDF2"/>
                </a:solidFill>
                <a:latin typeface="Courier New"/>
              </a:rPr>
              <a:t> </a:t>
            </a:r>
            <a:r>
              <a:rPr sz="790" b="0" i="0">
                <a:solidFill>
                  <a:srgbClr val="E4EDF2"/>
                </a:solidFill>
                <a:latin typeface="Courier New"/>
              </a:rPr>
              <a:t>msg</a:t>
            </a:r>
            <a:r>
              <a:rPr sz="790" b="0" i="0">
                <a:solidFill>
                  <a:srgbClr val="E4EDF2"/>
                </a:solidFill>
                <a:latin typeface="Courier New"/>
              </a:rPr>
              <a:t>.</a:t>
            </a:r>
            <a:r>
              <a:rPr sz="790" b="0" i="0">
                <a:solidFill>
                  <a:srgbClr val="E4EDF2"/>
                </a:solidFill>
                <a:latin typeface="Courier New"/>
              </a:rPr>
              <a:t>content</a:t>
            </a:r>
            <a:r>
              <a:rPr sz="790" b="0" i="0">
                <a:solidFill>
                  <a:srgbClr val="E4EDF2"/>
                </a:solidFill>
                <a:latin typeface="Courier New"/>
              </a:rPr>
              <a:t>[</a:t>
            </a:r>
            <a:r>
              <a:rPr sz="790" b="0" i="0">
                <a:solidFill>
                  <a:srgbClr val="9FC4EE"/>
                </a:solidFill>
                <a:latin typeface="Courier New"/>
              </a:rPr>
              <a:t>0</a:t>
            </a:r>
            <a:r>
              <a:rPr sz="790" b="0" i="0">
                <a:solidFill>
                  <a:srgbClr val="E4EDF2"/>
                </a:solidFill>
                <a:latin typeface="Courier New"/>
              </a:rPr>
              <a:t>].</a:t>
            </a:r>
            <a:r>
              <a:rPr sz="790" b="0" i="0">
                <a:solidFill>
                  <a:srgbClr val="E4EDF2"/>
                </a:solidFill>
                <a:latin typeface="Courier New"/>
              </a:rPr>
              <a:t>text</a:t>
            </a:r>
            <a:r>
              <a:rPr sz="790" b="0" i="0">
                <a:solidFill>
                  <a:srgbClr val="E4EDF2"/>
                </a:solidFill>
                <a:latin typeface="Courier New"/>
              </a:rPr>
              <a:t>.</a:t>
            </a:r>
            <a:r>
              <a:rPr sz="790" b="0" i="0">
                <a:solidFill>
                  <a:srgbClr val="9FC4EE"/>
                </a:solidFill>
                <a:latin typeface="Courier New"/>
              </a:rPr>
              <a:t>strip</a:t>
            </a:r>
            <a:r>
              <a:rPr sz="790" b="0" i="0">
                <a:solidFill>
                  <a:srgbClr val="E4EDF2"/>
                </a:solidFill>
                <a:latin typeface="Courier New"/>
              </a:rPr>
              <a:t>()</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Three key sources, one order</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Colab Secrets, then .env, then the shell. Each attempt is wrapped so a missing one is a no-op, not an error.</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It prints found, never the key</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This is what makes the cell safe to project. A key pasted into a cell is a key in your git history.</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One sentence is the dataset</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67 characters. Ask the room for a verdict before you run it — get their judgement on the record first.</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Note the alert parameter</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Both classify functions take one. Hold that thought — it comes back two slides from now.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FIRST AI WORKFLOW</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Where the key lives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Three places it may come from, one place the code looks, and one thing that never reaches the screen.</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22</a:t>
            </a:r>
          </a:p>
        </p:txBody>
      </p:sp>
      <p:pic>
        <p:nvPicPr>
          <p:cNvPr id="7" name="Picture 6" descr="key_path.png"/>
          <p:cNvPicPr>
            <a:picLocks noChangeAspect="1"/>
          </p:cNvPicPr>
          <p:nvPr/>
        </p:nvPicPr>
        <p:blipFill>
          <a:blip r:embed="rId3"/>
          <a:stretch>
            <a:fillRect/>
          </a:stretch>
        </p:blipFill>
        <p:spPr>
          <a:xfrm>
            <a:off x="845047" y="1783080"/>
            <a:ext cx="10498857" cy="2926080"/>
          </a:xfrm>
          <a:prstGeom prst="rect">
            <a:avLst/>
          </a:prstGeom>
        </p:spPr>
      </p:pic>
      <p:sp>
        <p:nvSpPr>
          <p:cNvPr id="8" name="Rounded Rectangle 7"/>
          <p:cNvSpPr/>
          <p:nvPr/>
        </p:nvSpPr>
        <p:spPr>
          <a:xfrm>
            <a:off x="640080" y="4846320"/>
            <a:ext cx="6309360" cy="1371600"/>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4965192"/>
            <a:ext cx="58338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Introduction_to_AI/code/config.py</a:t>
            </a:r>
          </a:p>
        </p:txBody>
      </p:sp>
      <p:sp>
        <p:nvSpPr>
          <p:cNvPr id="10" name="TextBox 9"/>
          <p:cNvSpPr txBox="1"/>
          <p:nvPr/>
        </p:nvSpPr>
        <p:spPr>
          <a:xfrm>
            <a:off x="877824" y="5239512"/>
            <a:ext cx="5833872" cy="868680"/>
          </a:xfrm>
          <a:prstGeom prst="rect">
            <a:avLst/>
          </a:prstGeom>
          <a:noFill/>
        </p:spPr>
        <p:txBody>
          <a:bodyPr wrap="square" lIns="0" rIns="0" tIns="0" bIns="0">
            <a:spAutoFit/>
          </a:bodyPr>
          <a:lstStyle/>
          <a:p>
            <a:pPr>
              <a:lnSpc>
                <a:spcPct val="112000"/>
              </a:lnSpc>
              <a:spcAft>
                <a:spcPts val="100"/>
              </a:spcAft>
            </a:pPr>
            <a:r>
              <a:rPr sz="880" b="0" i="0">
                <a:solidFill>
                  <a:srgbClr val="76909F"/>
                </a:solidFill>
                <a:latin typeface="Courier New"/>
              </a:rPr>
              <a:t># config.py — the single source of truth</a:t>
            </a:r>
          </a:p>
          <a:p>
            <a:pPr>
              <a:lnSpc>
                <a:spcPct val="112000"/>
              </a:lnSpc>
              <a:spcAft>
                <a:spcPts val="100"/>
              </a:spcAft>
            </a:pPr>
            <a:r>
              <a:rPr sz="880" b="0" i="0">
                <a:solidFill>
                  <a:srgbClr val="9FC4EE"/>
                </a:solidFill>
                <a:latin typeface="Courier New"/>
              </a:rPr>
              <a:t>load_dotenv</a:t>
            </a:r>
            <a:r>
              <a:rPr sz="880" b="0" i="0">
                <a:solidFill>
                  <a:srgbClr val="E4EDF2"/>
                </a:solidFill>
                <a:latin typeface="Courier New"/>
              </a:rPr>
              <a:t>(</a:t>
            </a:r>
            <a:r>
              <a:rPr sz="880" b="0" i="0">
                <a:solidFill>
                  <a:srgbClr val="9FC4EE"/>
                </a:solidFill>
                <a:latin typeface="Courier New"/>
              </a:rPr>
              <a:t>find_dotenv</a:t>
            </a:r>
            <a:r>
              <a:rPr sz="880" b="0" i="0">
                <a:solidFill>
                  <a:srgbClr val="E4EDF2"/>
                </a:solidFill>
                <a:latin typeface="Courier New"/>
              </a:rPr>
              <a:t>())        </a:t>
            </a:r>
            <a:r>
              <a:rPr sz="880" b="0" i="0">
                <a:solidFill>
                  <a:srgbClr val="76909F"/>
                </a:solidFill>
                <a:latin typeface="Courier New"/>
              </a:rPr>
              <a:t># searches upward</a:t>
            </a:r>
          </a:p>
          <a:p>
            <a:pPr>
              <a:lnSpc>
                <a:spcPct val="112000"/>
              </a:lnSpc>
              <a:spcAft>
                <a:spcPts val="100"/>
              </a:spcAft>
            </a:pPr>
            <a:r>
              <a:rPr sz="880" b="0" i="0">
                <a:solidFill>
                  <a:srgbClr val="E4EDF2"/>
                </a:solidFill>
                <a:latin typeface="Courier New"/>
              </a:rPr>
              <a:t>HAS_ANTHROPIC</a:t>
            </a:r>
            <a:r>
              <a:rPr sz="880" b="0" i="0">
                <a:solidFill>
                  <a:srgbClr val="E4EDF2"/>
                </a:solidFill>
                <a:latin typeface="Courier New"/>
              </a:rPr>
              <a:t> = </a:t>
            </a:r>
            <a:r>
              <a:rPr sz="880" b="0" i="0">
                <a:solidFill>
                  <a:srgbClr val="9FC4EE"/>
                </a:solidFill>
                <a:latin typeface="Courier New"/>
              </a:rPr>
              <a:t>bool</a:t>
            </a:r>
            <a:r>
              <a:rPr sz="880" b="0" i="0">
                <a:solidFill>
                  <a:srgbClr val="E4EDF2"/>
                </a:solidFill>
                <a:latin typeface="Courier New"/>
              </a:rPr>
              <a:t>(</a:t>
            </a:r>
            <a:r>
              <a:rPr sz="880" b="0" i="0">
                <a:solidFill>
                  <a:srgbClr val="E4EDF2"/>
                </a:solidFill>
                <a:latin typeface="Courier New"/>
              </a:rPr>
              <a:t>ANTHROPIC_API_KEY</a:t>
            </a:r>
            <a:r>
              <a:rPr sz="880" b="0" i="0">
                <a:solidFill>
                  <a:srgbClr val="E4EDF2"/>
                </a:solidFill>
                <a:latin typeface="Courier New"/>
              </a:rPr>
              <a:t>)</a:t>
            </a:r>
          </a:p>
          <a:p>
            <a:pPr>
              <a:lnSpc>
                <a:spcPct val="112000"/>
              </a:lnSpc>
              <a:spcAft>
                <a:spcPts val="100"/>
              </a:spcAft>
            </a:pPr>
            <a:r>
              <a:rPr sz="880" b="0" i="0">
                <a:solidFill>
                  <a:srgbClr val="E4EDF2"/>
                </a:solidFill>
                <a:latin typeface="Courier New"/>
              </a:rPr>
              <a:t>CLAUDE_MODEL</a:t>
            </a:r>
            <a:r>
              <a:rPr sz="880" b="0" i="0">
                <a:solidFill>
                  <a:srgbClr val="E4EDF2"/>
                </a:solidFill>
                <a:latin typeface="Courier New"/>
              </a:rPr>
              <a:t>  = </a:t>
            </a:r>
            <a:r>
              <a:rPr sz="880" b="0" i="0">
                <a:solidFill>
                  <a:srgbClr val="EBB183"/>
                </a:solidFill>
                <a:latin typeface="Courier New"/>
              </a:rPr>
              <a:t>"claude-haiku-4-5-20251001"</a:t>
            </a:r>
          </a:p>
          <a:p>
            <a:pPr>
              <a:lnSpc>
                <a:spcPct val="112000"/>
              </a:lnSpc>
              <a:spcAft>
                <a:spcPts val="100"/>
              </a:spcAft>
            </a:pPr>
            <a:r>
              <a:rPr sz="880" b="0" i="0">
                <a:solidFill>
                  <a:srgbClr val="E4EDF2"/>
                </a:solidFill>
                <a:latin typeface="Courier New"/>
              </a:rPr>
              <a:t>OPENAI_MODEL</a:t>
            </a:r>
            <a:r>
              <a:rPr sz="880" b="0" i="0">
                <a:solidFill>
                  <a:srgbClr val="E4EDF2"/>
                </a:solidFill>
                <a:latin typeface="Courier New"/>
              </a:rPr>
              <a:t>  = </a:t>
            </a:r>
            <a:r>
              <a:rPr sz="880" b="0" i="0">
                <a:solidFill>
                  <a:srgbClr val="EBB183"/>
                </a:solidFill>
                <a:latin typeface="Courier New"/>
              </a:rPr>
              <a:t>"gpt-5-mini"</a:t>
            </a:r>
          </a:p>
        </p:txBody>
      </p:sp>
      <p:sp>
        <p:nvSpPr>
          <p:cNvPr id="11" name="Rounded Rectangle 10"/>
          <p:cNvSpPr/>
          <p:nvPr/>
        </p:nvSpPr>
        <p:spPr>
          <a:xfrm>
            <a:off x="7068312" y="4846320"/>
            <a:ext cx="4480560" cy="1371600"/>
          </a:xfrm>
          <a:prstGeom prst="roundRect">
            <a:avLst>
              <a:gd name="adj" fmla="val 3500"/>
            </a:avLst>
          </a:prstGeom>
          <a:solidFill>
            <a:srgbClr val="F7E5E8"/>
          </a:solidFill>
          <a:ln w="12700">
            <a:solidFill>
              <a:srgbClr val="A4243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87768" y="4992624"/>
            <a:ext cx="4041648" cy="274320"/>
          </a:xfrm>
          <a:prstGeom prst="rect">
            <a:avLst/>
          </a:prstGeom>
          <a:noFill/>
        </p:spPr>
        <p:txBody>
          <a:bodyPr wrap="square" lIns="0" rIns="0" tIns="0" bIns="0">
            <a:spAutoFit/>
          </a:bodyPr>
          <a:lstStyle/>
          <a:p>
            <a:pPr>
              <a:spcAft>
                <a:spcPts val="200"/>
              </a:spcAft>
            </a:pPr>
            <a:r>
              <a:rPr sz="1300" b="1" i="0">
                <a:solidFill>
                  <a:srgbClr val="A4243B"/>
                </a:solidFill>
                <a:latin typeface="Calibri"/>
              </a:rPr>
              <a:t>If a key ever leaks, rotate it</a:t>
            </a:r>
          </a:p>
        </p:txBody>
      </p:sp>
      <p:sp>
        <p:nvSpPr>
          <p:cNvPr id="13" name="TextBox 12"/>
          <p:cNvSpPr txBox="1"/>
          <p:nvPr/>
        </p:nvSpPr>
        <p:spPr>
          <a:xfrm>
            <a:off x="7287768" y="5358383"/>
            <a:ext cx="4041648" cy="713232"/>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Deleting the message does not help — it is already gone. .env is git-ignored; verify that before your first commit. A leaked key spends real money.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FIRST AI WORKFLOW</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argument that does nothing</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notebook's classify functions take an alert and then ignore it. No error, no warning — just the wrong answer.</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24</a:t>
            </a:r>
          </a:p>
        </p:txBody>
      </p:sp>
      <p:pic>
        <p:nvPicPr>
          <p:cNvPr id="7" name="Picture 6" descr="dead_argument.png"/>
          <p:cNvPicPr>
            <a:picLocks noChangeAspect="1"/>
          </p:cNvPicPr>
          <p:nvPr/>
        </p:nvPicPr>
        <p:blipFill>
          <a:blip r:embed="rId3"/>
          <a:stretch>
            <a:fillRect/>
          </a:stretch>
        </p:blipFill>
        <p:spPr>
          <a:xfrm>
            <a:off x="640080" y="1891212"/>
            <a:ext cx="10908792" cy="3313318"/>
          </a:xfrm>
          <a:prstGeom prst="rect">
            <a:avLst/>
          </a:prstGeom>
        </p:spPr>
      </p:pic>
      <p:sp>
        <p:nvSpPr>
          <p:cNvPr id="8" name="Rounded Rectangle 7"/>
          <p:cNvSpPr/>
          <p:nvPr/>
        </p:nvSpPr>
        <p:spPr>
          <a:xfrm>
            <a:off x="640080" y="5449824"/>
            <a:ext cx="10908792" cy="768096"/>
          </a:xfrm>
          <a:prstGeom prst="roundRect">
            <a:avLst>
              <a:gd name="adj" fmla="val 3500"/>
            </a:avLst>
          </a:prstGeom>
          <a:solidFill>
            <a:srgbClr val="F7E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5568696"/>
            <a:ext cx="10469880" cy="530352"/>
          </a:xfrm>
          <a:prstGeom prst="rect">
            <a:avLst/>
          </a:prstGeom>
          <a:noFill/>
        </p:spPr>
        <p:txBody>
          <a:bodyPr wrap="square" lIns="0" rIns="0" tIns="0" bIns="0">
            <a:spAutoFit/>
          </a:bodyPr>
          <a:lstStyle/>
          <a:p>
            <a:pPr>
              <a:lnSpc>
                <a:spcPct val="116000"/>
              </a:lnSpc>
              <a:spcAft>
                <a:spcPts val="200"/>
              </a:spcAft>
            </a:pPr>
            <a:r>
              <a:rPr sz="1100" b="1" i="0">
                <a:solidFill>
                  <a:srgbClr val="A4243B"/>
                </a:solidFill>
                <a:latin typeface="Calibri"/>
              </a:rPr>
              <a:t>This is the module's thesis, demonstrated on the module's own code.  </a:t>
            </a:r>
            <a:r>
              <a:rPr sz="1100" b="0" i="0">
                <a:solidFill>
                  <a:srgbClr val="1B2B36"/>
                </a:solidFill>
                <a:latin typeface="Calibri"/>
              </a:rPr>
              <a:t>A confident, well-formed answer to a question you did not ask. There is no error and no warning — the only way to catch it is to read the code. Fix: PROMPT.format(alert=alert), exactly as the .py script already does.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FIRST AI WORKFLOW</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Three ways the demo ends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Measured, not guessed: no keys, working keys, and the one the delivery guide does not plan for.</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25</a:t>
            </a:r>
          </a:p>
        </p:txBody>
      </p:sp>
      <p:pic>
        <p:nvPicPr>
          <p:cNvPr id="7" name="Picture 6" descr="failure_cascade.png"/>
          <p:cNvPicPr>
            <a:picLocks noChangeAspect="1"/>
          </p:cNvPicPr>
          <p:nvPr/>
        </p:nvPicPr>
        <p:blipFill>
          <a:blip r:embed="rId3"/>
          <a:stretch>
            <a:fillRect/>
          </a:stretch>
        </p:blipFill>
        <p:spPr>
          <a:xfrm>
            <a:off x="640080" y="1836348"/>
            <a:ext cx="10908792" cy="3313318"/>
          </a:xfrm>
          <a:prstGeom prst="rect">
            <a:avLst/>
          </a:prstGeom>
        </p:spPr>
      </p:pic>
      <p:sp>
        <p:nvSpPr>
          <p:cNvPr id="8" name="Rounded Rectangle 7"/>
          <p:cNvSpPr/>
          <p:nvPr/>
        </p:nvSpPr>
        <p:spPr>
          <a:xfrm>
            <a:off x="640080" y="5340096"/>
            <a:ext cx="6583680" cy="877824"/>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5458968"/>
            <a:ext cx="610819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THE TWO LINES THE NOTEBOOK IS MISSING</a:t>
            </a:r>
          </a:p>
        </p:txBody>
      </p:sp>
      <p:sp>
        <p:nvSpPr>
          <p:cNvPr id="10" name="TextBox 9"/>
          <p:cNvSpPr txBox="1"/>
          <p:nvPr/>
        </p:nvSpPr>
        <p:spPr>
          <a:xfrm>
            <a:off x="877824" y="5733288"/>
            <a:ext cx="6108192" cy="374904"/>
          </a:xfrm>
          <a:prstGeom prst="rect">
            <a:avLst/>
          </a:prstGeom>
          <a:noFill/>
        </p:spPr>
        <p:txBody>
          <a:bodyPr wrap="square" lIns="0" rIns="0" tIns="0" bIns="0">
            <a:spAutoFit/>
          </a:bodyPr>
          <a:lstStyle/>
          <a:p>
            <a:pPr>
              <a:lnSpc>
                <a:spcPct val="112000"/>
              </a:lnSpc>
              <a:spcAft>
                <a:spcPts val="100"/>
              </a:spcAft>
            </a:pPr>
            <a:r>
              <a:rPr sz="860" b="0" i="0">
                <a:solidFill>
                  <a:srgbClr val="D9A6CE"/>
                </a:solidFill>
                <a:latin typeface="Courier New"/>
              </a:rPr>
              <a:t>try</a:t>
            </a:r>
            <a:r>
              <a:rPr sz="860" b="0" i="0">
                <a:solidFill>
                  <a:srgbClr val="E4EDF2"/>
                </a:solidFill>
                <a:latin typeface="Courier New"/>
              </a:rPr>
              <a:t>:    </a:t>
            </a:r>
            <a:r>
              <a:rPr sz="860" b="0" i="0">
                <a:solidFill>
                  <a:srgbClr val="E4EDF2"/>
                </a:solidFill>
                <a:latin typeface="Courier New"/>
              </a:rPr>
              <a:t>result</a:t>
            </a:r>
            <a:r>
              <a:rPr sz="860" b="0" i="0">
                <a:solidFill>
                  <a:srgbClr val="E4EDF2"/>
                </a:solidFill>
                <a:latin typeface="Courier New"/>
              </a:rPr>
              <a:t> = </a:t>
            </a:r>
            <a:r>
              <a:rPr sz="860" b="0" i="0">
                <a:solidFill>
                  <a:srgbClr val="E4EDF2"/>
                </a:solidFill>
                <a:latin typeface="Courier New"/>
              </a:rPr>
              <a:t>client</a:t>
            </a:r>
            <a:r>
              <a:rPr sz="860" b="0" i="0">
                <a:solidFill>
                  <a:srgbClr val="E4EDF2"/>
                </a:solidFill>
                <a:latin typeface="Courier New"/>
              </a:rPr>
              <a:t>.</a:t>
            </a:r>
            <a:r>
              <a:rPr sz="860" b="0" i="0">
                <a:solidFill>
                  <a:srgbClr val="E4EDF2"/>
                </a:solidFill>
                <a:latin typeface="Courier New"/>
              </a:rPr>
              <a:t>messages</a:t>
            </a:r>
            <a:r>
              <a:rPr sz="860" b="0" i="0">
                <a:solidFill>
                  <a:srgbClr val="E4EDF2"/>
                </a:solidFill>
                <a:latin typeface="Courier New"/>
              </a:rPr>
              <a:t>.</a:t>
            </a:r>
            <a:r>
              <a:rPr sz="860" b="0" i="0">
                <a:solidFill>
                  <a:srgbClr val="9FC4EE"/>
                </a:solidFill>
                <a:latin typeface="Courier New"/>
              </a:rPr>
              <a:t>create</a:t>
            </a:r>
            <a:r>
              <a:rPr sz="860" b="0" i="0">
                <a:solidFill>
                  <a:srgbClr val="E4EDF2"/>
                </a:solidFill>
                <a:latin typeface="Courier New"/>
              </a:rPr>
              <a:t>(...)</a:t>
            </a:r>
          </a:p>
          <a:p>
            <a:pPr>
              <a:lnSpc>
                <a:spcPct val="112000"/>
              </a:lnSpc>
              <a:spcAft>
                <a:spcPts val="100"/>
              </a:spcAft>
            </a:pPr>
            <a:r>
              <a:rPr sz="860" b="0" i="0">
                <a:solidFill>
                  <a:srgbClr val="D9A6CE"/>
                </a:solidFill>
                <a:latin typeface="Courier New"/>
              </a:rPr>
              <a:t>except</a:t>
            </a:r>
            <a:r>
              <a:rPr sz="860" b="0" i="0">
                <a:solidFill>
                  <a:srgbClr val="E4EDF2"/>
                </a:solidFill>
                <a:latin typeface="Courier New"/>
              </a:rPr>
              <a:t> </a:t>
            </a:r>
            <a:r>
              <a:rPr sz="860" b="0" i="0">
                <a:solidFill>
                  <a:srgbClr val="E4EDF2"/>
                </a:solidFill>
                <a:latin typeface="Courier New"/>
              </a:rPr>
              <a:t>Exception</a:t>
            </a:r>
            <a:r>
              <a:rPr sz="860" b="0" i="0">
                <a:solidFill>
                  <a:srgbClr val="E4EDF2"/>
                </a:solidFill>
                <a:latin typeface="Courier New"/>
              </a:rPr>
              <a:t> </a:t>
            </a:r>
            <a:r>
              <a:rPr sz="860" b="0" i="0">
                <a:solidFill>
                  <a:srgbClr val="D9A6CE"/>
                </a:solidFill>
                <a:latin typeface="Courier New"/>
              </a:rPr>
              <a:t>as</a:t>
            </a:r>
            <a:r>
              <a:rPr sz="860" b="0" i="0">
                <a:solidFill>
                  <a:srgbClr val="E4EDF2"/>
                </a:solidFill>
                <a:latin typeface="Courier New"/>
              </a:rPr>
              <a:t> </a:t>
            </a:r>
            <a:r>
              <a:rPr sz="860" b="0" i="0">
                <a:solidFill>
                  <a:srgbClr val="E4EDF2"/>
                </a:solidFill>
                <a:latin typeface="Courier New"/>
              </a:rPr>
              <a:t>e</a:t>
            </a:r>
            <a:r>
              <a:rPr sz="860" b="0" i="0">
                <a:solidFill>
                  <a:srgbClr val="E4EDF2"/>
                </a:solidFill>
                <a:latin typeface="Courier New"/>
              </a:rPr>
              <a:t>:  </a:t>
            </a:r>
            <a:r>
              <a:rPr sz="860" b="0" i="0">
                <a:solidFill>
                  <a:srgbClr val="E4EDF2"/>
                </a:solidFill>
                <a:latin typeface="Courier New"/>
              </a:rPr>
              <a:t>result</a:t>
            </a:r>
            <a:r>
              <a:rPr sz="860" b="0" i="0">
                <a:solidFill>
                  <a:srgbClr val="E4EDF2"/>
                </a:solidFill>
                <a:latin typeface="Courier New"/>
              </a:rPr>
              <a:t> = </a:t>
            </a:r>
            <a:r>
              <a:rPr sz="860" b="0" i="0">
                <a:solidFill>
                  <a:srgbClr val="E4EDF2"/>
                </a:solidFill>
                <a:latin typeface="Courier New"/>
              </a:rPr>
              <a:t>f</a:t>
            </a:r>
            <a:r>
              <a:rPr sz="860" b="0" i="0">
                <a:solidFill>
                  <a:srgbClr val="EBB183"/>
                </a:solidFill>
                <a:latin typeface="Courier New"/>
              </a:rPr>
              <a:t>"[error — {type(e).__name__}]"</a:t>
            </a:r>
          </a:p>
        </p:txBody>
      </p:sp>
      <p:sp>
        <p:nvSpPr>
          <p:cNvPr id="11" name="Rounded Rectangle 10"/>
          <p:cNvSpPr/>
          <p:nvPr/>
        </p:nvSpPr>
        <p:spPr>
          <a:xfrm>
            <a:off x="7342631" y="5340096"/>
            <a:ext cx="4206240" cy="877824"/>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562088" y="5486400"/>
            <a:ext cx="3767327"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test_api_keys.py already does this</a:t>
            </a:r>
          </a:p>
        </p:txBody>
      </p:sp>
      <p:sp>
        <p:nvSpPr>
          <p:cNvPr id="13" name="TextBox 12"/>
          <p:cNvSpPr txBox="1"/>
          <p:nvPr/>
        </p:nvSpPr>
        <p:spPr>
          <a:xfrm>
            <a:off x="7562088" y="5852160"/>
            <a:ext cx="3767327" cy="219456"/>
          </a:xfrm>
          <a:prstGeom prst="rect">
            <a:avLst/>
          </a:prstGeom>
          <a:noFill/>
        </p:spPr>
        <p:txBody>
          <a:bodyPr wrap="square" lIns="0" rIns="0" tIns="0" bIns="0">
            <a:spAutoFit/>
          </a:bodyPr>
          <a:lstStyle/>
          <a:p>
            <a:pPr>
              <a:lnSpc>
                <a:spcPct val="114000"/>
              </a:lnSpc>
              <a:spcAft>
                <a:spcPts val="300"/>
              </a:spcAft>
            </a:pPr>
            <a:r>
              <a:rPr sz="840" b="0" i="0">
                <a:solidFill>
                  <a:srgbClr val="1B2B36"/>
                </a:solidFill>
                <a:latin typeface="Calibri"/>
              </a:rPr>
              <a:t>The only file in the module with real exception handling — and the delivery guide never mentions it. Run it before class.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3 · YOUR FIRST AI WORKFLOW</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Same prompt, unequal settings</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Before you compare two models, check that you gave them the same conditions. This demo does not.</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26</a:t>
            </a:r>
          </a:p>
        </p:txBody>
      </p:sp>
      <p:pic>
        <p:nvPicPr>
          <p:cNvPr id="7" name="Picture 6" descr="token_budget.png"/>
          <p:cNvPicPr>
            <a:picLocks noChangeAspect="1"/>
          </p:cNvPicPr>
          <p:nvPr/>
        </p:nvPicPr>
        <p:blipFill>
          <a:blip r:embed="rId3"/>
          <a:stretch>
            <a:fillRect/>
          </a:stretch>
        </p:blipFill>
        <p:spPr>
          <a:xfrm>
            <a:off x="640080" y="2243479"/>
            <a:ext cx="6675119" cy="2188160"/>
          </a:xfrm>
          <a:prstGeom prst="rect">
            <a:avLst/>
          </a:prstGeom>
        </p:spPr>
      </p:pic>
      <p:sp>
        <p:nvSpPr>
          <p:cNvPr id="8" name="Rounded Rectangle 7"/>
          <p:cNvSpPr/>
          <p:nvPr/>
        </p:nvSpPr>
        <p:spPr>
          <a:xfrm>
            <a:off x="7589520" y="1828800"/>
            <a:ext cx="3959352" cy="148132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27264" y="1947672"/>
            <a:ext cx="3483864"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CELLS 8 AND 10</a:t>
            </a:r>
          </a:p>
        </p:txBody>
      </p:sp>
      <p:sp>
        <p:nvSpPr>
          <p:cNvPr id="10" name="TextBox 9"/>
          <p:cNvSpPr txBox="1"/>
          <p:nvPr/>
        </p:nvSpPr>
        <p:spPr>
          <a:xfrm>
            <a:off x="7827264" y="2221991"/>
            <a:ext cx="3483864" cy="978408"/>
          </a:xfrm>
          <a:prstGeom prst="rect">
            <a:avLst/>
          </a:prstGeom>
          <a:noFill/>
        </p:spPr>
        <p:txBody>
          <a:bodyPr wrap="square" lIns="0" rIns="0" tIns="0" bIns="0">
            <a:spAutoFit/>
          </a:bodyPr>
          <a:lstStyle/>
          <a:p>
            <a:pPr>
              <a:lnSpc>
                <a:spcPct val="112000"/>
              </a:lnSpc>
              <a:spcAft>
                <a:spcPts val="100"/>
              </a:spcAft>
            </a:pPr>
            <a:r>
              <a:rPr sz="740" b="0" i="0">
                <a:solidFill>
                  <a:srgbClr val="76909F"/>
                </a:solidFill>
                <a:latin typeface="Courier New"/>
              </a:rPr>
              <a:t># Claude</a:t>
            </a:r>
          </a:p>
          <a:p>
            <a:pPr>
              <a:lnSpc>
                <a:spcPct val="112000"/>
              </a:lnSpc>
              <a:spcAft>
                <a:spcPts val="100"/>
              </a:spcAft>
            </a:pPr>
            <a:r>
              <a:rPr sz="740" b="0" i="0">
                <a:solidFill>
                  <a:srgbClr val="E4EDF2"/>
                </a:solidFill>
                <a:latin typeface="Courier New"/>
              </a:rPr>
              <a:t>max_tokens</a:t>
            </a:r>
            <a:r>
              <a:rPr sz="740" b="0" i="0">
                <a:solidFill>
                  <a:srgbClr val="E4EDF2"/>
                </a:solidFill>
                <a:latin typeface="Courier New"/>
              </a:rPr>
              <a:t>=</a:t>
            </a:r>
            <a:r>
              <a:rPr sz="740" b="0" i="0">
                <a:solidFill>
                  <a:srgbClr val="9FC4EE"/>
                </a:solidFill>
                <a:latin typeface="Courier New"/>
              </a:rPr>
              <a:t>150</a:t>
            </a:r>
          </a:p>
          <a:p>
            <a:pPr>
              <a:lnSpc>
                <a:spcPct val="112000"/>
              </a:lnSpc>
              <a:spcAft>
                <a:spcPts val="100"/>
              </a:spcAft>
            </a:pPr>
            <a:r>
              <a:rPr sz="740" b="0" i="0">
                <a:solidFill>
                  <a:srgbClr val="E4EDF2"/>
                </a:solidFill>
                <a:latin typeface="Courier New"/>
              </a:rPr>
              <a:t/>
            </a:r>
          </a:p>
          <a:p>
            <a:pPr>
              <a:lnSpc>
                <a:spcPct val="112000"/>
              </a:lnSpc>
              <a:spcAft>
                <a:spcPts val="100"/>
              </a:spcAft>
            </a:pPr>
            <a:r>
              <a:rPr sz="740" b="0" i="0">
                <a:solidFill>
                  <a:srgbClr val="76909F"/>
                </a:solidFill>
                <a:latin typeface="Courier New"/>
              </a:rPr>
              <a:t># OpenAI — no cap</a:t>
            </a:r>
          </a:p>
          <a:p>
            <a:pPr>
              <a:lnSpc>
                <a:spcPct val="112000"/>
              </a:lnSpc>
              <a:spcAft>
                <a:spcPts val="100"/>
              </a:spcAft>
            </a:pPr>
            <a:r>
              <a:rPr sz="740" b="0" i="0">
                <a:solidFill>
                  <a:srgbClr val="E4EDF2"/>
                </a:solidFill>
                <a:latin typeface="Courier New"/>
              </a:rPr>
              <a:t>chat</a:t>
            </a:r>
            <a:r>
              <a:rPr sz="740" b="0" i="0">
                <a:solidFill>
                  <a:srgbClr val="E4EDF2"/>
                </a:solidFill>
                <a:latin typeface="Courier New"/>
              </a:rPr>
              <a:t>.</a:t>
            </a:r>
            <a:r>
              <a:rPr sz="740" b="0" i="0">
                <a:solidFill>
                  <a:srgbClr val="E4EDF2"/>
                </a:solidFill>
                <a:latin typeface="Courier New"/>
              </a:rPr>
              <a:t>completions</a:t>
            </a:r>
            <a:r>
              <a:rPr sz="740" b="0" i="0">
                <a:solidFill>
                  <a:srgbClr val="E4EDF2"/>
                </a:solidFill>
                <a:latin typeface="Courier New"/>
              </a:rPr>
              <a:t>.</a:t>
            </a:r>
            <a:r>
              <a:rPr sz="740" b="0" i="0">
                <a:solidFill>
                  <a:srgbClr val="9FC4EE"/>
                </a:solidFill>
                <a:latin typeface="Courier New"/>
              </a:rPr>
              <a:t>create</a:t>
            </a:r>
            <a:r>
              <a:rPr sz="740" b="0" i="0">
                <a:solidFill>
                  <a:srgbClr val="E4EDF2"/>
                </a:solidFill>
                <a:latin typeface="Courier New"/>
              </a:rPr>
              <a:t>(</a:t>
            </a:r>
          </a:p>
          <a:p>
            <a:pPr>
              <a:lnSpc>
                <a:spcPct val="112000"/>
              </a:lnSpc>
              <a:spcAft>
                <a:spcPts val="100"/>
              </a:spcAft>
            </a:pPr>
            <a:r>
              <a:rPr sz="740" b="0" i="0">
                <a:solidFill>
                  <a:srgbClr val="E4EDF2"/>
                </a:solidFill>
                <a:latin typeface="Courier New"/>
              </a:rPr>
              <a:t>    </a:t>
            </a:r>
            <a:r>
              <a:rPr sz="740" b="0" i="0">
                <a:solidFill>
                  <a:srgbClr val="E4EDF2"/>
                </a:solidFill>
                <a:latin typeface="Courier New"/>
              </a:rPr>
              <a:t>model</a:t>
            </a:r>
            <a:r>
              <a:rPr sz="740" b="0" i="0">
                <a:solidFill>
                  <a:srgbClr val="E4EDF2"/>
                </a:solidFill>
                <a:latin typeface="Courier New"/>
              </a:rPr>
              <a:t>=</a:t>
            </a:r>
            <a:r>
              <a:rPr sz="740" b="0" i="0">
                <a:solidFill>
                  <a:srgbClr val="E4EDF2"/>
                </a:solidFill>
                <a:latin typeface="Courier New"/>
              </a:rPr>
              <a:t>OPENAI_MODEL</a:t>
            </a:r>
            <a:r>
              <a:rPr sz="740" b="0" i="0">
                <a:solidFill>
                  <a:srgbClr val="E4EDF2"/>
                </a:solidFill>
                <a:latin typeface="Courier New"/>
              </a:rPr>
              <a:t>,</a:t>
            </a:r>
          </a:p>
          <a:p>
            <a:pPr>
              <a:lnSpc>
                <a:spcPct val="112000"/>
              </a:lnSpc>
              <a:spcAft>
                <a:spcPts val="100"/>
              </a:spcAft>
            </a:pPr>
            <a:r>
              <a:rPr sz="740" b="0" i="0">
                <a:solidFill>
                  <a:srgbClr val="E4EDF2"/>
                </a:solidFill>
                <a:latin typeface="Courier New"/>
              </a:rPr>
              <a:t>    </a:t>
            </a:r>
            <a:r>
              <a:rPr sz="740" b="0" i="0">
                <a:solidFill>
                  <a:srgbClr val="E4EDF2"/>
                </a:solidFill>
                <a:latin typeface="Courier New"/>
              </a:rPr>
              <a:t>messages</a:t>
            </a:r>
            <a:r>
              <a:rPr sz="740" b="0" i="0">
                <a:solidFill>
                  <a:srgbClr val="E4EDF2"/>
                </a:solidFill>
                <a:latin typeface="Courier New"/>
              </a:rPr>
              <a:t>=[...])</a:t>
            </a:r>
          </a:p>
        </p:txBody>
      </p:sp>
      <p:sp>
        <p:nvSpPr>
          <p:cNvPr id="11" name="Rounded Rectangle 10"/>
          <p:cNvSpPr/>
          <p:nvPr/>
        </p:nvSpPr>
        <p:spPr>
          <a:xfrm>
            <a:off x="7589520" y="3456432"/>
            <a:ext cx="3959352" cy="1389888"/>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08976" y="3602736"/>
            <a:ext cx="3520440"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And you cannot just add it</a:t>
            </a:r>
          </a:p>
        </p:txBody>
      </p:sp>
      <p:sp>
        <p:nvSpPr>
          <p:cNvPr id="13" name="TextBox 12"/>
          <p:cNvSpPr txBox="1"/>
          <p:nvPr/>
        </p:nvSpPr>
        <p:spPr>
          <a:xfrm>
            <a:off x="7808976" y="3968496"/>
            <a:ext cx="3520440" cy="731520"/>
          </a:xfrm>
          <a:prstGeom prst="rect">
            <a:avLst/>
          </a:prstGeom>
          <a:noFill/>
        </p:spPr>
        <p:txBody>
          <a:bodyPr wrap="square" lIns="0" rIns="0" tIns="0" bIns="0">
            <a:spAutoFit/>
          </a:bodyPr>
          <a:lstStyle/>
          <a:p>
            <a:pPr>
              <a:lnSpc>
                <a:spcPct val="114000"/>
              </a:lnSpc>
              <a:spcAft>
                <a:spcPts val="300"/>
              </a:spcAft>
            </a:pPr>
            <a:r>
              <a:rPr sz="860" b="0" i="0">
                <a:solidFill>
                  <a:srgbClr val="1B2B36"/>
                </a:solidFill>
                <a:latin typeface="Calibri"/>
              </a:rPr>
              <a:t>The gpt-5 family rejects max_tokens on chat completions and wants max_completion_tokens. The API surface is not uniform — portable code across providers is harder than it looks.</a:t>
            </a:r>
          </a:p>
        </p:txBody>
      </p:sp>
      <p:sp>
        <p:nvSpPr>
          <p:cNvPr id="14" name="Rounded Rectangle 13"/>
          <p:cNvSpPr/>
          <p:nvPr/>
        </p:nvSpPr>
        <p:spPr>
          <a:xfrm>
            <a:off x="640080" y="5010912"/>
            <a:ext cx="10908792" cy="1207008"/>
          </a:xfrm>
          <a:prstGeom prst="roundRect">
            <a:avLst>
              <a:gd name="adj" fmla="val 3500"/>
            </a:avLst>
          </a:prstGeom>
          <a:solidFill>
            <a:srgbClr val="F7E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59536" y="5129784"/>
            <a:ext cx="10469880" cy="969264"/>
          </a:xfrm>
          <a:prstGeom prst="rect">
            <a:avLst/>
          </a:prstGeom>
          <a:noFill/>
        </p:spPr>
        <p:txBody>
          <a:bodyPr wrap="square" lIns="0" rIns="0" tIns="0" bIns="0">
            <a:spAutoFit/>
          </a:bodyPr>
          <a:lstStyle/>
          <a:p>
            <a:pPr>
              <a:lnSpc>
                <a:spcPct val="116000"/>
              </a:lnSpc>
              <a:spcAft>
                <a:spcPts val="200"/>
              </a:spcAft>
            </a:pPr>
            <a:r>
              <a:rPr sz="1100" b="1" i="0">
                <a:solidFill>
                  <a:srgbClr val="A4243B"/>
                </a:solidFill>
                <a:latin typeface="Calibri"/>
              </a:rPr>
              <a:t>Before you compare two models, check you gave them the same conditions.  </a:t>
            </a:r>
            <a:r>
              <a:rPr sz="1100" b="0" i="0">
                <a:solidFill>
                  <a:srgbClr val="1B2B36"/>
                </a:solidFill>
                <a:latin typeface="Calibri"/>
              </a:rPr>
              <a:t>Slide 16 asks whether one model is more specific or better justified. As the code stands, a difference in length is a fact about the harness rather than about the models — and gpt-5-mini is a reasoning model, so its latency and cost profile are not comparable to Haiku's in the first place.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4 · A LITTLE PYTHON</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Python you actually need</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The self-check list is not abstract — every item on it appears in the twenty lines you just read.</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30</a:t>
            </a:r>
          </a:p>
        </p:txBody>
      </p:sp>
      <p:sp>
        <p:nvSpPr>
          <p:cNvPr id="7" name="Rounded Rectangle 6"/>
          <p:cNvSpPr/>
          <p:nvPr/>
        </p:nvSpPr>
        <p:spPr>
          <a:xfrm>
            <a:off x="640080" y="1719072"/>
            <a:ext cx="7223760" cy="4498848"/>
          </a:xfrm>
          <a:prstGeom prst="roundRect">
            <a:avLst>
              <a:gd name="adj" fmla="val 3500"/>
            </a:avLst>
          </a:prstGeom>
          <a:solidFill>
            <a:srgbClr val="1D3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77824" y="1837943"/>
            <a:ext cx="6748272" cy="201168"/>
          </a:xfrm>
          <a:prstGeom prst="rect">
            <a:avLst/>
          </a:prstGeom>
          <a:noFill/>
        </p:spPr>
        <p:txBody>
          <a:bodyPr wrap="square" lIns="0" rIns="0" tIns="0" bIns="0">
            <a:spAutoFit/>
          </a:bodyPr>
          <a:lstStyle/>
          <a:p>
            <a:pPr>
              <a:spcAft>
                <a:spcPts val="200"/>
              </a:spcAft>
            </a:pPr>
            <a:r>
              <a:rPr sz="950" b="1" i="0">
                <a:solidFill>
                  <a:srgbClr val="9FB8C6"/>
                </a:solidFill>
                <a:latin typeface="Calibri"/>
              </a:rPr>
              <a:t>alert_classifier.py — AND THE SEVEN THINGS THE SELF-CHECK ASKS ABOUT</a:t>
            </a:r>
          </a:p>
        </p:txBody>
      </p:sp>
      <p:sp>
        <p:nvSpPr>
          <p:cNvPr id="9" name="TextBox 8"/>
          <p:cNvSpPr txBox="1"/>
          <p:nvPr/>
        </p:nvSpPr>
        <p:spPr>
          <a:xfrm>
            <a:off x="877824" y="2112263"/>
            <a:ext cx="6748272" cy="3995928"/>
          </a:xfrm>
          <a:prstGeom prst="rect">
            <a:avLst/>
          </a:prstGeom>
          <a:noFill/>
        </p:spPr>
        <p:txBody>
          <a:bodyPr wrap="square" lIns="0" rIns="0" tIns="0" bIns="0">
            <a:spAutoFit/>
          </a:bodyPr>
          <a:lstStyle/>
          <a:p>
            <a:pPr>
              <a:lnSpc>
                <a:spcPct val="112000"/>
              </a:lnSpc>
              <a:spcAft>
                <a:spcPts val="100"/>
              </a:spcAft>
            </a:pPr>
            <a:r>
              <a:rPr sz="819" b="0" i="0">
                <a:solidFill>
                  <a:srgbClr val="D9A6CE"/>
                </a:solidFill>
                <a:latin typeface="Courier New"/>
              </a:rPr>
              <a:t>import</a:t>
            </a:r>
            <a:r>
              <a:rPr sz="819" b="0" i="0">
                <a:solidFill>
                  <a:srgbClr val="E4EDF2"/>
                </a:solidFill>
                <a:latin typeface="Courier New"/>
              </a:rPr>
              <a:t> </a:t>
            </a:r>
            <a:r>
              <a:rPr sz="819" b="0" i="0">
                <a:solidFill>
                  <a:srgbClr val="E4EDF2"/>
                </a:solidFill>
                <a:latin typeface="Courier New"/>
              </a:rPr>
              <a:t>os</a:t>
            </a:r>
          </a:p>
          <a:p>
            <a:pPr>
              <a:lnSpc>
                <a:spcPct val="112000"/>
              </a:lnSpc>
              <a:spcAft>
                <a:spcPts val="100"/>
              </a:spcAft>
            </a:pPr>
            <a:r>
              <a:rPr sz="819" b="0" i="0">
                <a:solidFill>
                  <a:srgbClr val="D9A6CE"/>
                </a:solidFill>
                <a:latin typeface="Courier New"/>
              </a:rPr>
              <a:t>from</a:t>
            </a:r>
            <a:r>
              <a:rPr sz="819" b="0" i="0">
                <a:solidFill>
                  <a:srgbClr val="E4EDF2"/>
                </a:solidFill>
                <a:latin typeface="Courier New"/>
              </a:rPr>
              <a:t> </a:t>
            </a:r>
            <a:r>
              <a:rPr sz="819" b="0" i="0">
                <a:solidFill>
                  <a:srgbClr val="E4EDF2"/>
                </a:solidFill>
                <a:latin typeface="Courier New"/>
              </a:rPr>
              <a:t>config</a:t>
            </a:r>
            <a:r>
              <a:rPr sz="819" b="0" i="0">
                <a:solidFill>
                  <a:srgbClr val="E4EDF2"/>
                </a:solidFill>
                <a:latin typeface="Courier New"/>
              </a:rPr>
              <a:t> </a:t>
            </a:r>
            <a:r>
              <a:rPr sz="819" b="0" i="0">
                <a:solidFill>
                  <a:srgbClr val="D9A6CE"/>
                </a:solidFill>
                <a:latin typeface="Courier New"/>
              </a:rPr>
              <a:t>import</a:t>
            </a:r>
            <a:r>
              <a:rPr sz="819" b="0" i="0">
                <a:solidFill>
                  <a:srgbClr val="E4EDF2"/>
                </a:solidFill>
                <a:latin typeface="Courier New"/>
              </a:rPr>
              <a:t> (</a:t>
            </a:r>
            <a:r>
              <a:rPr sz="819" b="0" i="0">
                <a:solidFill>
                  <a:srgbClr val="E4EDF2"/>
                </a:solidFill>
                <a:latin typeface="Courier New"/>
              </a:rPr>
              <a:t>ANTHROPIC_API_KEY</a:t>
            </a:r>
            <a:r>
              <a:rPr sz="819" b="0" i="0">
                <a:solidFill>
                  <a:srgbClr val="E4EDF2"/>
                </a:solidFill>
                <a:latin typeface="Courier New"/>
              </a:rPr>
              <a:t>, </a:t>
            </a:r>
            <a:r>
              <a:rPr sz="819" b="0" i="0">
                <a:solidFill>
                  <a:srgbClr val="E4EDF2"/>
                </a:solidFill>
                <a:latin typeface="Courier New"/>
              </a:rPr>
              <a:t>HAS_ANTHROPIC</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CLAUDE_MODEL</a:t>
            </a:r>
            <a:r>
              <a:rPr sz="819" b="0" i="0">
                <a:solidFill>
                  <a:srgbClr val="E4EDF2"/>
                </a:solidFill>
                <a:latin typeface="Courier New"/>
              </a:rPr>
              <a:t>, </a:t>
            </a:r>
            <a:r>
              <a:rPr sz="819" b="0" i="0">
                <a:solidFill>
                  <a:srgbClr val="E4EDF2"/>
                </a:solidFill>
                <a:latin typeface="Courier New"/>
              </a:rPr>
              <a:t>key_status</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E4EDF2"/>
                </a:solidFill>
                <a:latin typeface="Courier New"/>
              </a:rPr>
              <a:t>PROMPT</a:t>
            </a:r>
            <a:r>
              <a:rPr sz="819" b="0" i="0">
                <a:solidFill>
                  <a:srgbClr val="E4EDF2"/>
                </a:solidFill>
                <a:latin typeface="Courier New"/>
              </a:rPr>
              <a:t> = (</a:t>
            </a:r>
            <a:r>
              <a:rPr sz="819" b="0" i="0">
                <a:solidFill>
                  <a:srgbClr val="EBB183"/>
                </a:solidFill>
                <a:latin typeface="Courier New"/>
              </a:rPr>
              <a:t>"Classify this security alert as benign or "</a:t>
            </a:r>
          </a:p>
          <a:p>
            <a:pPr>
              <a:lnSpc>
                <a:spcPct val="112000"/>
              </a:lnSpc>
              <a:spcAft>
                <a:spcPts val="100"/>
              </a:spcAft>
            </a:pPr>
            <a:r>
              <a:rPr sz="819" b="0" i="0">
                <a:solidFill>
                  <a:srgbClr val="E4EDF2"/>
                </a:solidFill>
                <a:latin typeface="Courier New"/>
              </a:rPr>
              <a:t>          </a:t>
            </a:r>
            <a:r>
              <a:rPr sz="819" b="0" i="0">
                <a:solidFill>
                  <a:srgbClr val="EBB183"/>
                </a:solidFill>
                <a:latin typeface="Courier New"/>
              </a:rPr>
              <a:t>"suspicious and explain in one sentence: {alert}"</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D9A6CE"/>
                </a:solidFill>
                <a:latin typeface="Courier New"/>
              </a:rPr>
              <a:t>def</a:t>
            </a:r>
            <a:r>
              <a:rPr sz="819" b="0" i="0">
                <a:solidFill>
                  <a:srgbClr val="E4EDF2"/>
                </a:solidFill>
                <a:latin typeface="Courier New"/>
              </a:rPr>
              <a:t> </a:t>
            </a:r>
            <a:r>
              <a:rPr sz="819" b="0" i="0">
                <a:solidFill>
                  <a:srgbClr val="9FC4EE"/>
                </a:solidFill>
                <a:latin typeface="Courier New"/>
              </a:rPr>
              <a:t>classify_with_claude</a:t>
            </a:r>
            <a:r>
              <a:rPr sz="819" b="0" i="0">
                <a:solidFill>
                  <a:srgbClr val="E4EDF2"/>
                </a:solidFill>
                <a:latin typeface="Courier New"/>
              </a:rPr>
              <a:t>(</a:t>
            </a:r>
            <a:r>
              <a:rPr sz="819" b="0" i="0">
                <a:solidFill>
                  <a:srgbClr val="E4EDF2"/>
                </a:solidFill>
                <a:latin typeface="Courier New"/>
              </a:rPr>
              <a:t>alert</a:t>
            </a:r>
            <a:r>
              <a:rPr sz="819" b="0" i="0">
                <a:solidFill>
                  <a:srgbClr val="E4EDF2"/>
                </a:solidFill>
                <a:latin typeface="Courier New"/>
              </a:rPr>
              <a:t>: </a:t>
            </a:r>
            <a:r>
              <a:rPr sz="819" b="0" i="0">
                <a:solidFill>
                  <a:srgbClr val="E4EDF2"/>
                </a:solidFill>
                <a:latin typeface="Courier New"/>
              </a:rPr>
              <a:t>str</a:t>
            </a:r>
            <a:r>
              <a:rPr sz="819" b="0" i="0">
                <a:solidFill>
                  <a:srgbClr val="E4EDF2"/>
                </a:solidFill>
                <a:latin typeface="Courier New"/>
              </a:rPr>
              <a:t>) -&gt; </a:t>
            </a:r>
            <a:r>
              <a:rPr sz="819" b="0" i="0">
                <a:solidFill>
                  <a:srgbClr val="E4EDF2"/>
                </a:solidFill>
                <a:latin typeface="Courier New"/>
              </a:rPr>
              <a:t>str</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BB183"/>
                </a:solidFill>
                <a:latin typeface="Courier New"/>
              </a:rPr>
              <a:t>"""Classify the alert; skip cleanly if no key is set."""</a:t>
            </a:r>
          </a:p>
          <a:p>
            <a:pPr>
              <a:lnSpc>
                <a:spcPct val="112000"/>
              </a:lnSpc>
              <a:spcAft>
                <a:spcPts val="100"/>
              </a:spcAft>
            </a:pPr>
            <a:r>
              <a:rPr sz="819" b="0" i="0">
                <a:solidFill>
                  <a:srgbClr val="E4EDF2"/>
                </a:solidFill>
                <a:latin typeface="Courier New"/>
              </a:rPr>
              <a:t>    </a:t>
            </a:r>
            <a:r>
              <a:rPr sz="819" b="0" i="0">
                <a:solidFill>
                  <a:srgbClr val="D9A6CE"/>
                </a:solidFill>
                <a:latin typeface="Courier New"/>
              </a:rPr>
              <a:t>if</a:t>
            </a:r>
            <a:r>
              <a:rPr sz="819" b="0" i="0">
                <a:solidFill>
                  <a:srgbClr val="E4EDF2"/>
                </a:solidFill>
                <a:latin typeface="Courier New"/>
              </a:rPr>
              <a:t> </a:t>
            </a:r>
            <a:r>
              <a:rPr sz="819" b="0" i="0">
                <a:solidFill>
                  <a:srgbClr val="D9A6CE"/>
                </a:solidFill>
                <a:latin typeface="Courier New"/>
              </a:rPr>
              <a:t>not</a:t>
            </a:r>
            <a:r>
              <a:rPr sz="819" b="0" i="0">
                <a:solidFill>
                  <a:srgbClr val="E4EDF2"/>
                </a:solidFill>
                <a:latin typeface="Courier New"/>
              </a:rPr>
              <a:t> </a:t>
            </a:r>
            <a:r>
              <a:rPr sz="819" b="0" i="0">
                <a:solidFill>
                  <a:srgbClr val="E4EDF2"/>
                </a:solidFill>
                <a:latin typeface="Courier New"/>
              </a:rPr>
              <a:t>HAS_ANTHROPIC</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D9A6CE"/>
                </a:solidFill>
                <a:latin typeface="Courier New"/>
              </a:rPr>
              <a:t>return</a:t>
            </a:r>
            <a:r>
              <a:rPr sz="819" b="0" i="0">
                <a:solidFill>
                  <a:srgbClr val="E4EDF2"/>
                </a:solidFill>
                <a:latin typeface="Courier New"/>
              </a:rPr>
              <a:t> </a:t>
            </a:r>
            <a:r>
              <a:rPr sz="819" b="0" i="0">
                <a:solidFill>
                  <a:srgbClr val="EBB183"/>
                </a:solidFill>
                <a:latin typeface="Courier New"/>
              </a:rPr>
              <a:t>"[skipped — no ANTHROPIC_API_KEY set]"</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E4EDF2"/>
                </a:solidFill>
                <a:latin typeface="Courier New"/>
              </a:rPr>
              <a:t>    </a:t>
            </a:r>
            <a:r>
              <a:rPr sz="819" b="0" i="0">
                <a:solidFill>
                  <a:srgbClr val="D9A6CE"/>
                </a:solidFill>
                <a:latin typeface="Courier New"/>
              </a:rPr>
              <a:t>from</a:t>
            </a:r>
            <a:r>
              <a:rPr sz="819" b="0" i="0">
                <a:solidFill>
                  <a:srgbClr val="E4EDF2"/>
                </a:solidFill>
                <a:latin typeface="Courier New"/>
              </a:rPr>
              <a:t> </a:t>
            </a:r>
            <a:r>
              <a:rPr sz="819" b="0" i="0">
                <a:solidFill>
                  <a:srgbClr val="E4EDF2"/>
                </a:solidFill>
                <a:latin typeface="Courier New"/>
              </a:rPr>
              <a:t>anthropic</a:t>
            </a:r>
            <a:r>
              <a:rPr sz="819" b="0" i="0">
                <a:solidFill>
                  <a:srgbClr val="E4EDF2"/>
                </a:solidFill>
                <a:latin typeface="Courier New"/>
              </a:rPr>
              <a:t> </a:t>
            </a:r>
            <a:r>
              <a:rPr sz="819" b="0" i="0">
                <a:solidFill>
                  <a:srgbClr val="D9A6CE"/>
                </a:solidFill>
                <a:latin typeface="Courier New"/>
              </a:rPr>
              <a:t>import</a:t>
            </a:r>
            <a:r>
              <a:rPr sz="819" b="0" i="0">
                <a:solidFill>
                  <a:srgbClr val="E4EDF2"/>
                </a:solidFill>
                <a:latin typeface="Courier New"/>
              </a:rPr>
              <a:t> </a:t>
            </a:r>
            <a:r>
              <a:rPr sz="819" b="0" i="0">
                <a:solidFill>
                  <a:srgbClr val="E4EDF2"/>
                </a:solidFill>
                <a:latin typeface="Courier New"/>
              </a:rPr>
              <a:t>Anthropic</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client</a:t>
            </a:r>
            <a:r>
              <a:rPr sz="819" b="0" i="0">
                <a:solidFill>
                  <a:srgbClr val="E4EDF2"/>
                </a:solidFill>
                <a:latin typeface="Courier New"/>
              </a:rPr>
              <a:t> = </a:t>
            </a:r>
            <a:r>
              <a:rPr sz="819" b="0" i="0">
                <a:solidFill>
                  <a:srgbClr val="9FC4EE"/>
                </a:solidFill>
                <a:latin typeface="Courier New"/>
              </a:rPr>
              <a:t>Anthropic</a:t>
            </a:r>
            <a:r>
              <a:rPr sz="819" b="0" i="0">
                <a:solidFill>
                  <a:srgbClr val="E4EDF2"/>
                </a:solidFill>
                <a:latin typeface="Courier New"/>
              </a:rPr>
              <a:t>(</a:t>
            </a:r>
            <a:r>
              <a:rPr sz="819" b="0" i="0">
                <a:solidFill>
                  <a:srgbClr val="E4EDF2"/>
                </a:solidFill>
                <a:latin typeface="Courier New"/>
              </a:rPr>
              <a:t>api_key</a:t>
            </a:r>
            <a:r>
              <a:rPr sz="819" b="0" i="0">
                <a:solidFill>
                  <a:srgbClr val="E4EDF2"/>
                </a:solidFill>
                <a:latin typeface="Courier New"/>
              </a:rPr>
              <a:t>=</a:t>
            </a:r>
            <a:r>
              <a:rPr sz="819" b="0" i="0">
                <a:solidFill>
                  <a:srgbClr val="E4EDF2"/>
                </a:solidFill>
                <a:latin typeface="Courier New"/>
              </a:rPr>
              <a:t>ANTHROPIC_API_KEY</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msg</a:t>
            </a:r>
            <a:r>
              <a:rPr sz="819" b="0" i="0">
                <a:solidFill>
                  <a:srgbClr val="E4EDF2"/>
                </a:solidFill>
                <a:latin typeface="Courier New"/>
              </a:rPr>
              <a:t> = </a:t>
            </a:r>
            <a:r>
              <a:rPr sz="819" b="0" i="0">
                <a:solidFill>
                  <a:srgbClr val="E4EDF2"/>
                </a:solidFill>
                <a:latin typeface="Courier New"/>
              </a:rPr>
              <a:t>client</a:t>
            </a:r>
            <a:r>
              <a:rPr sz="819" b="0" i="0">
                <a:solidFill>
                  <a:srgbClr val="E4EDF2"/>
                </a:solidFill>
                <a:latin typeface="Courier New"/>
              </a:rPr>
              <a:t>.</a:t>
            </a:r>
            <a:r>
              <a:rPr sz="819" b="0" i="0">
                <a:solidFill>
                  <a:srgbClr val="E4EDF2"/>
                </a:solidFill>
                <a:latin typeface="Courier New"/>
              </a:rPr>
              <a:t>messages</a:t>
            </a:r>
            <a:r>
              <a:rPr sz="819" b="0" i="0">
                <a:solidFill>
                  <a:srgbClr val="E4EDF2"/>
                </a:solidFill>
                <a:latin typeface="Courier New"/>
              </a:rPr>
              <a:t>.</a:t>
            </a:r>
            <a:r>
              <a:rPr sz="819" b="0" i="0">
                <a:solidFill>
                  <a:srgbClr val="9FC4EE"/>
                </a:solidFill>
                <a:latin typeface="Courier New"/>
              </a:rPr>
              <a:t>create</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model</a:t>
            </a:r>
            <a:r>
              <a:rPr sz="819" b="0" i="0">
                <a:solidFill>
                  <a:srgbClr val="E4EDF2"/>
                </a:solidFill>
                <a:latin typeface="Courier New"/>
              </a:rPr>
              <a:t>=</a:t>
            </a:r>
            <a:r>
              <a:rPr sz="819" b="0" i="0">
                <a:solidFill>
                  <a:srgbClr val="E4EDF2"/>
                </a:solidFill>
                <a:latin typeface="Courier New"/>
              </a:rPr>
              <a:t>CLAUDE_MODEL</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max_tokens</a:t>
            </a:r>
            <a:r>
              <a:rPr sz="819" b="0" i="0">
                <a:solidFill>
                  <a:srgbClr val="E4EDF2"/>
                </a:solidFill>
                <a:latin typeface="Courier New"/>
              </a:rPr>
              <a:t>=</a:t>
            </a:r>
            <a:r>
              <a:rPr sz="819" b="0" i="0">
                <a:solidFill>
                  <a:srgbClr val="9FC4EE"/>
                </a:solidFill>
                <a:latin typeface="Courier New"/>
              </a:rPr>
              <a:t>150</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4EDF2"/>
                </a:solidFill>
                <a:latin typeface="Courier New"/>
              </a:rPr>
              <a:t>messages</a:t>
            </a:r>
            <a:r>
              <a:rPr sz="819" b="0" i="0">
                <a:solidFill>
                  <a:srgbClr val="E4EDF2"/>
                </a:solidFill>
                <a:latin typeface="Courier New"/>
              </a:rPr>
              <a:t>=[{</a:t>
            </a:r>
            <a:r>
              <a:rPr sz="819" b="0" i="0">
                <a:solidFill>
                  <a:srgbClr val="EBB183"/>
                </a:solidFill>
                <a:latin typeface="Courier New"/>
              </a:rPr>
              <a:t>"role"</a:t>
            </a:r>
            <a:r>
              <a:rPr sz="819" b="0" i="0">
                <a:solidFill>
                  <a:srgbClr val="E4EDF2"/>
                </a:solidFill>
                <a:latin typeface="Courier New"/>
              </a:rPr>
              <a:t>: </a:t>
            </a:r>
            <a:r>
              <a:rPr sz="819" b="0" i="0">
                <a:solidFill>
                  <a:srgbClr val="EBB183"/>
                </a:solidFill>
                <a:latin typeface="Courier New"/>
              </a:rPr>
              <a:t>"user"</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r>
              <a:rPr sz="819" b="0" i="0">
                <a:solidFill>
                  <a:srgbClr val="EBB183"/>
                </a:solidFill>
                <a:latin typeface="Courier New"/>
              </a:rPr>
              <a:t>"content"</a:t>
            </a:r>
            <a:r>
              <a:rPr sz="819" b="0" i="0">
                <a:solidFill>
                  <a:srgbClr val="E4EDF2"/>
                </a:solidFill>
                <a:latin typeface="Courier New"/>
              </a:rPr>
              <a:t>: </a:t>
            </a:r>
            <a:r>
              <a:rPr sz="819" b="0" i="0">
                <a:solidFill>
                  <a:srgbClr val="E4EDF2"/>
                </a:solidFill>
                <a:latin typeface="Courier New"/>
              </a:rPr>
              <a:t>PROMPT</a:t>
            </a:r>
            <a:r>
              <a:rPr sz="819" b="0" i="0">
                <a:solidFill>
                  <a:srgbClr val="E4EDF2"/>
                </a:solidFill>
                <a:latin typeface="Courier New"/>
              </a:rPr>
              <a:t>.</a:t>
            </a:r>
            <a:r>
              <a:rPr sz="819" b="0" i="0">
                <a:solidFill>
                  <a:srgbClr val="9FC4EE"/>
                </a:solidFill>
                <a:latin typeface="Courier New"/>
              </a:rPr>
              <a:t>format</a:t>
            </a:r>
            <a:r>
              <a:rPr sz="819" b="0" i="0">
                <a:solidFill>
                  <a:srgbClr val="E4EDF2"/>
                </a:solidFill>
                <a:latin typeface="Courier New"/>
              </a:rPr>
              <a:t>(</a:t>
            </a:r>
            <a:r>
              <a:rPr sz="819" b="0" i="0">
                <a:solidFill>
                  <a:srgbClr val="E4EDF2"/>
                </a:solidFill>
                <a:latin typeface="Courier New"/>
              </a:rPr>
              <a:t>alert</a:t>
            </a:r>
            <a:r>
              <a:rPr sz="819" b="0" i="0">
                <a:solidFill>
                  <a:srgbClr val="E4EDF2"/>
                </a:solidFill>
                <a:latin typeface="Courier New"/>
              </a:rPr>
              <a:t>=</a:t>
            </a:r>
            <a:r>
              <a:rPr sz="819" b="0" i="0">
                <a:solidFill>
                  <a:srgbClr val="E4EDF2"/>
                </a:solidFill>
                <a:latin typeface="Courier New"/>
              </a:rPr>
              <a:t>alert</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t>
            </a:r>
          </a:p>
          <a:p>
            <a:pPr>
              <a:lnSpc>
                <a:spcPct val="112000"/>
              </a:lnSpc>
              <a:spcAft>
                <a:spcPts val="100"/>
              </a:spcAft>
            </a:pPr>
            <a:r>
              <a:rPr sz="819" b="0" i="0">
                <a:solidFill>
                  <a:srgbClr val="E4EDF2"/>
                </a:solidFill>
                <a:latin typeface="Courier New"/>
              </a:rPr>
              <a:t>    </a:t>
            </a:r>
            <a:r>
              <a:rPr sz="819" b="0" i="0">
                <a:solidFill>
                  <a:srgbClr val="D9A6CE"/>
                </a:solidFill>
                <a:latin typeface="Courier New"/>
              </a:rPr>
              <a:t>return</a:t>
            </a:r>
            <a:r>
              <a:rPr sz="819" b="0" i="0">
                <a:solidFill>
                  <a:srgbClr val="E4EDF2"/>
                </a:solidFill>
                <a:latin typeface="Courier New"/>
              </a:rPr>
              <a:t> </a:t>
            </a:r>
            <a:r>
              <a:rPr sz="819" b="0" i="0">
                <a:solidFill>
                  <a:srgbClr val="E4EDF2"/>
                </a:solidFill>
                <a:latin typeface="Courier New"/>
              </a:rPr>
              <a:t>msg</a:t>
            </a:r>
            <a:r>
              <a:rPr sz="819" b="0" i="0">
                <a:solidFill>
                  <a:srgbClr val="E4EDF2"/>
                </a:solidFill>
                <a:latin typeface="Courier New"/>
              </a:rPr>
              <a:t>.</a:t>
            </a:r>
            <a:r>
              <a:rPr sz="819" b="0" i="0">
                <a:solidFill>
                  <a:srgbClr val="E4EDF2"/>
                </a:solidFill>
                <a:latin typeface="Courier New"/>
              </a:rPr>
              <a:t>content</a:t>
            </a:r>
            <a:r>
              <a:rPr sz="819" b="0" i="0">
                <a:solidFill>
                  <a:srgbClr val="E4EDF2"/>
                </a:solidFill>
                <a:latin typeface="Courier New"/>
              </a:rPr>
              <a:t>[</a:t>
            </a:r>
            <a:r>
              <a:rPr sz="819" b="0" i="0">
                <a:solidFill>
                  <a:srgbClr val="9FC4EE"/>
                </a:solidFill>
                <a:latin typeface="Courier New"/>
              </a:rPr>
              <a:t>0</a:t>
            </a:r>
            <a:r>
              <a:rPr sz="819" b="0" i="0">
                <a:solidFill>
                  <a:srgbClr val="E4EDF2"/>
                </a:solidFill>
                <a:latin typeface="Courier New"/>
              </a:rPr>
              <a:t>].</a:t>
            </a:r>
            <a:r>
              <a:rPr sz="819" b="0" i="0">
                <a:solidFill>
                  <a:srgbClr val="E4EDF2"/>
                </a:solidFill>
                <a:latin typeface="Courier New"/>
              </a:rPr>
              <a:t>text</a:t>
            </a:r>
            <a:r>
              <a:rPr sz="819" b="0" i="0">
                <a:solidFill>
                  <a:srgbClr val="E4EDF2"/>
                </a:solidFill>
                <a:latin typeface="Courier New"/>
              </a:rPr>
              <a:t>.</a:t>
            </a:r>
            <a:r>
              <a:rPr sz="819" b="0" i="0">
                <a:solidFill>
                  <a:srgbClr val="9FC4EE"/>
                </a:solidFill>
                <a:latin typeface="Courier New"/>
              </a:rPr>
              <a:t>strip</a:t>
            </a:r>
            <a:r>
              <a:rPr sz="819" b="0" i="0">
                <a:solidFill>
                  <a:srgbClr val="E4EDF2"/>
                </a:solidFill>
                <a:latin typeface="Courier New"/>
              </a:rPr>
              <a:t>()</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E4EDF2"/>
                </a:solidFill>
                <a:latin typeface="Courier New"/>
              </a:rPr>
              <a:t/>
            </a:r>
          </a:p>
          <a:p>
            <a:pPr>
              <a:lnSpc>
                <a:spcPct val="112000"/>
              </a:lnSpc>
              <a:spcAft>
                <a:spcPts val="100"/>
              </a:spcAft>
            </a:pPr>
            <a:r>
              <a:rPr sz="819" b="0" i="0">
                <a:solidFill>
                  <a:srgbClr val="9FC4EE"/>
                </a:solidFill>
                <a:latin typeface="Courier New"/>
              </a:rPr>
              <a:t>print</a:t>
            </a:r>
            <a:r>
              <a:rPr sz="819" b="0" i="0">
                <a:solidFill>
                  <a:srgbClr val="E4EDF2"/>
                </a:solidFill>
                <a:latin typeface="Courier New"/>
              </a:rPr>
              <a:t>(</a:t>
            </a:r>
            <a:r>
              <a:rPr sz="819" b="0" i="0">
                <a:solidFill>
                  <a:srgbClr val="E4EDF2"/>
                </a:solidFill>
                <a:latin typeface="Courier New"/>
              </a:rPr>
              <a:t>f</a:t>
            </a:r>
            <a:r>
              <a:rPr sz="819" b="0" i="0">
                <a:solidFill>
                  <a:srgbClr val="EBB183"/>
                </a:solidFill>
                <a:latin typeface="Courier New"/>
              </a:rPr>
              <a:t>"Alert: {alert}"</a:t>
            </a:r>
            <a:r>
              <a:rPr sz="819" b="0" i="0">
                <a:solidFill>
                  <a:srgbClr val="E4EDF2"/>
                </a:solidFill>
                <a:latin typeface="Courier New"/>
              </a:rPr>
              <a:t>)</a:t>
            </a:r>
          </a:p>
        </p:txBody>
      </p:sp>
      <p:sp>
        <p:nvSpPr>
          <p:cNvPr id="10" name="Rounded Rectangle 9"/>
          <p:cNvSpPr/>
          <p:nvPr/>
        </p:nvSpPr>
        <p:spPr>
          <a:xfrm>
            <a:off x="8183879" y="1719072"/>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8348471" y="1874519"/>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2" name="TextBox 11"/>
          <p:cNvSpPr txBox="1"/>
          <p:nvPr/>
        </p:nvSpPr>
        <p:spPr>
          <a:xfrm>
            <a:off x="8695944" y="1865376"/>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Imports · functions · arguments</a:t>
            </a:r>
          </a:p>
        </p:txBody>
      </p:sp>
      <p:sp>
        <p:nvSpPr>
          <p:cNvPr id="13" name="TextBox 12"/>
          <p:cNvSpPr txBox="1"/>
          <p:nvPr/>
        </p:nvSpPr>
        <p:spPr>
          <a:xfrm>
            <a:off x="8348471" y="2194560"/>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from-import at the top, and again inside the function — which is why the script starts in 0.06 s even before any network call.</a:t>
            </a:r>
          </a:p>
        </p:txBody>
      </p:sp>
      <p:sp>
        <p:nvSpPr>
          <p:cNvPr id="14" name="Rounded Rectangle 13"/>
          <p:cNvSpPr/>
          <p:nvPr/>
        </p:nvSpPr>
        <p:spPr>
          <a:xfrm>
            <a:off x="8183879" y="2866644"/>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348471" y="3022091"/>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6" name="TextBox 15"/>
          <p:cNvSpPr txBox="1"/>
          <p:nvPr/>
        </p:nvSpPr>
        <p:spPr>
          <a:xfrm>
            <a:off x="8695944" y="3012948"/>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if / else, and a default</a:t>
            </a:r>
          </a:p>
        </p:txBody>
      </p:sp>
      <p:sp>
        <p:nvSpPr>
          <p:cNvPr id="17" name="TextBox 16"/>
          <p:cNvSpPr txBox="1"/>
          <p:nvPr/>
        </p:nvSpPr>
        <p:spPr>
          <a:xfrm>
            <a:off x="8348471" y="3342132"/>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The guard. One conditional is the whole difference between a clean skip and a traceback in front of the class.</a:t>
            </a:r>
          </a:p>
        </p:txBody>
      </p:sp>
      <p:sp>
        <p:nvSpPr>
          <p:cNvPr id="18" name="Rounded Rectangle 17"/>
          <p:cNvSpPr/>
          <p:nvPr/>
        </p:nvSpPr>
        <p:spPr>
          <a:xfrm>
            <a:off x="8183879" y="4014216"/>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48471" y="4169664"/>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20" name="TextBox 19"/>
          <p:cNvSpPr txBox="1"/>
          <p:nvPr/>
        </p:nvSpPr>
        <p:spPr>
          <a:xfrm>
            <a:off x="8695944" y="4160520"/>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Lists and dictionaries</a:t>
            </a:r>
          </a:p>
        </p:txBody>
      </p:sp>
      <p:sp>
        <p:nvSpPr>
          <p:cNvPr id="21" name="TextBox 20"/>
          <p:cNvSpPr txBox="1"/>
          <p:nvPr/>
        </p:nvSpPr>
        <p:spPr>
          <a:xfrm>
            <a:off x="8348471" y="4489704"/>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messages=[{...}] — a list containing a dictionary. That exact shape is how every chat API takes its input. Worth ten minutes.</a:t>
            </a:r>
          </a:p>
        </p:txBody>
      </p:sp>
      <p:sp>
        <p:nvSpPr>
          <p:cNvPr id="22" name="Rounded Rectangle 21"/>
          <p:cNvSpPr/>
          <p:nvPr/>
        </p:nvSpPr>
        <p:spPr>
          <a:xfrm>
            <a:off x="8183879" y="5161788"/>
            <a:ext cx="3367735" cy="1056132"/>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348471" y="5317236"/>
            <a:ext cx="237744" cy="237744"/>
          </a:xfrm>
          <a:prstGeom prst="roundRect">
            <a:avLst>
              <a:gd name="adj" fmla="val 3500"/>
            </a:avLst>
          </a:prstGeom>
          <a:solidFill>
            <a:srgbClr val="7330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4</a:t>
            </a:r>
          </a:p>
        </p:txBody>
      </p:sp>
      <p:sp>
        <p:nvSpPr>
          <p:cNvPr id="24" name="TextBox 23"/>
          <p:cNvSpPr txBox="1"/>
          <p:nvPr/>
        </p:nvSpPr>
        <p:spPr>
          <a:xfrm>
            <a:off x="8695944" y="5308092"/>
            <a:ext cx="2672791" cy="256032"/>
          </a:xfrm>
          <a:prstGeom prst="rect">
            <a:avLst/>
          </a:prstGeom>
          <a:noFill/>
        </p:spPr>
        <p:txBody>
          <a:bodyPr wrap="square" lIns="0" rIns="0" tIns="0" bIns="0">
            <a:spAutoFit/>
          </a:bodyPr>
          <a:lstStyle/>
          <a:p>
            <a:pPr>
              <a:spcAft>
                <a:spcPts val="200"/>
              </a:spcAft>
            </a:pPr>
            <a:r>
              <a:rPr sz="1100" b="1" i="0">
                <a:solidFill>
                  <a:srgbClr val="73305F"/>
                </a:solidFill>
                <a:latin typeface="Calibri"/>
              </a:rPr>
              <a:t>Strings, f-strings, printing</a:t>
            </a:r>
          </a:p>
        </p:txBody>
      </p:sp>
      <p:sp>
        <p:nvSpPr>
          <p:cNvPr id="25" name="TextBox 24"/>
          <p:cNvSpPr txBox="1"/>
          <p:nvPr/>
        </p:nvSpPr>
        <p:spPr>
          <a:xfrm>
            <a:off x="8348471" y="5637276"/>
            <a:ext cx="3038551" cy="452628"/>
          </a:xfrm>
          <a:prstGeom prst="rect">
            <a:avLst/>
          </a:prstGeom>
          <a:noFill/>
        </p:spPr>
        <p:txBody>
          <a:bodyPr wrap="square" lIns="0" rIns="0" tIns="0" bIns="0">
            <a:spAutoFit/>
          </a:bodyPr>
          <a:lstStyle/>
          <a:p>
            <a:pPr>
              <a:lnSpc>
                <a:spcPct val="116000"/>
              </a:lnSpc>
              <a:spcAft>
                <a:spcPts val="200"/>
              </a:spcAft>
            </a:pPr>
            <a:r>
              <a:rPr sz="919" b="0" i="0">
                <a:solidFill>
                  <a:srgbClr val="1B2B36"/>
                </a:solidFill>
                <a:latin typeface="Calibri"/>
              </a:rPr>
              <a:t>The prompt, and the output. Six of the seven checklist items are on this screen; the seventh, loops, is in the compare cell.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29184"/>
            <a:ext cx="10908792" cy="237744"/>
          </a:xfrm>
          <a:prstGeom prst="rect">
            <a:avLst/>
          </a:prstGeom>
          <a:noFill/>
        </p:spPr>
        <p:txBody>
          <a:bodyPr wrap="square" lIns="0" rIns="0" tIns="0" bIns="0">
            <a:spAutoFit/>
          </a:bodyPr>
          <a:lstStyle/>
          <a:p>
            <a:pPr>
              <a:spcAft>
                <a:spcPts val="200"/>
              </a:spcAft>
            </a:pPr>
            <a:r>
              <a:rPr sz="1000" b="1" i="0">
                <a:solidFill>
                  <a:srgbClr val="73305F"/>
                </a:solidFill>
                <a:latin typeface="Calibri"/>
              </a:rPr>
              <a:t>PART 5 · FRAMEWORKS, ETHICS &amp; YOUR WEEK</a:t>
            </a:r>
          </a:p>
        </p:txBody>
      </p:sp>
      <p:sp>
        <p:nvSpPr>
          <p:cNvPr id="3" name="TextBox 2"/>
          <p:cNvSpPr txBox="1"/>
          <p:nvPr/>
        </p:nvSpPr>
        <p:spPr>
          <a:xfrm>
            <a:off x="640080" y="585216"/>
            <a:ext cx="10908792" cy="566928"/>
          </a:xfrm>
          <a:prstGeom prst="rect">
            <a:avLst/>
          </a:prstGeom>
          <a:noFill/>
        </p:spPr>
        <p:txBody>
          <a:bodyPr wrap="square" lIns="0" rIns="0" tIns="0" bIns="0">
            <a:spAutoFit/>
          </a:bodyPr>
          <a:lstStyle/>
          <a:p>
            <a:pPr>
              <a:spcAft>
                <a:spcPts val="200"/>
              </a:spcAft>
            </a:pPr>
            <a:r>
              <a:rPr sz="3100" b="1" i="0">
                <a:solidFill>
                  <a:srgbClr val="12202B"/>
                </a:solidFill>
                <a:latin typeface="Cambria"/>
              </a:rPr>
              <a:t>The ten-module arc</a:t>
            </a:r>
          </a:p>
        </p:txBody>
      </p:sp>
      <p:sp>
        <p:nvSpPr>
          <p:cNvPr id="4" name="TextBox 3"/>
          <p:cNvSpPr txBox="1"/>
          <p:nvPr/>
        </p:nvSpPr>
        <p:spPr>
          <a:xfrm>
            <a:off x="640080" y="1207008"/>
            <a:ext cx="10908792" cy="310896"/>
          </a:xfrm>
          <a:prstGeom prst="rect">
            <a:avLst/>
          </a:prstGeom>
          <a:noFill/>
        </p:spPr>
        <p:txBody>
          <a:bodyPr wrap="square" lIns="0" rIns="0" tIns="0" bIns="0">
            <a:spAutoFit/>
          </a:bodyPr>
          <a:lstStyle/>
          <a:p>
            <a:pPr>
              <a:spcAft>
                <a:spcPts val="200"/>
              </a:spcAft>
            </a:pPr>
            <a:r>
              <a:rPr sz="1400" b="0" i="0">
                <a:solidFill>
                  <a:srgbClr val="5C7383"/>
                </a:solidFill>
                <a:latin typeface="Calibri"/>
              </a:rPr>
              <a:t>Where each piece arrives, and why the order is what it is.</a:t>
            </a:r>
          </a:p>
        </p:txBody>
      </p:sp>
      <p:sp>
        <p:nvSpPr>
          <p:cNvPr id="5" name="TextBox 4"/>
          <p:cNvSpPr txBox="1"/>
          <p:nvPr/>
        </p:nvSpPr>
        <p:spPr>
          <a:xfrm>
            <a:off x="640080" y="6382512"/>
            <a:ext cx="5486400" cy="256032"/>
          </a:xfrm>
          <a:prstGeom prst="rect">
            <a:avLst/>
          </a:prstGeom>
          <a:noFill/>
        </p:spPr>
        <p:txBody>
          <a:bodyPr wrap="square" lIns="0" rIns="0" tIns="0" bIns="0">
            <a:spAutoFit/>
          </a:bodyPr>
          <a:lstStyle/>
          <a:p>
            <a:pPr>
              <a:spcAft>
                <a:spcPts val="200"/>
              </a:spcAft>
            </a:pPr>
            <a:r>
              <a:rPr sz="900" b="0" i="0">
                <a:solidFill>
                  <a:srgbClr val="5C7383"/>
                </a:solidFill>
                <a:latin typeface="Calibri"/>
              </a:rPr>
              <a:t>Introduction to AI for Cybersecurity</a:t>
            </a:r>
          </a:p>
        </p:txBody>
      </p:sp>
      <p:sp>
        <p:nvSpPr>
          <p:cNvPr id="6" name="TextBox 5"/>
          <p:cNvSpPr txBox="1"/>
          <p:nvPr/>
        </p:nvSpPr>
        <p:spPr>
          <a:xfrm>
            <a:off x="10451592" y="6382512"/>
            <a:ext cx="1097280" cy="256032"/>
          </a:xfrm>
          <a:prstGeom prst="rect">
            <a:avLst/>
          </a:prstGeom>
          <a:noFill/>
        </p:spPr>
        <p:txBody>
          <a:bodyPr wrap="square" lIns="0" rIns="0" tIns="0" bIns="0">
            <a:spAutoFit/>
          </a:bodyPr>
          <a:lstStyle/>
          <a:p>
            <a:pPr algn="r">
              <a:spcAft>
                <a:spcPts val="200"/>
              </a:spcAft>
            </a:pPr>
            <a:r>
              <a:rPr sz="900" b="0" i="0">
                <a:solidFill>
                  <a:srgbClr val="5C7383"/>
                </a:solidFill>
                <a:latin typeface="Calibri"/>
              </a:rPr>
              <a:t>35</a:t>
            </a:r>
          </a:p>
        </p:txBody>
      </p:sp>
      <p:pic>
        <p:nvPicPr>
          <p:cNvPr id="7" name="Picture 6" descr="course_arc.png"/>
          <p:cNvPicPr>
            <a:picLocks noChangeAspect="1"/>
          </p:cNvPicPr>
          <p:nvPr/>
        </p:nvPicPr>
        <p:blipFill>
          <a:blip r:embed="rId3"/>
          <a:stretch>
            <a:fillRect/>
          </a:stretch>
        </p:blipFill>
        <p:spPr>
          <a:xfrm>
            <a:off x="640080" y="1862448"/>
            <a:ext cx="10908792" cy="2767343"/>
          </a:xfrm>
          <a:prstGeom prst="rect">
            <a:avLst/>
          </a:prstGeom>
        </p:spPr>
      </p:pic>
      <p:sp>
        <p:nvSpPr>
          <p:cNvPr id="8" name="Rounded Rectangle 7"/>
          <p:cNvSpPr/>
          <p:nvPr/>
        </p:nvSpPr>
        <p:spPr>
          <a:xfrm>
            <a:off x="640080" y="4809744"/>
            <a:ext cx="6949440" cy="1408176"/>
          </a:xfrm>
          <a:prstGeom prst="roundRect">
            <a:avLst>
              <a:gd name="adj" fmla="val 3500"/>
            </a:avLst>
          </a:prstGeom>
          <a:solidFill>
            <a:srgbClr val="F1E4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536" y="4928616"/>
            <a:ext cx="6510527" cy="1170432"/>
          </a:xfrm>
          <a:prstGeom prst="rect">
            <a:avLst/>
          </a:prstGeom>
          <a:noFill/>
        </p:spPr>
        <p:txBody>
          <a:bodyPr wrap="square" lIns="0" rIns="0" tIns="0" bIns="0">
            <a:spAutoFit/>
          </a:bodyPr>
          <a:lstStyle/>
          <a:p>
            <a:pPr>
              <a:lnSpc>
                <a:spcPct val="116000"/>
              </a:lnSpc>
              <a:spcAft>
                <a:spcPts val="200"/>
              </a:spcAft>
            </a:pPr>
            <a:r>
              <a:rPr sz="1100" b="1" i="0">
                <a:solidFill>
                  <a:srgbClr val="73305F"/>
                </a:solidFill>
                <a:latin typeface="Calibri"/>
              </a:rPr>
              <a:t>Framework-free first, on purpose.  </a:t>
            </a:r>
            <a:r>
              <a:rPr sz="1100" b="0" i="0">
                <a:solidFill>
                  <a:srgbClr val="1B2B36"/>
                </a:solidFill>
                <a:latin typeface="Calibri"/>
              </a:rPr>
              <a:t>In module 4 you build a retrieval engine by hand from an embedding model and a dot product. In module 5 you do the same thing in fifteen lines of LangChain. Meet the framework first and it is magic — and when it breaks you have nothing to reason with. Write the pieces yourself and the framework becomes a convenience you can see through.</a:t>
            </a:r>
          </a:p>
        </p:txBody>
      </p:sp>
      <p:sp>
        <p:nvSpPr>
          <p:cNvPr id="10" name="Rounded Rectangle 9"/>
          <p:cNvSpPr/>
          <p:nvPr/>
        </p:nvSpPr>
        <p:spPr>
          <a:xfrm>
            <a:off x="7863840" y="4809744"/>
            <a:ext cx="3685032" cy="1408176"/>
          </a:xfrm>
          <a:prstGeom prst="roundRect">
            <a:avLst>
              <a:gd name="adj" fmla="val 3500"/>
            </a:avLst>
          </a:prstGeom>
          <a:solidFill>
            <a:srgbClr val="F1E4ED"/>
          </a:solidFill>
          <a:ln w="12700">
            <a:solidFill>
              <a:srgbClr val="7330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83296" y="4956048"/>
            <a:ext cx="3246120" cy="274320"/>
          </a:xfrm>
          <a:prstGeom prst="rect">
            <a:avLst/>
          </a:prstGeom>
          <a:noFill/>
        </p:spPr>
        <p:txBody>
          <a:bodyPr wrap="square" lIns="0" rIns="0" tIns="0" bIns="0">
            <a:spAutoFit/>
          </a:bodyPr>
          <a:lstStyle/>
          <a:p>
            <a:pPr>
              <a:spcAft>
                <a:spcPts val="200"/>
              </a:spcAft>
            </a:pPr>
            <a:r>
              <a:rPr sz="1300" b="1" i="0">
                <a:solidFill>
                  <a:srgbClr val="73305F"/>
                </a:solidFill>
                <a:latin typeface="Calibri"/>
              </a:rPr>
              <a:t>Seven mini-projects and a capstone</a:t>
            </a:r>
          </a:p>
        </p:txBody>
      </p:sp>
      <p:sp>
        <p:nvSpPr>
          <p:cNvPr id="12" name="TextBox 11"/>
          <p:cNvSpPr txBox="1"/>
          <p:nvPr/>
        </p:nvSpPr>
        <p:spPr>
          <a:xfrm>
            <a:off x="8083296" y="5321808"/>
            <a:ext cx="3246120" cy="749808"/>
          </a:xfrm>
          <a:prstGeom prst="rect">
            <a:avLst/>
          </a:prstGeom>
          <a:noFill/>
        </p:spPr>
        <p:txBody>
          <a:bodyPr wrap="square" lIns="0" rIns="0" tIns="0" bIns="0">
            <a:spAutoFit/>
          </a:bodyPr>
          <a:lstStyle/>
          <a:p>
            <a:pPr>
              <a:lnSpc>
                <a:spcPct val="114000"/>
              </a:lnSpc>
              <a:spcAft>
                <a:spcPts val="300"/>
              </a:spcAft>
            </a:pPr>
            <a:r>
              <a:rPr sz="1000" b="0" i="0">
                <a:solidFill>
                  <a:srgbClr val="1B2B36"/>
                </a:solidFill>
                <a:latin typeface="Calibri"/>
              </a:rPr>
              <a:t>They build on each other. The retrieval you write in module 4 becomes the tool your agent calls in module 8, so falling behind compounds rather than staying local.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 The CyberAI Landscape</dc:title>
  <dc:subject>PptxGenJS Presentation</dc:subject>
  <dc:creator>Chengcheng Li, PhD</dc:creator>
  <cp:lastModifiedBy>Chengcheng Li, PhD</cp:lastModifiedBy>
  <cp:revision>1</cp:revision>
  <dcterms:created xsi:type="dcterms:W3CDTF">2026-07-26T20:26:39Z</dcterms:created>
  <dcterms:modified xsi:type="dcterms:W3CDTF">2026-07-26T20:26:39Z</dcterms:modified>
</cp:coreProperties>
</file>