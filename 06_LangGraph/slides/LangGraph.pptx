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3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2" r:id="rId33"/>
    <p:sldId id="272" r:id="rId18"/>
    <p:sldId id="273" r:id="rId19"/>
    <p:sldId id="283" r:id="rId34"/>
    <p:sldId id="274" r:id="rId20"/>
    <p:sldId id="284" r:id="rId35"/>
    <p:sldId id="275" r:id="rId21"/>
    <p:sldId id="276" r:id="rId22"/>
    <p:sldId id="277" r:id="rId23"/>
    <p:sldId id="286" r:id="rId37"/>
    <p:sldId id="278" r:id="rId24"/>
    <p:sldId id="285" r:id="rId36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2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2B"/>
                </a:solidFill>
                <a:latin typeface="Calibri"/>
              </a:rPr>
              <a:t>Indicative mark distribution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rgbClr val="2B3E8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Working graph
(state, nodes, compile)</c:v>
                  </c:pt>
                  <c:pt idx="1">
                    <c:v>Real branching
(both paths shown)</c:v>
                  </c:pt>
                  <c:pt idx="2">
                    <c:v>Tool actually called</c:v>
                  </c:pt>
                  <c:pt idx="3">
                    <c:v>Report: design &amp; autonomy</c:v>
                  </c:pt>
                  <c:pt idx="4">
                    <c:v>Forum contribution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E3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2B3E80">
              <a:alpha val="22000"/>
            </a:srgbClr>
          </a:solidFill>
          <a:ln w="12700">
            <a:solidFill>
              <a:srgbClr val="2B3E8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274320"/>
            <a:ext cx="3108960" cy="3108960"/>
          </a:xfrm>
          <a:prstGeom prst="ellipse">
            <a:avLst/>
          </a:prstGeom>
          <a:solidFill>
            <a:srgbClr val="12202B"/>
          </a:solidFill>
          <a:ln w="12700">
            <a:solidFill>
              <a:srgbClr val="2B3E80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21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CYBERSECURITY · 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agents as graphs over shared state — and deciding, deliberately,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autonomy a security system should be granted.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05840" cy="32004"/>
          </a:xfrm>
          <a:prstGeom prst="rect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· two notebooks · a reference template · one mini-project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5029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the LangChain module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F8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Chains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Graphs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 will use all module: state, nodes, edges, conditional routing, tools, memory — and the decision loop underneath every agent.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6F86C9"/>
          </a:solidFill>
          <a:ln w="12700">
            <a:solidFill>
              <a:srgbClr val="6F8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Chains to Graphs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Control &amp; Guardrails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Stateful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following recipes to making decisions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executes the path you wrote. An agent selects a path at run time — that is the whole difference.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edges, conditional routing, tools, memory.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47288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1984248"/>
            <a:ext cx="384048" cy="384048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78808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&amp; control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autonomy spectrum and the four default guardrails.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4496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0528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agent that branches, calls a tool and remembers.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1704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93224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build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17736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Concept-check lab, then your own stateful security agent.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529584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SYSTEM CHOOSES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03904"/>
          <a:ext cx="109087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297680"/>
                <a:gridCol w="4462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(previous module)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agent (this module)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for every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at run time from the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— the pipeline 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designed: bound the loop, guarantee a path to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each step work?”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did it choose that step?”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take actions through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graph rather than a chain?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small, testable functions — but the route through them adapts to the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01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· ONE FIXED PATH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6112" y="228600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21992" y="2560320"/>
            <a:ext cx="31089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28600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86200" y="2560320"/>
            <a:ext cx="31089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24528" y="228600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traces the same route. Predictable, testable, inflexible.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3584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is 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1755648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901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A ROUTE CHOSEN PER INPUT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55664" y="2395728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3957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2231136"/>
            <a:ext cx="1051560" cy="87782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231136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2670048"/>
            <a:ext cx="15544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70848" y="1883664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18836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70848" y="292608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643616" y="23957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12202B"/>
          </a:solidFill>
          <a:ln w="15875">
            <a:solidFill>
              <a:srgbClr val="1220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51392" y="2670048"/>
            <a:ext cx="10972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961120" y="2130552"/>
            <a:ext cx="0" cy="539496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0" y="2130552"/>
            <a:ext cx="8229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51392" y="2670048"/>
            <a:ext cx="10972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2670048"/>
            <a:ext cx="0" cy="50292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3172968"/>
            <a:ext cx="8229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296144" y="2130552"/>
            <a:ext cx="164592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60736" y="2130552"/>
            <a:ext cx="0" cy="539496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60736" y="2670048"/>
            <a:ext cx="15544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96144" y="3172968"/>
            <a:ext cx="164592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460736" y="2670048"/>
            <a:ext cx="0" cy="50292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0736" y="2670048"/>
            <a:ext cx="15544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455664" y="3584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alerts detour through enrichment; benign ones do not.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15968"/>
          <a:ext cx="1090879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4206240"/>
                <a:gridCol w="42793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in security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costs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alert classes need genuinely different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routing decision that can be wrong, quietly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Investigations refine: gather, reassess, gather again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Non-termination unless you bound it explicitly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Revisit a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Re-score after new context arrives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that must stay coherent across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State, nodes and edges: the whole vocabulary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between your nodes. Keep it minimal, typed and explicit.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806440" cy="2651760"/>
          </a:xfrm>
          <a:prstGeom prst="roundRect">
            <a:avLst>
              <a:gd name="adj" fmla="val 2414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primitives, in 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3309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typing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TypedDict, Optional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TriageState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(TypedDict):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alert: str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verdict: Optional[str]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context: Optional[str]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recommendation: Optional[str]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(state: TriageState) -&gt; dict: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"verdict"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])}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1783080"/>
          <a:ext cx="5074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86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— and the rule that goes with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shared, typed record every node reads and writes. Rule: name only what the agent truly needs.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function: state in, a partial update out. Rule: return only the fields you changed.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wire from one node to the next. END is the exit. Rule: every path must be able to reach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645152"/>
            <a:ext cx="5806440" cy="1170432"/>
          </a:xfrm>
          <a:prstGeom prst="roundRect">
            <a:avLst>
              <a:gd name="adj" fmla="val 4688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736592"/>
            <a:ext cx="53675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returns {"verdict": "suspicious"} — not the whole state. LangGraph merges it. Returning the full dict is the most common beginner bug.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73952" y="4645152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4736592"/>
            <a:ext cx="4636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 it: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TypedDict is documentation your editor can check and a review artefact a colleague can read in ten seconds.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edges: the moment it becomes an agent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reads the state and returns a key. The key names the next node — or 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806440" cy="2423160"/>
          </a:xfrm>
          <a:prstGeom prst="roundRect">
            <a:avLst>
              <a:gd name="adj" fmla="val 2642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is an ordinary function returning a branch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33095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(state: TriageState) -&gt; str: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"verdict"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"suspicious"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"close"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route,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"close"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END},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214884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75704" y="21488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984248"/>
            <a:ext cx="1234440" cy="87782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8424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2423160"/>
            <a:ext cx="17373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29800" y="1700784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84664" y="1700784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267004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2202B"/>
          </a:solidFill>
          <a:ln w="15875">
            <a:solidFill>
              <a:srgbClr val="122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84664" y="26700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82912" y="2423160"/>
            <a:ext cx="10972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692640" y="1947672"/>
            <a:ext cx="0" cy="475488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1947672"/>
            <a:ext cx="10972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82912" y="2423160"/>
            <a:ext cx="10972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0" y="2423160"/>
            <a:ext cx="0" cy="493776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2916936"/>
            <a:ext cx="10972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732520" y="1481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“suspicious”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78240" y="3035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“benign”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43984"/>
          <a:ext cx="1090879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840480"/>
                <a:gridCol w="4462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deterministic rule over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== "suspicious"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Predictable; only as good as the classifier that set the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model-produced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classify node asks an LLM for a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Off-vocabulary labels; always provide a default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confidence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 0.8 → act; otherwise escalate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choice is a policy decision, so document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memory: reaching out, and holding 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fetches ground truth the model cannot know. A checkpointer makes the agent stateful across turns.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532120" cy="1965960"/>
          </a:xfrm>
          <a:prstGeom prst="roundRect">
            <a:avLst>
              <a:gd name="adj" fmla="val 3256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node — the agent reaches real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0566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(state: TriageState) -&gt; dict: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ip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extract_ip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rep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reputation_lookup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(ip)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tool call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"{ip}: {rep}"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6752" y="1783080"/>
            <a:ext cx="5532120" cy="1965960"/>
          </a:xfrm>
          <a:prstGeom prst="roundRect">
            <a:avLst>
              <a:gd name="adj" fmla="val 3256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901952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checkpointer + thread_id — the agent remembers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54496" y="2203704"/>
            <a:ext cx="50566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langgraph.checkpoint.memory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MemorySaver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(checkpointer=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MemorySaver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(inp,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"configurable"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"thread_id"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"soc-42"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50208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3063240"/>
                <a:gridCol w="30906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the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decides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consequence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Current, external, verifiable facts — a CVE record, an IP reputation, a scan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agent, from the state — which is why tools need scoping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 re-enters the context as untrusted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across turns, keyed by thread_id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You, by supplying (or withholding) the thread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Persisted state is data at rest: it can leak, and it can be poisoned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5358384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5449824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thread, same memory: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thread_id "soc-42" and the agent recalls turn one. Use a new id and it starts clean — which is also how you isolate one investigation from another.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CHAINS TO GRAPHS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is one loop, made explicit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decide → act → update. The graph's contribution is that you can watch it happen.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88366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9659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32304" y="22311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0" y="348386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78224" y="38313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findings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77440" y="508406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5166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32304" y="54315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/ a model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5661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8313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 to state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42232" y="2194560"/>
            <a:ext cx="74980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194560"/>
            <a:ext cx="0" cy="123444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4160520"/>
            <a:ext cx="0" cy="123444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4142232" y="5394960"/>
            <a:ext cx="74980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1600200" y="5394960"/>
            <a:ext cx="74980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600200" y="4160520"/>
            <a:ext cx="0" cy="123444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600200" y="2194560"/>
            <a:ext cx="0" cy="123444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2194560"/>
            <a:ext cx="74980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606040" y="3474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1783080"/>
            <a:ext cx="5559552" cy="1874520"/>
          </a:xfrm>
          <a:prstGeom prst="roundRect">
            <a:avLst>
              <a:gd name="adj" fmla="val 3415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27064" y="1901952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loop — a design requirement, not a nicety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27064" y="2203704"/>
            <a:ext cx="50840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(state) -&gt; str: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"steps"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MAX_STEPS: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guaranteed exit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"investigate"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"open_leads"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"report"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858768"/>
          <a:ext cx="5559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39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loop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step counter in the state, checked by the 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tool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 and idempotent tool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wall-clock deadline; log every transition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F8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Autonomy, Control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Guardrails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judgement at the centre of agentic security: more autonomy is more useful and more dangerous. Here are the defaults, and how to inspect what the agent decided.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Chains to Graphs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6F86C9"/>
          </a:solidFill>
          <a:ln w="12700">
            <a:solidFill>
              <a:srgbClr val="6F8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Control &amp; Guardrails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Stateful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AUTONOMY, CONTROL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autonomy spectrum — and where to sit by default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grant the least autonomy that still accomplishes the task.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2E6F4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2024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77824" y="2286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recommendation. A human performs every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8808" y="2395728"/>
            <a:ext cx="137160" cy="201168"/>
          </a:xfrm>
          <a:prstGeom prst="rightArrow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EEF0F7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2024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within scope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performs pre-approved, reversible actions on a defined asset list.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72984" y="2395728"/>
            <a:ext cx="137160" cy="201168"/>
          </a:xfrm>
          <a:prstGeom prst="rightArrow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17830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7E5E8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92024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freely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66176" y="22860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selects and performs actions without prior approval.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273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capability  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19672" y="3273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increasing reversibility and oversight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75888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743200"/>
                <a:gridCol w="2770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to ask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Triage, enrichment, drafting an IR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before any action is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human already in this workflow?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within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a ticket, tagging an asset, querying read-only APIs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allow-list, an audit log, and reversibility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undo this in one step?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freely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justified in a security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technical limits — not policy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worst action reachable from here?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0080" y="5522976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" y="5614416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your own design: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worst action your agent can reach. If you cannot say it in one sentence, the scope is too wide.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AUTONOMY, CONTROL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guardrails, on by default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advanced techniques. They are the baseline for any agent you ship.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approves any destructive or irreversible step.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47288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78808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counter and a guaranteed path to END.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4496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access the task actually requires — read-only by default.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1704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93224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logging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node's input, output and branch, retained for audit.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9584"/>
          <a:ext cx="109087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383280"/>
                <a:gridCol w="2788920"/>
                <a:gridCol w="2404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it prevents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evidence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degrades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 the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irreversible action taken on a wrong 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interrupt in the graph; an approval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fatigue — volume makes review nominal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loops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cost; repeated calls against live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counter in the state; a max-steps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limit set so high it never triggers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minor bug becoming a major incident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scopes and credentials, documented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as features are added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unanswerable “why did it do that?”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per-node trace you can replay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nobody reads, or logs holding secrets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AUTONOMY, CONTROL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checkpoints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proposes; the human disposes. LangGraph supports this natively through interrupts.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928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157984"/>
            <a:ext cx="1947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 consequential node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15768" y="2240280"/>
            <a:ext cx="118872" cy="0"/>
          </a:xfrm>
          <a:prstGeom prst="line">
            <a:avLst/>
          </a:prstGeom>
          <a:noFill/>
          <a:ln w="22225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181051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8928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7792" y="2157984"/>
            <a:ext cx="1947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pauses before acting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28616" y="2240280"/>
            <a:ext cx="118872" cy="0"/>
          </a:xfrm>
          <a:prstGeom prst="line">
            <a:avLst/>
          </a:prstGeom>
          <a:noFill/>
          <a:ln w="22225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65776" y="181051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928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157984"/>
            <a:ext cx="1947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persisted durably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41464" y="2240280"/>
            <a:ext cx="118872" cy="0"/>
          </a:xfrm>
          <a:prstGeom prst="line">
            <a:avLst/>
          </a:prstGeom>
          <a:noFill/>
          <a:ln w="22225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78624" y="181051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2B3E80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18928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33488" y="2157984"/>
            <a:ext cx="1947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3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54312" y="2240280"/>
            <a:ext cx="118872" cy="0"/>
          </a:xfrm>
          <a:prstGeom prst="line">
            <a:avLst/>
          </a:prstGeom>
          <a:noFill/>
          <a:ln w="22225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91472" y="1810512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6336" y="189280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46336" y="2157984"/>
            <a:ext cx="1947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or take the safe branch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2999232"/>
            <a:ext cx="5806440" cy="1920240"/>
          </a:xfrm>
          <a:prstGeom prst="roundRect">
            <a:avLst>
              <a:gd name="adj" fmla="val 3333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" y="3118104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consequential node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7824" y="3419856"/>
            <a:ext cx="53309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checkpointer=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MemorySaver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interrupt_before=[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"quarantine_host"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2999232"/>
          <a:ext cx="5074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this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an address; quarantining a 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log; querying reputation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Sending external 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Drafting a message for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you cannot undo in one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idempotent and read-only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40080" y="5120640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9536" y="521208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approval, not just the pause: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reviewer the alert, the verdict, the evidence and the exact action proposed. An approval prompt that says only “Proceed?” trains people to click yes.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AUTONOMY, CONTROL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Tracing: answering “why did it do that?”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step is an explicit node, a run is a record you can read — and replay.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OF THE TRIAGE AGENT, NODE BY NODE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29968"/>
          <a:ext cx="109087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920240"/>
                <a:gridCol w="3154680"/>
                <a:gridCol w="3017520"/>
                <a:gridCol w="2084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in (abridged)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update returned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alert: “5 failed SSH from 10.0.0.9”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verdict: “suspicious”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verdict: “suspicious”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 state change)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alert, 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context: “10.0.0.9 — known scanner”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alert, verdict,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recommendation: “block + ticket”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114800"/>
            <a:ext cx="5806440" cy="1719072"/>
          </a:xfrm>
          <a:prstGeom prst="roundRect">
            <a:avLst>
              <a:gd name="adj" fmla="val 3723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7824" y="4233672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zero-dependency version: stream and print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7824" y="4535424"/>
            <a:ext cx="53309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(inputs, config):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node, update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(node,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update)</a:t>
            </a:r>
            <a:endParaRPr lang="en-US" sz="10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4114800"/>
          <a:ext cx="50749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trace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branch that fired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Mis-routing is the most common agent 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tool's raw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untrusted text now inside the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at the last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answers usually start upstream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AUTONOMY, CONTROL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graph agents earn their keep in security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 where an auditable path matters as much as the answer.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975104"/>
            <a:ext cx="365760" cy="365760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241401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triage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7824" y="2743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enrich and recommend — along a path an analyst can audit afterwards.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6118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worked example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47288" y="178308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1975104"/>
            <a:ext cx="365760" cy="365760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85032" y="241401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as graphs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85032" y="2743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incident-response procedure and the executable workflow become one artefact.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5032" y="36118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between doc and practice disappears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178308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975104"/>
            <a:ext cx="365760" cy="365760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241401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investigations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2743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enquiry that changes direction on findings, with each step recorded.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6118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need bounding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61704" y="178308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1975104"/>
            <a:ext cx="365760" cy="365760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99448" y="241401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orchestration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99448" y="2743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tools driven in a defined sequence with approval gates.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99448" y="36118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in the Orchestration module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279392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A GRAPH AGENT IS THE WRONG TOOL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53712"/>
          <a:ext cx="1090879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931920"/>
                <a:gridCol w="3547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an agent hurts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High-volume, well-specified, repetitive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Non-determinism and per-call cost with no upside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deterministic pipeline or a rule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real-time or safety-critical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is variable and reasoning is not guaranteed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logic with an agent for post-hoc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F8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Agent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notebooks: first a bare graph — state, nodes, edges — then the upgrade to an agent that branches, calls a tool and remembers across turns.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Chains to Graphs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Control &amp; Guardrails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6F86C9"/>
          </a:solidFill>
          <a:ln w="12700">
            <a:solidFill>
              <a:srgbClr val="6F8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Stateful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BUILD A STATEFUL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state — it is the contract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fields up front is drawing the boxes on a form before anyone fills it 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532120" cy="2423160"/>
          </a:xfrm>
          <a:prstGeom prst="roundRect">
            <a:avLst>
              <a:gd name="adj" fmla="val 2642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lecture2_langgraph_state_nodes.ipynb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05663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typing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TypedDict, Optional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TriageState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(TypedDict):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alert: str             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by the caller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verdict: Optional[str] 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by classify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context: Optional[str] 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by enrich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recommendation: Optional[str]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by recommend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6752" y="1783080"/>
          <a:ext cx="5532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32588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route, recommend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classified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enrichment 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has not concluded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440740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A STATE DEFINITION REVIEWABLE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4681728"/>
            <a:ext cx="3520440" cy="1133856"/>
          </a:xfrm>
          <a:prstGeom prst="roundRect">
            <a:avLst>
              <a:gd name="adj" fmla="val 564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486460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534009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earns its place. If no node reads it, delete it.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34256" y="4681728"/>
            <a:ext cx="3520440" cy="1133856"/>
          </a:xfrm>
          <a:prstGeom prst="roundRect">
            <a:avLst>
              <a:gd name="adj" fmla="val 564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486460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by default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90288" y="534009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 node has not reached yet are None, not empty strings.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28432" y="4681728"/>
            <a:ext cx="3520440" cy="1133856"/>
          </a:xfrm>
          <a:prstGeom prst="roundRect">
            <a:avLst>
              <a:gd name="adj" fmla="val 564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4464" y="4864608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84464" y="534009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naming the writer turns the class into a design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BUILD A STATEFUL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 are functions; StateGraph is the wiring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nodes, set an entry point, add edges, compile. The graph logic is ordinary Python — no key required.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263640" cy="3108960"/>
          </a:xfrm>
          <a:prstGeom prst="roundRect">
            <a:avLst>
              <a:gd name="adj" fmla="val 2059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and compile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7881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langgraph.graph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StateGraph, END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(TriageState)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classify)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enrich)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"recommend"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recommend)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set_entry_point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route,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"close"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END})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"enrich"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"recommend"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"recommend"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END)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graph.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1755648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THIS CODE BUILDS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4304" y="210312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1956816"/>
            <a:ext cx="1097280" cy="74980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95681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94192" y="2331720"/>
            <a:ext cx="12801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9800" y="21031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84664" y="210312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74352" y="2331720"/>
            <a:ext cx="12801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29800" y="299923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84664" y="299923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43032" y="2587752"/>
            <a:ext cx="0" cy="384048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299923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2202B"/>
          </a:solidFill>
          <a:ln w="15875">
            <a:solidFill>
              <a:srgbClr val="122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8704" y="299923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9079992" y="3227832"/>
            <a:ext cx="72237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2706624"/>
            <a:ext cx="0" cy="173736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8458200" y="2880360"/>
            <a:ext cx="640080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2880360"/>
            <a:ext cx="0" cy="9144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95360" y="27249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49440" y="3703320"/>
            <a:ext cx="4599432" cy="1188720"/>
          </a:xfrm>
          <a:prstGeom prst="roundRect">
            <a:avLst>
              <a:gd name="adj" fmla="val 4615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37947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it: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app.get_graph().draw_ascii() prints the structure. Check the picture matches your intent before you debug behaviour.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12064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776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Build-time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node name that no edge targets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node never executes; no error is raised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graph and look for orphans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branch key missing from the 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 at run time, on one input class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supply a default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BUILD A STATEFUL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triage agent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you extend in the lab and start your project from.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36829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263347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286000"/>
            <a:ext cx="1737360" cy="603504"/>
          </a:xfrm>
          <a:prstGeom prst="roundRect">
            <a:avLst>
              <a:gd name="adj" fmla="val 909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23682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60904" y="26334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verdict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130552"/>
            <a:ext cx="1371600" cy="914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3055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691640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17739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38544" y="203911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IP reputation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23960" y="2286000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E2E6F4"/>
          </a:solidFill>
          <a:ln w="15875">
            <a:solidFill>
              <a:srgbClr val="2B3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8824" y="23682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78824" y="26334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an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971800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12202B"/>
          </a:solidFill>
          <a:ln w="15875">
            <a:solidFill>
              <a:srgbClr val="122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30540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38544" y="33192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— closed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21992" y="2587752"/>
            <a:ext cx="35661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70832" y="2587752"/>
            <a:ext cx="356616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53912" y="2587752"/>
            <a:ext cx="20116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355080" y="1993392"/>
            <a:ext cx="0" cy="59436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993392"/>
            <a:ext cx="20116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53912" y="2587752"/>
            <a:ext cx="20116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587752"/>
            <a:ext cx="0" cy="68580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273552"/>
            <a:ext cx="201168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39912" y="1993392"/>
            <a:ext cx="20116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41080" y="1993392"/>
            <a:ext cx="0" cy="59436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41080" y="2587752"/>
            <a:ext cx="155448" cy="0"/>
          </a:xfrm>
          <a:prstGeom prst="line">
            <a:avLst/>
          </a:prstGeom>
          <a:noFill/>
          <a:ln w="19050">
            <a:solidFill>
              <a:srgbClr val="2B3E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2200" y="3063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13632"/>
          <a:ext cx="109087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31920"/>
                <a:gridCol w="4828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the alert; write verdict to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label vocabulary closed and small — the router depends on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verdict, return a branch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node: a plain function, deterministic, and always with a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 reputation tool; write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node that touches the outside world — scope it read-only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an action from alert + verdict +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Proposes. It does not act. Acting is a separate, gated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BUILD A STATEFUL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Branch, act, remember: three upgrades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lecture3_langgraph_branch_tools.ipynb turns the skeleton into an agent.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edge, so different inputs take visibly different routes.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31272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two alerts and watch the paths diverge.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256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65776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0288" y="244144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node calls for real information instead of guessing.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0288" y="31272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answer with and without enrichment.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28432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1984248"/>
            <a:ext cx="384048" cy="384048"/>
          </a:xfrm>
          <a:prstGeom prst="ellipse">
            <a:avLst/>
          </a:prstGeom>
          <a:solidFill>
            <a:srgbClr val="2B3E80"/>
          </a:solidFill>
          <a:ln w="12700">
            <a:solidFill>
              <a:srgbClr val="2B3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59952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84464" y="2441448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MemorySaver checkpointer plus a thread_id.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84464" y="31272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 recalls turn one; a new id starts clean.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6263640" cy="2011680"/>
          </a:xfrm>
          <a:prstGeom prst="roundRect">
            <a:avLst>
              <a:gd name="adj" fmla="val 3182"/>
            </a:avLst>
          </a:prstGeom>
          <a:solidFill>
            <a:srgbClr val="161C2E"/>
          </a:solidFill>
          <a:ln w="12700">
            <a:solidFill>
              <a:srgbClr val="161C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7824" y="3913632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practice — the same graph, two threads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4215384"/>
            <a:ext cx="57881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cfg_a =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"configurable"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"thread_id"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"incident-101"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cfg_b =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"configurable"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"thread_id"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"incident-102"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first_alert},  cfg_a)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remembered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B4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second_alert}, cfg_b)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isolated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794760"/>
          <a:ext cx="45994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79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lecture2 …state_nodes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lecture3 …branch_tools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Seeing the three upgrades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…reference_template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your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BUILD A STATEFUL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make the change, watch it flow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exercises now — and the first one is already part of your lab submission.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80360"/>
                <a:gridCol w="3794760"/>
                <a:gridCol w="3502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observe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lecture 2, add a third feature to the extraction node — e.g. has_https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field appearing in the state at every later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understand partial updates and state merging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field to the TypedDict as well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 where you might expect one — then reason about 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state documents intent; it does not enforce it at run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lecture 3, craft inputs that take each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node sequences printed for each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is data-driven, not fixed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one input twice on the same thread_id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second run recalls the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checkpointer, not the model, is what remembers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56048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047488"/>
            <a:ext cx="5367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exercise 1: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change and its output are exactly what the concept-check lab asks for.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73952" y="4956048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5047488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happens: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a later node actually reads the field. An unread state field is invisible.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F8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Mini-Project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concept-check lab as rehearsal, then your own stateful security agent: state, three nodes, a conditional edge and a tool it genuinely calls.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Chains to Graphs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Control &amp; Guardrails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Stateful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6F86C9"/>
          </a:solidFill>
          <a:ln w="12700">
            <a:solidFill>
              <a:srgbClr val="6F8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concept-check lab: your rehearsal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change one thing, then explain the five concepts in your own words.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 answer includes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common incomplete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typed, shared record; nodes return partial updates that are merged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stores the data”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&amp;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and wiring; every path must be able to reach 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“Nodes do things and edges connect them”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deterministic function over state returning a branch key; needs a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“It's an if/else”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ground truth the model cannot know — and untrusted text on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lets the agent search things”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checkpointer plus a thread_id; persistence lives outside the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remembers”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230368"/>
            <a:ext cx="5806440" cy="713232"/>
          </a:xfrm>
          <a:prstGeom prst="roundRect">
            <a:avLst>
              <a:gd name="adj" fmla="val 7692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321808"/>
            <a:ext cx="5367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half: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feature change to the lecture-2 notebook, re-run, with a screenshot.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73952" y="5230368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532180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lab first.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assumes every one of these five is already comfortable.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your own stateful security agent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task, define the state, wire three nodes, branch honestly, and call one real tool.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06324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 look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security task and a state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TypedDict whose fields map to the 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or more nodes, single-purpose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returns a partial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conditional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router with a default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tool the agent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in a run — not merely defined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or three inputs exercising both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traces showing different paths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bounded loop or an acyclic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step counter, or a graph with no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16952" y="17830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IDEAS THAT STAY SAFE AND OFFLINE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16952" y="2084832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CVE or IOC lookup over a small file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scanner returning fixed, plausible results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public API, rate-limited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parser over a sample you provide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16952" y="3913632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6408" y="4005072"/>
            <a:ext cx="3493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and the law: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point a tool at a system you do not own or have written permission to test. Simulated tools receive full marks — the assessment is your graph, not your target.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and where the marks sit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graph, real branching, a tool genuinely used — then explain your design choices.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45994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450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top to bottom after a kernel restart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 for 2–3 inputs, different paths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an agent; why this autonomy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insight or one obstacle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0" y="3977640"/>
            <a:ext cx="4599432" cy="1005840"/>
          </a:xfrm>
          <a:prstGeom prst="roundRect">
            <a:avLst>
              <a:gd name="adj" fmla="val 5455"/>
            </a:avLst>
          </a:prstGeom>
          <a:solidFill>
            <a:srgbClr val="E2E6F4"/>
          </a:solidFill>
          <a:ln w="9525">
            <a:solidFill>
              <a:srgbClr val="2B3E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68896" y="40690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extra: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across turns, or a human-in-the-loop interrupt before an acting node.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5175504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9536" y="5266944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question that separates grades: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worst action your agent can reach, and what stops it?” Answer it in two sentences.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B3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Autonomy, secrets, and what comes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habits to carry forward, and a module where tools stop being something you hand-wire.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budget, not a target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the least the task requires. Keep a human before any real-world action. That habit is the foundation the Cybersecurity Orchestration module builds 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84448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out of notebooks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4059936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live in .env or Colab Secrets. A key committed to a repository is a security incident, not an untidy commit — and providers do scan for them.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029200"/>
          <a:ext cx="5349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566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loops &amp; least privilege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agent you build after this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before you theorise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non-deterministic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82512" y="1783080"/>
            <a:ext cx="5166360" cy="3081528"/>
          </a:xfrm>
          <a:prstGeom prst="roundRect">
            <a:avLst>
              <a:gd name="adj" fmla="val 207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20116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8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93408" y="22860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93408" y="32004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way to expose tools to any agent — replacing the hand-wiring you did today. Powerful, and a genuinely new attack surface: a tool's description is text the model trusts.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82512" y="5029200"/>
            <a:ext cx="5166360" cy="777240"/>
          </a:xfrm>
          <a:prstGeom prst="roundRect">
            <a:avLst>
              <a:gd name="adj" fmla="val 705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512064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the module forum — I collect the common ones into the next session's opening.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1 · FROM CHAINS TO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Why a graph and not a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A chain's path is fixed before you run it. A graph's path is chosen while it runs — that is the whole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chain_v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03" y="1783080"/>
            <a:ext cx="10818345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54880"/>
            <a:ext cx="6949440" cy="146304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4873752"/>
            <a:ext cx="6510527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This is a control-flow library, not a new kind of AI.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Deciding what to do next, remembering what you already did, and knowing when to stop are ordinary programming problems. LangGraph makes them explicit rather than hiding them inside a prompt — which is what makes an agent debuggable.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754880"/>
            <a:ext cx="3685032" cy="146304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83296" y="490118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Five words is the whole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5266944"/>
            <a:ext cx="32461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state · nodes · edges · checkpointer · END.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If you can explain those five, you can read any LangGraph program, including the ones you will meet in module 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BUILD A STATEFUL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state is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Every node reads the whole state and returns only the keys it changed. Get that wrong and nothing complains.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state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8" y="1783080"/>
            <a:ext cx="10643855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00016"/>
            <a:ext cx="5852160" cy="1517904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818888"/>
            <a:ext cx="5376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lecture3_langgraph_branch_tools.ipynb — THE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93207"/>
            <a:ext cx="5376672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typing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7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TypedDict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D9A6CE"/>
                </a:solidFill>
                <a:latin typeface="Courier New"/>
              </a:rPr>
              <a:t>class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70" b="0" i="0">
                <a:solidFill>
                  <a:srgbClr val="9FC4EE"/>
                </a:solidFill>
                <a:latin typeface="Courier New"/>
              </a:rPr>
              <a:t>TriageState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TypedDict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alert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         </a:t>
            </a:r>
            <a:r>
              <a:rPr sz="770" b="0" i="0">
                <a:solidFill>
                  <a:srgbClr val="76909F"/>
                </a:solidFill>
                <a:latin typeface="Courier New"/>
              </a:rPr>
              <a:t># what came in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risk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           </a:t>
            </a:r>
            <a:r>
              <a:rPr sz="770" b="0" i="0">
                <a:solidFill>
                  <a:srgbClr val="76909F"/>
                </a:solidFill>
                <a:latin typeface="Courier New"/>
              </a:rPr>
              <a:t># "high" / "low"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cve_info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str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7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report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70" b="0" i="0">
                <a:solidFill>
                  <a:srgbClr val="E4EDF2"/>
                </a:solidFill>
                <a:latin typeface="Courier New"/>
              </a:rPr>
              <a:t>str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1112" y="4700016"/>
            <a:ext cx="4937760" cy="1517904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48856" y="4818888"/>
            <a:ext cx="4462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A NODE IS A PLAIN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856" y="5093207"/>
            <a:ext cx="4462272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classify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TriageState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-&gt;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dict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high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any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w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"alert"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lower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for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w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"rce"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"ransomware"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"critical"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"risk"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"high"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high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else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"low"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 ^ return the update — never mutate state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BUILD A STATEFUL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Conditional edges and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lecture3_langgraph_branch_tools.ipynb — the router turns a pipeline into an agent, and the tool is how it reaches outside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7223760" cy="4498848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837943"/>
            <a:ext cx="6748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lecture3_langgraph_branch_tools.ipynb — THE CELL WHERE IT BECOMES AN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12263"/>
            <a:ext cx="6748272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the router: state in, a LABEL out — not a boolean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route_by_risk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TriageState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-&gt;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"investigate"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state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"risk"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 ==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"high"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else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"quick_close"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a tool is just a function the graph can call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lookup_cve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keyword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-&gt;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"rce"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"CVE-2026-0001: critical RCE; patch immediately."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"ransomware"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"Multiple CVEs; isolate and restore."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for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v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items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keyword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lower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v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"No specific CVE found; follow standard triage."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wiring: the router picks a label, the map turns it into a node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add_conditional_edges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"classify"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route_by_risk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"investigate"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"investigate"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"quick_close"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"quick_close"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add_edge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"investigate"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"report"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add_edge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"quick_close"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"report"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add_edge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"report"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END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graph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compile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19072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48471" y="1874519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1865376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router returns a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194560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Not True/False. A string that the mapping turns into a node name — so you can rewire the graph without touching the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66644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48471" y="3022091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012948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A tool is an ordinary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42132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No decorator, no LLM. Just something the graph can call to reach information it does not already have.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014216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48471" y="4169664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4160520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Return “nothing found”, do not raise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489704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A tool that raises takes the whole run down. One that reports an empty result keeps the graph moving.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61788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48471" y="5317236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5308092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Run both branches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5637276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Low risk leaves cve_info empty — visible proof that the branch really did skip a node.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BUILD A STATEFUL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Memory is a thread, not a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Add a checkpointer and the same `thread_id` remembers. A different one starts clean. Measured on the reference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memory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11" y="1783080"/>
            <a:ext cx="10562328" cy="27249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626864"/>
            <a:ext cx="5852160" cy="1591056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745736"/>
            <a:ext cx="5376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lecture3_langgraph_branch_tools.ipynb — TWO LINES AND ONE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20055"/>
            <a:ext cx="5376672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langgraph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checkpoint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memory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MemorySaver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triage_mem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compile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checkpointer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MemorySaver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())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cfg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 = {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"configurable"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 {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"thread_id"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"incident-42"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}}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triage_mem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invoke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({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"alert"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"..."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},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cfg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)   </a:t>
            </a:r>
            <a:r>
              <a:rPr sz="830" b="0" i="0">
                <a:solidFill>
                  <a:srgbClr val="76909F"/>
                </a:solidFill>
                <a:latin typeface="Courier New"/>
              </a:rPr>
              <a:t># remembers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30" b="0" i="0">
                <a:solidFill>
                  <a:srgbClr val="E4EDF2"/>
                </a:solidFill>
                <a:latin typeface="Courier New"/>
              </a:rPr>
              <a:t>triage_mem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30" b="0" i="0">
                <a:solidFill>
                  <a:srgbClr val="9FC4EE"/>
                </a:solidFill>
                <a:latin typeface="Courier New"/>
              </a:rPr>
              <a:t>invoke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({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"alert"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30" b="0" i="0">
                <a:solidFill>
                  <a:srgbClr val="EBB183"/>
                </a:solidFill>
                <a:latin typeface="Courier New"/>
              </a:rPr>
              <a:t>"..."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}, 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cfg</a:t>
            </a:r>
            <a:r>
              <a:rPr sz="830" b="0" i="0">
                <a:solidFill>
                  <a:srgbClr val="E4EDF2"/>
                </a:solidFill>
                <a:latin typeface="Courier New"/>
              </a:rPr>
              <a:t>)   </a:t>
            </a:r>
            <a:r>
              <a:rPr sz="830" b="0" i="0">
                <a:solidFill>
                  <a:srgbClr val="76909F"/>
                </a:solidFill>
                <a:latin typeface="Courier New"/>
              </a:rPr>
              <a:t># same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1112" y="4626864"/>
            <a:ext cx="4937760" cy="1591056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30568" y="477316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A4243B"/>
                </a:solidFill>
                <a:latin typeface="Calibri"/>
              </a:rPr>
              <a:t>Add a reset node if you add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5138927"/>
            <a:ext cx="449884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Stale state is harder to spot than missing state — everything looks populated and plausible.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If your mini-project keeps memory across turns, clear the per-item keys at the start of each 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4 · LAB &amp;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Five ways a graph goes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Two of them raise. Three of them do not — and those are the ones that cost you an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29</a:t>
            </a:r>
          </a:p>
        </p:txBody>
      </p:sp>
      <p:pic>
        <p:nvPicPr>
          <p:cNvPr id="7" name="Picture 6" descr="silent_fail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02" y="1783080"/>
            <a:ext cx="10826946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6309360" cy="12801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5056632"/>
            <a:ext cx="5833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THE ONE THAT SHOULD WORRY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30952"/>
            <a:ext cx="58338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interrupt_before without a checkpointer is a no-op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graph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compile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interrupt_before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"block_action"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])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silent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graph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compile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interrupt_before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"block_action"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      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checkpointer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MemorySaver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())       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4937760"/>
            <a:ext cx="4297680" cy="128016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70648" y="5084064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Permissive systems fail quietly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5449824"/>
            <a:ext cx="38587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Print the state between nodes while you develop, and assert that the keys you expect are actually populated. Do not wait for an exception that is never going to come.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4 · LAB &amp;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What the lab actually asks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Part A is five short answers. Part B is two small changes to a notebook you have already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0878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137"/>
                <a:gridCol w="3836058"/>
                <a:gridCol w="959014"/>
                <a:gridCol w="5274580"/>
              </a:tblGrid>
              <a:tr h="285750"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73305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73305F"/>
                          </a:solidFill>
                          <a:latin typeface="Calibri"/>
                        </a:rPr>
                        <a:t>What it asks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73305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73305F"/>
                          </a:solidFill>
                          <a:latin typeface="Calibri"/>
                        </a:rPr>
                        <a:t>Where credit is lost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What is state, and why a TypedDict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Describing it as a variable rather than a shared contract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Node, edge and END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Omitting END — a graph without one will not compile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Conditional edges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Defining them without giving a real branching example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A4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What a tool is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Confusing a tool with the model that chooses it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A5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Checkpointer and thread_id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Naming only one of the two — the scoping is the point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B1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Add a third feature to extract_features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Changing the function but never running it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One input down each branch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40" b="0">
                          <a:solidFill>
                            <a:srgbClr val="1B2B36"/>
                          </a:solidFill>
                          <a:latin typeface="Calibri"/>
                        </a:rPr>
                        <a:t>Showing only the high-risk path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224528"/>
            <a:ext cx="6949440" cy="1060704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4343400"/>
            <a:ext cx="6510527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Expect B1 to look like it did not work.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The no-key stub in the lecture 2 notebook always prints “benign”, whatever the features say. Your new feature will appear in the printout and the verdict will not move. That is the notebook, not your code — say so in your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224528"/>
            <a:ext cx="3685032" cy="1060704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83296" y="437083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pip install grandalf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4736592"/>
            <a:ext cx="324612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`draw_ascii()` needs it and nothing in the module says so — there is no requirements.txt here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31536"/>
            <a:ext cx="10908792" cy="786384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557784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A4243B"/>
                </a:solidFill>
                <a:latin typeface="Calibri"/>
              </a:rPr>
              <a:t>One more thing worth knowing before you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943600"/>
            <a:ext cx="10469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`extract_features` does `url.split("/")[2]` — hand it a bare hostname with no scheme and it raises IndexError. Fine for a demo; not fine for a mini-project that accepts arbitrary input.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</dc:title>
  <dc:subject>PptxGenJS Presentation</dc:subject>
  <dc:creator>Course Materials</dc:creator>
  <cp:lastModifiedBy>Course Materials</cp:lastModifiedBy>
  <cp:revision>1</cp:revision>
  <dcterms:created xsi:type="dcterms:W3CDTF">2026-07-26T05:48:01Z</dcterms:created>
  <dcterms:modified xsi:type="dcterms:W3CDTF">2026-07-26T05:48:01Z</dcterms:modified>
</cp:coreProperties>
</file>