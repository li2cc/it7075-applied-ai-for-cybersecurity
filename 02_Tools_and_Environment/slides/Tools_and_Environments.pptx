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76" r:id="rId27"/>
    <p:sldId id="260" r:id="rId6"/>
    <p:sldId id="277" r:id="rId28"/>
    <p:sldId id="261" r:id="rId7"/>
    <p:sldId id="262" r:id="rId8"/>
    <p:sldId id="263" r:id="rId9"/>
    <p:sldId id="264" r:id="rId10"/>
    <p:sldId id="265" r:id="rId11"/>
    <p:sldId id="278" r:id="rId29"/>
    <p:sldId id="279" r:id="rId30"/>
    <p:sldId id="266" r:id="rId12"/>
    <p:sldId id="267" r:id="rId13"/>
    <p:sldId id="268" r:id="rId14"/>
    <p:sldId id="269" r:id="rId15"/>
    <p:sldId id="270" r:id="rId16"/>
    <p:sldId id="280" r:id="rId31"/>
    <p:sldId id="271" r:id="rId17"/>
    <p:sldId id="281" r:id="rId32"/>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2202B"/>
                </a:solidFill>
                <a:latin typeface="Calibri"/>
              </a:defRPr>
            </a:pPr>
            <a:r>
              <a:rPr sz="1100" b="0" i="0" u="none" strike="noStrike">
                <a:solidFill>
                  <a:srgbClr val="12202B"/>
                </a:solidFill>
                <a:latin typeface="Calibri"/>
              </a:rPr>
              <a:t>Relative strength  (5 = stronger)</a:t>
            </a:r>
          </a:p>
        </c:rich>
      </c:tx>
      <c:layout/>
      <c:overlay val="0"/>
    </c:title>
    <c:autoTitleDeleted val="0"/>
    <c:plotArea>
      <c:layout/>
      <c:barChart>
        <c:barDir val="col"/>
        <c:grouping val="clustered"/>
        <c:varyColors val="0"/>
        <c:ser>
          <c:idx val="0"/>
          <c:order val="0"/>
          <c:tx>
            <c:strRef>
              <c:f>Sheet1!$B$1</c:f>
              <c:strCache>
                <c:ptCount val="1"/>
                <c:pt idx="0">
                  <c:v>Local (your machine)</c:v>
                </c:pt>
              </c:strCache>
            </c:strRef>
          </c:tx>
          <c:spPr>
            <a:solidFill>
              <a:srgbClr val="1F5F3C"/>
            </a:solidFill>
            <a:effectLst/>
          </c:spPr>
          <c:invertIfNegative val="0"/>
          <c:dLbls>
            <c:numFmt formatCode="#,##0" sourceLinked="0"/>
            <c:txPr>
              <a:bodyPr/>
              <a:lstStyle/>
              <a:p>
                <a:pPr>
                  <a:defRPr b="0" i="0" strike="noStrike" sz="850" u="none">
                    <a:solidFill>
                      <a:srgbClr val="5C7383"/>
                    </a:solidFill>
                    <a:latin typeface="Arial"/>
                  </a:defRPr>
                </a:pPr>
              </a:p>
            </c:txPr>
            <c:showLegendKey val="0"/>
            <c:showVal val="1"/>
            <c:showCatName val="0"/>
            <c:showSerName val="0"/>
            <c:showPercent val="0"/>
            <c:showBubbleSize val="0"/>
            <c:showLeaderLines val="0"/>
          </c:dLbls>
          <c:cat>
            <c:multiLvlStrRef>
              <c:f>Sheet1!$A$2:$A$5</c:f>
              <c:multiLvlStrCache>
                <c:ptCount val="4"/>
                <c:lvl>
                  <c:pt idx="0">
                    <c:v>Control</c:v>
                  </c:pt>
                  <c:pt idx="1">
                    <c:v>Compute</c:v>
                  </c:pt>
                  <c:pt idx="2">
                    <c:v>Privacy</c:v>
                  </c:pt>
                  <c:pt idx="3">
                    <c:v>Cost at scale</c:v>
                  </c:pt>
                </c:lvl>
              </c:multiLvlStrCache>
            </c:multiLvlStrRef>
          </c:cat>
          <c:val>
            <c:numRef>
              <c:f>Sheet1!$B$2:$B$5</c:f>
              <c:numCache>
                <c:formatCode>General</c:formatCode>
                <c:ptCount val="4"/>
                <c:pt idx="0">
                  <c:v>5</c:v>
                </c:pt>
                <c:pt idx="1">
                  <c:v>2</c:v>
                </c:pt>
                <c:pt idx="2">
                  <c:v>5</c:v>
                </c:pt>
                <c:pt idx="3">
                  <c:v>4</c:v>
                </c:pt>
              </c:numCache>
            </c:numRef>
          </c:val>
        </c:ser>
        <c:ser>
          <c:idx val="1"/>
          <c:order val="1"/>
          <c:tx>
            <c:strRef>
              <c:f>Sheet1!$C$1</c:f>
              <c:strCache>
                <c:ptCount val="1"/>
                <c:pt idx="0">
                  <c:v>Cloud (Colab / NAIRR / AWS)</c:v>
                </c:pt>
              </c:strCache>
            </c:strRef>
          </c:tx>
          <c:spPr>
            <a:solidFill>
              <a:srgbClr val="4E9A6E"/>
            </a:solidFill>
            <a:effectLst/>
          </c:spPr>
          <c:invertIfNegative val="0"/>
          <c:dLbls>
            <c:numFmt formatCode="#,##0" sourceLinked="0"/>
            <c:txPr>
              <a:bodyPr/>
              <a:lstStyle/>
              <a:p>
                <a:pPr>
                  <a:defRPr b="0" i="0" strike="noStrike" sz="850" u="none">
                    <a:solidFill>
                      <a:srgbClr val="5C7383"/>
                    </a:solidFill>
                    <a:latin typeface="Arial"/>
                  </a:defRPr>
                </a:pPr>
              </a:p>
            </c:txPr>
            <c:showLegendKey val="0"/>
            <c:showVal val="1"/>
            <c:showCatName val="0"/>
            <c:showSerName val="0"/>
            <c:showPercent val="0"/>
            <c:showBubbleSize val="0"/>
            <c:showLeaderLines val="0"/>
          </c:dLbls>
          <c:cat>
            <c:multiLvlStrRef>
              <c:f>Sheet1!$A$2:$A$5</c:f>
              <c:multiLvlStrCache>
                <c:ptCount val="4"/>
                <c:lvl>
                  <c:pt idx="0">
                    <c:v>Control</c:v>
                  </c:pt>
                  <c:pt idx="1">
                    <c:v>Compute</c:v>
                  </c:pt>
                  <c:pt idx="2">
                    <c:v>Privacy</c:v>
                  </c:pt>
                  <c:pt idx="3">
                    <c:v>Cost at scale</c:v>
                  </c:pt>
                </c:lvl>
              </c:multiLvlStrCache>
            </c:multiLvlStrRef>
          </c:cat>
          <c:val>
            <c:numRef>
              <c:f>Sheet1!$C$2:$C$5</c:f>
              <c:numCache>
                <c:formatCode>General</c:formatCode>
                <c:ptCount val="4"/>
                <c:pt idx="0">
                  <c:v>2</c:v>
                </c:pt>
                <c:pt idx="1">
                  <c:v>5</c:v>
                </c:pt>
                <c:pt idx="2">
                  <c:v>2</c:v>
                </c:pt>
                <c:pt idx="3">
                  <c:v>2</c:v>
                </c:pt>
              </c:numCache>
            </c:numRef>
          </c:val>
        </c:ser>
        <c:dLbls>
          <c:numFmt formatCode="#,##0" sourceLinked="0"/>
          <c:txPr>
            <a:bodyPr/>
            <a:lstStyle/>
            <a:p>
              <a:pPr>
                <a:defRPr b="0" i="0" strike="noStrike" sz="850" u="none">
                  <a:solidFill>
                    <a:srgbClr val="5C7383"/>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C7383"/>
                </a:solidFill>
                <a:latin typeface="Arial"/>
              </a:defRPr>
            </a:pPr>
            <a:endParaRPr lang="en-US"/>
          </a:p>
        </c:txPr>
        <c:crossAx val="2094734552"/>
        <c:crosses val="autoZero"/>
        <c:auto val="1"/>
        <c:lblAlgn val="ctr"/>
        <c:noMultiLvlLbl val="1"/>
      </c:catAx>
      <c:valAx>
        <c:axId val="2094734552"/>
        <c:scaling>
          <c:orientation val="minMax"/>
          <c:max val="6"/>
        </c:scaling>
        <c:delete val="0"/>
        <c:axPos val="l"/>
        <c:majorGridlines>
          <c:spPr>
            <a:ln w="12700" cap="flat">
              <a:solidFill>
                <a:srgbClr val="E9EF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C738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solidFill>
                <a:srgbClr val="5C7383"/>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2B"/>
        </a:solidFill>
      </p:bgPr>
    </p:bg>
    <p:spTree>
      <p:nvGrpSpPr>
        <p:cNvPr id="1" name=""/>
        <p:cNvGrpSpPr/>
        <p:nvPr/>
      </p:nvGrpSpPr>
      <p:grpSpPr>
        <a:xfrm>
          <a:off x="0" y="0"/>
          <a:ext cx="0" cy="0"/>
          <a:chOff x="0" y="0"/>
          <a:chExt cx="0" cy="0"/>
        </a:xfrm>
      </p:grpSpPr>
      <p:sp>
        <p:nvSpPr>
          <p:cNvPr id="2" name="Shape 0"/>
          <p:cNvSpPr/>
          <p:nvPr/>
        </p:nvSpPr>
        <p:spPr>
          <a:xfrm>
            <a:off x="8686800" y="-1280160"/>
            <a:ext cx="5120640" cy="5120640"/>
          </a:xfrm>
          <a:prstGeom prst="ellipse">
            <a:avLst/>
          </a:prstGeom>
          <a:solidFill>
            <a:srgbClr val="1F5F3C">
              <a:alpha val="22000"/>
            </a:srgbClr>
          </a:solidFill>
          <a:ln w="12700">
            <a:solidFill>
              <a:srgbClr val="1F5F3C">
                <a:alpha val="40000"/>
              </a:srgbClr>
            </a:solidFill>
            <a:prstDash val="solid"/>
          </a:ln>
        </p:spPr>
      </p:sp>
      <p:sp>
        <p:nvSpPr>
          <p:cNvPr id="3" name="Shape 1"/>
          <p:cNvSpPr/>
          <p:nvPr/>
        </p:nvSpPr>
        <p:spPr>
          <a:xfrm>
            <a:off x="9692640" y="-274320"/>
            <a:ext cx="3108960" cy="3108960"/>
          </a:xfrm>
          <a:prstGeom prst="ellipse">
            <a:avLst/>
          </a:prstGeom>
          <a:solidFill>
            <a:srgbClr val="12202B"/>
          </a:solidFill>
          <a:ln w="12700">
            <a:solidFill>
              <a:srgbClr val="1F5F3C">
                <a:alpha val="55000"/>
              </a:srgbClr>
            </a:solidFill>
            <a:prstDash val="solid"/>
          </a:ln>
        </p:spPr>
      </p:sp>
      <p:sp>
        <p:nvSpPr>
          <p:cNvPr id="4" name="Text 2"/>
          <p:cNvSpPr/>
          <p:nvPr/>
        </p:nvSpPr>
        <p:spPr>
          <a:xfrm>
            <a:off x="640080" y="2121408"/>
            <a:ext cx="8229600" cy="274320"/>
          </a:xfrm>
          <a:prstGeom prst="rect">
            <a:avLst/>
          </a:prstGeom>
          <a:noFill/>
          <a:ln/>
        </p:spPr>
        <p:txBody>
          <a:bodyPr wrap="square" lIns="0" tIns="0" rIns="0" bIns="0" rtlCol="0" anchor="ctr"/>
          <a:lstStyle/>
          <a:p>
            <a:pPr indent="0" marL="0">
              <a:buNone/>
            </a:pPr>
            <a:r>
              <a:rPr lang="en-US" sz="1100" b="1" spc="240" kern="0" dirty="0">
                <a:solidFill>
                  <a:srgbClr val="9FB8C6"/>
                </a:solidFill>
                <a:latin typeface="Calibri" pitchFamily="34" charset="0"/>
                <a:ea typeface="Calibri" pitchFamily="34" charset="-122"/>
                <a:cs typeface="Calibri" pitchFamily="34" charset="-120"/>
              </a:rPr>
              <a:t>IT7075 · APPLIED AI FOR CYBERSECURITY · MODULE 2</a:t>
            </a:r>
            <a:endParaRPr lang="en-US" sz="1100" dirty="0"/>
          </a:p>
        </p:txBody>
      </p:sp>
      <p:sp>
        <p:nvSpPr>
          <p:cNvPr id="5" name="Text 3"/>
          <p:cNvSpPr/>
          <p:nvPr/>
        </p:nvSpPr>
        <p:spPr>
          <a:xfrm>
            <a:off x="640080" y="2487168"/>
            <a:ext cx="9509760" cy="11430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Tools &amp; Environment</a:t>
            </a:r>
            <a:endParaRPr lang="en-US" sz="4600" dirty="0"/>
          </a:p>
        </p:txBody>
      </p:sp>
      <p:sp>
        <p:nvSpPr>
          <p:cNvPr id="6" name="Text 4"/>
          <p:cNvSpPr/>
          <p:nvPr/>
        </p:nvSpPr>
        <p:spPr>
          <a:xfrm>
            <a:off x="640080" y="3703320"/>
            <a:ext cx="8778240" cy="777240"/>
          </a:xfrm>
          <a:prstGeom prst="rect">
            <a:avLst/>
          </a:prstGeom>
          <a:noFill/>
          <a:ln/>
        </p:spPr>
        <p:txBody>
          <a:bodyPr wrap="square" lIns="0" tIns="0" rIns="0" bIns="0" rtlCol="0" anchor="t"/>
          <a:lstStyle/>
          <a:p>
            <a:pPr indent="0" marL="0">
              <a:lnSpc>
                <a:spcPts val="2400"/>
              </a:lnSpc>
              <a:buNone/>
            </a:pPr>
            <a:r>
              <a:rPr lang="en-US" sz="1650" dirty="0">
                <a:solidFill>
                  <a:srgbClr val="9FB8C6"/>
                </a:solidFill>
                <a:latin typeface="Calibri" pitchFamily="34" charset="0"/>
                <a:ea typeface="Calibri" pitchFamily="34" charset="-122"/>
                <a:cs typeface="Calibri" pitchFamily="34" charset="-120"/>
              </a:rPr>
              <a:t>Stand up the toolchain you will use all semester — local first, plus an</a:t>
            </a:r>
            <a:endParaRPr lang="en-US" sz="1650" dirty="0"/>
          </a:p>
          <a:p>
            <a:pPr indent="0" marL="0">
              <a:lnSpc>
                <a:spcPts val="2400"/>
              </a:lnSpc>
              <a:buNone/>
            </a:pPr>
            <a:r>
              <a:rPr lang="en-US" sz="1650" dirty="0">
                <a:solidFill>
                  <a:srgbClr val="9FB8C6"/>
                </a:solidFill>
                <a:latin typeface="Calibri" pitchFamily="34" charset="0"/>
                <a:ea typeface="Calibri" pitchFamily="34" charset="-122"/>
                <a:cs typeface="Calibri" pitchFamily="34" charset="-120"/>
              </a:rPr>
              <a:t>optional free GPU virtual machine in the cloud.</a:t>
            </a:r>
            <a:endParaRPr lang="en-US" sz="1650" dirty="0"/>
          </a:p>
        </p:txBody>
      </p:sp>
      <p:sp>
        <p:nvSpPr>
          <p:cNvPr id="7" name="Shape 5"/>
          <p:cNvSpPr/>
          <p:nvPr/>
        </p:nvSpPr>
        <p:spPr>
          <a:xfrm>
            <a:off x="640080" y="4800600"/>
            <a:ext cx="1005840" cy="32004"/>
          </a:xfrm>
          <a:prstGeom prst="rect">
            <a:avLst/>
          </a:prstGeom>
          <a:solidFill>
            <a:srgbClr val="1F5F3C"/>
          </a:solidFill>
          <a:ln w="12700">
            <a:solidFill>
              <a:srgbClr val="1F5F3C"/>
            </a:solidFill>
            <a:prstDash val="solid"/>
          </a:ln>
        </p:spPr>
      </p:sp>
      <p:sp>
        <p:nvSpPr>
          <p:cNvPr id="8" name="Text 6"/>
          <p:cNvSpPr/>
          <p:nvPr/>
        </p:nvSpPr>
        <p:spPr>
          <a:xfrm>
            <a:off x="640080" y="5029200"/>
            <a:ext cx="6035040" cy="274320"/>
          </a:xfrm>
          <a:prstGeom prst="rect">
            <a:avLst/>
          </a:prstGeom>
          <a:noFill/>
          <a:ln/>
        </p:spPr>
        <p:txBody>
          <a:bodyPr wrap="square" lIns="0" tIns="0" rIns="0" bIns="0" rtlCol="0" anchor="ctr"/>
          <a:lstStyle/>
          <a:p>
            <a:pPr indent="0" marL="0">
              <a:buNone/>
            </a:pPr>
            <a:r>
              <a:rPr lang="en-US" sz="1150" dirty="0">
                <a:solidFill>
                  <a:srgbClr val="9FB8C6"/>
                </a:solidFill>
                <a:latin typeface="Calibri" pitchFamily="34" charset="0"/>
                <a:ea typeface="Calibri" pitchFamily="34" charset="-122"/>
                <a:cs typeface="Calibri" pitchFamily="34" charset="-120"/>
              </a:rPr>
              <a:t>Four parts · two hands-on labs · Lab A required, Lab B optional</a:t>
            </a:r>
            <a:endParaRPr lang="en-US" sz="1150" dirty="0"/>
          </a:p>
        </p:txBody>
      </p:sp>
      <p:sp>
        <p:nvSpPr>
          <p:cNvPr id="9" name="Text 7"/>
          <p:cNvSpPr/>
          <p:nvPr/>
        </p:nvSpPr>
        <p:spPr>
          <a:xfrm>
            <a:off x="6035040" y="5029200"/>
            <a:ext cx="5516575" cy="274320"/>
          </a:xfrm>
          <a:prstGeom prst="rect">
            <a:avLst/>
          </a:prstGeom>
          <a:noFill/>
          <a:ln/>
        </p:spPr>
        <p:txBody>
          <a:bodyPr wrap="square" lIns="0" tIns="0" rIns="0" bIns="0" rtlCol="0" anchor="ctr"/>
          <a:lstStyle/>
          <a:p>
            <a:pPr algn="r" indent="0" marL="0">
              <a:buNone/>
            </a:pPr>
            <a:r>
              <a:rPr lang="en-US" sz="1150" dirty="0">
                <a:solidFill>
                  <a:srgbClr val="9FB8C6"/>
                </a:solidFill>
                <a:latin typeface="Calibri" pitchFamily="34" charset="0"/>
                <a:ea typeface="Calibri" pitchFamily="34" charset="-122"/>
                <a:cs typeface="Calibri" pitchFamily="34" charset="-120"/>
              </a:rPr>
              <a:t>Set it up once; reuse it for sixteen weeks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202B"/>
        </a:solidFill>
      </p:bgPr>
    </p:bg>
    <p:spTree>
      <p:nvGrpSpPr>
        <p:cNvPr id="1" name=""/>
        <p:cNvGrpSpPr/>
        <p:nvPr/>
      </p:nvGrpSpPr>
      <p:grpSpPr>
        <a:xfrm>
          <a:off x="0" y="0"/>
          <a:ext cx="0" cy="0"/>
          <a:chOff x="0" y="0"/>
          <a:chExt cx="0" cy="0"/>
        </a:xfrm>
      </p:grpSpPr>
      <p:sp>
        <p:nvSpPr>
          <p:cNvPr id="2" name="Text 0"/>
          <p:cNvSpPr/>
          <p:nvPr/>
        </p:nvSpPr>
        <p:spPr>
          <a:xfrm>
            <a:off x="640080" y="1417320"/>
            <a:ext cx="6766560" cy="274320"/>
          </a:xfrm>
          <a:prstGeom prst="rect">
            <a:avLst/>
          </a:prstGeom>
          <a:noFill/>
          <a:ln/>
        </p:spPr>
        <p:txBody>
          <a:bodyPr wrap="square" lIns="0" tIns="0" rIns="0" bIns="0" rtlCol="0" anchor="ctr"/>
          <a:lstStyle/>
          <a:p>
            <a:pPr indent="0" marL="0">
              <a:buNone/>
            </a:pPr>
            <a:r>
              <a:rPr lang="en-US" sz="1100" b="1" spc="220" kern="0" dirty="0">
                <a:solidFill>
                  <a:srgbClr val="4E9A6E"/>
                </a:solidFill>
                <a:latin typeface="Calibri" pitchFamily="34" charset="0"/>
                <a:ea typeface="Calibri" pitchFamily="34" charset="-122"/>
                <a:cs typeface="Calibri" pitchFamily="34" charset="-120"/>
              </a:rPr>
              <a:t>PART 1</a:t>
            </a:r>
            <a:endParaRPr lang="en-US" sz="1100" dirty="0"/>
          </a:p>
        </p:txBody>
      </p:sp>
      <p:sp>
        <p:nvSpPr>
          <p:cNvPr id="3" name="Text 1"/>
          <p:cNvSpPr/>
          <p:nvPr/>
        </p:nvSpPr>
        <p:spPr>
          <a:xfrm>
            <a:off x="640080" y="1783080"/>
            <a:ext cx="6766560" cy="11887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Why Tooling Is</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a Security Topic</a:t>
            </a:r>
            <a:endParaRPr lang="en-US" sz="3800" dirty="0"/>
          </a:p>
        </p:txBody>
      </p:sp>
      <p:sp>
        <p:nvSpPr>
          <p:cNvPr id="4" name="Text 2"/>
          <p:cNvSpPr/>
          <p:nvPr/>
        </p:nvSpPr>
        <p:spPr>
          <a:xfrm>
            <a:off x="640080" y="3127248"/>
            <a:ext cx="6309360" cy="1097280"/>
          </a:xfrm>
          <a:prstGeom prst="rect">
            <a:avLst/>
          </a:prstGeom>
          <a:noFill/>
          <a:ln/>
        </p:spPr>
        <p:txBody>
          <a:bodyPr wrap="square" lIns="0" tIns="0" rIns="0" bIns="0" rtlCol="0" anchor="t"/>
          <a:lstStyle/>
          <a:p>
            <a:pPr indent="0" marL="0">
              <a:lnSpc>
                <a:spcPts val="2200"/>
              </a:lnSpc>
              <a:buNone/>
            </a:pPr>
            <a:r>
              <a:rPr lang="en-US" sz="1450" dirty="0">
                <a:solidFill>
                  <a:srgbClr val="9FB8C6"/>
                </a:solidFill>
                <a:latin typeface="Calibri" pitchFamily="34" charset="0"/>
                <a:ea typeface="Calibri" pitchFamily="34" charset="-122"/>
                <a:cs typeface="Calibri" pitchFamily="34" charset="-120"/>
              </a:rPr>
              <a:t>Reproducibility, isolation and secrets hygiene are not setup chores — they are the properties that make your work defensible.</a:t>
            </a:r>
            <a:endParaRPr lang="en-US" sz="1450" dirty="0"/>
          </a:p>
        </p:txBody>
      </p:sp>
      <p:sp>
        <p:nvSpPr>
          <p:cNvPr id="5" name="Text 3"/>
          <p:cNvSpPr/>
          <p:nvPr/>
        </p:nvSpPr>
        <p:spPr>
          <a:xfrm>
            <a:off x="7818120" y="1033272"/>
            <a:ext cx="3749040" cy="237744"/>
          </a:xfrm>
          <a:prstGeom prst="rect">
            <a:avLst/>
          </a:prstGeom>
          <a:noFill/>
          <a:ln/>
        </p:spPr>
        <p:txBody>
          <a:bodyPr wrap="square" lIns="0" tIns="0" rIns="0" bIns="0" rtlCol="0" anchor="ctr"/>
          <a:lstStyle/>
          <a:p>
            <a:pPr indent="0" marL="0">
              <a:buNone/>
            </a:pPr>
            <a:r>
              <a:rPr lang="en-US" sz="950" b="1" spc="160" kern="0" dirty="0">
                <a:solidFill>
                  <a:srgbClr val="9FB8C6"/>
                </a:solidFill>
                <a:latin typeface="Calibri" pitchFamily="34" charset="0"/>
                <a:ea typeface="Calibri" pitchFamily="34" charset="-122"/>
                <a:cs typeface="Calibri" pitchFamily="34" charset="-120"/>
              </a:rPr>
              <a:t>MODULE MAP</a:t>
            </a:r>
            <a:endParaRPr lang="en-US" sz="950" dirty="0"/>
          </a:p>
        </p:txBody>
      </p:sp>
      <p:sp>
        <p:nvSpPr>
          <p:cNvPr id="6" name="Shape 4"/>
          <p:cNvSpPr/>
          <p:nvPr/>
        </p:nvSpPr>
        <p:spPr>
          <a:xfrm>
            <a:off x="7818120" y="1527048"/>
            <a:ext cx="182880" cy="182880"/>
          </a:xfrm>
          <a:prstGeom prst="ellipse">
            <a:avLst/>
          </a:prstGeom>
          <a:solidFill>
            <a:srgbClr val="4E9A6E"/>
          </a:solidFill>
          <a:ln w="12700">
            <a:solidFill>
              <a:srgbClr val="4E9A6E"/>
            </a:solidFill>
            <a:prstDash val="solid"/>
          </a:ln>
        </p:spPr>
      </p:sp>
      <p:sp>
        <p:nvSpPr>
          <p:cNvPr id="7" name="Text 5"/>
          <p:cNvSpPr/>
          <p:nvPr/>
        </p:nvSpPr>
        <p:spPr>
          <a:xfrm>
            <a:off x="8147304" y="1417320"/>
            <a:ext cx="342900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Why Tooling Is a Security Topic</a:t>
            </a:r>
            <a:endParaRPr lang="en-US" sz="1300" dirty="0"/>
          </a:p>
        </p:txBody>
      </p:sp>
      <p:sp>
        <p:nvSpPr>
          <p:cNvPr id="8" name="Shape 6"/>
          <p:cNvSpPr/>
          <p:nvPr/>
        </p:nvSpPr>
        <p:spPr>
          <a:xfrm>
            <a:off x="7818120" y="2185416"/>
            <a:ext cx="182880" cy="182880"/>
          </a:xfrm>
          <a:prstGeom prst="ellipse">
            <a:avLst/>
          </a:prstGeom>
          <a:solidFill>
            <a:srgbClr val="1D3444"/>
          </a:solidFill>
          <a:ln w="12700">
            <a:solidFill>
              <a:srgbClr val="3A5566"/>
            </a:solidFill>
            <a:prstDash val="solid"/>
          </a:ln>
        </p:spPr>
      </p:sp>
      <p:sp>
        <p:nvSpPr>
          <p:cNvPr id="9" name="Text 7"/>
          <p:cNvSpPr/>
          <p:nvPr/>
        </p:nvSpPr>
        <p:spPr>
          <a:xfrm>
            <a:off x="8147304" y="2075688"/>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Set Up Locally</a:t>
            </a:r>
            <a:endParaRPr lang="en-US" sz="1200" dirty="0"/>
          </a:p>
        </p:txBody>
      </p:sp>
      <p:sp>
        <p:nvSpPr>
          <p:cNvPr id="10" name="Shape 8"/>
          <p:cNvSpPr/>
          <p:nvPr/>
        </p:nvSpPr>
        <p:spPr>
          <a:xfrm>
            <a:off x="7818120" y="2843784"/>
            <a:ext cx="182880" cy="182880"/>
          </a:xfrm>
          <a:prstGeom prst="ellipse">
            <a:avLst/>
          </a:prstGeom>
          <a:solidFill>
            <a:srgbClr val="1D3444"/>
          </a:solidFill>
          <a:ln w="12700">
            <a:solidFill>
              <a:srgbClr val="3A5566"/>
            </a:solidFill>
            <a:prstDash val="solid"/>
          </a:ln>
        </p:spPr>
      </p:sp>
      <p:sp>
        <p:nvSpPr>
          <p:cNvPr id="11" name="Text 9"/>
          <p:cNvSpPr/>
          <p:nvPr/>
        </p:nvSpPr>
        <p:spPr>
          <a:xfrm>
            <a:off x="8147304" y="2734056"/>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Your Machine in the Cloud</a:t>
            </a:r>
            <a:endParaRPr lang="en-US" sz="1200" dirty="0"/>
          </a:p>
        </p:txBody>
      </p:sp>
      <p:sp>
        <p:nvSpPr>
          <p:cNvPr id="12" name="Shape 10"/>
          <p:cNvSpPr/>
          <p:nvPr/>
        </p:nvSpPr>
        <p:spPr>
          <a:xfrm>
            <a:off x="7818120" y="3502152"/>
            <a:ext cx="182880" cy="182880"/>
          </a:xfrm>
          <a:prstGeom prst="ellipse">
            <a:avLst/>
          </a:prstGeom>
          <a:solidFill>
            <a:srgbClr val="1D3444"/>
          </a:solidFill>
          <a:ln w="12700">
            <a:solidFill>
              <a:srgbClr val="3A5566"/>
            </a:solidFill>
            <a:prstDash val="solid"/>
          </a:ln>
        </p:spPr>
      </p:sp>
      <p:sp>
        <p:nvSpPr>
          <p:cNvPr id="13" name="Text 11"/>
          <p:cNvSpPr/>
          <p:nvPr/>
        </p:nvSpPr>
        <p:spPr>
          <a:xfrm>
            <a:off x="8147304" y="3392424"/>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Your Environment &amp; the Labs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1F5F3C"/>
                </a:solidFill>
                <a:latin typeface="Calibri" pitchFamily="34" charset="0"/>
                <a:ea typeface="Calibri" pitchFamily="34" charset="-122"/>
                <a:cs typeface="Calibri" pitchFamily="34" charset="-120"/>
              </a:rPr>
              <a:t>PART 1 · WHY TOOLING IS A SECURITY TOPIC</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Three reasons your environment is a security control</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Each of these is a property auditors ask about — not a preference.</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Tools &amp; Environment</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640080" y="1783080"/>
            <a:ext cx="3483864" cy="2670048"/>
          </a:xfrm>
          <a:prstGeom prst="roundRect">
            <a:avLst>
              <a:gd name="adj" fmla="val 2397"/>
            </a:avLst>
          </a:prstGeom>
          <a:solidFill>
            <a:srgbClr val="F1F5F8"/>
          </a:solidFill>
          <a:ln w="15875">
            <a:solidFill>
              <a:srgbClr val="1F5F3C"/>
            </a:solidFill>
            <a:prstDash val="solid"/>
          </a:ln>
        </p:spPr>
      </p:sp>
      <p:sp>
        <p:nvSpPr>
          <p:cNvPr id="8" name="Shape 6"/>
          <p:cNvSpPr/>
          <p:nvPr/>
        </p:nvSpPr>
        <p:spPr>
          <a:xfrm>
            <a:off x="640080" y="1783080"/>
            <a:ext cx="3483864" cy="64008"/>
          </a:xfrm>
          <a:prstGeom prst="rect">
            <a:avLst/>
          </a:prstGeom>
          <a:solidFill>
            <a:srgbClr val="1F5F3C"/>
          </a:solidFill>
          <a:ln w="12700">
            <a:solidFill>
              <a:srgbClr val="1F5F3C"/>
            </a:solidFill>
            <a:prstDash val="solid"/>
          </a:ln>
        </p:spPr>
      </p:sp>
      <p:sp>
        <p:nvSpPr>
          <p:cNvPr id="9" name="Text 7"/>
          <p:cNvSpPr/>
          <p:nvPr/>
        </p:nvSpPr>
        <p:spPr>
          <a:xfrm>
            <a:off x="877824" y="1956816"/>
            <a:ext cx="3008376" cy="329184"/>
          </a:xfrm>
          <a:prstGeom prst="rect">
            <a:avLst/>
          </a:prstGeom>
          <a:noFill/>
          <a:ln/>
        </p:spPr>
        <p:txBody>
          <a:bodyPr wrap="square" lIns="0" tIns="0" rIns="0" bIns="0" rtlCol="0" anchor="ctr"/>
          <a:lstStyle/>
          <a:p>
            <a:pPr indent="0" marL="0">
              <a:buNone/>
            </a:pPr>
            <a:r>
              <a:rPr lang="en-US" sz="1700" b="1" dirty="0">
                <a:solidFill>
                  <a:srgbClr val="1F5F3C"/>
                </a:solidFill>
                <a:latin typeface="Cambria" pitchFamily="34" charset="0"/>
                <a:ea typeface="Cambria" pitchFamily="34" charset="-122"/>
                <a:cs typeface="Cambria" pitchFamily="34" charset="-120"/>
              </a:rPr>
              <a:t>Reproducibility</a:t>
            </a:r>
            <a:endParaRPr lang="en-US" sz="1700" dirty="0"/>
          </a:p>
        </p:txBody>
      </p:sp>
      <p:sp>
        <p:nvSpPr>
          <p:cNvPr id="10" name="Text 8"/>
          <p:cNvSpPr/>
          <p:nvPr/>
        </p:nvSpPr>
        <p:spPr>
          <a:xfrm>
            <a:off x="877824" y="2304288"/>
            <a:ext cx="3008376" cy="420624"/>
          </a:xfrm>
          <a:prstGeom prst="rect">
            <a:avLst/>
          </a:prstGeom>
          <a:noFill/>
          <a:ln/>
        </p:spPr>
        <p:txBody>
          <a:bodyPr wrap="square" lIns="0" tIns="0" rIns="0" bIns="0" rtlCol="0" anchor="t"/>
          <a:lstStyle/>
          <a:p>
            <a:pPr indent="0" marL="0">
              <a:lnSpc>
                <a:spcPts val="1500"/>
              </a:lnSpc>
              <a:buNone/>
            </a:pPr>
            <a:r>
              <a:rPr lang="en-US" sz="1150" i="1" dirty="0">
                <a:solidFill>
                  <a:srgbClr val="12202B"/>
                </a:solidFill>
                <a:latin typeface="Calibri" pitchFamily="34" charset="0"/>
                <a:ea typeface="Calibri" pitchFamily="34" charset="-122"/>
                <a:cs typeface="Calibri" pitchFamily="34" charset="-120"/>
              </a:rPr>
              <a:t>"Can you re-run that and get the same answer?"</a:t>
            </a:r>
            <a:endParaRPr lang="en-US" sz="1150" dirty="0"/>
          </a:p>
        </p:txBody>
      </p:sp>
      <p:sp>
        <p:nvSpPr>
          <p:cNvPr id="11" name="Text 9"/>
          <p:cNvSpPr/>
          <p:nvPr/>
        </p:nvSpPr>
        <p:spPr>
          <a:xfrm>
            <a:off x="877824" y="2779776"/>
            <a:ext cx="3008376" cy="1554480"/>
          </a:xfrm>
          <a:prstGeom prst="rect">
            <a:avLst/>
          </a:prstGeom>
          <a:noFill/>
          <a:ln/>
        </p:spPr>
        <p:txBody>
          <a:bodyPr wrap="square" lIns="0" tIns="0" rIns="0" bIns="0" rtlCol="0" anchor="t"/>
          <a:lstStyle/>
          <a:p>
            <a:pPr indent="0" marL="0">
              <a:lnSpc>
                <a:spcPts val="1450"/>
              </a:lnSpc>
              <a:buNone/>
            </a:pPr>
            <a:r>
              <a:rPr lang="en-US" sz="1050" dirty="0">
                <a:solidFill>
                  <a:srgbClr val="1B2B36"/>
                </a:solidFill>
                <a:latin typeface="Calibri" pitchFamily="34" charset="0"/>
                <a:ea typeface="Calibri" pitchFamily="34" charset="-122"/>
                <a:cs typeface="Calibri" pitchFamily="34" charset="-120"/>
              </a:rPr>
              <a:t>If an analysis cannot be reproduced, it cannot be defended in an incident report, a court filing, or a code review. Pinned versions and a recorded environment are what make a result a finding rather than an anecdote.</a:t>
            </a:r>
            <a:endParaRPr lang="en-US" sz="1050" dirty="0"/>
          </a:p>
        </p:txBody>
      </p:sp>
      <p:sp>
        <p:nvSpPr>
          <p:cNvPr id="12" name="Shape 10"/>
          <p:cNvSpPr/>
          <p:nvPr/>
        </p:nvSpPr>
        <p:spPr>
          <a:xfrm>
            <a:off x="4352544" y="1783080"/>
            <a:ext cx="3483864" cy="2670048"/>
          </a:xfrm>
          <a:prstGeom prst="roundRect">
            <a:avLst>
              <a:gd name="adj" fmla="val 2397"/>
            </a:avLst>
          </a:prstGeom>
          <a:solidFill>
            <a:srgbClr val="F1F5F8"/>
          </a:solidFill>
          <a:ln w="15875">
            <a:solidFill>
              <a:srgbClr val="1F5F3C"/>
            </a:solidFill>
            <a:prstDash val="solid"/>
          </a:ln>
        </p:spPr>
      </p:sp>
      <p:sp>
        <p:nvSpPr>
          <p:cNvPr id="13" name="Shape 11"/>
          <p:cNvSpPr/>
          <p:nvPr/>
        </p:nvSpPr>
        <p:spPr>
          <a:xfrm>
            <a:off x="4352544" y="1783080"/>
            <a:ext cx="3483864" cy="64008"/>
          </a:xfrm>
          <a:prstGeom prst="rect">
            <a:avLst/>
          </a:prstGeom>
          <a:solidFill>
            <a:srgbClr val="1F5F3C"/>
          </a:solidFill>
          <a:ln w="12700">
            <a:solidFill>
              <a:srgbClr val="1F5F3C"/>
            </a:solidFill>
            <a:prstDash val="solid"/>
          </a:ln>
        </p:spPr>
      </p:sp>
      <p:sp>
        <p:nvSpPr>
          <p:cNvPr id="14" name="Text 12"/>
          <p:cNvSpPr/>
          <p:nvPr/>
        </p:nvSpPr>
        <p:spPr>
          <a:xfrm>
            <a:off x="4590288" y="1956816"/>
            <a:ext cx="3008376" cy="329184"/>
          </a:xfrm>
          <a:prstGeom prst="rect">
            <a:avLst/>
          </a:prstGeom>
          <a:noFill/>
          <a:ln/>
        </p:spPr>
        <p:txBody>
          <a:bodyPr wrap="square" lIns="0" tIns="0" rIns="0" bIns="0" rtlCol="0" anchor="ctr"/>
          <a:lstStyle/>
          <a:p>
            <a:pPr indent="0" marL="0">
              <a:buNone/>
            </a:pPr>
            <a:r>
              <a:rPr lang="en-US" sz="1700" b="1" dirty="0">
                <a:solidFill>
                  <a:srgbClr val="1F5F3C"/>
                </a:solidFill>
                <a:latin typeface="Cambria" pitchFamily="34" charset="0"/>
                <a:ea typeface="Cambria" pitchFamily="34" charset="-122"/>
                <a:cs typeface="Cambria" pitchFamily="34" charset="-120"/>
              </a:rPr>
              <a:t>Isolation</a:t>
            </a:r>
            <a:endParaRPr lang="en-US" sz="1700" dirty="0"/>
          </a:p>
        </p:txBody>
      </p:sp>
      <p:sp>
        <p:nvSpPr>
          <p:cNvPr id="15" name="Text 13"/>
          <p:cNvSpPr/>
          <p:nvPr/>
        </p:nvSpPr>
        <p:spPr>
          <a:xfrm>
            <a:off x="4590288" y="2304288"/>
            <a:ext cx="3008376" cy="420624"/>
          </a:xfrm>
          <a:prstGeom prst="rect">
            <a:avLst/>
          </a:prstGeom>
          <a:noFill/>
          <a:ln/>
        </p:spPr>
        <p:txBody>
          <a:bodyPr wrap="square" lIns="0" tIns="0" rIns="0" bIns="0" rtlCol="0" anchor="t"/>
          <a:lstStyle/>
          <a:p>
            <a:pPr indent="0" marL="0">
              <a:lnSpc>
                <a:spcPts val="1500"/>
              </a:lnSpc>
              <a:buNone/>
            </a:pPr>
            <a:r>
              <a:rPr lang="en-US" sz="1150" i="1" dirty="0">
                <a:solidFill>
                  <a:srgbClr val="12202B"/>
                </a:solidFill>
                <a:latin typeface="Calibri" pitchFamily="34" charset="0"/>
                <a:ea typeface="Calibri" pitchFamily="34" charset="-122"/>
                <a:cs typeface="Calibri" pitchFamily="34" charset="-120"/>
              </a:rPr>
              <a:t>"Where exactly did that sample run?"</a:t>
            </a:r>
            <a:endParaRPr lang="en-US" sz="1150" dirty="0"/>
          </a:p>
        </p:txBody>
      </p:sp>
      <p:sp>
        <p:nvSpPr>
          <p:cNvPr id="16" name="Text 14"/>
          <p:cNvSpPr/>
          <p:nvPr/>
        </p:nvSpPr>
        <p:spPr>
          <a:xfrm>
            <a:off x="4590288" y="2779776"/>
            <a:ext cx="3008376" cy="1554480"/>
          </a:xfrm>
          <a:prstGeom prst="rect">
            <a:avLst/>
          </a:prstGeom>
          <a:noFill/>
          <a:ln/>
        </p:spPr>
        <p:txBody>
          <a:bodyPr wrap="square" lIns="0" tIns="0" rIns="0" bIns="0" rtlCol="0" anchor="t"/>
          <a:lstStyle/>
          <a:p>
            <a:pPr indent="0" marL="0">
              <a:lnSpc>
                <a:spcPts val="1450"/>
              </a:lnSpc>
              <a:buNone/>
            </a:pPr>
            <a:r>
              <a:rPr lang="en-US" sz="1050" dirty="0">
                <a:solidFill>
                  <a:srgbClr val="1B2B36"/>
                </a:solidFill>
                <a:latin typeface="Calibri" pitchFamily="34" charset="0"/>
                <a:ea typeface="Calibri" pitchFamily="34" charset="-122"/>
                <a:cs typeface="Calibri" pitchFamily="34" charset="-120"/>
              </a:rPr>
              <a:t>This course handles suspicious code and runs attacks. That work stays inside containers and VMs on a network with no route to anything real. Isolation is what separates a lab exercise from an incident of your own making.</a:t>
            </a:r>
            <a:endParaRPr lang="en-US" sz="1050" dirty="0"/>
          </a:p>
        </p:txBody>
      </p:sp>
      <p:sp>
        <p:nvSpPr>
          <p:cNvPr id="17" name="Shape 15"/>
          <p:cNvSpPr/>
          <p:nvPr/>
        </p:nvSpPr>
        <p:spPr>
          <a:xfrm>
            <a:off x="8065008" y="1783080"/>
            <a:ext cx="3483864" cy="2670048"/>
          </a:xfrm>
          <a:prstGeom prst="roundRect">
            <a:avLst>
              <a:gd name="adj" fmla="val 2397"/>
            </a:avLst>
          </a:prstGeom>
          <a:solidFill>
            <a:srgbClr val="F1F5F8"/>
          </a:solidFill>
          <a:ln w="15875">
            <a:solidFill>
              <a:srgbClr val="1F5F3C"/>
            </a:solidFill>
            <a:prstDash val="solid"/>
          </a:ln>
        </p:spPr>
      </p:sp>
      <p:sp>
        <p:nvSpPr>
          <p:cNvPr id="18" name="Shape 16"/>
          <p:cNvSpPr/>
          <p:nvPr/>
        </p:nvSpPr>
        <p:spPr>
          <a:xfrm>
            <a:off x="8065008" y="1783080"/>
            <a:ext cx="3483864" cy="64008"/>
          </a:xfrm>
          <a:prstGeom prst="rect">
            <a:avLst/>
          </a:prstGeom>
          <a:solidFill>
            <a:srgbClr val="1F5F3C"/>
          </a:solidFill>
          <a:ln w="12700">
            <a:solidFill>
              <a:srgbClr val="1F5F3C"/>
            </a:solidFill>
            <a:prstDash val="solid"/>
          </a:ln>
        </p:spPr>
      </p:sp>
      <p:sp>
        <p:nvSpPr>
          <p:cNvPr id="19" name="Text 17"/>
          <p:cNvSpPr/>
          <p:nvPr/>
        </p:nvSpPr>
        <p:spPr>
          <a:xfrm>
            <a:off x="8302752" y="1956816"/>
            <a:ext cx="3008376" cy="329184"/>
          </a:xfrm>
          <a:prstGeom prst="rect">
            <a:avLst/>
          </a:prstGeom>
          <a:noFill/>
          <a:ln/>
        </p:spPr>
        <p:txBody>
          <a:bodyPr wrap="square" lIns="0" tIns="0" rIns="0" bIns="0" rtlCol="0" anchor="ctr"/>
          <a:lstStyle/>
          <a:p>
            <a:pPr indent="0" marL="0">
              <a:buNone/>
            </a:pPr>
            <a:r>
              <a:rPr lang="en-US" sz="1700" b="1" dirty="0">
                <a:solidFill>
                  <a:srgbClr val="1F5F3C"/>
                </a:solidFill>
                <a:latin typeface="Cambria" pitchFamily="34" charset="0"/>
                <a:ea typeface="Cambria" pitchFamily="34" charset="-122"/>
                <a:cs typeface="Cambria" pitchFamily="34" charset="-120"/>
              </a:rPr>
              <a:t>Secrets hygiene</a:t>
            </a:r>
            <a:endParaRPr lang="en-US" sz="1700" dirty="0"/>
          </a:p>
        </p:txBody>
      </p:sp>
      <p:sp>
        <p:nvSpPr>
          <p:cNvPr id="20" name="Text 18"/>
          <p:cNvSpPr/>
          <p:nvPr/>
        </p:nvSpPr>
        <p:spPr>
          <a:xfrm>
            <a:off x="8302752" y="2304288"/>
            <a:ext cx="3008376" cy="420624"/>
          </a:xfrm>
          <a:prstGeom prst="rect">
            <a:avLst/>
          </a:prstGeom>
          <a:noFill/>
          <a:ln/>
        </p:spPr>
        <p:txBody>
          <a:bodyPr wrap="square" lIns="0" tIns="0" rIns="0" bIns="0" rtlCol="0" anchor="t"/>
          <a:lstStyle/>
          <a:p>
            <a:pPr indent="0" marL="0">
              <a:lnSpc>
                <a:spcPts val="1500"/>
              </a:lnSpc>
              <a:buNone/>
            </a:pPr>
            <a:r>
              <a:rPr lang="en-US" sz="1150" i="1" dirty="0">
                <a:solidFill>
                  <a:srgbClr val="12202B"/>
                </a:solidFill>
                <a:latin typeface="Calibri" pitchFamily="34" charset="0"/>
                <a:ea typeface="Calibri" pitchFamily="34" charset="-122"/>
                <a:cs typeface="Calibri" pitchFamily="34" charset="-120"/>
              </a:rPr>
              <a:t>"Is that key still valid?"</a:t>
            </a:r>
            <a:endParaRPr lang="en-US" sz="1150" dirty="0"/>
          </a:p>
        </p:txBody>
      </p:sp>
      <p:sp>
        <p:nvSpPr>
          <p:cNvPr id="21" name="Text 19"/>
          <p:cNvSpPr/>
          <p:nvPr/>
        </p:nvSpPr>
        <p:spPr>
          <a:xfrm>
            <a:off x="8302752" y="2779776"/>
            <a:ext cx="3008376" cy="1554480"/>
          </a:xfrm>
          <a:prstGeom prst="rect">
            <a:avLst/>
          </a:prstGeom>
          <a:noFill/>
          <a:ln/>
        </p:spPr>
        <p:txBody>
          <a:bodyPr wrap="square" lIns="0" tIns="0" rIns="0" bIns="0" rtlCol="0" anchor="t"/>
          <a:lstStyle/>
          <a:p>
            <a:pPr indent="0" marL="0">
              <a:lnSpc>
                <a:spcPts val="1450"/>
              </a:lnSpc>
              <a:buNone/>
            </a:pPr>
            <a:r>
              <a:rPr lang="en-US" sz="1050" dirty="0">
                <a:solidFill>
                  <a:srgbClr val="1B2B36"/>
                </a:solidFill>
                <a:latin typeface="Calibri" pitchFamily="34" charset="0"/>
                <a:ea typeface="Calibri" pitchFamily="34" charset="-122"/>
                <a:cs typeface="Calibri" pitchFamily="34" charset="-120"/>
              </a:rPr>
              <a:t>API keys and credentials are live liabilities from the moment they exist. Where they are stored, what excludes them from Git, and how fast you can rotate them are operational questions with immediate consequences.</a:t>
            </a:r>
            <a:endParaRPr lang="en-US" sz="10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4553712"/>
          <a:ext cx="10908792" cy="914400"/>
        </p:xfrm>
        <a:graphic>
          <a:graphicData uri="http://schemas.openxmlformats.org/drawingml/2006/table">
            <a:tbl>
              <a:tblPr/>
              <a:tblGrid>
                <a:gridCol w="2377440"/>
                <a:gridCol w="4206240"/>
                <a:gridCol w="432511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Property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The habit that delivers it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costs you to skip</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Reproducibility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venv per project; pinned versions; the notebook committed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result you cannot defend when someone asks how you got it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Isolation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Docker and VMs on a host-only network; snapshots before you break things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Your own machine becomes the incident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Secrets hygiene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.env excluded by .gitignore; Colab Secrets; a rotation habit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key on GitHub, found by a bot in minutes, billed to you</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1F5F3C"/>
                </a:solidFill>
                <a:latin typeface="Calibri" pitchFamily="34" charset="0"/>
                <a:ea typeface="Calibri" pitchFamily="34" charset="-122"/>
                <a:cs typeface="Calibri" pitchFamily="34" charset="-120"/>
              </a:rPr>
              <a:t>PART 1 · WHY TOOLING IS A SECURITY TOPIC</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Local and cloud — pick by data, not by preference</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Neither is better. The question is what your data is and how much compute you need.</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Tools &amp; Environment</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4</a:t>
            </a:r>
            <a:endParaRPr lang="en-US" sz="900" dirty="0"/>
          </a:p>
        </p:txBody>
      </p:sp>
      <p:graphicFrame>
        <p:nvGraphicFramePr>
          <p:cNvPr id="7" name="Chart 0" descr=""/>
          <p:cNvGraphicFramePr/>
          <p:nvPr/>
        </p:nvGraphicFramePr>
        <p:xfrm>
          <a:off x="640080" y="1783080"/>
          <a:ext cx="5623560" cy="26517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537960" y="1783080"/>
          <a:ext cx="5010912" cy="914400"/>
        </p:xfrm>
        <a:graphic>
          <a:graphicData uri="http://schemas.openxmlformats.org/drawingml/2006/table">
            <a:tbl>
              <a:tblPr/>
              <a:tblGrid>
                <a:gridCol w="2084832"/>
                <a:gridCol w="2926080"/>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If your data is…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Run it…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Real logs, PII, client material</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Locally, or on a VM you control</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Synthetic or provided samples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Anywhere — Colab is fine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Too big for your RAM</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Cloud, after you have de-identified it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Needing a GPU you don't own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Colab for a session; NAIRR for the term</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
        <p:nvSpPr>
          <p:cNvPr id="9" name="Shape 5"/>
          <p:cNvSpPr/>
          <p:nvPr/>
        </p:nvSpPr>
        <p:spPr>
          <a:xfrm>
            <a:off x="6537960" y="3913632"/>
            <a:ext cx="5010912" cy="1225296"/>
          </a:xfrm>
          <a:prstGeom prst="roundRect">
            <a:avLst>
              <a:gd name="adj" fmla="val 4478"/>
            </a:avLst>
          </a:prstGeom>
          <a:solidFill>
            <a:srgbClr val="F7E5E8"/>
          </a:solidFill>
          <a:ln w="9525">
            <a:solidFill>
              <a:srgbClr val="A4243B"/>
            </a:solidFill>
            <a:prstDash val="solid"/>
          </a:ln>
        </p:spPr>
      </p:sp>
      <p:sp>
        <p:nvSpPr>
          <p:cNvPr id="10" name="Text 6"/>
          <p:cNvSpPr/>
          <p:nvPr/>
        </p:nvSpPr>
        <p:spPr>
          <a:xfrm>
            <a:off x="6757416" y="4005072"/>
            <a:ext cx="4572000" cy="1042416"/>
          </a:xfrm>
          <a:prstGeom prst="rect">
            <a:avLst/>
          </a:prstGeom>
          <a:noFill/>
          <a:ln/>
        </p:spPr>
        <p:txBody>
          <a:bodyPr wrap="square" lIns="0" tIns="0" rIns="0" bIns="0" rtlCol="0" anchor="ctr"/>
          <a:lstStyle/>
          <a:p>
            <a:pPr indent="0" marL="0">
              <a:lnSpc>
                <a:spcPts val="1540"/>
              </a:lnSpc>
              <a:buNone/>
            </a:pPr>
            <a:r>
              <a:rPr lang="en-US" sz="1100" b="1" dirty="0">
                <a:solidFill>
                  <a:srgbClr val="A4243B"/>
                </a:solidFill>
                <a:latin typeface="Calibri" pitchFamily="34" charset="0"/>
                <a:ea typeface="Calibri" pitchFamily="34" charset="-122"/>
                <a:cs typeface="Calibri" pitchFamily="34" charset="-120"/>
              </a:rPr>
              <a:t>The line that actually matters: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"Cloud" means your data is processed on someone else's hardware under their terms. That is a decision, and it should be a deliberate one.</a:t>
            </a:r>
            <a:endParaRPr lang="en-US" sz="1100" dirty="0"/>
          </a:p>
        </p:txBody>
      </p:sp>
      <p:sp>
        <p:nvSpPr>
          <p:cNvPr id="11" name="Shape 7"/>
          <p:cNvSpPr/>
          <p:nvPr/>
        </p:nvSpPr>
        <p:spPr>
          <a:xfrm>
            <a:off x="640080" y="4663440"/>
            <a:ext cx="5623560" cy="1188720"/>
          </a:xfrm>
          <a:prstGeom prst="roundRect">
            <a:avLst>
              <a:gd name="adj" fmla="val 4615"/>
            </a:avLst>
          </a:prstGeom>
          <a:solidFill>
            <a:srgbClr val="DFEEE5"/>
          </a:solidFill>
          <a:ln w="9525">
            <a:solidFill>
              <a:srgbClr val="1F5F3C"/>
            </a:solidFill>
            <a:prstDash val="solid"/>
          </a:ln>
        </p:spPr>
      </p:sp>
      <p:sp>
        <p:nvSpPr>
          <p:cNvPr id="12" name="Text 8"/>
          <p:cNvSpPr/>
          <p:nvPr/>
        </p:nvSpPr>
        <p:spPr>
          <a:xfrm>
            <a:off x="859536" y="4754880"/>
            <a:ext cx="5184648" cy="1005840"/>
          </a:xfrm>
          <a:prstGeom prst="rect">
            <a:avLst/>
          </a:prstGeom>
          <a:noFill/>
          <a:ln/>
        </p:spPr>
        <p:txBody>
          <a:bodyPr wrap="square" lIns="0" tIns="0" rIns="0" bIns="0" rtlCol="0" anchor="ctr"/>
          <a:lstStyle/>
          <a:p>
            <a:pPr indent="0" marL="0">
              <a:lnSpc>
                <a:spcPts val="1610"/>
              </a:lnSpc>
              <a:buNone/>
            </a:pPr>
            <a:r>
              <a:rPr lang="en-US" sz="1150" b="1" dirty="0">
                <a:solidFill>
                  <a:srgbClr val="1F5F3C"/>
                </a:solidFill>
                <a:latin typeface="Calibri" pitchFamily="34" charset="0"/>
                <a:ea typeface="Calibri" pitchFamily="34" charset="-122"/>
                <a:cs typeface="Calibri" pitchFamily="34" charset="-120"/>
              </a:rPr>
              <a:t>This week's order:  </a:t>
            </a:r>
            <a:pPr indent="0" marL="0">
              <a:lnSpc>
                <a:spcPts val="1610"/>
              </a:lnSpc>
              <a:buNone/>
            </a:pPr>
            <a:r>
              <a:rPr lang="en-US" sz="1150" dirty="0">
                <a:solidFill>
                  <a:srgbClr val="12202B"/>
                </a:solidFill>
                <a:latin typeface="Calibri" pitchFamily="34" charset="0"/>
                <a:ea typeface="Calibri" pitchFamily="34" charset="-122"/>
                <a:cs typeface="Calibri" pitchFamily="34" charset="-120"/>
              </a:rPr>
              <a:t>local first, always. The cloud GPU is a supplement you add in Lab B, not a substitute for having a working machine.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1F5F3C"/>
                </a:solidFill>
                <a:latin typeface="Calibri" pitchFamily="34" charset="0"/>
                <a:ea typeface="Calibri" pitchFamily="34" charset="-122"/>
                <a:cs typeface="Calibri" pitchFamily="34" charset="-120"/>
              </a:rPr>
              <a:t>PART 1 · WHY TOOLING IS A SECURITY TOPIC</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The toolkit: six categories</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The whole semester's tooling on one slide. Tackle it in chunks, in this order.</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Tools &amp; Environment</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640080" y="1810512"/>
            <a:ext cx="3483864" cy="1371600"/>
          </a:xfrm>
          <a:prstGeom prst="roundRect">
            <a:avLst>
              <a:gd name="adj" fmla="val 4667"/>
            </a:avLst>
          </a:prstGeom>
          <a:solidFill>
            <a:srgbClr val="F1F5F8"/>
          </a:solidFill>
          <a:ln w="9525">
            <a:solidFill>
              <a:srgbClr val="C9D8E0"/>
            </a:solidFill>
            <a:prstDash val="solid"/>
          </a:ln>
        </p:spPr>
      </p:sp>
      <p:sp>
        <p:nvSpPr>
          <p:cNvPr id="8" name="Shape 6"/>
          <p:cNvSpPr/>
          <p:nvPr/>
        </p:nvSpPr>
        <p:spPr>
          <a:xfrm>
            <a:off x="859536" y="2029968"/>
            <a:ext cx="384048" cy="384048"/>
          </a:xfrm>
          <a:prstGeom prst="ellipse">
            <a:avLst/>
          </a:prstGeom>
          <a:solidFill>
            <a:srgbClr val="1F5F3C"/>
          </a:solidFill>
          <a:ln w="12700">
            <a:solidFill>
              <a:srgbClr val="1F5F3C"/>
            </a:solidFill>
            <a:prstDash val="solid"/>
          </a:ln>
        </p:spPr>
      </p:sp>
      <p:sp>
        <p:nvSpPr>
          <p:cNvPr id="9" name="Text 7"/>
          <p:cNvSpPr/>
          <p:nvPr/>
        </p:nvSpPr>
        <p:spPr>
          <a:xfrm>
            <a:off x="859536" y="20299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371600" y="2011680"/>
            <a:ext cx="1965960" cy="420624"/>
          </a:xfrm>
          <a:prstGeom prst="rect">
            <a:avLst/>
          </a:prstGeom>
          <a:noFill/>
          <a:ln/>
        </p:spPr>
        <p:txBody>
          <a:bodyPr wrap="square" lIns="0" tIns="0" rIns="0" bIns="0" rtlCol="0" anchor="ctr"/>
          <a:lstStyle/>
          <a:p>
            <a:pPr indent="0" marL="0">
              <a:buNone/>
            </a:pPr>
            <a:r>
              <a:rPr lang="en-US" sz="1400" b="1" dirty="0">
                <a:solidFill>
                  <a:srgbClr val="12202B"/>
                </a:solidFill>
                <a:latin typeface="Calibri" pitchFamily="34" charset="0"/>
                <a:ea typeface="Calibri" pitchFamily="34" charset="-122"/>
                <a:cs typeface="Calibri" pitchFamily="34" charset="-120"/>
              </a:rPr>
              <a:t>Editor &amp; language</a:t>
            </a:r>
            <a:endParaRPr lang="en-US" sz="1400" dirty="0"/>
          </a:p>
        </p:txBody>
      </p:sp>
      <p:sp>
        <p:nvSpPr>
          <p:cNvPr id="11" name="Text 9"/>
          <p:cNvSpPr/>
          <p:nvPr/>
        </p:nvSpPr>
        <p:spPr>
          <a:xfrm>
            <a:off x="3291840" y="2048256"/>
            <a:ext cx="658368" cy="219456"/>
          </a:xfrm>
          <a:prstGeom prst="rect">
            <a:avLst/>
          </a:prstGeom>
          <a:noFill/>
          <a:ln/>
        </p:spPr>
        <p:txBody>
          <a:bodyPr wrap="square" lIns="0" tIns="0" rIns="0" bIns="0" rtlCol="0" anchor="ctr"/>
          <a:lstStyle/>
          <a:p>
            <a:pPr algn="r" indent="0" marL="0">
              <a:buNone/>
            </a:pPr>
            <a:r>
              <a:rPr lang="en-US" sz="800" b="1" spc="80" kern="0" dirty="0">
                <a:solidFill>
                  <a:srgbClr val="5C7383"/>
                </a:solidFill>
                <a:latin typeface="Calibri" pitchFamily="34" charset="0"/>
                <a:ea typeface="Calibri" pitchFamily="34" charset="-122"/>
                <a:cs typeface="Calibri" pitchFamily="34" charset="-120"/>
              </a:rPr>
              <a:t>CORE</a:t>
            </a:r>
            <a:endParaRPr lang="en-US" sz="800" dirty="0"/>
          </a:p>
        </p:txBody>
      </p:sp>
      <p:sp>
        <p:nvSpPr>
          <p:cNvPr id="12" name="Text 10"/>
          <p:cNvSpPr/>
          <p:nvPr/>
        </p:nvSpPr>
        <p:spPr>
          <a:xfrm>
            <a:off x="896112" y="2505456"/>
            <a:ext cx="2971800" cy="548640"/>
          </a:xfrm>
          <a:prstGeom prst="rect">
            <a:avLst/>
          </a:prstGeom>
          <a:noFill/>
          <a:ln/>
        </p:spPr>
        <p:txBody>
          <a:bodyPr wrap="square" lIns="0" tIns="0" rIns="0" bIns="0" rtlCol="0" anchor="t"/>
          <a:lstStyle/>
          <a:p>
            <a:pPr indent="0" marL="0">
              <a:lnSpc>
                <a:spcPts val="1450"/>
              </a:lnSpc>
              <a:buNone/>
            </a:pPr>
            <a:r>
              <a:rPr lang="en-US" sz="1100" dirty="0">
                <a:solidFill>
                  <a:srgbClr val="1B2B36"/>
                </a:solidFill>
                <a:latin typeface="Calibri" pitchFamily="34" charset="0"/>
                <a:ea typeface="Calibri" pitchFamily="34" charset="-122"/>
                <a:cs typeface="Calibri" pitchFamily="34" charset="-120"/>
              </a:rPr>
              <a:t>VS Code · Python 3 · a venv per project</a:t>
            </a:r>
            <a:endParaRPr lang="en-US" sz="1100" dirty="0"/>
          </a:p>
        </p:txBody>
      </p:sp>
      <p:sp>
        <p:nvSpPr>
          <p:cNvPr id="13" name="Shape 11"/>
          <p:cNvSpPr/>
          <p:nvPr/>
        </p:nvSpPr>
        <p:spPr>
          <a:xfrm>
            <a:off x="4352544" y="1810512"/>
            <a:ext cx="3483864" cy="1371600"/>
          </a:xfrm>
          <a:prstGeom prst="roundRect">
            <a:avLst>
              <a:gd name="adj" fmla="val 4667"/>
            </a:avLst>
          </a:prstGeom>
          <a:solidFill>
            <a:srgbClr val="F1F5F8"/>
          </a:solidFill>
          <a:ln w="9525">
            <a:solidFill>
              <a:srgbClr val="C9D8E0"/>
            </a:solidFill>
            <a:prstDash val="solid"/>
          </a:ln>
        </p:spPr>
      </p:sp>
      <p:sp>
        <p:nvSpPr>
          <p:cNvPr id="14" name="Shape 12"/>
          <p:cNvSpPr/>
          <p:nvPr/>
        </p:nvSpPr>
        <p:spPr>
          <a:xfrm>
            <a:off x="4572000" y="2029968"/>
            <a:ext cx="384048" cy="384048"/>
          </a:xfrm>
          <a:prstGeom prst="ellipse">
            <a:avLst/>
          </a:prstGeom>
          <a:solidFill>
            <a:srgbClr val="1F5F3C"/>
          </a:solidFill>
          <a:ln w="12700">
            <a:solidFill>
              <a:srgbClr val="1F5F3C"/>
            </a:solidFill>
            <a:prstDash val="solid"/>
          </a:ln>
        </p:spPr>
      </p:sp>
      <p:sp>
        <p:nvSpPr>
          <p:cNvPr id="15" name="Text 13"/>
          <p:cNvSpPr/>
          <p:nvPr/>
        </p:nvSpPr>
        <p:spPr>
          <a:xfrm>
            <a:off x="4572000" y="20299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5084064" y="2011680"/>
            <a:ext cx="1965960" cy="420624"/>
          </a:xfrm>
          <a:prstGeom prst="rect">
            <a:avLst/>
          </a:prstGeom>
          <a:noFill/>
          <a:ln/>
        </p:spPr>
        <p:txBody>
          <a:bodyPr wrap="square" lIns="0" tIns="0" rIns="0" bIns="0" rtlCol="0" anchor="ctr"/>
          <a:lstStyle/>
          <a:p>
            <a:pPr indent="0" marL="0">
              <a:buNone/>
            </a:pPr>
            <a:r>
              <a:rPr lang="en-US" sz="1400" b="1" dirty="0">
                <a:solidFill>
                  <a:srgbClr val="12202B"/>
                </a:solidFill>
                <a:latin typeface="Calibri" pitchFamily="34" charset="0"/>
                <a:ea typeface="Calibri" pitchFamily="34" charset="-122"/>
                <a:cs typeface="Calibri" pitchFamily="34" charset="-120"/>
              </a:rPr>
              <a:t>Notebooks</a:t>
            </a:r>
            <a:endParaRPr lang="en-US" sz="1400" dirty="0"/>
          </a:p>
        </p:txBody>
      </p:sp>
      <p:sp>
        <p:nvSpPr>
          <p:cNvPr id="17" name="Text 15"/>
          <p:cNvSpPr/>
          <p:nvPr/>
        </p:nvSpPr>
        <p:spPr>
          <a:xfrm>
            <a:off x="7004304" y="2048256"/>
            <a:ext cx="658368" cy="219456"/>
          </a:xfrm>
          <a:prstGeom prst="rect">
            <a:avLst/>
          </a:prstGeom>
          <a:noFill/>
          <a:ln/>
        </p:spPr>
        <p:txBody>
          <a:bodyPr wrap="square" lIns="0" tIns="0" rIns="0" bIns="0" rtlCol="0" anchor="ctr"/>
          <a:lstStyle/>
          <a:p>
            <a:pPr algn="r" indent="0" marL="0">
              <a:buNone/>
            </a:pPr>
            <a:r>
              <a:rPr lang="en-US" sz="800" b="1" spc="80" kern="0" dirty="0">
                <a:solidFill>
                  <a:srgbClr val="5C7383"/>
                </a:solidFill>
                <a:latin typeface="Calibri" pitchFamily="34" charset="0"/>
                <a:ea typeface="Calibri" pitchFamily="34" charset="-122"/>
                <a:cs typeface="Calibri" pitchFamily="34" charset="-120"/>
              </a:rPr>
              <a:t>CORE</a:t>
            </a:r>
            <a:endParaRPr lang="en-US" sz="800" dirty="0"/>
          </a:p>
        </p:txBody>
      </p:sp>
      <p:sp>
        <p:nvSpPr>
          <p:cNvPr id="18" name="Text 16"/>
          <p:cNvSpPr/>
          <p:nvPr/>
        </p:nvSpPr>
        <p:spPr>
          <a:xfrm>
            <a:off x="4608576" y="2505456"/>
            <a:ext cx="2971800" cy="548640"/>
          </a:xfrm>
          <a:prstGeom prst="rect">
            <a:avLst/>
          </a:prstGeom>
          <a:noFill/>
          <a:ln/>
        </p:spPr>
        <p:txBody>
          <a:bodyPr wrap="square" lIns="0" tIns="0" rIns="0" bIns="0" rtlCol="0" anchor="t"/>
          <a:lstStyle/>
          <a:p>
            <a:pPr indent="0" marL="0">
              <a:lnSpc>
                <a:spcPts val="1450"/>
              </a:lnSpc>
              <a:buNone/>
            </a:pPr>
            <a:r>
              <a:rPr lang="en-US" sz="1100" dirty="0">
                <a:solidFill>
                  <a:srgbClr val="1B2B36"/>
                </a:solidFill>
                <a:latin typeface="Calibri" pitchFamily="34" charset="0"/>
                <a:ea typeface="Calibri" pitchFamily="34" charset="-122"/>
                <a:cs typeface="Calibri" pitchFamily="34" charset="-120"/>
              </a:rPr>
              <a:t>Jupyter locally · Google Colab + Drive</a:t>
            </a:r>
            <a:endParaRPr lang="en-US" sz="1100" dirty="0"/>
          </a:p>
        </p:txBody>
      </p:sp>
      <p:sp>
        <p:nvSpPr>
          <p:cNvPr id="19" name="Shape 17"/>
          <p:cNvSpPr/>
          <p:nvPr/>
        </p:nvSpPr>
        <p:spPr>
          <a:xfrm>
            <a:off x="8065008" y="1810512"/>
            <a:ext cx="3483864" cy="1371600"/>
          </a:xfrm>
          <a:prstGeom prst="roundRect">
            <a:avLst>
              <a:gd name="adj" fmla="val 4667"/>
            </a:avLst>
          </a:prstGeom>
          <a:solidFill>
            <a:srgbClr val="F1F5F8"/>
          </a:solidFill>
          <a:ln w="9525">
            <a:solidFill>
              <a:srgbClr val="C9D8E0"/>
            </a:solidFill>
            <a:prstDash val="solid"/>
          </a:ln>
        </p:spPr>
      </p:sp>
      <p:sp>
        <p:nvSpPr>
          <p:cNvPr id="20" name="Shape 18"/>
          <p:cNvSpPr/>
          <p:nvPr/>
        </p:nvSpPr>
        <p:spPr>
          <a:xfrm>
            <a:off x="8284464" y="2029968"/>
            <a:ext cx="384048" cy="384048"/>
          </a:xfrm>
          <a:prstGeom prst="ellipse">
            <a:avLst/>
          </a:prstGeom>
          <a:solidFill>
            <a:srgbClr val="1F5F3C"/>
          </a:solidFill>
          <a:ln w="12700">
            <a:solidFill>
              <a:srgbClr val="1F5F3C"/>
            </a:solidFill>
            <a:prstDash val="solid"/>
          </a:ln>
        </p:spPr>
      </p:sp>
      <p:sp>
        <p:nvSpPr>
          <p:cNvPr id="21" name="Text 19"/>
          <p:cNvSpPr/>
          <p:nvPr/>
        </p:nvSpPr>
        <p:spPr>
          <a:xfrm>
            <a:off x="8284464" y="20299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796528" y="2011680"/>
            <a:ext cx="1965960" cy="420624"/>
          </a:xfrm>
          <a:prstGeom prst="rect">
            <a:avLst/>
          </a:prstGeom>
          <a:noFill/>
          <a:ln/>
        </p:spPr>
        <p:txBody>
          <a:bodyPr wrap="square" lIns="0" tIns="0" rIns="0" bIns="0" rtlCol="0" anchor="ctr"/>
          <a:lstStyle/>
          <a:p>
            <a:pPr indent="0" marL="0">
              <a:buNone/>
            </a:pPr>
            <a:r>
              <a:rPr lang="en-US" sz="1400" b="1" dirty="0">
                <a:solidFill>
                  <a:srgbClr val="12202B"/>
                </a:solidFill>
                <a:latin typeface="Calibri" pitchFamily="34" charset="0"/>
                <a:ea typeface="Calibri" pitchFamily="34" charset="-122"/>
                <a:cs typeface="Calibri" pitchFamily="34" charset="-120"/>
              </a:rPr>
              <a:t>Version control</a:t>
            </a:r>
            <a:endParaRPr lang="en-US" sz="1400" dirty="0"/>
          </a:p>
        </p:txBody>
      </p:sp>
      <p:sp>
        <p:nvSpPr>
          <p:cNvPr id="23" name="Text 21"/>
          <p:cNvSpPr/>
          <p:nvPr/>
        </p:nvSpPr>
        <p:spPr>
          <a:xfrm>
            <a:off x="10716768" y="2048256"/>
            <a:ext cx="658368" cy="219456"/>
          </a:xfrm>
          <a:prstGeom prst="rect">
            <a:avLst/>
          </a:prstGeom>
          <a:noFill/>
          <a:ln/>
        </p:spPr>
        <p:txBody>
          <a:bodyPr wrap="square" lIns="0" tIns="0" rIns="0" bIns="0" rtlCol="0" anchor="ctr"/>
          <a:lstStyle/>
          <a:p>
            <a:pPr algn="r" indent="0" marL="0">
              <a:buNone/>
            </a:pPr>
            <a:r>
              <a:rPr lang="en-US" sz="800" b="1" spc="80" kern="0" dirty="0">
                <a:solidFill>
                  <a:srgbClr val="5C7383"/>
                </a:solidFill>
                <a:latin typeface="Calibri" pitchFamily="34" charset="0"/>
                <a:ea typeface="Calibri" pitchFamily="34" charset="-122"/>
                <a:cs typeface="Calibri" pitchFamily="34" charset="-120"/>
              </a:rPr>
              <a:t>CORE</a:t>
            </a:r>
            <a:endParaRPr lang="en-US" sz="800" dirty="0"/>
          </a:p>
        </p:txBody>
      </p:sp>
      <p:sp>
        <p:nvSpPr>
          <p:cNvPr id="24" name="Text 22"/>
          <p:cNvSpPr/>
          <p:nvPr/>
        </p:nvSpPr>
        <p:spPr>
          <a:xfrm>
            <a:off x="8321040" y="2505456"/>
            <a:ext cx="2971800" cy="548640"/>
          </a:xfrm>
          <a:prstGeom prst="rect">
            <a:avLst/>
          </a:prstGeom>
          <a:noFill/>
          <a:ln/>
        </p:spPr>
        <p:txBody>
          <a:bodyPr wrap="square" lIns="0" tIns="0" rIns="0" bIns="0" rtlCol="0" anchor="t"/>
          <a:lstStyle/>
          <a:p>
            <a:pPr indent="0" marL="0">
              <a:lnSpc>
                <a:spcPts val="1450"/>
              </a:lnSpc>
              <a:buNone/>
            </a:pPr>
            <a:r>
              <a:rPr lang="en-US" sz="1100" dirty="0">
                <a:solidFill>
                  <a:srgbClr val="1B2B36"/>
                </a:solidFill>
                <a:latin typeface="Calibri" pitchFamily="34" charset="0"/>
                <a:ea typeface="Calibri" pitchFamily="34" charset="-122"/>
                <a:cs typeface="Calibri" pitchFamily="34" charset="-120"/>
              </a:rPr>
              <a:t>Git · GitHub · your course repository</a:t>
            </a:r>
            <a:endParaRPr lang="en-US" sz="1100" dirty="0"/>
          </a:p>
        </p:txBody>
      </p:sp>
      <p:sp>
        <p:nvSpPr>
          <p:cNvPr id="25" name="Shape 23"/>
          <p:cNvSpPr/>
          <p:nvPr/>
        </p:nvSpPr>
        <p:spPr>
          <a:xfrm>
            <a:off x="640080" y="3383280"/>
            <a:ext cx="3483864" cy="1371600"/>
          </a:xfrm>
          <a:prstGeom prst="roundRect">
            <a:avLst>
              <a:gd name="adj" fmla="val 4667"/>
            </a:avLst>
          </a:prstGeom>
          <a:solidFill>
            <a:srgbClr val="F1F5F8"/>
          </a:solidFill>
          <a:ln w="9525">
            <a:solidFill>
              <a:srgbClr val="C9D8E0"/>
            </a:solidFill>
            <a:prstDash val="solid"/>
          </a:ln>
        </p:spPr>
      </p:sp>
      <p:sp>
        <p:nvSpPr>
          <p:cNvPr id="26" name="Shape 24"/>
          <p:cNvSpPr/>
          <p:nvPr/>
        </p:nvSpPr>
        <p:spPr>
          <a:xfrm>
            <a:off x="859536" y="3602736"/>
            <a:ext cx="384048" cy="384048"/>
          </a:xfrm>
          <a:prstGeom prst="ellipse">
            <a:avLst/>
          </a:prstGeom>
          <a:solidFill>
            <a:srgbClr val="1F5F3C"/>
          </a:solidFill>
          <a:ln w="12700">
            <a:solidFill>
              <a:srgbClr val="1F5F3C"/>
            </a:solidFill>
            <a:prstDash val="solid"/>
          </a:ln>
        </p:spPr>
      </p:sp>
      <p:sp>
        <p:nvSpPr>
          <p:cNvPr id="27" name="Text 25"/>
          <p:cNvSpPr/>
          <p:nvPr/>
        </p:nvSpPr>
        <p:spPr>
          <a:xfrm>
            <a:off x="859536" y="3602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p:cNvSpPr/>
          <p:nvPr/>
        </p:nvSpPr>
        <p:spPr>
          <a:xfrm>
            <a:off x="1371600" y="3584448"/>
            <a:ext cx="1965960" cy="420624"/>
          </a:xfrm>
          <a:prstGeom prst="rect">
            <a:avLst/>
          </a:prstGeom>
          <a:noFill/>
          <a:ln/>
        </p:spPr>
        <p:txBody>
          <a:bodyPr wrap="square" lIns="0" tIns="0" rIns="0" bIns="0" rtlCol="0" anchor="ctr"/>
          <a:lstStyle/>
          <a:p>
            <a:pPr indent="0" marL="0">
              <a:buNone/>
            </a:pPr>
            <a:r>
              <a:rPr lang="en-US" sz="1400" b="1" dirty="0">
                <a:solidFill>
                  <a:srgbClr val="12202B"/>
                </a:solidFill>
                <a:latin typeface="Calibri" pitchFamily="34" charset="0"/>
                <a:ea typeface="Calibri" pitchFamily="34" charset="-122"/>
                <a:cs typeface="Calibri" pitchFamily="34" charset="-120"/>
              </a:rPr>
              <a:t>The security lab</a:t>
            </a:r>
            <a:endParaRPr lang="en-US" sz="1400" dirty="0"/>
          </a:p>
        </p:txBody>
      </p:sp>
      <p:sp>
        <p:nvSpPr>
          <p:cNvPr id="29" name="Text 27"/>
          <p:cNvSpPr/>
          <p:nvPr/>
        </p:nvSpPr>
        <p:spPr>
          <a:xfrm>
            <a:off x="3291840" y="3621024"/>
            <a:ext cx="658368" cy="219456"/>
          </a:xfrm>
          <a:prstGeom prst="rect">
            <a:avLst/>
          </a:prstGeom>
          <a:noFill/>
          <a:ln/>
        </p:spPr>
        <p:txBody>
          <a:bodyPr wrap="square" lIns="0" tIns="0" rIns="0" bIns="0" rtlCol="0" anchor="ctr"/>
          <a:lstStyle/>
          <a:p>
            <a:pPr algn="r" indent="0" marL="0">
              <a:buNone/>
            </a:pPr>
            <a:r>
              <a:rPr lang="en-US" sz="800" b="1" spc="80" kern="0" dirty="0">
                <a:solidFill>
                  <a:srgbClr val="5C7383"/>
                </a:solidFill>
                <a:latin typeface="Calibri" pitchFamily="34" charset="0"/>
                <a:ea typeface="Calibri" pitchFamily="34" charset="-122"/>
                <a:cs typeface="Calibri" pitchFamily="34" charset="-120"/>
              </a:rPr>
              <a:t>SECURITY</a:t>
            </a:r>
            <a:endParaRPr lang="en-US" sz="800" dirty="0"/>
          </a:p>
        </p:txBody>
      </p:sp>
      <p:sp>
        <p:nvSpPr>
          <p:cNvPr id="30" name="Text 28"/>
          <p:cNvSpPr/>
          <p:nvPr/>
        </p:nvSpPr>
        <p:spPr>
          <a:xfrm>
            <a:off x="896112" y="4078224"/>
            <a:ext cx="2971800" cy="548640"/>
          </a:xfrm>
          <a:prstGeom prst="rect">
            <a:avLst/>
          </a:prstGeom>
          <a:noFill/>
          <a:ln/>
        </p:spPr>
        <p:txBody>
          <a:bodyPr wrap="square" lIns="0" tIns="0" rIns="0" bIns="0" rtlCol="0" anchor="t"/>
          <a:lstStyle/>
          <a:p>
            <a:pPr indent="0" marL="0">
              <a:lnSpc>
                <a:spcPts val="1450"/>
              </a:lnSpc>
              <a:buNone/>
            </a:pPr>
            <a:r>
              <a:rPr lang="en-US" sz="1100" dirty="0">
                <a:solidFill>
                  <a:srgbClr val="1B2B36"/>
                </a:solidFill>
                <a:latin typeface="Calibri" pitchFamily="34" charset="0"/>
                <a:ea typeface="Calibri" pitchFamily="34" charset="-122"/>
                <a:cs typeface="Calibri" pitchFamily="34" charset="-120"/>
              </a:rPr>
              <a:t>VirtualBox/VMware · Docker · Kali + targets</a:t>
            </a:r>
            <a:endParaRPr lang="en-US" sz="1100" dirty="0"/>
          </a:p>
        </p:txBody>
      </p:sp>
      <p:sp>
        <p:nvSpPr>
          <p:cNvPr id="31" name="Shape 29"/>
          <p:cNvSpPr/>
          <p:nvPr/>
        </p:nvSpPr>
        <p:spPr>
          <a:xfrm>
            <a:off x="4352544" y="3383280"/>
            <a:ext cx="3483864" cy="1371600"/>
          </a:xfrm>
          <a:prstGeom prst="roundRect">
            <a:avLst>
              <a:gd name="adj" fmla="val 4667"/>
            </a:avLst>
          </a:prstGeom>
          <a:solidFill>
            <a:srgbClr val="F1F5F8"/>
          </a:solidFill>
          <a:ln w="9525">
            <a:solidFill>
              <a:srgbClr val="C9D8E0"/>
            </a:solidFill>
            <a:prstDash val="solid"/>
          </a:ln>
        </p:spPr>
      </p:sp>
      <p:sp>
        <p:nvSpPr>
          <p:cNvPr id="32" name="Shape 30"/>
          <p:cNvSpPr/>
          <p:nvPr/>
        </p:nvSpPr>
        <p:spPr>
          <a:xfrm>
            <a:off x="4572000" y="3602736"/>
            <a:ext cx="384048" cy="384048"/>
          </a:xfrm>
          <a:prstGeom prst="ellipse">
            <a:avLst/>
          </a:prstGeom>
          <a:solidFill>
            <a:srgbClr val="1F5F3C"/>
          </a:solidFill>
          <a:ln w="12700">
            <a:solidFill>
              <a:srgbClr val="1F5F3C"/>
            </a:solidFill>
            <a:prstDash val="solid"/>
          </a:ln>
        </p:spPr>
      </p:sp>
      <p:sp>
        <p:nvSpPr>
          <p:cNvPr id="33" name="Text 31"/>
          <p:cNvSpPr/>
          <p:nvPr/>
        </p:nvSpPr>
        <p:spPr>
          <a:xfrm>
            <a:off x="4572000" y="3602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4" name="Text 32"/>
          <p:cNvSpPr/>
          <p:nvPr/>
        </p:nvSpPr>
        <p:spPr>
          <a:xfrm>
            <a:off x="5084064" y="3584448"/>
            <a:ext cx="1965960" cy="420624"/>
          </a:xfrm>
          <a:prstGeom prst="rect">
            <a:avLst/>
          </a:prstGeom>
          <a:noFill/>
          <a:ln/>
        </p:spPr>
        <p:txBody>
          <a:bodyPr wrap="square" lIns="0" tIns="0" rIns="0" bIns="0" rtlCol="0" anchor="ctr"/>
          <a:lstStyle/>
          <a:p>
            <a:pPr indent="0" marL="0">
              <a:buNone/>
            </a:pPr>
            <a:r>
              <a:rPr lang="en-US" sz="1400" b="1" dirty="0">
                <a:solidFill>
                  <a:srgbClr val="12202B"/>
                </a:solidFill>
                <a:latin typeface="Calibri" pitchFamily="34" charset="0"/>
                <a:ea typeface="Calibri" pitchFamily="34" charset="-122"/>
                <a:cs typeface="Calibri" pitchFamily="34" charset="-120"/>
              </a:rPr>
              <a:t>AI model access</a:t>
            </a:r>
            <a:endParaRPr lang="en-US" sz="1400" dirty="0"/>
          </a:p>
        </p:txBody>
      </p:sp>
      <p:sp>
        <p:nvSpPr>
          <p:cNvPr id="35" name="Text 33"/>
          <p:cNvSpPr/>
          <p:nvPr/>
        </p:nvSpPr>
        <p:spPr>
          <a:xfrm>
            <a:off x="7004304" y="3621024"/>
            <a:ext cx="658368" cy="219456"/>
          </a:xfrm>
          <a:prstGeom prst="rect">
            <a:avLst/>
          </a:prstGeom>
          <a:noFill/>
          <a:ln/>
        </p:spPr>
        <p:txBody>
          <a:bodyPr wrap="square" lIns="0" tIns="0" rIns="0" bIns="0" rtlCol="0" anchor="ctr"/>
          <a:lstStyle/>
          <a:p>
            <a:pPr algn="r" indent="0" marL="0">
              <a:buNone/>
            </a:pPr>
            <a:r>
              <a:rPr lang="en-US" sz="800" b="1" spc="80" kern="0" dirty="0">
                <a:solidFill>
                  <a:srgbClr val="5C7383"/>
                </a:solidFill>
                <a:latin typeface="Calibri" pitchFamily="34" charset="0"/>
                <a:ea typeface="Calibri" pitchFamily="34" charset="-122"/>
                <a:cs typeface="Calibri" pitchFamily="34" charset="-120"/>
              </a:rPr>
              <a:t>AI</a:t>
            </a:r>
            <a:endParaRPr lang="en-US" sz="800" dirty="0"/>
          </a:p>
        </p:txBody>
      </p:sp>
      <p:sp>
        <p:nvSpPr>
          <p:cNvPr id="36" name="Text 34"/>
          <p:cNvSpPr/>
          <p:nvPr/>
        </p:nvSpPr>
        <p:spPr>
          <a:xfrm>
            <a:off x="4608576" y="4078224"/>
            <a:ext cx="2971800" cy="548640"/>
          </a:xfrm>
          <a:prstGeom prst="rect">
            <a:avLst/>
          </a:prstGeom>
          <a:noFill/>
          <a:ln/>
        </p:spPr>
        <p:txBody>
          <a:bodyPr wrap="square" lIns="0" tIns="0" rIns="0" bIns="0" rtlCol="0" anchor="t"/>
          <a:lstStyle/>
          <a:p>
            <a:pPr indent="0" marL="0">
              <a:lnSpc>
                <a:spcPts val="1450"/>
              </a:lnSpc>
              <a:buNone/>
            </a:pPr>
            <a:r>
              <a:rPr lang="en-US" sz="1100" dirty="0">
                <a:solidFill>
                  <a:srgbClr val="1B2B36"/>
                </a:solidFill>
                <a:latin typeface="Calibri" pitchFamily="34" charset="0"/>
                <a:ea typeface="Calibri" pitchFamily="34" charset="-122"/>
                <a:cs typeface="Calibri" pitchFamily="34" charset="-120"/>
              </a:rPr>
              <a:t>Cloud APIs · Ollama / LM Studio · Hugging Face</a:t>
            </a:r>
            <a:endParaRPr lang="en-US" sz="1100" dirty="0"/>
          </a:p>
        </p:txBody>
      </p:sp>
      <p:sp>
        <p:nvSpPr>
          <p:cNvPr id="37" name="Shape 35"/>
          <p:cNvSpPr/>
          <p:nvPr/>
        </p:nvSpPr>
        <p:spPr>
          <a:xfrm>
            <a:off x="8065008" y="3383280"/>
            <a:ext cx="3483864" cy="1371600"/>
          </a:xfrm>
          <a:prstGeom prst="roundRect">
            <a:avLst>
              <a:gd name="adj" fmla="val 4667"/>
            </a:avLst>
          </a:prstGeom>
          <a:solidFill>
            <a:srgbClr val="F7E5E8"/>
          </a:solidFill>
          <a:ln w="15875">
            <a:solidFill>
              <a:srgbClr val="A4243B"/>
            </a:solidFill>
            <a:prstDash val="solid"/>
          </a:ln>
        </p:spPr>
      </p:sp>
      <p:sp>
        <p:nvSpPr>
          <p:cNvPr id="38" name="Shape 36"/>
          <p:cNvSpPr/>
          <p:nvPr/>
        </p:nvSpPr>
        <p:spPr>
          <a:xfrm>
            <a:off x="8284464" y="3602736"/>
            <a:ext cx="384048" cy="384048"/>
          </a:xfrm>
          <a:prstGeom prst="ellipse">
            <a:avLst/>
          </a:prstGeom>
          <a:solidFill>
            <a:srgbClr val="A4243B"/>
          </a:solidFill>
          <a:ln w="12700">
            <a:solidFill>
              <a:srgbClr val="A4243B"/>
            </a:solidFill>
            <a:prstDash val="solid"/>
          </a:ln>
        </p:spPr>
      </p:sp>
      <p:sp>
        <p:nvSpPr>
          <p:cNvPr id="39" name="Text 37"/>
          <p:cNvSpPr/>
          <p:nvPr/>
        </p:nvSpPr>
        <p:spPr>
          <a:xfrm>
            <a:off x="8284464" y="3602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0" name="Text 38"/>
          <p:cNvSpPr/>
          <p:nvPr/>
        </p:nvSpPr>
        <p:spPr>
          <a:xfrm>
            <a:off x="8796528" y="3584448"/>
            <a:ext cx="1965960" cy="420624"/>
          </a:xfrm>
          <a:prstGeom prst="rect">
            <a:avLst/>
          </a:prstGeom>
          <a:noFill/>
          <a:ln/>
        </p:spPr>
        <p:txBody>
          <a:bodyPr wrap="square" lIns="0" tIns="0" rIns="0" bIns="0" rtlCol="0" anchor="ctr"/>
          <a:lstStyle/>
          <a:p>
            <a:pPr indent="0" marL="0">
              <a:buNone/>
            </a:pPr>
            <a:r>
              <a:rPr lang="en-US" sz="1400" b="1" dirty="0">
                <a:solidFill>
                  <a:srgbClr val="A4243B"/>
                </a:solidFill>
                <a:latin typeface="Calibri" pitchFamily="34" charset="0"/>
                <a:ea typeface="Calibri" pitchFamily="34" charset="-122"/>
                <a:cs typeface="Calibri" pitchFamily="34" charset="-120"/>
              </a:rPr>
              <a:t>Files &amp; secrets</a:t>
            </a:r>
            <a:endParaRPr lang="en-US" sz="1400" dirty="0"/>
          </a:p>
        </p:txBody>
      </p:sp>
      <p:sp>
        <p:nvSpPr>
          <p:cNvPr id="41" name="Text 39"/>
          <p:cNvSpPr/>
          <p:nvPr/>
        </p:nvSpPr>
        <p:spPr>
          <a:xfrm>
            <a:off x="10716768" y="3621024"/>
            <a:ext cx="658368" cy="219456"/>
          </a:xfrm>
          <a:prstGeom prst="rect">
            <a:avLst/>
          </a:prstGeom>
          <a:noFill/>
          <a:ln/>
        </p:spPr>
        <p:txBody>
          <a:bodyPr wrap="square" lIns="0" tIns="0" rIns="0" bIns="0" rtlCol="0" anchor="ctr"/>
          <a:lstStyle/>
          <a:p>
            <a:pPr algn="r" indent="0" marL="0">
              <a:buNone/>
            </a:pPr>
            <a:r>
              <a:rPr lang="en-US" sz="800" b="1" spc="80" kern="0" dirty="0">
                <a:solidFill>
                  <a:srgbClr val="A4243B"/>
                </a:solidFill>
                <a:latin typeface="Calibri" pitchFamily="34" charset="0"/>
                <a:ea typeface="Calibri" pitchFamily="34" charset="-122"/>
                <a:cs typeface="Calibri" pitchFamily="34" charset="-120"/>
              </a:rPr>
              <a:t>CRITICAL</a:t>
            </a:r>
            <a:endParaRPr lang="en-US" sz="800" dirty="0"/>
          </a:p>
        </p:txBody>
      </p:sp>
      <p:sp>
        <p:nvSpPr>
          <p:cNvPr id="42" name="Text 40"/>
          <p:cNvSpPr/>
          <p:nvPr/>
        </p:nvSpPr>
        <p:spPr>
          <a:xfrm>
            <a:off x="8321040" y="4078224"/>
            <a:ext cx="2971800" cy="548640"/>
          </a:xfrm>
          <a:prstGeom prst="rect">
            <a:avLst/>
          </a:prstGeom>
          <a:noFill/>
          <a:ln/>
        </p:spPr>
        <p:txBody>
          <a:bodyPr wrap="square" lIns="0" tIns="0" rIns="0" bIns="0" rtlCol="0" anchor="t"/>
          <a:lstStyle/>
          <a:p>
            <a:pPr indent="0" marL="0">
              <a:lnSpc>
                <a:spcPts val="1450"/>
              </a:lnSpc>
              <a:buNone/>
            </a:pPr>
            <a:r>
              <a:rPr lang="en-US" sz="1100" dirty="0">
                <a:solidFill>
                  <a:srgbClr val="1B2B36"/>
                </a:solidFill>
                <a:latin typeface="Calibri" pitchFamily="34" charset="0"/>
                <a:ea typeface="Calibri" pitchFamily="34" charset="-122"/>
                <a:cs typeface="Calibri" pitchFamily="34" charset="-120"/>
              </a:rPr>
              <a:t>Drive or local storage · .env · Colab Secrets</a:t>
            </a:r>
            <a:endParaRPr lang="en-US" sz="1100" dirty="0"/>
          </a:p>
        </p:txBody>
      </p:sp>
      <p:sp>
        <p:nvSpPr>
          <p:cNvPr id="43" name="Shape 41"/>
          <p:cNvSpPr/>
          <p:nvPr/>
        </p:nvSpPr>
        <p:spPr>
          <a:xfrm>
            <a:off x="640080" y="5029200"/>
            <a:ext cx="10908792" cy="822960"/>
          </a:xfrm>
          <a:prstGeom prst="roundRect">
            <a:avLst>
              <a:gd name="adj" fmla="val 6667"/>
            </a:avLst>
          </a:prstGeom>
          <a:solidFill>
            <a:srgbClr val="DFEEE5"/>
          </a:solidFill>
          <a:ln w="9525">
            <a:solidFill>
              <a:srgbClr val="1F5F3C"/>
            </a:solidFill>
            <a:prstDash val="solid"/>
          </a:ln>
        </p:spPr>
      </p:sp>
      <p:sp>
        <p:nvSpPr>
          <p:cNvPr id="44" name="Text 42"/>
          <p:cNvSpPr/>
          <p:nvPr/>
        </p:nvSpPr>
        <p:spPr>
          <a:xfrm>
            <a:off x="859536" y="5120640"/>
            <a:ext cx="10469880" cy="640080"/>
          </a:xfrm>
          <a:prstGeom prst="rect">
            <a:avLst/>
          </a:prstGeom>
          <a:noFill/>
          <a:ln/>
        </p:spPr>
        <p:txBody>
          <a:bodyPr wrap="square" lIns="0" tIns="0" rIns="0" bIns="0" rtlCol="0" anchor="ctr"/>
          <a:lstStyle/>
          <a:p>
            <a:pPr indent="0" marL="0">
              <a:lnSpc>
                <a:spcPts val="1680"/>
              </a:lnSpc>
              <a:buNone/>
            </a:pPr>
            <a:r>
              <a:rPr lang="en-US" sz="1200" b="1" dirty="0">
                <a:solidFill>
                  <a:srgbClr val="1F5F3C"/>
                </a:solidFill>
                <a:latin typeface="Calibri" pitchFamily="34" charset="0"/>
                <a:ea typeface="Calibri" pitchFamily="34" charset="-122"/>
                <a:cs typeface="Calibri" pitchFamily="34" charset="-120"/>
              </a:rPr>
              <a:t>Order of attack:  </a:t>
            </a:r>
            <a:pPr indent="0" marL="0">
              <a:lnSpc>
                <a:spcPts val="1680"/>
              </a:lnSpc>
              <a:buNone/>
            </a:pPr>
            <a:r>
              <a:rPr lang="en-US" sz="1200" dirty="0">
                <a:solidFill>
                  <a:srgbClr val="12202B"/>
                </a:solidFill>
                <a:latin typeface="Calibri" pitchFamily="34" charset="0"/>
                <a:ea typeface="Calibri" pitchFamily="34" charset="-122"/>
                <a:cs typeface="Calibri" pitchFamily="34" charset="-120"/>
              </a:rPr>
              <a:t>one through three are your day-to-day workspace and everything else assumes them — get those working before anything else. Four is the security lab and can wait until you need it. Five is how your code reaches a model. Six is the one that is easy to defer and expensive to get wrong.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02B"/>
        </a:solidFill>
      </p:bgPr>
    </p:bg>
    <p:spTree>
      <p:nvGrpSpPr>
        <p:cNvPr id="1" name=""/>
        <p:cNvGrpSpPr/>
        <p:nvPr/>
      </p:nvGrpSpPr>
      <p:grpSpPr>
        <a:xfrm>
          <a:off x="0" y="0"/>
          <a:ext cx="0" cy="0"/>
          <a:chOff x="0" y="0"/>
          <a:chExt cx="0" cy="0"/>
        </a:xfrm>
      </p:grpSpPr>
      <p:sp>
        <p:nvSpPr>
          <p:cNvPr id="2" name="Text 0"/>
          <p:cNvSpPr/>
          <p:nvPr/>
        </p:nvSpPr>
        <p:spPr>
          <a:xfrm>
            <a:off x="640080" y="1417320"/>
            <a:ext cx="6766560" cy="274320"/>
          </a:xfrm>
          <a:prstGeom prst="rect">
            <a:avLst/>
          </a:prstGeom>
          <a:noFill/>
          <a:ln/>
        </p:spPr>
        <p:txBody>
          <a:bodyPr wrap="square" lIns="0" tIns="0" rIns="0" bIns="0" rtlCol="0" anchor="ctr"/>
          <a:lstStyle/>
          <a:p>
            <a:pPr indent="0" marL="0">
              <a:buNone/>
            </a:pPr>
            <a:r>
              <a:rPr lang="en-US" sz="1100" b="1" spc="220" kern="0" dirty="0">
                <a:solidFill>
                  <a:srgbClr val="4E9A6E"/>
                </a:solidFill>
                <a:latin typeface="Calibri" pitchFamily="34" charset="0"/>
                <a:ea typeface="Calibri" pitchFamily="34" charset="-122"/>
                <a:cs typeface="Calibri" pitchFamily="34" charset="-120"/>
              </a:rPr>
              <a:t>PART 2</a:t>
            </a:r>
            <a:endParaRPr lang="en-US" sz="1100" dirty="0"/>
          </a:p>
        </p:txBody>
      </p:sp>
      <p:sp>
        <p:nvSpPr>
          <p:cNvPr id="3" name="Text 1"/>
          <p:cNvSpPr/>
          <p:nvPr/>
        </p:nvSpPr>
        <p:spPr>
          <a:xfrm>
            <a:off x="640080" y="1783080"/>
            <a:ext cx="6766560" cy="11887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Set Up Locally</a:t>
            </a:r>
            <a:endParaRPr lang="en-US" sz="3800" dirty="0"/>
          </a:p>
        </p:txBody>
      </p:sp>
      <p:sp>
        <p:nvSpPr>
          <p:cNvPr id="4" name="Text 2"/>
          <p:cNvSpPr/>
          <p:nvPr/>
        </p:nvSpPr>
        <p:spPr>
          <a:xfrm>
            <a:off x="640080" y="3127248"/>
            <a:ext cx="6309360" cy="1097280"/>
          </a:xfrm>
          <a:prstGeom prst="rect">
            <a:avLst/>
          </a:prstGeom>
          <a:noFill/>
          <a:ln/>
        </p:spPr>
        <p:txBody>
          <a:bodyPr wrap="square" lIns="0" tIns="0" rIns="0" bIns="0" rtlCol="0" anchor="t"/>
          <a:lstStyle/>
          <a:p>
            <a:pPr indent="0" marL="0">
              <a:lnSpc>
                <a:spcPts val="2200"/>
              </a:lnSpc>
              <a:buNone/>
            </a:pPr>
            <a:r>
              <a:rPr lang="en-US" sz="1450" dirty="0">
                <a:solidFill>
                  <a:srgbClr val="9FB8C6"/>
                </a:solidFill>
                <a:latin typeface="Calibri" pitchFamily="34" charset="0"/>
                <a:ea typeface="Calibri" pitchFamily="34" charset="-122"/>
                <a:cs typeface="Calibri" pitchFamily="34" charset="-120"/>
              </a:rPr>
              <a:t>The required Lab A path — editor, notebooks, version control, secrets, model access, and the isolated security lab.</a:t>
            </a:r>
            <a:endParaRPr lang="en-US" sz="1450" dirty="0"/>
          </a:p>
        </p:txBody>
      </p:sp>
      <p:sp>
        <p:nvSpPr>
          <p:cNvPr id="5" name="Text 3"/>
          <p:cNvSpPr/>
          <p:nvPr/>
        </p:nvSpPr>
        <p:spPr>
          <a:xfrm>
            <a:off x="7818120" y="1033272"/>
            <a:ext cx="3749040" cy="237744"/>
          </a:xfrm>
          <a:prstGeom prst="rect">
            <a:avLst/>
          </a:prstGeom>
          <a:noFill/>
          <a:ln/>
        </p:spPr>
        <p:txBody>
          <a:bodyPr wrap="square" lIns="0" tIns="0" rIns="0" bIns="0" rtlCol="0" anchor="ctr"/>
          <a:lstStyle/>
          <a:p>
            <a:pPr indent="0" marL="0">
              <a:buNone/>
            </a:pPr>
            <a:r>
              <a:rPr lang="en-US" sz="950" b="1" spc="160" kern="0" dirty="0">
                <a:solidFill>
                  <a:srgbClr val="9FB8C6"/>
                </a:solidFill>
                <a:latin typeface="Calibri" pitchFamily="34" charset="0"/>
                <a:ea typeface="Calibri" pitchFamily="34" charset="-122"/>
                <a:cs typeface="Calibri" pitchFamily="34" charset="-120"/>
              </a:rPr>
              <a:t>MODULE MAP</a:t>
            </a:r>
            <a:endParaRPr lang="en-US" sz="950" dirty="0"/>
          </a:p>
        </p:txBody>
      </p:sp>
      <p:sp>
        <p:nvSpPr>
          <p:cNvPr id="6" name="Shape 4"/>
          <p:cNvSpPr/>
          <p:nvPr/>
        </p:nvSpPr>
        <p:spPr>
          <a:xfrm>
            <a:off x="7818120" y="1527048"/>
            <a:ext cx="182880" cy="182880"/>
          </a:xfrm>
          <a:prstGeom prst="ellipse">
            <a:avLst/>
          </a:prstGeom>
          <a:solidFill>
            <a:srgbClr val="1D3444"/>
          </a:solidFill>
          <a:ln w="12700">
            <a:solidFill>
              <a:srgbClr val="3A5566"/>
            </a:solidFill>
            <a:prstDash val="solid"/>
          </a:ln>
        </p:spPr>
      </p:sp>
      <p:sp>
        <p:nvSpPr>
          <p:cNvPr id="7" name="Text 5"/>
          <p:cNvSpPr/>
          <p:nvPr/>
        </p:nvSpPr>
        <p:spPr>
          <a:xfrm>
            <a:off x="8147304" y="1417320"/>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Why Tooling Is a Security Topic</a:t>
            </a:r>
            <a:endParaRPr lang="en-US" sz="1200" dirty="0"/>
          </a:p>
        </p:txBody>
      </p:sp>
      <p:sp>
        <p:nvSpPr>
          <p:cNvPr id="8" name="Shape 6"/>
          <p:cNvSpPr/>
          <p:nvPr/>
        </p:nvSpPr>
        <p:spPr>
          <a:xfrm>
            <a:off x="7818120" y="2185416"/>
            <a:ext cx="182880" cy="182880"/>
          </a:xfrm>
          <a:prstGeom prst="ellipse">
            <a:avLst/>
          </a:prstGeom>
          <a:solidFill>
            <a:srgbClr val="4E9A6E"/>
          </a:solidFill>
          <a:ln w="12700">
            <a:solidFill>
              <a:srgbClr val="4E9A6E"/>
            </a:solidFill>
            <a:prstDash val="solid"/>
          </a:ln>
        </p:spPr>
      </p:sp>
      <p:sp>
        <p:nvSpPr>
          <p:cNvPr id="9" name="Text 7"/>
          <p:cNvSpPr/>
          <p:nvPr/>
        </p:nvSpPr>
        <p:spPr>
          <a:xfrm>
            <a:off x="8147304" y="2075688"/>
            <a:ext cx="342900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Set Up Locally</a:t>
            </a:r>
            <a:endParaRPr lang="en-US" sz="1300" dirty="0"/>
          </a:p>
        </p:txBody>
      </p:sp>
      <p:sp>
        <p:nvSpPr>
          <p:cNvPr id="10" name="Shape 8"/>
          <p:cNvSpPr/>
          <p:nvPr/>
        </p:nvSpPr>
        <p:spPr>
          <a:xfrm>
            <a:off x="7818120" y="2843784"/>
            <a:ext cx="182880" cy="182880"/>
          </a:xfrm>
          <a:prstGeom prst="ellipse">
            <a:avLst/>
          </a:prstGeom>
          <a:solidFill>
            <a:srgbClr val="1D3444"/>
          </a:solidFill>
          <a:ln w="12700">
            <a:solidFill>
              <a:srgbClr val="3A5566"/>
            </a:solidFill>
            <a:prstDash val="solid"/>
          </a:ln>
        </p:spPr>
      </p:sp>
      <p:sp>
        <p:nvSpPr>
          <p:cNvPr id="11" name="Text 9"/>
          <p:cNvSpPr/>
          <p:nvPr/>
        </p:nvSpPr>
        <p:spPr>
          <a:xfrm>
            <a:off x="8147304" y="2734056"/>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Your Machine in the Cloud</a:t>
            </a:r>
            <a:endParaRPr lang="en-US" sz="1200" dirty="0"/>
          </a:p>
        </p:txBody>
      </p:sp>
      <p:sp>
        <p:nvSpPr>
          <p:cNvPr id="12" name="Shape 10"/>
          <p:cNvSpPr/>
          <p:nvPr/>
        </p:nvSpPr>
        <p:spPr>
          <a:xfrm>
            <a:off x="7818120" y="3502152"/>
            <a:ext cx="182880" cy="182880"/>
          </a:xfrm>
          <a:prstGeom prst="ellipse">
            <a:avLst/>
          </a:prstGeom>
          <a:solidFill>
            <a:srgbClr val="1D3444"/>
          </a:solidFill>
          <a:ln w="12700">
            <a:solidFill>
              <a:srgbClr val="3A5566"/>
            </a:solidFill>
            <a:prstDash val="solid"/>
          </a:ln>
        </p:spPr>
      </p:sp>
      <p:sp>
        <p:nvSpPr>
          <p:cNvPr id="13" name="Text 11"/>
          <p:cNvSpPr/>
          <p:nvPr/>
        </p:nvSpPr>
        <p:spPr>
          <a:xfrm>
            <a:off x="8147304" y="3392424"/>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Your Environment &amp; the Labs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1F5F3C"/>
                </a:solidFill>
                <a:latin typeface="Calibri" pitchFamily="34" charset="0"/>
                <a:ea typeface="Calibri" pitchFamily="34" charset="-122"/>
                <a:cs typeface="Calibri" pitchFamily="34" charset="-120"/>
              </a:rPr>
              <a:t>PART 2 · SET UP LOCALLY</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Editor and language: VS Code, Python, venv</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One editor for code and notebooks, and one isolated set of packages per project.</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Tools &amp; Environment</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640080" y="1783080"/>
            <a:ext cx="5943600" cy="2395728"/>
          </a:xfrm>
          <a:prstGeom prst="roundRect">
            <a:avLst>
              <a:gd name="adj" fmla="val 2672"/>
            </a:avLst>
          </a:prstGeom>
          <a:solidFill>
            <a:srgbClr val="13221B"/>
          </a:solidFill>
          <a:ln w="12700">
            <a:solidFill>
              <a:srgbClr val="13221B"/>
            </a:solidFill>
            <a:prstDash val="solid"/>
          </a:ln>
          <a:effectLst>
            <a:outerShdw sx="100000" sy="100000" kx="0" ky="0" algn="bl" rotWithShape="0" blurRad="114300" dist="25400" dir="5400000">
              <a:srgbClr val="0B1720">
                <a:alpha val="22000"/>
              </a:srgbClr>
            </a:outerShdw>
          </a:effectLst>
        </p:spPr>
      </p:sp>
      <p:sp>
        <p:nvSpPr>
          <p:cNvPr id="8" name="Text 6"/>
          <p:cNvSpPr/>
          <p:nvPr/>
        </p:nvSpPr>
        <p:spPr>
          <a:xfrm>
            <a:off x="877824" y="1901952"/>
            <a:ext cx="5468112" cy="237744"/>
          </a:xfrm>
          <a:prstGeom prst="rect">
            <a:avLst/>
          </a:prstGeom>
          <a:noFill/>
          <a:ln/>
        </p:spPr>
        <p:txBody>
          <a:bodyPr wrap="square" lIns="0" tIns="0" rIns="0" bIns="0" rtlCol="0" anchor="ctr"/>
          <a:lstStyle/>
          <a:p>
            <a:pPr indent="0" marL="0">
              <a:buNone/>
            </a:pPr>
            <a:r>
              <a:rPr lang="en-US" sz="950" b="1" spc="130" kern="0" dirty="0">
                <a:solidFill>
                  <a:srgbClr val="9FB8C6"/>
                </a:solidFill>
                <a:latin typeface="Calibri" pitchFamily="34" charset="0"/>
                <a:ea typeface="Calibri" pitchFamily="34" charset="-122"/>
                <a:cs typeface="Calibri" pitchFamily="34" charset="-120"/>
              </a:rPr>
              <a:t>Create and use a virtual environment</a:t>
            </a:r>
            <a:endParaRPr lang="en-US" sz="950" dirty="0"/>
          </a:p>
        </p:txBody>
      </p:sp>
      <p:sp>
        <p:nvSpPr>
          <p:cNvPr id="9" name="Text 7"/>
          <p:cNvSpPr/>
          <p:nvPr/>
        </p:nvSpPr>
        <p:spPr>
          <a:xfrm>
            <a:off x="877824" y="2203704"/>
            <a:ext cx="5468112" cy="1828800"/>
          </a:xfrm>
          <a:prstGeom prst="rect">
            <a:avLst/>
          </a:prstGeom>
          <a:noFill/>
          <a:ln/>
        </p:spPr>
        <p:txBody>
          <a:bodyPr wrap="square" lIns="0" tIns="0" rIns="0" bIns="0" rtlCol="0" anchor="t"/>
          <a:lstStyle/>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python3 -m venv .venv          </a:t>
            </a:r>
            <a:pPr indent="0" marL="0">
              <a:lnSpc>
                <a:spcPts val="1500"/>
              </a:lnSpc>
              <a:buNone/>
            </a:pPr>
            <a:r>
              <a:rPr lang="en-US" sz="1000" dirty="0">
                <a:solidFill>
                  <a:srgbClr val="76909F"/>
                </a:solidFill>
                <a:latin typeface="Courier New" pitchFamily="34" charset="0"/>
                <a:ea typeface="Courier New" pitchFamily="34" charset="-122"/>
                <a:cs typeface="Courier New" pitchFamily="34" charset="-120"/>
              </a:rPr>
              <a:t># one per project, in the project folder</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source .venv/bin/activate      </a:t>
            </a:r>
            <a:pPr indent="0" marL="0">
              <a:lnSpc>
                <a:spcPts val="1500"/>
              </a:lnSpc>
              <a:buNone/>
            </a:pPr>
            <a:r>
              <a:rPr lang="en-US" sz="1000" dirty="0">
                <a:solidFill>
                  <a:srgbClr val="76909F"/>
                </a:solidFill>
                <a:latin typeface="Courier New" pitchFamily="34" charset="0"/>
                <a:ea typeface="Courier New" pitchFamily="34" charset="-122"/>
                <a:cs typeface="Courier New" pitchFamily="34" charset="-120"/>
              </a:rPr>
              <a:t># Windows: .venv\Scripts\activate</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pip install openai python-dotenv pandas jupyter</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pip freeze &gt; requirements.txt  </a:t>
            </a:r>
            <a:pPr indent="0" marL="0">
              <a:lnSpc>
                <a:spcPts val="1500"/>
              </a:lnSpc>
              <a:buNone/>
            </a:pPr>
            <a:r>
              <a:rPr lang="en-US" sz="1000" dirty="0">
                <a:solidFill>
                  <a:srgbClr val="76909F"/>
                </a:solidFill>
                <a:latin typeface="Courier New" pitchFamily="34" charset="0"/>
                <a:ea typeface="Courier New" pitchFamily="34" charset="-122"/>
                <a:cs typeface="Courier New" pitchFamily="34" charset="-120"/>
              </a:rPr>
              <a:t># so someone else can reproduce this</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a:t>
            </a:r>
            <a:endParaRPr lang="en-US" sz="1000" dirty="0"/>
          </a:p>
          <a:p>
            <a:pPr indent="0" marL="0">
              <a:lnSpc>
                <a:spcPts val="1500"/>
              </a:lnSpc>
              <a:buNone/>
            </a:pPr>
            <a:r>
              <a:rPr lang="en-US" sz="1000" dirty="0">
                <a:solidFill>
                  <a:srgbClr val="76909F"/>
                </a:solidFill>
                <a:latin typeface="Courier New" pitchFamily="34" charset="0"/>
                <a:ea typeface="Courier New" pitchFamily="34" charset="-122"/>
                <a:cs typeface="Courier New" pitchFamily="34" charset="-120"/>
              </a:rPr>
              <a:t># In VS Code: Ctrl/Cmd+Shift+P -&gt; "Python: Select Interpreter"</a:t>
            </a:r>
            <a:endParaRPr lang="en-US" sz="1000" dirty="0"/>
          </a:p>
          <a:p>
            <a:pPr indent="0" marL="0">
              <a:lnSpc>
                <a:spcPts val="1500"/>
              </a:lnSpc>
              <a:buNone/>
            </a:pPr>
            <a:r>
              <a:rPr lang="en-US" sz="1000" dirty="0">
                <a:solidFill>
                  <a:srgbClr val="76909F"/>
                </a:solidFill>
                <a:latin typeface="Courier New" pitchFamily="34" charset="0"/>
                <a:ea typeface="Courier New" pitchFamily="34" charset="-122"/>
                <a:cs typeface="Courier New" pitchFamily="34" charset="-120"/>
              </a:rPr>
              <a:t>#   -&gt; choose the one inside .venv</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0" y="1783080"/>
          <a:ext cx="4690872" cy="914400"/>
        </p:xfrm>
        <a:graphic>
          <a:graphicData uri="http://schemas.openxmlformats.org/drawingml/2006/table">
            <a:tbl>
              <a:tblPr/>
              <a:tblGrid>
                <a:gridCol w="1828800"/>
                <a:gridCol w="286207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Install</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VS Code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One editor for scripts and notebooks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Python 3</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The language everything here is written in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Python extension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Interpreter selection, linting, debugging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Jupyter extension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Run .ipynb notebooks inside the editor</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
        <p:nvSpPr>
          <p:cNvPr id="11" name="Shape 8"/>
          <p:cNvSpPr/>
          <p:nvPr/>
        </p:nvSpPr>
        <p:spPr>
          <a:xfrm>
            <a:off x="6858000" y="3931920"/>
            <a:ext cx="4690872" cy="1463040"/>
          </a:xfrm>
          <a:prstGeom prst="roundRect">
            <a:avLst>
              <a:gd name="adj" fmla="val 3750"/>
            </a:avLst>
          </a:prstGeom>
          <a:solidFill>
            <a:srgbClr val="F7E5E8"/>
          </a:solidFill>
          <a:ln w="9525">
            <a:solidFill>
              <a:srgbClr val="A4243B"/>
            </a:solidFill>
            <a:prstDash val="solid"/>
          </a:ln>
        </p:spPr>
      </p:sp>
      <p:sp>
        <p:nvSpPr>
          <p:cNvPr id="12" name="Text 9"/>
          <p:cNvSpPr/>
          <p:nvPr/>
        </p:nvSpPr>
        <p:spPr>
          <a:xfrm>
            <a:off x="7077456" y="4023360"/>
            <a:ext cx="4251960" cy="1280160"/>
          </a:xfrm>
          <a:prstGeom prst="rect">
            <a:avLst/>
          </a:prstGeom>
          <a:noFill/>
          <a:ln/>
        </p:spPr>
        <p:txBody>
          <a:bodyPr wrap="square" lIns="0" tIns="0" rIns="0" bIns="0" rtlCol="0" anchor="ctr"/>
          <a:lstStyle/>
          <a:p>
            <a:pPr indent="0" marL="0">
              <a:lnSpc>
                <a:spcPts val="1540"/>
              </a:lnSpc>
              <a:buNone/>
            </a:pPr>
            <a:r>
              <a:rPr lang="en-US" sz="1100" b="1" dirty="0">
                <a:solidFill>
                  <a:srgbClr val="A4243B"/>
                </a:solidFill>
                <a:latin typeface="Calibri" pitchFamily="34" charset="0"/>
                <a:ea typeface="Calibri" pitchFamily="34" charset="-122"/>
                <a:cs typeface="Calibri" pitchFamily="34" charset="-120"/>
              </a:rPr>
              <a:t>The error you will hit: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"ModuleNotFoundError" for a package you just installed almost always means VS Code is using the system interpreter, not your venv. Check the interpreter shown in the status bar first.</a:t>
            </a:r>
            <a:endParaRPr lang="en-US" sz="11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40080" y="4370832"/>
          <a:ext cx="5943600" cy="914400"/>
        </p:xfrm>
        <a:graphic>
          <a:graphicData uri="http://schemas.openxmlformats.org/drawingml/2006/table">
            <a:tbl>
              <a:tblPr/>
              <a:tblGrid>
                <a:gridCol w="1737360"/>
                <a:gridCol w="4206240"/>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Use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For</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Notebooks (.ipynb)</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Exploring, showing your work cell by cell, lab submissions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Scripts (.py)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Anything you run repeatedly, or ship as an application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1F5F3C"/>
                </a:solidFill>
                <a:latin typeface="Calibri" pitchFamily="34" charset="0"/>
                <a:ea typeface="Calibri" pitchFamily="34" charset="-122"/>
                <a:cs typeface="Calibri" pitchFamily="34" charset="-120"/>
              </a:rPr>
              <a:t>PART 2 · SET UP LOCALLY</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Notebooks in the cloud: Colab and Drive</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Free, hosted, a GPU one menu away — and everything on the session disk disappears.</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Tools &amp; Environment</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640080" y="1828800"/>
            <a:ext cx="3200400" cy="1325880"/>
          </a:xfrm>
          <a:prstGeom prst="roundRect">
            <a:avLst>
              <a:gd name="adj" fmla="val 4138"/>
            </a:avLst>
          </a:prstGeom>
          <a:solidFill>
            <a:srgbClr val="F1F5F8"/>
          </a:solidFill>
          <a:ln w="15875">
            <a:solidFill>
              <a:srgbClr val="1F5F3C"/>
            </a:solidFill>
            <a:prstDash val="solid"/>
          </a:ln>
        </p:spPr>
      </p:sp>
      <p:sp>
        <p:nvSpPr>
          <p:cNvPr id="8" name="Text 6"/>
          <p:cNvSpPr/>
          <p:nvPr/>
        </p:nvSpPr>
        <p:spPr>
          <a:xfrm>
            <a:off x="694944" y="1911096"/>
            <a:ext cx="3090672" cy="292608"/>
          </a:xfrm>
          <a:prstGeom prst="rect">
            <a:avLst/>
          </a:prstGeom>
          <a:noFill/>
          <a:ln/>
        </p:spPr>
        <p:txBody>
          <a:bodyPr wrap="square" lIns="0" tIns="0" rIns="0" bIns="0" rtlCol="0" anchor="ctr"/>
          <a:lstStyle/>
          <a:p>
            <a:pPr algn="ctr" indent="0" marL="0">
              <a:buNone/>
            </a:pPr>
            <a:r>
              <a:rPr lang="en-US" sz="1300" b="1" dirty="0">
                <a:solidFill>
                  <a:srgbClr val="12202B"/>
                </a:solidFill>
                <a:latin typeface="Calibri" pitchFamily="34" charset="0"/>
                <a:ea typeface="Calibri" pitchFamily="34" charset="-122"/>
                <a:cs typeface="Calibri" pitchFamily="34" charset="-120"/>
              </a:rPr>
              <a:t>Colab session</a:t>
            </a:r>
            <a:endParaRPr lang="en-US" sz="1300" dirty="0"/>
          </a:p>
        </p:txBody>
      </p:sp>
      <p:sp>
        <p:nvSpPr>
          <p:cNvPr id="9" name="Text 7"/>
          <p:cNvSpPr/>
          <p:nvPr/>
        </p:nvSpPr>
        <p:spPr>
          <a:xfrm>
            <a:off x="694944" y="2176272"/>
            <a:ext cx="3090672" cy="92354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a container Google gives you</a:t>
            </a:r>
            <a:endParaRPr lang="en-US" sz="950" dirty="0"/>
          </a:p>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RAM, CPU, optionally a GPU</a:t>
            </a:r>
            <a:endParaRPr lang="en-US" sz="950" dirty="0"/>
          </a:p>
        </p:txBody>
      </p:sp>
      <p:sp>
        <p:nvSpPr>
          <p:cNvPr id="10" name="Shape 8"/>
          <p:cNvSpPr/>
          <p:nvPr/>
        </p:nvSpPr>
        <p:spPr>
          <a:xfrm>
            <a:off x="640080" y="3310128"/>
            <a:ext cx="3200400" cy="960120"/>
          </a:xfrm>
          <a:prstGeom prst="roundRect">
            <a:avLst>
              <a:gd name="adj" fmla="val 5714"/>
            </a:avLst>
          </a:prstGeom>
          <a:solidFill>
            <a:srgbClr val="F7E5E8"/>
          </a:solidFill>
          <a:ln w="15875">
            <a:solidFill>
              <a:srgbClr val="A4243B"/>
            </a:solidFill>
            <a:prstDash val="solid"/>
          </a:ln>
        </p:spPr>
      </p:sp>
      <p:sp>
        <p:nvSpPr>
          <p:cNvPr id="11" name="Text 9"/>
          <p:cNvSpPr/>
          <p:nvPr/>
        </p:nvSpPr>
        <p:spPr>
          <a:xfrm>
            <a:off x="694944" y="3392424"/>
            <a:ext cx="3090672" cy="292608"/>
          </a:xfrm>
          <a:prstGeom prst="rect">
            <a:avLst/>
          </a:prstGeom>
          <a:noFill/>
          <a:ln/>
        </p:spPr>
        <p:txBody>
          <a:bodyPr wrap="square" lIns="0" tIns="0" rIns="0" bIns="0" rtlCol="0" anchor="ctr"/>
          <a:lstStyle/>
          <a:p>
            <a:pPr algn="ctr" indent="0" marL="0">
              <a:buNone/>
            </a:pPr>
            <a:r>
              <a:rPr lang="en-US" sz="1200" b="1" dirty="0">
                <a:solidFill>
                  <a:srgbClr val="A4243B"/>
                </a:solidFill>
                <a:latin typeface="Calibri" pitchFamily="34" charset="0"/>
                <a:ea typeface="Calibri" pitchFamily="34" charset="-122"/>
                <a:cs typeface="Calibri" pitchFamily="34" charset="-120"/>
              </a:rPr>
              <a:t>Session disk</a:t>
            </a:r>
            <a:endParaRPr lang="en-US" sz="1200" dirty="0"/>
          </a:p>
        </p:txBody>
      </p:sp>
      <p:sp>
        <p:nvSpPr>
          <p:cNvPr id="12" name="Text 10"/>
          <p:cNvSpPr/>
          <p:nvPr/>
        </p:nvSpPr>
        <p:spPr>
          <a:xfrm>
            <a:off x="694944" y="3657600"/>
            <a:ext cx="3090672" cy="557784"/>
          </a:xfrm>
          <a:prstGeom prst="rect">
            <a:avLst/>
          </a:prstGeom>
          <a:noFill/>
          <a:ln/>
        </p:spPr>
        <p:txBody>
          <a:bodyPr wrap="square" lIns="0" tIns="0" rIns="0" bIns="0" rtlCol="0" anchor="t"/>
          <a:lstStyle/>
          <a:p>
            <a:pPr algn="ctr" indent="0" marL="0">
              <a:lnSpc>
                <a:spcPts val="1200"/>
              </a:lnSpc>
              <a:buNone/>
            </a:pPr>
            <a:r>
              <a:rPr lang="en-US" sz="950" dirty="0">
                <a:solidFill>
                  <a:srgbClr val="A4243B"/>
                </a:solidFill>
                <a:latin typeface="Calibri" pitchFamily="34" charset="0"/>
                <a:ea typeface="Calibri" pitchFamily="34" charset="-122"/>
                <a:cs typeface="Calibri" pitchFamily="34" charset="-120"/>
              </a:rPr>
              <a:t>wiped on idle disconnect</a:t>
            </a:r>
            <a:endParaRPr lang="en-US" sz="950" dirty="0"/>
          </a:p>
        </p:txBody>
      </p:sp>
      <p:sp>
        <p:nvSpPr>
          <p:cNvPr id="13" name="Shape 11"/>
          <p:cNvSpPr/>
          <p:nvPr/>
        </p:nvSpPr>
        <p:spPr>
          <a:xfrm>
            <a:off x="2240280" y="3154680"/>
            <a:ext cx="0" cy="155448"/>
          </a:xfrm>
          <a:prstGeom prst="line">
            <a:avLst/>
          </a:prstGeom>
          <a:noFill/>
          <a:ln w="15875">
            <a:solidFill>
              <a:srgbClr val="C9D8E0"/>
            </a:solidFill>
            <a:prstDash val="solid"/>
            <a:tailEnd type="triangle"/>
          </a:ln>
        </p:spPr>
      </p:sp>
      <p:sp>
        <p:nvSpPr>
          <p:cNvPr id="14" name="Shape 12"/>
          <p:cNvSpPr/>
          <p:nvPr/>
        </p:nvSpPr>
        <p:spPr>
          <a:xfrm>
            <a:off x="3950208" y="2487168"/>
            <a:ext cx="786384" cy="0"/>
          </a:xfrm>
          <a:prstGeom prst="line">
            <a:avLst/>
          </a:prstGeom>
          <a:noFill/>
          <a:ln w="22225">
            <a:solidFill>
              <a:srgbClr val="4E9A6E"/>
            </a:solidFill>
            <a:prstDash val="solid"/>
            <a:tailEnd type="triangle"/>
          </a:ln>
        </p:spPr>
      </p:sp>
      <p:sp>
        <p:nvSpPr>
          <p:cNvPr id="15" name="Text 13"/>
          <p:cNvSpPr/>
          <p:nvPr/>
        </p:nvSpPr>
        <p:spPr>
          <a:xfrm>
            <a:off x="3785616" y="2176272"/>
            <a:ext cx="1115568" cy="237744"/>
          </a:xfrm>
          <a:prstGeom prst="rect">
            <a:avLst/>
          </a:prstGeom>
          <a:noFill/>
          <a:ln/>
        </p:spPr>
        <p:txBody>
          <a:bodyPr wrap="square" lIns="0" tIns="0" rIns="0" bIns="0" rtlCol="0" anchor="ctr"/>
          <a:lstStyle/>
          <a:p>
            <a:pPr algn="ctr" indent="0" marL="0">
              <a:buNone/>
            </a:pPr>
            <a:r>
              <a:rPr lang="en-US" sz="900" dirty="0">
                <a:solidFill>
                  <a:srgbClr val="5C7383"/>
                </a:solidFill>
                <a:latin typeface="Calibri" pitchFamily="34" charset="0"/>
                <a:ea typeface="Calibri" pitchFamily="34" charset="-122"/>
                <a:cs typeface="Calibri" pitchFamily="34" charset="-120"/>
              </a:rPr>
              <a:t>drive.mount()</a:t>
            </a:r>
            <a:endParaRPr lang="en-US" sz="900" dirty="0"/>
          </a:p>
        </p:txBody>
      </p:sp>
      <p:sp>
        <p:nvSpPr>
          <p:cNvPr id="16" name="Shape 14"/>
          <p:cNvSpPr/>
          <p:nvPr/>
        </p:nvSpPr>
        <p:spPr>
          <a:xfrm>
            <a:off x="4809744" y="1828800"/>
            <a:ext cx="3017520" cy="1325880"/>
          </a:xfrm>
          <a:prstGeom prst="roundRect">
            <a:avLst>
              <a:gd name="adj" fmla="val 4138"/>
            </a:avLst>
          </a:prstGeom>
          <a:solidFill>
            <a:srgbClr val="DFEEE5"/>
          </a:solidFill>
          <a:ln w="15875">
            <a:solidFill>
              <a:srgbClr val="1F5F3C"/>
            </a:solidFill>
            <a:prstDash val="solid"/>
          </a:ln>
        </p:spPr>
      </p:sp>
      <p:sp>
        <p:nvSpPr>
          <p:cNvPr id="17" name="Text 15"/>
          <p:cNvSpPr/>
          <p:nvPr/>
        </p:nvSpPr>
        <p:spPr>
          <a:xfrm>
            <a:off x="4864608" y="1911096"/>
            <a:ext cx="2907792" cy="292608"/>
          </a:xfrm>
          <a:prstGeom prst="rect">
            <a:avLst/>
          </a:prstGeom>
          <a:noFill/>
          <a:ln/>
        </p:spPr>
        <p:txBody>
          <a:bodyPr wrap="square" lIns="0" tIns="0" rIns="0" bIns="0" rtlCol="0" anchor="ctr"/>
          <a:lstStyle/>
          <a:p>
            <a:pPr algn="ctr" indent="0" marL="0">
              <a:buNone/>
            </a:pPr>
            <a:r>
              <a:rPr lang="en-US" sz="1300" b="1" dirty="0">
                <a:solidFill>
                  <a:srgbClr val="12202B"/>
                </a:solidFill>
                <a:latin typeface="Calibri" pitchFamily="34" charset="0"/>
                <a:ea typeface="Calibri" pitchFamily="34" charset="-122"/>
                <a:cs typeface="Calibri" pitchFamily="34" charset="-120"/>
              </a:rPr>
              <a:t>Google Drive</a:t>
            </a:r>
            <a:endParaRPr lang="en-US" sz="1300" dirty="0"/>
          </a:p>
        </p:txBody>
      </p:sp>
      <p:sp>
        <p:nvSpPr>
          <p:cNvPr id="18" name="Text 16"/>
          <p:cNvSpPr/>
          <p:nvPr/>
        </p:nvSpPr>
        <p:spPr>
          <a:xfrm>
            <a:off x="4864608" y="2176272"/>
            <a:ext cx="2907792" cy="92354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persists across sessions</a:t>
            </a:r>
            <a:endParaRPr lang="en-US" sz="950" dirty="0"/>
          </a:p>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your notebooks, data, outputs</a:t>
            </a:r>
            <a:endParaRPr lang="en-US" sz="950" dirty="0"/>
          </a:p>
        </p:txBody>
      </p:sp>
      <p:sp>
        <p:nvSpPr>
          <p:cNvPr id="19" name="Shape 17"/>
          <p:cNvSpPr/>
          <p:nvPr/>
        </p:nvSpPr>
        <p:spPr>
          <a:xfrm>
            <a:off x="640080" y="4535424"/>
            <a:ext cx="7187184" cy="1316736"/>
          </a:xfrm>
          <a:prstGeom prst="roundRect">
            <a:avLst>
              <a:gd name="adj" fmla="val 4861"/>
            </a:avLst>
          </a:prstGeom>
          <a:solidFill>
            <a:srgbClr val="13221B"/>
          </a:solidFill>
          <a:ln w="12700">
            <a:solidFill>
              <a:srgbClr val="13221B"/>
            </a:solidFill>
            <a:prstDash val="solid"/>
          </a:ln>
          <a:effectLst>
            <a:outerShdw sx="100000" sy="100000" kx="0" ky="0" algn="bl" rotWithShape="0" blurRad="114300" dist="25400" dir="5400000">
              <a:srgbClr val="0B1720">
                <a:alpha val="22000"/>
              </a:srgbClr>
            </a:outerShdw>
          </a:effectLst>
        </p:spPr>
      </p:sp>
      <p:sp>
        <p:nvSpPr>
          <p:cNvPr id="20" name="Text 18"/>
          <p:cNvSpPr/>
          <p:nvPr/>
        </p:nvSpPr>
        <p:spPr>
          <a:xfrm>
            <a:off x="877824" y="4654296"/>
            <a:ext cx="6711696" cy="237744"/>
          </a:xfrm>
          <a:prstGeom prst="rect">
            <a:avLst/>
          </a:prstGeom>
          <a:noFill/>
          <a:ln/>
        </p:spPr>
        <p:txBody>
          <a:bodyPr wrap="square" lIns="0" tIns="0" rIns="0" bIns="0" rtlCol="0" anchor="ctr"/>
          <a:lstStyle/>
          <a:p>
            <a:pPr indent="0" marL="0">
              <a:buNone/>
            </a:pPr>
            <a:r>
              <a:rPr lang="en-US" sz="950" b="1" spc="130" kern="0" dirty="0">
                <a:solidFill>
                  <a:srgbClr val="9FB8C6"/>
                </a:solidFill>
                <a:latin typeface="Calibri" pitchFamily="34" charset="0"/>
                <a:ea typeface="Calibri" pitchFamily="34" charset="-122"/>
                <a:cs typeface="Calibri" pitchFamily="34" charset="-120"/>
              </a:rPr>
              <a:t>One line, authorise once</a:t>
            </a:r>
            <a:endParaRPr lang="en-US" sz="950" dirty="0"/>
          </a:p>
        </p:txBody>
      </p:sp>
      <p:sp>
        <p:nvSpPr>
          <p:cNvPr id="21" name="Text 19"/>
          <p:cNvSpPr/>
          <p:nvPr/>
        </p:nvSpPr>
        <p:spPr>
          <a:xfrm>
            <a:off x="877824" y="4956048"/>
            <a:ext cx="6711696" cy="749808"/>
          </a:xfrm>
          <a:prstGeom prst="rect">
            <a:avLst/>
          </a:prstGeom>
          <a:noFill/>
          <a:ln/>
        </p:spPr>
        <p:txBody>
          <a:bodyPr wrap="square" lIns="0" tIns="0" rIns="0" bIns="0" rtlCol="0" anchor="t"/>
          <a:lstStyle/>
          <a:p>
            <a:pPr indent="0" marL="0">
              <a:lnSpc>
                <a:spcPts val="1575"/>
              </a:lnSpc>
              <a:buNone/>
            </a:pPr>
            <a:r>
              <a:rPr lang="en-US" sz="1050" dirty="0">
                <a:solidFill>
                  <a:srgbClr val="8FD6A8"/>
                </a:solidFill>
                <a:latin typeface="Courier New" pitchFamily="34" charset="0"/>
                <a:ea typeface="Courier New" pitchFamily="34" charset="-122"/>
                <a:cs typeface="Courier New" pitchFamily="34" charset="-120"/>
              </a:rPr>
              <a:t>from</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google.colab </a:t>
            </a:r>
            <a:pPr indent="0" marL="0">
              <a:lnSpc>
                <a:spcPts val="1575"/>
              </a:lnSpc>
              <a:buNone/>
            </a:pPr>
            <a:r>
              <a:rPr lang="en-US" sz="1050" dirty="0">
                <a:solidFill>
                  <a:srgbClr val="8FD6A8"/>
                </a:solidFill>
                <a:latin typeface="Courier New" pitchFamily="34" charset="0"/>
                <a:ea typeface="Courier New" pitchFamily="34" charset="-122"/>
                <a:cs typeface="Courier New" pitchFamily="34" charset="-120"/>
              </a:rPr>
              <a:t>import</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drive</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drive.</a:t>
            </a:r>
            <a:pPr indent="0" marL="0">
              <a:lnSpc>
                <a:spcPts val="1575"/>
              </a:lnSpc>
              <a:buNone/>
            </a:pPr>
            <a:r>
              <a:rPr lang="en-US" sz="1050" dirty="0">
                <a:solidFill>
                  <a:srgbClr val="A7C6EE"/>
                </a:solidFill>
                <a:latin typeface="Courier New" pitchFamily="34" charset="0"/>
                <a:ea typeface="Courier New" pitchFamily="34" charset="-122"/>
                <a:cs typeface="Courier New" pitchFamily="34" charset="-120"/>
              </a:rPr>
              <a:t>mount</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a:t>
            </a:r>
            <a:pPr indent="0" marL="0">
              <a:lnSpc>
                <a:spcPts val="1575"/>
              </a:lnSpc>
              <a:buNone/>
            </a:pPr>
            <a:r>
              <a:rPr lang="en-US" sz="1050" dirty="0">
                <a:solidFill>
                  <a:srgbClr val="EBB183"/>
                </a:solidFill>
                <a:latin typeface="Courier New" pitchFamily="34" charset="0"/>
                <a:ea typeface="Courier New" pitchFamily="34" charset="-122"/>
                <a:cs typeface="Courier New" pitchFamily="34" charset="-120"/>
              </a:rPr>
              <a:t>'/content/drive'</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a:t>
            </a:r>
            <a:endParaRPr lang="en-US" sz="1050" dirty="0"/>
          </a:p>
          <a:p>
            <a:pPr indent="0" marL="0">
              <a:lnSpc>
                <a:spcPts val="1575"/>
              </a:lnSpc>
              <a:buNone/>
            </a:pPr>
            <a:r>
              <a:rPr lang="en-US" sz="1050" dirty="0">
                <a:solidFill>
                  <a:srgbClr val="76909F"/>
                </a:solidFill>
                <a:latin typeface="Courier New" pitchFamily="34" charset="0"/>
                <a:ea typeface="Courier New" pitchFamily="34" charset="-122"/>
                <a:cs typeface="Courier New" pitchFamily="34" charset="-120"/>
              </a:rPr>
              <a:t># Drive now appears as a folder you can read and write</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101584" y="1783080"/>
          <a:ext cx="3447288" cy="914400"/>
        </p:xfrm>
        <a:graphic>
          <a:graphicData uri="http://schemas.openxmlformats.org/drawingml/2006/table">
            <a:tbl>
              <a:tblPr/>
              <a:tblGrid>
                <a:gridCol w="1417320"/>
                <a:gridCol w="2029968"/>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Lives where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Survives?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/content/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No — wiped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pip installs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No — reinstall</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/content/drive/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The notebook itself</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Yes, if saved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
        <p:nvSpPr>
          <p:cNvPr id="23" name="Shape 20"/>
          <p:cNvSpPr/>
          <p:nvPr/>
        </p:nvSpPr>
        <p:spPr>
          <a:xfrm>
            <a:off x="8101584" y="3749040"/>
            <a:ext cx="3447288" cy="2103120"/>
          </a:xfrm>
          <a:prstGeom prst="roundRect">
            <a:avLst>
              <a:gd name="adj" fmla="val 2609"/>
            </a:avLst>
          </a:prstGeom>
          <a:solidFill>
            <a:srgbClr val="DFEEE5"/>
          </a:solidFill>
          <a:ln w="9525">
            <a:solidFill>
              <a:srgbClr val="1F5F3C"/>
            </a:solidFill>
            <a:prstDash val="solid"/>
          </a:ln>
        </p:spPr>
      </p:sp>
      <p:sp>
        <p:nvSpPr>
          <p:cNvPr id="24" name="Text 21"/>
          <p:cNvSpPr/>
          <p:nvPr/>
        </p:nvSpPr>
        <p:spPr>
          <a:xfrm>
            <a:off x="8321040" y="3840480"/>
            <a:ext cx="3008376" cy="1920240"/>
          </a:xfrm>
          <a:prstGeom prst="rect">
            <a:avLst/>
          </a:prstGeom>
          <a:noFill/>
          <a:ln/>
        </p:spPr>
        <p:txBody>
          <a:bodyPr wrap="square" lIns="0" tIns="0" rIns="0" bIns="0" rtlCol="0" anchor="ctr"/>
          <a:lstStyle/>
          <a:p>
            <a:pPr indent="0" marL="0">
              <a:lnSpc>
                <a:spcPts val="1540"/>
              </a:lnSpc>
              <a:buNone/>
            </a:pPr>
            <a:r>
              <a:rPr lang="en-US" sz="1100" b="1" dirty="0">
                <a:solidFill>
                  <a:srgbClr val="1F5F3C"/>
                </a:solidFill>
                <a:latin typeface="Calibri" pitchFamily="34" charset="0"/>
                <a:ea typeface="Calibri" pitchFamily="34" charset="-122"/>
                <a:cs typeface="Calibri" pitchFamily="34" charset="-120"/>
              </a:rPr>
              <a:t>Course convention: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mount Drive and keep everything under one folder — Drive/AppliedAI-Sec/ with a subfolder per module. Then a session reset costs you nothing but the reinstall, and your work is in one place when the capstone asks for it.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1F5F3C"/>
                </a:solidFill>
                <a:latin typeface="Calibri" pitchFamily="34" charset="0"/>
                <a:ea typeface="Calibri" pitchFamily="34" charset="-122"/>
                <a:cs typeface="Calibri" pitchFamily="34" charset="-120"/>
              </a:rPr>
              <a:t>PART 2 · SET UP LOCALLY</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Version control: Git and GitHub</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Four states, three commands. That is all you need for this course.</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Tools &amp; Environment</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640080" y="1828800"/>
            <a:ext cx="2487168" cy="914400"/>
          </a:xfrm>
          <a:prstGeom prst="roundRect">
            <a:avLst>
              <a:gd name="adj" fmla="val 6000"/>
            </a:avLst>
          </a:prstGeom>
          <a:solidFill>
            <a:srgbClr val="F1F5F8"/>
          </a:solidFill>
          <a:ln w="15875">
            <a:solidFill>
              <a:srgbClr val="1F5F3C"/>
            </a:solidFill>
            <a:prstDash val="solid"/>
          </a:ln>
        </p:spPr>
      </p:sp>
      <p:sp>
        <p:nvSpPr>
          <p:cNvPr id="8" name="Text 6"/>
          <p:cNvSpPr/>
          <p:nvPr/>
        </p:nvSpPr>
        <p:spPr>
          <a:xfrm>
            <a:off x="694944" y="1911096"/>
            <a:ext cx="2377440"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Working tree</a:t>
            </a:r>
            <a:endParaRPr lang="en-US" sz="1250" dirty="0"/>
          </a:p>
        </p:txBody>
      </p:sp>
      <p:sp>
        <p:nvSpPr>
          <p:cNvPr id="9" name="Text 7"/>
          <p:cNvSpPr/>
          <p:nvPr/>
        </p:nvSpPr>
        <p:spPr>
          <a:xfrm>
            <a:off x="694944" y="2176272"/>
            <a:ext cx="2377440" cy="51206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what you see and edit</a:t>
            </a:r>
            <a:endParaRPr lang="en-US" sz="950" dirty="0"/>
          </a:p>
        </p:txBody>
      </p:sp>
      <p:sp>
        <p:nvSpPr>
          <p:cNvPr id="10" name="Shape 8"/>
          <p:cNvSpPr/>
          <p:nvPr/>
        </p:nvSpPr>
        <p:spPr>
          <a:xfrm>
            <a:off x="3172968" y="2286000"/>
            <a:ext cx="292608" cy="0"/>
          </a:xfrm>
          <a:prstGeom prst="line">
            <a:avLst/>
          </a:prstGeom>
          <a:noFill/>
          <a:ln w="22225">
            <a:solidFill>
              <a:srgbClr val="4E9A6E"/>
            </a:solidFill>
            <a:prstDash val="solid"/>
            <a:tailEnd type="triangle"/>
          </a:ln>
        </p:spPr>
      </p:sp>
      <p:sp>
        <p:nvSpPr>
          <p:cNvPr id="11" name="Text 9"/>
          <p:cNvSpPr/>
          <p:nvPr/>
        </p:nvSpPr>
        <p:spPr>
          <a:xfrm>
            <a:off x="3008376" y="1975104"/>
            <a:ext cx="621792" cy="237744"/>
          </a:xfrm>
          <a:prstGeom prst="rect">
            <a:avLst/>
          </a:prstGeom>
          <a:noFill/>
          <a:ln/>
        </p:spPr>
        <p:txBody>
          <a:bodyPr wrap="square" lIns="0" tIns="0" rIns="0" bIns="0" rtlCol="0" anchor="ctr"/>
          <a:lstStyle/>
          <a:p>
            <a:pPr algn="ctr" indent="0" marL="0">
              <a:buNone/>
            </a:pPr>
            <a:r>
              <a:rPr lang="en-US" sz="900" dirty="0">
                <a:solidFill>
                  <a:srgbClr val="5C7383"/>
                </a:solidFill>
                <a:latin typeface="Calibri" pitchFamily="34" charset="0"/>
                <a:ea typeface="Calibri" pitchFamily="34" charset="-122"/>
                <a:cs typeface="Calibri" pitchFamily="34" charset="-120"/>
              </a:rPr>
              <a:t>git add</a:t>
            </a:r>
            <a:endParaRPr lang="en-US" sz="900" dirty="0"/>
          </a:p>
        </p:txBody>
      </p:sp>
      <p:sp>
        <p:nvSpPr>
          <p:cNvPr id="12" name="Shape 10"/>
          <p:cNvSpPr/>
          <p:nvPr/>
        </p:nvSpPr>
        <p:spPr>
          <a:xfrm>
            <a:off x="3511296" y="1828800"/>
            <a:ext cx="2487168" cy="914400"/>
          </a:xfrm>
          <a:prstGeom prst="roundRect">
            <a:avLst>
              <a:gd name="adj" fmla="val 6000"/>
            </a:avLst>
          </a:prstGeom>
          <a:solidFill>
            <a:srgbClr val="F1F5F8"/>
          </a:solidFill>
          <a:ln w="15875">
            <a:solidFill>
              <a:srgbClr val="1F5F3C"/>
            </a:solidFill>
            <a:prstDash val="solid"/>
          </a:ln>
        </p:spPr>
      </p:sp>
      <p:sp>
        <p:nvSpPr>
          <p:cNvPr id="13" name="Text 11"/>
          <p:cNvSpPr/>
          <p:nvPr/>
        </p:nvSpPr>
        <p:spPr>
          <a:xfrm>
            <a:off x="3566160" y="1911096"/>
            <a:ext cx="2377440"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Staged</a:t>
            </a:r>
            <a:endParaRPr lang="en-US" sz="1250" dirty="0"/>
          </a:p>
        </p:txBody>
      </p:sp>
      <p:sp>
        <p:nvSpPr>
          <p:cNvPr id="14" name="Text 12"/>
          <p:cNvSpPr/>
          <p:nvPr/>
        </p:nvSpPr>
        <p:spPr>
          <a:xfrm>
            <a:off x="3566160" y="2176272"/>
            <a:ext cx="2377440" cy="51206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marked for the next commit</a:t>
            </a:r>
            <a:endParaRPr lang="en-US" sz="950" dirty="0"/>
          </a:p>
        </p:txBody>
      </p:sp>
      <p:sp>
        <p:nvSpPr>
          <p:cNvPr id="15" name="Shape 13"/>
          <p:cNvSpPr/>
          <p:nvPr/>
        </p:nvSpPr>
        <p:spPr>
          <a:xfrm>
            <a:off x="6044184" y="2286000"/>
            <a:ext cx="292608" cy="0"/>
          </a:xfrm>
          <a:prstGeom prst="line">
            <a:avLst/>
          </a:prstGeom>
          <a:noFill/>
          <a:ln w="22225">
            <a:solidFill>
              <a:srgbClr val="4E9A6E"/>
            </a:solidFill>
            <a:prstDash val="solid"/>
            <a:tailEnd type="triangle"/>
          </a:ln>
        </p:spPr>
      </p:sp>
      <p:sp>
        <p:nvSpPr>
          <p:cNvPr id="16" name="Text 14"/>
          <p:cNvSpPr/>
          <p:nvPr/>
        </p:nvSpPr>
        <p:spPr>
          <a:xfrm>
            <a:off x="5879592" y="1975104"/>
            <a:ext cx="621792" cy="237744"/>
          </a:xfrm>
          <a:prstGeom prst="rect">
            <a:avLst/>
          </a:prstGeom>
          <a:noFill/>
          <a:ln/>
        </p:spPr>
        <p:txBody>
          <a:bodyPr wrap="square" lIns="0" tIns="0" rIns="0" bIns="0" rtlCol="0" anchor="ctr"/>
          <a:lstStyle/>
          <a:p>
            <a:pPr algn="ctr" indent="0" marL="0">
              <a:buNone/>
            </a:pPr>
            <a:r>
              <a:rPr lang="en-US" sz="900" dirty="0">
                <a:solidFill>
                  <a:srgbClr val="5C7383"/>
                </a:solidFill>
                <a:latin typeface="Calibri" pitchFamily="34" charset="0"/>
                <a:ea typeface="Calibri" pitchFamily="34" charset="-122"/>
                <a:cs typeface="Calibri" pitchFamily="34" charset="-120"/>
              </a:rPr>
              <a:t>git commit</a:t>
            </a:r>
            <a:endParaRPr lang="en-US" sz="900" dirty="0"/>
          </a:p>
        </p:txBody>
      </p:sp>
      <p:sp>
        <p:nvSpPr>
          <p:cNvPr id="17" name="Shape 15"/>
          <p:cNvSpPr/>
          <p:nvPr/>
        </p:nvSpPr>
        <p:spPr>
          <a:xfrm>
            <a:off x="6382512" y="1828800"/>
            <a:ext cx="2487168" cy="914400"/>
          </a:xfrm>
          <a:prstGeom prst="roundRect">
            <a:avLst>
              <a:gd name="adj" fmla="val 6000"/>
            </a:avLst>
          </a:prstGeom>
          <a:solidFill>
            <a:srgbClr val="F1F5F8"/>
          </a:solidFill>
          <a:ln w="15875">
            <a:solidFill>
              <a:srgbClr val="1F5F3C"/>
            </a:solidFill>
            <a:prstDash val="solid"/>
          </a:ln>
        </p:spPr>
      </p:sp>
      <p:sp>
        <p:nvSpPr>
          <p:cNvPr id="18" name="Text 16"/>
          <p:cNvSpPr/>
          <p:nvPr/>
        </p:nvSpPr>
        <p:spPr>
          <a:xfrm>
            <a:off x="6437376" y="1911096"/>
            <a:ext cx="2377440"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Local history</a:t>
            </a:r>
            <a:endParaRPr lang="en-US" sz="1250" dirty="0"/>
          </a:p>
        </p:txBody>
      </p:sp>
      <p:sp>
        <p:nvSpPr>
          <p:cNvPr id="19" name="Text 17"/>
          <p:cNvSpPr/>
          <p:nvPr/>
        </p:nvSpPr>
        <p:spPr>
          <a:xfrm>
            <a:off x="6437376" y="2176272"/>
            <a:ext cx="2377440" cy="51206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committed on your machine</a:t>
            </a:r>
            <a:endParaRPr lang="en-US" sz="950" dirty="0"/>
          </a:p>
        </p:txBody>
      </p:sp>
      <p:sp>
        <p:nvSpPr>
          <p:cNvPr id="20" name="Shape 18"/>
          <p:cNvSpPr/>
          <p:nvPr/>
        </p:nvSpPr>
        <p:spPr>
          <a:xfrm>
            <a:off x="8915400" y="2286000"/>
            <a:ext cx="292608" cy="0"/>
          </a:xfrm>
          <a:prstGeom prst="line">
            <a:avLst/>
          </a:prstGeom>
          <a:noFill/>
          <a:ln w="22225">
            <a:solidFill>
              <a:srgbClr val="4E9A6E"/>
            </a:solidFill>
            <a:prstDash val="solid"/>
            <a:tailEnd type="triangle"/>
          </a:ln>
        </p:spPr>
      </p:sp>
      <p:sp>
        <p:nvSpPr>
          <p:cNvPr id="21" name="Text 19"/>
          <p:cNvSpPr/>
          <p:nvPr/>
        </p:nvSpPr>
        <p:spPr>
          <a:xfrm>
            <a:off x="8750808" y="1975104"/>
            <a:ext cx="621792" cy="237744"/>
          </a:xfrm>
          <a:prstGeom prst="rect">
            <a:avLst/>
          </a:prstGeom>
          <a:noFill/>
          <a:ln/>
        </p:spPr>
        <p:txBody>
          <a:bodyPr wrap="square" lIns="0" tIns="0" rIns="0" bIns="0" rtlCol="0" anchor="ctr"/>
          <a:lstStyle/>
          <a:p>
            <a:pPr algn="ctr" indent="0" marL="0">
              <a:buNone/>
            </a:pPr>
            <a:r>
              <a:rPr lang="en-US" sz="900" dirty="0">
                <a:solidFill>
                  <a:srgbClr val="5C7383"/>
                </a:solidFill>
                <a:latin typeface="Calibri" pitchFamily="34" charset="0"/>
                <a:ea typeface="Calibri" pitchFamily="34" charset="-122"/>
                <a:cs typeface="Calibri" pitchFamily="34" charset="-120"/>
              </a:rPr>
              <a:t>git push</a:t>
            </a:r>
            <a:endParaRPr lang="en-US" sz="900" dirty="0"/>
          </a:p>
        </p:txBody>
      </p:sp>
      <p:sp>
        <p:nvSpPr>
          <p:cNvPr id="22" name="Shape 20"/>
          <p:cNvSpPr/>
          <p:nvPr/>
        </p:nvSpPr>
        <p:spPr>
          <a:xfrm>
            <a:off x="9253728" y="1828800"/>
            <a:ext cx="2487168" cy="914400"/>
          </a:xfrm>
          <a:prstGeom prst="roundRect">
            <a:avLst>
              <a:gd name="adj" fmla="val 6000"/>
            </a:avLst>
          </a:prstGeom>
          <a:solidFill>
            <a:srgbClr val="DFEEE5"/>
          </a:solidFill>
          <a:ln w="15875">
            <a:solidFill>
              <a:srgbClr val="1F5F3C"/>
            </a:solidFill>
            <a:prstDash val="solid"/>
          </a:ln>
        </p:spPr>
      </p:sp>
      <p:sp>
        <p:nvSpPr>
          <p:cNvPr id="23" name="Text 21"/>
          <p:cNvSpPr/>
          <p:nvPr/>
        </p:nvSpPr>
        <p:spPr>
          <a:xfrm>
            <a:off x="9308592" y="1911096"/>
            <a:ext cx="2377440"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GitHub</a:t>
            </a:r>
            <a:endParaRPr lang="en-US" sz="1250" dirty="0"/>
          </a:p>
        </p:txBody>
      </p:sp>
      <p:sp>
        <p:nvSpPr>
          <p:cNvPr id="24" name="Text 22"/>
          <p:cNvSpPr/>
          <p:nvPr/>
        </p:nvSpPr>
        <p:spPr>
          <a:xfrm>
            <a:off x="9308592" y="2176272"/>
            <a:ext cx="2377440" cy="51206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pushed, and how you submit</a:t>
            </a:r>
            <a:endParaRPr lang="en-US" sz="950" dirty="0"/>
          </a:p>
        </p:txBody>
      </p:sp>
      <p:sp>
        <p:nvSpPr>
          <p:cNvPr id="25" name="Shape 23"/>
          <p:cNvSpPr/>
          <p:nvPr/>
        </p:nvSpPr>
        <p:spPr>
          <a:xfrm>
            <a:off x="640080" y="2999232"/>
            <a:ext cx="5943600" cy="1883664"/>
          </a:xfrm>
          <a:prstGeom prst="roundRect">
            <a:avLst>
              <a:gd name="adj" fmla="val 3398"/>
            </a:avLst>
          </a:prstGeom>
          <a:solidFill>
            <a:srgbClr val="13221B"/>
          </a:solidFill>
          <a:ln w="12700">
            <a:solidFill>
              <a:srgbClr val="13221B"/>
            </a:solidFill>
            <a:prstDash val="solid"/>
          </a:ln>
          <a:effectLst>
            <a:outerShdw sx="100000" sy="100000" kx="0" ky="0" algn="bl" rotWithShape="0" blurRad="114300" dist="25400" dir="5400000">
              <a:srgbClr val="0B1720">
                <a:alpha val="22000"/>
              </a:srgbClr>
            </a:outerShdw>
          </a:effectLst>
        </p:spPr>
      </p:sp>
      <p:sp>
        <p:nvSpPr>
          <p:cNvPr id="26" name="Text 24"/>
          <p:cNvSpPr/>
          <p:nvPr/>
        </p:nvSpPr>
        <p:spPr>
          <a:xfrm>
            <a:off x="877824" y="3118104"/>
            <a:ext cx="5468112" cy="237744"/>
          </a:xfrm>
          <a:prstGeom prst="rect">
            <a:avLst/>
          </a:prstGeom>
          <a:noFill/>
          <a:ln/>
        </p:spPr>
        <p:txBody>
          <a:bodyPr wrap="square" lIns="0" tIns="0" rIns="0" bIns="0" rtlCol="0" anchor="ctr"/>
          <a:lstStyle/>
          <a:p>
            <a:pPr indent="0" marL="0">
              <a:buNone/>
            </a:pPr>
            <a:r>
              <a:rPr lang="en-US" sz="950" b="1" spc="130" kern="0" dirty="0">
                <a:solidFill>
                  <a:srgbClr val="9FB8C6"/>
                </a:solidFill>
                <a:latin typeface="Calibri" pitchFamily="34" charset="0"/>
                <a:ea typeface="Calibri" pitchFamily="34" charset="-122"/>
                <a:cs typeface="Calibri" pitchFamily="34" charset="-120"/>
              </a:rPr>
              <a:t>The whole workflow, once per work session</a:t>
            </a:r>
            <a:endParaRPr lang="en-US" sz="950" dirty="0"/>
          </a:p>
        </p:txBody>
      </p:sp>
      <p:sp>
        <p:nvSpPr>
          <p:cNvPr id="27" name="Text 25"/>
          <p:cNvSpPr/>
          <p:nvPr/>
        </p:nvSpPr>
        <p:spPr>
          <a:xfrm>
            <a:off x="877824" y="3419856"/>
            <a:ext cx="5468112" cy="1316736"/>
          </a:xfrm>
          <a:prstGeom prst="rect">
            <a:avLst/>
          </a:prstGeom>
          <a:noFill/>
          <a:ln/>
        </p:spPr>
        <p:txBody>
          <a:bodyPr wrap="square" lIns="0" tIns="0" rIns="0" bIns="0" rtlCol="0" anchor="t"/>
          <a:lstStyle/>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git status                     </a:t>
            </a:r>
            <a:pPr indent="0" marL="0">
              <a:lnSpc>
                <a:spcPts val="1500"/>
              </a:lnSpc>
              <a:buNone/>
            </a:pPr>
            <a:r>
              <a:rPr lang="en-US" sz="1000" dirty="0">
                <a:solidFill>
                  <a:srgbClr val="76909F"/>
                </a:solidFill>
                <a:latin typeface="Courier New" pitchFamily="34" charset="0"/>
                <a:ea typeface="Courier New" pitchFamily="34" charset="-122"/>
                <a:cs typeface="Courier New" pitchFamily="34" charset="-120"/>
              </a:rPr>
              <a:t># what changed?</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git add module2/lab_a.ipynb    </a:t>
            </a:r>
            <a:pPr indent="0" marL="0">
              <a:lnSpc>
                <a:spcPts val="1500"/>
              </a:lnSpc>
              <a:buNone/>
            </a:pPr>
            <a:r>
              <a:rPr lang="en-US" sz="1000" dirty="0">
                <a:solidFill>
                  <a:srgbClr val="76909F"/>
                </a:solidFill>
                <a:latin typeface="Courier New" pitchFamily="34" charset="0"/>
                <a:ea typeface="Courier New" pitchFamily="34" charset="-122"/>
                <a:cs typeface="Courier New" pitchFamily="34" charset="-120"/>
              </a:rPr>
              <a:t># stage just what you mean to commit</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git commit -m </a:t>
            </a:r>
            <a:pPr indent="0" marL="0">
              <a:lnSpc>
                <a:spcPts val="1500"/>
              </a:lnSpc>
              <a:buNone/>
            </a:pPr>
            <a:r>
              <a:rPr lang="en-US" sz="1000" dirty="0">
                <a:solidFill>
                  <a:srgbClr val="EBB183"/>
                </a:solidFill>
                <a:latin typeface="Courier New" pitchFamily="34" charset="0"/>
                <a:ea typeface="Courier New" pitchFamily="34" charset="-122"/>
                <a:cs typeface="Courier New" pitchFamily="34" charset="-120"/>
              </a:rPr>
              <a:t>"Lab A: environment verified locally and in Colab"</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git push                       </a:t>
            </a:r>
            <a:pPr indent="0" marL="0">
              <a:lnSpc>
                <a:spcPts val="1500"/>
              </a:lnSpc>
              <a:buNone/>
            </a:pPr>
            <a:r>
              <a:rPr lang="en-US" sz="1000" dirty="0">
                <a:solidFill>
                  <a:srgbClr val="76909F"/>
                </a:solidFill>
                <a:latin typeface="Courier New" pitchFamily="34" charset="0"/>
                <a:ea typeface="Courier New" pitchFamily="34" charset="-122"/>
                <a:cs typeface="Courier New" pitchFamily="34" charset="-120"/>
              </a:rPr>
              <a:t># now it is on GitHub, and submitted</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0" y="2999232"/>
          <a:ext cx="4690872" cy="914400"/>
        </p:xfrm>
        <a:graphic>
          <a:graphicData uri="http://schemas.openxmlformats.org/drawingml/2006/table">
            <a:tbl>
              <a:tblPr/>
              <a:tblGrid>
                <a:gridCol w="1920240"/>
                <a:gridCol w="277063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Habit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Why it is graded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Commit early, commit often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Your history shows how you worked, not just the result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Write real commit messages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"update" tells a reviewer nothing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Never commit .env</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See the next slide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
        <p:nvSpPr>
          <p:cNvPr id="29" name="Shape 26"/>
          <p:cNvSpPr/>
          <p:nvPr/>
        </p:nvSpPr>
        <p:spPr>
          <a:xfrm>
            <a:off x="640080" y="5065776"/>
            <a:ext cx="10908792" cy="786384"/>
          </a:xfrm>
          <a:prstGeom prst="roundRect">
            <a:avLst>
              <a:gd name="adj" fmla="val 6977"/>
            </a:avLst>
          </a:prstGeom>
          <a:solidFill>
            <a:srgbClr val="DFEEE5"/>
          </a:solidFill>
          <a:ln w="9525">
            <a:solidFill>
              <a:srgbClr val="1F5F3C"/>
            </a:solidFill>
            <a:prstDash val="solid"/>
          </a:ln>
        </p:spPr>
      </p:sp>
      <p:sp>
        <p:nvSpPr>
          <p:cNvPr id="30" name="Text 27"/>
          <p:cNvSpPr/>
          <p:nvPr/>
        </p:nvSpPr>
        <p:spPr>
          <a:xfrm>
            <a:off x="859536" y="5157216"/>
            <a:ext cx="10469880" cy="603504"/>
          </a:xfrm>
          <a:prstGeom prst="rect">
            <a:avLst/>
          </a:prstGeom>
          <a:noFill/>
          <a:ln/>
        </p:spPr>
        <p:txBody>
          <a:bodyPr wrap="square" lIns="0" tIns="0" rIns="0" bIns="0" rtlCol="0" anchor="ctr"/>
          <a:lstStyle/>
          <a:p>
            <a:pPr indent="0" marL="0">
              <a:lnSpc>
                <a:spcPts val="1680"/>
              </a:lnSpc>
              <a:buNone/>
            </a:pPr>
            <a:r>
              <a:rPr lang="en-US" sz="1200" b="1" dirty="0">
                <a:solidFill>
                  <a:srgbClr val="1F5F3C"/>
                </a:solidFill>
                <a:latin typeface="Calibri" pitchFamily="34" charset="0"/>
                <a:ea typeface="Calibri" pitchFamily="34" charset="-122"/>
                <a:cs typeface="Calibri" pitchFamily="34" charset="-120"/>
              </a:rPr>
              <a:t>Worth an hour of your time:  </a:t>
            </a:r>
            <a:pPr indent="0" marL="0">
              <a:lnSpc>
                <a:spcPts val="1680"/>
              </a:lnSpc>
              <a:buNone/>
            </a:pPr>
            <a:r>
              <a:rPr lang="en-US" sz="1200" dirty="0">
                <a:solidFill>
                  <a:srgbClr val="12202B"/>
                </a:solidFill>
                <a:latin typeface="Calibri" pitchFamily="34" charset="0"/>
                <a:ea typeface="Calibri" pitchFamily="34" charset="-122"/>
                <a:cs typeface="Calibri" pitchFamily="34" charset="-120"/>
              </a:rPr>
              <a:t>a short Git tutorial on LinkedIn Learning (free to you) or YouTube. For this course you only need add, commit and push — but your repository doubles as a portfolio that employers read, and that is worth doing properly. Your AI assistant in VS Code will happily run these for you once you know what they mean.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A4243B"/>
                </a:solidFill>
                <a:latin typeface="Calibri" pitchFamily="34" charset="0"/>
                <a:ea typeface="Calibri" pitchFamily="34" charset="-122"/>
                <a:cs typeface="Calibri" pitchFamily="34" charset="-120"/>
              </a:rPr>
              <a:t>PART 2 · SET UP LOCALLY</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Secrets hygiene — the one that is not optional</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A key on a public repository is found by an automated scanner in minutes, not days.</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Tools &amp; Environment</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640080" y="1783080"/>
            <a:ext cx="5943600" cy="2286000"/>
          </a:xfrm>
          <a:prstGeom prst="roundRect">
            <a:avLst>
              <a:gd name="adj" fmla="val 2800"/>
            </a:avLst>
          </a:prstGeom>
          <a:solidFill>
            <a:srgbClr val="13221B"/>
          </a:solidFill>
          <a:ln w="12700">
            <a:solidFill>
              <a:srgbClr val="13221B"/>
            </a:solidFill>
            <a:prstDash val="solid"/>
          </a:ln>
          <a:effectLst>
            <a:outerShdw sx="100000" sy="100000" kx="0" ky="0" algn="bl" rotWithShape="0" blurRad="114300" dist="25400" dir="5400000">
              <a:srgbClr val="0B1720">
                <a:alpha val="22000"/>
              </a:srgbClr>
            </a:outerShdw>
          </a:effectLst>
        </p:spPr>
      </p:sp>
      <p:sp>
        <p:nvSpPr>
          <p:cNvPr id="8" name="Text 6"/>
          <p:cNvSpPr/>
          <p:nvPr/>
        </p:nvSpPr>
        <p:spPr>
          <a:xfrm>
            <a:off x="877824" y="1901952"/>
            <a:ext cx="5468112" cy="237744"/>
          </a:xfrm>
          <a:prstGeom prst="rect">
            <a:avLst/>
          </a:prstGeom>
          <a:noFill/>
          <a:ln/>
        </p:spPr>
        <p:txBody>
          <a:bodyPr wrap="square" lIns="0" tIns="0" rIns="0" bIns="0" rtlCol="0" anchor="ctr"/>
          <a:lstStyle/>
          <a:p>
            <a:pPr indent="0" marL="0">
              <a:buNone/>
            </a:pPr>
            <a:r>
              <a:rPr lang="en-US" sz="950" b="1" spc="130" kern="0" dirty="0">
                <a:solidFill>
                  <a:srgbClr val="9FB8C6"/>
                </a:solidFill>
                <a:latin typeface="Calibri" pitchFamily="34" charset="0"/>
                <a:ea typeface="Calibri" pitchFamily="34" charset="-122"/>
                <a:cs typeface="Calibri" pitchFamily="34" charset="-120"/>
              </a:rPr>
              <a:t>The pattern: three files, one of which never leaves your machine</a:t>
            </a:r>
            <a:endParaRPr lang="en-US" sz="950" dirty="0"/>
          </a:p>
        </p:txBody>
      </p:sp>
      <p:sp>
        <p:nvSpPr>
          <p:cNvPr id="9" name="Text 7"/>
          <p:cNvSpPr/>
          <p:nvPr/>
        </p:nvSpPr>
        <p:spPr>
          <a:xfrm>
            <a:off x="877824" y="2203704"/>
            <a:ext cx="5468112" cy="1719072"/>
          </a:xfrm>
          <a:prstGeom prst="rect">
            <a:avLst/>
          </a:prstGeom>
          <a:noFill/>
          <a:ln/>
        </p:spPr>
        <p:txBody>
          <a:bodyPr wrap="square" lIns="0" tIns="0" rIns="0" bIns="0" rtlCol="0" anchor="t"/>
          <a:lstStyle/>
          <a:p>
            <a:pPr indent="0" marL="0">
              <a:lnSpc>
                <a:spcPts val="1425"/>
              </a:lnSpc>
              <a:buNone/>
            </a:pPr>
            <a:r>
              <a:rPr lang="en-US" sz="950" dirty="0">
                <a:solidFill>
                  <a:srgbClr val="76909F"/>
                </a:solidFill>
                <a:latin typeface="Courier New" pitchFamily="34" charset="0"/>
                <a:ea typeface="Courier New" pitchFamily="34" charset="-122"/>
                <a:cs typeface="Courier New" pitchFamily="34" charset="-120"/>
              </a:rPr>
              <a:t># .env               &lt;- real values, NEVER committed</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OPENAI_API_KEY=sk-proj-...</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endParaRPr lang="en-US" sz="950" dirty="0"/>
          </a:p>
          <a:p>
            <a:pPr indent="0" marL="0">
              <a:lnSpc>
                <a:spcPts val="1425"/>
              </a:lnSpc>
              <a:buNone/>
            </a:pPr>
            <a:r>
              <a:rPr lang="en-US" sz="950" dirty="0">
                <a:solidFill>
                  <a:srgbClr val="76909F"/>
                </a:solidFill>
                <a:latin typeface="Courier New" pitchFamily="34" charset="0"/>
                <a:ea typeface="Courier New" pitchFamily="34" charset="-122"/>
                <a:cs typeface="Courier New" pitchFamily="34" charset="-120"/>
              </a:rPr>
              <a:t># .gitignore         &lt;- committed, and does the protecting</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.env</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*.key</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.venv/</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endParaRPr lang="en-US" sz="950" dirty="0"/>
          </a:p>
          <a:p>
            <a:pPr indent="0" marL="0">
              <a:lnSpc>
                <a:spcPts val="1425"/>
              </a:lnSpc>
              <a:buNone/>
            </a:pPr>
            <a:r>
              <a:rPr lang="en-US" sz="950" dirty="0">
                <a:solidFill>
                  <a:srgbClr val="76909F"/>
                </a:solidFill>
                <a:latin typeface="Courier New" pitchFamily="34" charset="0"/>
                <a:ea typeface="Courier New" pitchFamily="34" charset="-122"/>
                <a:cs typeface="Courier New" pitchFamily="34" charset="-120"/>
              </a:rPr>
              <a:t># .env.example       &lt;- committed, so others know what to set</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OPENAI_API_KEY=</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0" y="1783080"/>
          <a:ext cx="4690872" cy="914400"/>
        </p:xfrm>
        <a:graphic>
          <a:graphicData uri="http://schemas.openxmlformats.org/drawingml/2006/table">
            <a:tbl>
              <a:tblPr/>
              <a:tblGrid>
                <a:gridCol w="1691640"/>
                <a:gridCol w="299923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Where you are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How the key gets in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Local script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.env + load_dotenv()</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Local shell</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export in your shell profile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Colab notebook</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The Secrets panel (key icon, left sidebar)</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A VM</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An environment variable in the service unit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
        <p:nvSpPr>
          <p:cNvPr id="11" name="Shape 8"/>
          <p:cNvSpPr/>
          <p:nvPr/>
        </p:nvSpPr>
        <p:spPr>
          <a:xfrm>
            <a:off x="6858000" y="3803904"/>
            <a:ext cx="4690872" cy="1133856"/>
          </a:xfrm>
          <a:prstGeom prst="roundRect">
            <a:avLst>
              <a:gd name="adj" fmla="val 4839"/>
            </a:avLst>
          </a:prstGeom>
          <a:solidFill>
            <a:srgbClr val="DFEEE5"/>
          </a:solidFill>
          <a:ln w="9525">
            <a:solidFill>
              <a:srgbClr val="1F5F3C"/>
            </a:solidFill>
            <a:prstDash val="solid"/>
          </a:ln>
        </p:spPr>
      </p:sp>
      <p:sp>
        <p:nvSpPr>
          <p:cNvPr id="12" name="Text 9"/>
          <p:cNvSpPr/>
          <p:nvPr/>
        </p:nvSpPr>
        <p:spPr>
          <a:xfrm>
            <a:off x="7077456" y="3895344"/>
            <a:ext cx="4251960" cy="950976"/>
          </a:xfrm>
          <a:prstGeom prst="rect">
            <a:avLst/>
          </a:prstGeom>
          <a:noFill/>
          <a:ln/>
        </p:spPr>
        <p:txBody>
          <a:bodyPr wrap="square" lIns="0" tIns="0" rIns="0" bIns="0" rtlCol="0" anchor="ctr"/>
          <a:lstStyle/>
          <a:p>
            <a:pPr indent="0" marL="0">
              <a:lnSpc>
                <a:spcPts val="1540"/>
              </a:lnSpc>
              <a:buNone/>
            </a:pPr>
            <a:r>
              <a:rPr lang="en-US" sz="1100" b="1" dirty="0">
                <a:solidFill>
                  <a:srgbClr val="1F5F3C"/>
                </a:solidFill>
                <a:latin typeface="Calibri" pitchFamily="34" charset="0"/>
                <a:ea typeface="Calibri" pitchFamily="34" charset="-122"/>
                <a:cs typeface="Calibri" pitchFamily="34" charset="-120"/>
              </a:rPr>
              <a:t>Colab specifically: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use the Secrets panel, not a variable in a cell. The cell output gets saved into the notebook file, and the notebook gets committed.</a:t>
            </a:r>
            <a:endParaRPr lang="en-US" sz="1100" dirty="0"/>
          </a:p>
        </p:txBody>
      </p:sp>
      <p:sp>
        <p:nvSpPr>
          <p:cNvPr id="13" name="Shape 10"/>
          <p:cNvSpPr/>
          <p:nvPr/>
        </p:nvSpPr>
        <p:spPr>
          <a:xfrm>
            <a:off x="640080" y="4224528"/>
            <a:ext cx="5943600" cy="1627632"/>
          </a:xfrm>
          <a:prstGeom prst="roundRect">
            <a:avLst>
              <a:gd name="adj" fmla="val 3933"/>
            </a:avLst>
          </a:prstGeom>
          <a:solidFill>
            <a:srgbClr val="F7E5E8"/>
          </a:solidFill>
          <a:ln w="15875">
            <a:solidFill>
              <a:srgbClr val="A4243B"/>
            </a:solidFill>
            <a:prstDash val="solid"/>
          </a:ln>
        </p:spPr>
      </p:sp>
      <p:sp>
        <p:nvSpPr>
          <p:cNvPr id="14" name="Text 11"/>
          <p:cNvSpPr/>
          <p:nvPr/>
        </p:nvSpPr>
        <p:spPr>
          <a:xfrm>
            <a:off x="877824" y="4370832"/>
            <a:ext cx="5468112" cy="219456"/>
          </a:xfrm>
          <a:prstGeom prst="rect">
            <a:avLst/>
          </a:prstGeom>
          <a:noFill/>
          <a:ln/>
        </p:spPr>
        <p:txBody>
          <a:bodyPr wrap="square" lIns="0" tIns="0" rIns="0" bIns="0" rtlCol="0" anchor="ctr"/>
          <a:lstStyle/>
          <a:p>
            <a:pPr indent="0" marL="0">
              <a:buNone/>
            </a:pPr>
            <a:r>
              <a:rPr lang="en-US" sz="950" b="1" spc="140" kern="0" dirty="0">
                <a:solidFill>
                  <a:srgbClr val="A4243B"/>
                </a:solidFill>
                <a:latin typeface="Calibri" pitchFamily="34" charset="0"/>
                <a:ea typeface="Calibri" pitchFamily="34" charset="-122"/>
                <a:cs typeface="Calibri" pitchFamily="34" charset="-120"/>
              </a:rPr>
              <a:t>IF A KEY LEAKS</a:t>
            </a:r>
            <a:endParaRPr lang="en-US" sz="950" dirty="0"/>
          </a:p>
        </p:txBody>
      </p:sp>
      <p:sp>
        <p:nvSpPr>
          <p:cNvPr id="15" name="Text 12"/>
          <p:cNvSpPr/>
          <p:nvPr/>
        </p:nvSpPr>
        <p:spPr>
          <a:xfrm>
            <a:off x="877824" y="4626864"/>
            <a:ext cx="5468112" cy="1133856"/>
          </a:xfrm>
          <a:prstGeom prst="rect">
            <a:avLst/>
          </a:prstGeom>
          <a:noFill/>
          <a:ln/>
        </p:spPr>
        <p:txBody>
          <a:bodyPr wrap="square" lIns="0" tIns="0" rIns="0" bIns="0" rtlCol="0" anchor="t"/>
          <a:lstStyle/>
          <a:p>
            <a:pPr marL="342900" indent="-342900">
              <a:lnSpc>
                <a:spcPts val="1540"/>
              </a:lnSpc>
              <a:spcAft>
                <a:spcPts val="500"/>
              </a:spcAft>
              <a:buSzPct val="100000"/>
              <a:buChar char="•"/>
            </a:pPr>
            <a:r>
              <a:rPr lang="en-US" sz="1100" dirty="0">
                <a:solidFill>
                  <a:srgbClr val="1B2B36"/>
                </a:solidFill>
                <a:latin typeface="Calibri" pitchFamily="34" charset="0"/>
                <a:ea typeface="Calibri" pitchFamily="34" charset="-122"/>
                <a:cs typeface="Calibri" pitchFamily="34" charset="-120"/>
              </a:rPr>
              <a:t>Rotate it first. Investigate second. The window is the whole risk.</a:t>
            </a:r>
            <a:endParaRPr lang="en-US" sz="1100" dirty="0"/>
          </a:p>
          <a:p>
            <a:pPr marL="342900" indent="-342900">
              <a:lnSpc>
                <a:spcPts val="1540"/>
              </a:lnSpc>
              <a:spcAft>
                <a:spcPts val="500"/>
              </a:spcAft>
              <a:buSzPct val="100000"/>
              <a:buChar char="•"/>
            </a:pPr>
            <a:r>
              <a:rPr lang="en-US" sz="1100" dirty="0">
                <a:solidFill>
                  <a:srgbClr val="1B2B36"/>
                </a:solidFill>
                <a:latin typeface="Calibri" pitchFamily="34" charset="0"/>
                <a:ea typeface="Calibri" pitchFamily="34" charset="-122"/>
                <a:cs typeface="Calibri" pitchFamily="34" charset="-120"/>
              </a:rPr>
              <a:t>Deleting the line does not help — Git history keeps it forever.</a:t>
            </a:r>
            <a:endParaRPr lang="en-US" sz="1100" dirty="0"/>
          </a:p>
          <a:p>
            <a:pPr marL="342900" indent="-342900">
              <a:lnSpc>
                <a:spcPts val="1540"/>
              </a:lnSpc>
              <a:spcAft>
                <a:spcPts val="500"/>
              </a:spcAft>
              <a:buSzPct val="100000"/>
              <a:buChar char="•"/>
            </a:pPr>
            <a:r>
              <a:rPr lang="en-US" sz="1100" dirty="0">
                <a:solidFill>
                  <a:srgbClr val="1B2B36"/>
                </a:solidFill>
                <a:latin typeface="Calibri" pitchFamily="34" charset="0"/>
                <a:ea typeface="Calibri" pitchFamily="34" charset="-122"/>
                <a:cs typeface="Calibri" pitchFamily="34" charset="-120"/>
              </a:rPr>
              <a:t>Assume compromise from the moment of the push, not from discovery.</a:t>
            </a:r>
            <a:endParaRPr lang="en-US" sz="1100" dirty="0"/>
          </a:p>
        </p:txBody>
      </p:sp>
      <p:sp>
        <p:nvSpPr>
          <p:cNvPr id="16" name="Shape 13"/>
          <p:cNvSpPr/>
          <p:nvPr/>
        </p:nvSpPr>
        <p:spPr>
          <a:xfrm>
            <a:off x="6858000" y="5138928"/>
            <a:ext cx="4690872" cy="713232"/>
          </a:xfrm>
          <a:prstGeom prst="roundRect">
            <a:avLst>
              <a:gd name="adj" fmla="val 7692"/>
            </a:avLst>
          </a:prstGeom>
          <a:solidFill>
            <a:srgbClr val="DFEEE5"/>
          </a:solidFill>
          <a:ln w="9525">
            <a:solidFill>
              <a:srgbClr val="1F5F3C"/>
            </a:solidFill>
            <a:prstDash val="solid"/>
          </a:ln>
        </p:spPr>
      </p:sp>
      <p:sp>
        <p:nvSpPr>
          <p:cNvPr id="17" name="Text 14"/>
          <p:cNvSpPr/>
          <p:nvPr/>
        </p:nvSpPr>
        <p:spPr>
          <a:xfrm>
            <a:off x="7077456" y="5230368"/>
            <a:ext cx="4251960" cy="530352"/>
          </a:xfrm>
          <a:prstGeom prst="rect">
            <a:avLst/>
          </a:prstGeom>
          <a:noFill/>
          <a:ln/>
        </p:spPr>
        <p:txBody>
          <a:bodyPr wrap="square" lIns="0" tIns="0" rIns="0" bIns="0" rtlCol="0" anchor="ctr"/>
          <a:lstStyle/>
          <a:p>
            <a:pPr indent="0" marL="0">
              <a:lnSpc>
                <a:spcPts val="1540"/>
              </a:lnSpc>
              <a:buNone/>
            </a:pPr>
            <a:r>
              <a:rPr lang="en-US" sz="1100" b="1" dirty="0">
                <a:solidFill>
                  <a:srgbClr val="1F5F3C"/>
                </a:solidFill>
                <a:latin typeface="Calibri" pitchFamily="34" charset="0"/>
                <a:ea typeface="Calibri" pitchFamily="34" charset="-122"/>
                <a:cs typeface="Calibri" pitchFamily="34" charset="-120"/>
              </a:rPr>
              <a:t>Also today: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set a hard spend limit in the provider console.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1F5F3C"/>
                </a:solidFill>
                <a:latin typeface="Calibri" pitchFamily="34" charset="0"/>
                <a:ea typeface="Calibri" pitchFamily="34" charset="-122"/>
                <a:cs typeface="Calibri" pitchFamily="34" charset="-120"/>
              </a:rPr>
              <a:t>PART 2 · SET UP LOCALLY</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AI model access: three paths to a model</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Get at least one working this week. You compare them properly in Module 3.</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Tools &amp; Environment</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15</a:t>
            </a:r>
            <a:endParaRPr lang="en-US" sz="900" dirty="0"/>
          </a:p>
        </p:txBody>
      </p:sp>
      <p:sp>
        <p:nvSpPr>
          <p:cNvPr id="7" name="Shape 5"/>
          <p:cNvSpPr/>
          <p:nvPr/>
        </p:nvSpPr>
        <p:spPr>
          <a:xfrm>
            <a:off x="640080" y="1783080"/>
            <a:ext cx="3483864" cy="1783080"/>
          </a:xfrm>
          <a:prstGeom prst="roundRect">
            <a:avLst>
              <a:gd name="adj" fmla="val 3590"/>
            </a:avLst>
          </a:prstGeom>
          <a:solidFill>
            <a:srgbClr val="F1F5F8"/>
          </a:solidFill>
          <a:ln w="17780">
            <a:solidFill>
              <a:srgbClr val="1F5F3C"/>
            </a:solidFill>
            <a:prstDash val="solid"/>
          </a:ln>
        </p:spPr>
      </p:sp>
      <p:sp>
        <p:nvSpPr>
          <p:cNvPr id="8" name="Text 6"/>
          <p:cNvSpPr/>
          <p:nvPr/>
        </p:nvSpPr>
        <p:spPr>
          <a:xfrm>
            <a:off x="877824" y="1920240"/>
            <a:ext cx="3008376" cy="310896"/>
          </a:xfrm>
          <a:prstGeom prst="rect">
            <a:avLst/>
          </a:prstGeom>
          <a:noFill/>
          <a:ln/>
        </p:spPr>
        <p:txBody>
          <a:bodyPr wrap="square" lIns="0" tIns="0" rIns="0" bIns="0" rtlCol="0" anchor="ctr"/>
          <a:lstStyle/>
          <a:p>
            <a:pPr indent="0" marL="0">
              <a:buNone/>
            </a:pPr>
            <a:r>
              <a:rPr lang="en-US" sz="1600" b="1" dirty="0">
                <a:solidFill>
                  <a:srgbClr val="1F5F3C"/>
                </a:solidFill>
                <a:latin typeface="Cambria" pitchFamily="34" charset="0"/>
                <a:ea typeface="Cambria" pitchFamily="34" charset="-122"/>
                <a:cs typeface="Cambria" pitchFamily="34" charset="-120"/>
              </a:rPr>
              <a:t>Cloud API</a:t>
            </a:r>
            <a:endParaRPr lang="en-US" sz="1600" dirty="0"/>
          </a:p>
        </p:txBody>
      </p:sp>
      <p:sp>
        <p:nvSpPr>
          <p:cNvPr id="9" name="Text 7"/>
          <p:cNvSpPr/>
          <p:nvPr/>
        </p:nvSpPr>
        <p:spPr>
          <a:xfrm>
            <a:off x="877824" y="2231136"/>
            <a:ext cx="3008376" cy="237744"/>
          </a:xfrm>
          <a:prstGeom prst="rect">
            <a:avLst/>
          </a:prstGeom>
          <a:noFill/>
          <a:ln/>
        </p:spPr>
        <p:txBody>
          <a:bodyPr wrap="square" lIns="0" tIns="0" rIns="0" bIns="0" rtlCol="0" anchor="ctr"/>
          <a:lstStyle/>
          <a:p>
            <a:pPr indent="0" marL="0">
              <a:buNone/>
            </a:pPr>
            <a:r>
              <a:rPr lang="en-US" sz="1100" i="1" dirty="0">
                <a:solidFill>
                  <a:srgbClr val="5C7383"/>
                </a:solidFill>
                <a:latin typeface="Calibri" pitchFamily="34" charset="0"/>
                <a:ea typeface="Calibri" pitchFamily="34" charset="-122"/>
                <a:cs typeface="Calibri" pitchFamily="34" charset="-120"/>
              </a:rPr>
              <a:t>OpenAI · Anthropic</a:t>
            </a:r>
            <a:endParaRPr lang="en-US" sz="1100" dirty="0"/>
          </a:p>
        </p:txBody>
      </p:sp>
      <p:sp>
        <p:nvSpPr>
          <p:cNvPr id="10" name="Text 8"/>
          <p:cNvSpPr/>
          <p:nvPr/>
        </p:nvSpPr>
        <p:spPr>
          <a:xfrm>
            <a:off x="877824" y="2523744"/>
            <a:ext cx="3008376" cy="914400"/>
          </a:xfrm>
          <a:prstGeom prst="rect">
            <a:avLst/>
          </a:prstGeom>
          <a:noFill/>
          <a:ln/>
        </p:spPr>
        <p:txBody>
          <a:bodyPr wrap="square" lIns="0" tIns="0" rIns="0" bIns="0" rtlCol="0" anchor="t"/>
          <a:lstStyle/>
          <a:p>
            <a:pPr indent="0" marL="0">
              <a:lnSpc>
                <a:spcPts val="1400"/>
              </a:lnSpc>
              <a:buNone/>
            </a:pPr>
            <a:r>
              <a:rPr lang="en-US" sz="1050" dirty="0">
                <a:solidFill>
                  <a:srgbClr val="1B2B36"/>
                </a:solidFill>
                <a:latin typeface="Calibri" pitchFamily="34" charset="0"/>
                <a:ea typeface="Calibri" pitchFamily="34" charset="-122"/>
                <a:cs typeface="Calibri" pitchFamily="34" charset="-120"/>
              </a:rPr>
              <a:t>Easiest and most capable. Messages in, text out. You pay per token and your prompt leaves your machine.</a:t>
            </a:r>
            <a:endParaRPr lang="en-US" sz="1050" dirty="0"/>
          </a:p>
        </p:txBody>
      </p:sp>
      <p:sp>
        <p:nvSpPr>
          <p:cNvPr id="11" name="Shape 9"/>
          <p:cNvSpPr/>
          <p:nvPr/>
        </p:nvSpPr>
        <p:spPr>
          <a:xfrm>
            <a:off x="4352544" y="1783080"/>
            <a:ext cx="3483864" cy="1783080"/>
          </a:xfrm>
          <a:prstGeom prst="roundRect">
            <a:avLst>
              <a:gd name="adj" fmla="val 3590"/>
            </a:avLst>
          </a:prstGeom>
          <a:solidFill>
            <a:srgbClr val="F1F5F8"/>
          </a:solidFill>
          <a:ln w="17780">
            <a:solidFill>
              <a:srgbClr val="4E9A6E"/>
            </a:solidFill>
            <a:prstDash val="solid"/>
          </a:ln>
        </p:spPr>
      </p:sp>
      <p:sp>
        <p:nvSpPr>
          <p:cNvPr id="12" name="Text 10"/>
          <p:cNvSpPr/>
          <p:nvPr/>
        </p:nvSpPr>
        <p:spPr>
          <a:xfrm>
            <a:off x="4590288" y="1920240"/>
            <a:ext cx="3008376" cy="310896"/>
          </a:xfrm>
          <a:prstGeom prst="rect">
            <a:avLst/>
          </a:prstGeom>
          <a:noFill/>
          <a:ln/>
        </p:spPr>
        <p:txBody>
          <a:bodyPr wrap="square" lIns="0" tIns="0" rIns="0" bIns="0" rtlCol="0" anchor="ctr"/>
          <a:lstStyle/>
          <a:p>
            <a:pPr indent="0" marL="0">
              <a:buNone/>
            </a:pPr>
            <a:r>
              <a:rPr lang="en-US" sz="1600" b="1" dirty="0">
                <a:solidFill>
                  <a:srgbClr val="4E9A6E"/>
                </a:solidFill>
                <a:latin typeface="Cambria" pitchFamily="34" charset="0"/>
                <a:ea typeface="Cambria" pitchFamily="34" charset="-122"/>
                <a:cs typeface="Cambria" pitchFamily="34" charset="-120"/>
              </a:rPr>
              <a:t>Local LLM</a:t>
            </a:r>
            <a:endParaRPr lang="en-US" sz="1600" dirty="0"/>
          </a:p>
        </p:txBody>
      </p:sp>
      <p:sp>
        <p:nvSpPr>
          <p:cNvPr id="13" name="Text 11"/>
          <p:cNvSpPr/>
          <p:nvPr/>
        </p:nvSpPr>
        <p:spPr>
          <a:xfrm>
            <a:off x="4590288" y="2231136"/>
            <a:ext cx="3008376" cy="237744"/>
          </a:xfrm>
          <a:prstGeom prst="rect">
            <a:avLst/>
          </a:prstGeom>
          <a:noFill/>
          <a:ln/>
        </p:spPr>
        <p:txBody>
          <a:bodyPr wrap="square" lIns="0" tIns="0" rIns="0" bIns="0" rtlCol="0" anchor="ctr"/>
          <a:lstStyle/>
          <a:p>
            <a:pPr indent="0" marL="0">
              <a:buNone/>
            </a:pPr>
            <a:r>
              <a:rPr lang="en-US" sz="1100" i="1" dirty="0">
                <a:solidFill>
                  <a:srgbClr val="5C7383"/>
                </a:solidFill>
                <a:latin typeface="Calibri" pitchFamily="34" charset="0"/>
                <a:ea typeface="Calibri" pitchFamily="34" charset="-122"/>
                <a:cs typeface="Calibri" pitchFamily="34" charset="-120"/>
              </a:rPr>
              <a:t>Ollama · LM Studio</a:t>
            </a:r>
            <a:endParaRPr lang="en-US" sz="1100" dirty="0"/>
          </a:p>
        </p:txBody>
      </p:sp>
      <p:sp>
        <p:nvSpPr>
          <p:cNvPr id="14" name="Text 12"/>
          <p:cNvSpPr/>
          <p:nvPr/>
        </p:nvSpPr>
        <p:spPr>
          <a:xfrm>
            <a:off x="4590288" y="2523744"/>
            <a:ext cx="3008376" cy="914400"/>
          </a:xfrm>
          <a:prstGeom prst="rect">
            <a:avLst/>
          </a:prstGeom>
          <a:noFill/>
          <a:ln/>
        </p:spPr>
        <p:txBody>
          <a:bodyPr wrap="square" lIns="0" tIns="0" rIns="0" bIns="0" rtlCol="0" anchor="t"/>
          <a:lstStyle/>
          <a:p>
            <a:pPr indent="0" marL="0">
              <a:lnSpc>
                <a:spcPts val="1400"/>
              </a:lnSpc>
              <a:buNone/>
            </a:pPr>
            <a:r>
              <a:rPr lang="en-US" sz="1050" dirty="0">
                <a:solidFill>
                  <a:srgbClr val="1B2B36"/>
                </a:solidFill>
                <a:latin typeface="Calibri" pitchFamily="34" charset="0"/>
                <a:ea typeface="Calibri" pitchFamily="34" charset="-122"/>
                <a:cs typeface="Calibri" pitchFamily="34" charset="-120"/>
              </a:rPr>
              <a:t>Open-weight models on your own hardware. Private and offline. Limited by your RAM and whether you have a GPU.</a:t>
            </a:r>
            <a:endParaRPr lang="en-US" sz="1050" dirty="0"/>
          </a:p>
        </p:txBody>
      </p:sp>
      <p:sp>
        <p:nvSpPr>
          <p:cNvPr id="15" name="Shape 13"/>
          <p:cNvSpPr/>
          <p:nvPr/>
        </p:nvSpPr>
        <p:spPr>
          <a:xfrm>
            <a:off x="8065008" y="1783080"/>
            <a:ext cx="3483864" cy="1783080"/>
          </a:xfrm>
          <a:prstGeom prst="roundRect">
            <a:avLst>
              <a:gd name="adj" fmla="val 3590"/>
            </a:avLst>
          </a:prstGeom>
          <a:solidFill>
            <a:srgbClr val="F1F5F8"/>
          </a:solidFill>
          <a:ln w="17780">
            <a:solidFill>
              <a:srgbClr val="12202B"/>
            </a:solidFill>
            <a:prstDash val="solid"/>
          </a:ln>
        </p:spPr>
      </p:sp>
      <p:sp>
        <p:nvSpPr>
          <p:cNvPr id="16" name="Text 14"/>
          <p:cNvSpPr/>
          <p:nvPr/>
        </p:nvSpPr>
        <p:spPr>
          <a:xfrm>
            <a:off x="8302752" y="1920240"/>
            <a:ext cx="3008376" cy="310896"/>
          </a:xfrm>
          <a:prstGeom prst="rect">
            <a:avLst/>
          </a:prstGeom>
          <a:noFill/>
          <a:ln/>
        </p:spPr>
        <p:txBody>
          <a:bodyPr wrap="square" lIns="0" tIns="0" rIns="0" bIns="0" rtlCol="0" anchor="ctr"/>
          <a:lstStyle/>
          <a:p>
            <a:pPr indent="0" marL="0">
              <a:buNone/>
            </a:pPr>
            <a:r>
              <a:rPr lang="en-US" sz="1600" b="1" dirty="0">
                <a:solidFill>
                  <a:srgbClr val="12202B"/>
                </a:solidFill>
                <a:latin typeface="Cambria" pitchFamily="34" charset="0"/>
                <a:ea typeface="Cambria" pitchFamily="34" charset="-122"/>
                <a:cs typeface="Cambria" pitchFamily="34" charset="-120"/>
              </a:rPr>
              <a:t>Hugging Face</a:t>
            </a:r>
            <a:endParaRPr lang="en-US" sz="1600" dirty="0"/>
          </a:p>
        </p:txBody>
      </p:sp>
      <p:sp>
        <p:nvSpPr>
          <p:cNvPr id="17" name="Text 15"/>
          <p:cNvSpPr/>
          <p:nvPr/>
        </p:nvSpPr>
        <p:spPr>
          <a:xfrm>
            <a:off x="8302752" y="2231136"/>
            <a:ext cx="3008376" cy="237744"/>
          </a:xfrm>
          <a:prstGeom prst="rect">
            <a:avLst/>
          </a:prstGeom>
          <a:noFill/>
          <a:ln/>
        </p:spPr>
        <p:txBody>
          <a:bodyPr wrap="square" lIns="0" tIns="0" rIns="0" bIns="0" rtlCol="0" anchor="ctr"/>
          <a:lstStyle/>
          <a:p>
            <a:pPr indent="0" marL="0">
              <a:buNone/>
            </a:pPr>
            <a:r>
              <a:rPr lang="en-US" sz="1100" i="1" dirty="0">
                <a:solidFill>
                  <a:srgbClr val="5C7383"/>
                </a:solidFill>
                <a:latin typeface="Calibri" pitchFamily="34" charset="0"/>
                <a:ea typeface="Calibri" pitchFamily="34" charset="-122"/>
                <a:cs typeface="Calibri" pitchFamily="34" charset="-120"/>
              </a:rPr>
              <a:t>The hub</a:t>
            </a:r>
            <a:endParaRPr lang="en-US" sz="1100" dirty="0"/>
          </a:p>
        </p:txBody>
      </p:sp>
      <p:sp>
        <p:nvSpPr>
          <p:cNvPr id="18" name="Text 16"/>
          <p:cNvSpPr/>
          <p:nvPr/>
        </p:nvSpPr>
        <p:spPr>
          <a:xfrm>
            <a:off x="8302752" y="2523744"/>
            <a:ext cx="3008376" cy="914400"/>
          </a:xfrm>
          <a:prstGeom prst="rect">
            <a:avLst/>
          </a:prstGeom>
          <a:noFill/>
          <a:ln/>
        </p:spPr>
        <p:txBody>
          <a:bodyPr wrap="square" lIns="0" tIns="0" rIns="0" bIns="0" rtlCol="0" anchor="t"/>
          <a:lstStyle/>
          <a:p>
            <a:pPr indent="0" marL="0">
              <a:lnSpc>
                <a:spcPts val="1400"/>
              </a:lnSpc>
              <a:buNone/>
            </a:pPr>
            <a:r>
              <a:rPr lang="en-US" sz="1050" dirty="0">
                <a:solidFill>
                  <a:srgbClr val="1B2B36"/>
                </a:solidFill>
                <a:latin typeface="Calibri" pitchFamily="34" charset="0"/>
                <a:ea typeface="Calibri" pitchFamily="34" charset="-122"/>
                <a:cs typeface="Calibri" pitchFamily="34" charset="-120"/>
              </a:rPr>
              <a:t>Where open models and datasets live. Not a way to run them so much as where you get them from.</a:t>
            </a:r>
            <a:endParaRPr lang="en-US" sz="1050" dirty="0"/>
          </a:p>
        </p:txBody>
      </p:sp>
      <p:sp>
        <p:nvSpPr>
          <p:cNvPr id="19" name="Shape 17"/>
          <p:cNvSpPr/>
          <p:nvPr/>
        </p:nvSpPr>
        <p:spPr>
          <a:xfrm>
            <a:off x="640080" y="3749040"/>
            <a:ext cx="5623560" cy="2103120"/>
          </a:xfrm>
          <a:prstGeom prst="roundRect">
            <a:avLst>
              <a:gd name="adj" fmla="val 3043"/>
            </a:avLst>
          </a:prstGeom>
          <a:solidFill>
            <a:srgbClr val="13221B"/>
          </a:solidFill>
          <a:ln w="12700">
            <a:solidFill>
              <a:srgbClr val="13221B"/>
            </a:solidFill>
            <a:prstDash val="solid"/>
          </a:ln>
          <a:effectLst>
            <a:outerShdw sx="100000" sy="100000" kx="0" ky="0" algn="bl" rotWithShape="0" blurRad="114300" dist="25400" dir="5400000">
              <a:srgbClr val="0B1720">
                <a:alpha val="22000"/>
              </a:srgbClr>
            </a:outerShdw>
          </a:effectLst>
        </p:spPr>
      </p:sp>
      <p:sp>
        <p:nvSpPr>
          <p:cNvPr id="20" name="Text 18"/>
          <p:cNvSpPr/>
          <p:nvPr/>
        </p:nvSpPr>
        <p:spPr>
          <a:xfrm>
            <a:off x="877824" y="3867912"/>
            <a:ext cx="5148072" cy="237744"/>
          </a:xfrm>
          <a:prstGeom prst="rect">
            <a:avLst/>
          </a:prstGeom>
          <a:noFill/>
          <a:ln/>
        </p:spPr>
        <p:txBody>
          <a:bodyPr wrap="square" lIns="0" tIns="0" rIns="0" bIns="0" rtlCol="0" anchor="ctr"/>
          <a:lstStyle/>
          <a:p>
            <a:pPr indent="0" marL="0">
              <a:buNone/>
            </a:pPr>
            <a:r>
              <a:rPr lang="en-US" sz="950" b="1" spc="130" kern="0" dirty="0">
                <a:solidFill>
                  <a:srgbClr val="9FB8C6"/>
                </a:solidFill>
                <a:latin typeface="Calibri" pitchFamily="34" charset="0"/>
                <a:ea typeface="Calibri" pitchFamily="34" charset="-122"/>
                <a:cs typeface="Calibri" pitchFamily="34" charset="-120"/>
              </a:rPr>
              <a:t>Two paths, nearly the same shape</a:t>
            </a:r>
            <a:endParaRPr lang="en-US" sz="950" dirty="0"/>
          </a:p>
        </p:txBody>
      </p:sp>
      <p:sp>
        <p:nvSpPr>
          <p:cNvPr id="21" name="Text 19"/>
          <p:cNvSpPr/>
          <p:nvPr/>
        </p:nvSpPr>
        <p:spPr>
          <a:xfrm>
            <a:off x="877824" y="4169664"/>
            <a:ext cx="5148072" cy="1536192"/>
          </a:xfrm>
          <a:prstGeom prst="rect">
            <a:avLst/>
          </a:prstGeom>
          <a:noFill/>
          <a:ln/>
        </p:spPr>
        <p:txBody>
          <a:bodyPr wrap="square" lIns="0" tIns="0" rIns="0" bIns="0" rtlCol="0" anchor="t"/>
          <a:lstStyle/>
          <a:p>
            <a:pPr indent="0" marL="0">
              <a:lnSpc>
                <a:spcPts val="1425"/>
              </a:lnSpc>
              <a:buNone/>
            </a:pPr>
            <a:r>
              <a:rPr lang="en-US" sz="950" dirty="0">
                <a:solidFill>
                  <a:srgbClr val="76909F"/>
                </a:solidFill>
                <a:latin typeface="Courier New" pitchFamily="34" charset="0"/>
                <a:ea typeface="Courier New" pitchFamily="34" charset="-122"/>
                <a:cs typeface="Courier New" pitchFamily="34" charset="-120"/>
              </a:rPr>
              <a:t># 1 — hosted</a:t>
            </a:r>
            <a:endParaRPr lang="en-US" sz="950" dirty="0"/>
          </a:p>
          <a:p>
            <a:pPr indent="0" marL="0">
              <a:lnSpc>
                <a:spcPts val="1425"/>
              </a:lnSpc>
              <a:buNone/>
            </a:pPr>
            <a:r>
              <a:rPr lang="en-US" sz="950" dirty="0">
                <a:solidFill>
                  <a:srgbClr val="8FD6A8"/>
                </a:solidFill>
                <a:latin typeface="Courier New" pitchFamily="34" charset="0"/>
                <a:ea typeface="Courier New" pitchFamily="34" charset="-122"/>
                <a:cs typeface="Courier New" pitchFamily="34" charset="-120"/>
              </a:rPr>
              <a:t>from</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openai </a:t>
            </a:r>
            <a:pPr indent="0" marL="0">
              <a:lnSpc>
                <a:spcPts val="1425"/>
              </a:lnSpc>
              <a:buNone/>
            </a:pPr>
            <a:r>
              <a:rPr lang="en-US" sz="950" dirty="0">
                <a:solidFill>
                  <a:srgbClr val="8FD6A8"/>
                </a:solidFill>
                <a:latin typeface="Courier New" pitchFamily="34" charset="0"/>
                <a:ea typeface="Courier New" pitchFamily="34" charset="-122"/>
                <a:cs typeface="Courier New" pitchFamily="34" charset="-120"/>
              </a:rPr>
              <a:t>import</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OpenAI</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client = </a:t>
            </a:r>
            <a:pPr indent="0" marL="0">
              <a:lnSpc>
                <a:spcPts val="1425"/>
              </a:lnSpc>
              <a:buNone/>
            </a:pPr>
            <a:r>
              <a:rPr lang="en-US" sz="950" dirty="0">
                <a:solidFill>
                  <a:srgbClr val="A7C6EE"/>
                </a:solidFill>
                <a:latin typeface="Courier New" pitchFamily="34" charset="0"/>
                <a:ea typeface="Courier New" pitchFamily="34" charset="-122"/>
                <a:cs typeface="Courier New" pitchFamily="34" charset="-120"/>
              </a:rPr>
              <a:t>OpenAI</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r = client.chat.completions.</a:t>
            </a:r>
            <a:pPr indent="0" marL="0">
              <a:lnSpc>
                <a:spcPts val="1425"/>
              </a:lnSpc>
              <a:buNone/>
            </a:pPr>
            <a:r>
              <a:rPr lang="en-US" sz="950" dirty="0">
                <a:solidFill>
                  <a:srgbClr val="A7C6EE"/>
                </a:solidFill>
                <a:latin typeface="Courier New" pitchFamily="34" charset="0"/>
                <a:ea typeface="Courier New" pitchFamily="34" charset="-122"/>
                <a:cs typeface="Courier New" pitchFamily="34" charset="-120"/>
              </a:rPr>
              <a:t>create</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(model=</a:t>
            </a:r>
            <a:pPr indent="0" marL="0">
              <a:lnSpc>
                <a:spcPts val="1425"/>
              </a:lnSpc>
              <a:buNone/>
            </a:pPr>
            <a:r>
              <a:rPr lang="en-US" sz="950" dirty="0">
                <a:solidFill>
                  <a:srgbClr val="EBB183"/>
                </a:solidFill>
                <a:latin typeface="Courier New" pitchFamily="34" charset="0"/>
                <a:ea typeface="Courier New" pitchFamily="34" charset="-122"/>
                <a:cs typeface="Courier New" pitchFamily="34" charset="-120"/>
              </a:rPr>
              <a:t>"gpt-4.1-mini"</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endParaRPr lang="en-US" sz="950" dirty="0"/>
          </a:p>
          <a:p>
            <a:pPr indent="0" marL="0">
              <a:lnSpc>
                <a:spcPts val="1425"/>
              </a:lnSpc>
              <a:buNone/>
            </a:pPr>
            <a:r>
              <a:rPr lang="en-US" sz="950" dirty="0">
                <a:solidFill>
                  <a:srgbClr val="76909F"/>
                </a:solidFill>
                <a:latin typeface="Courier New" pitchFamily="34" charset="0"/>
                <a:ea typeface="Courier New" pitchFamily="34" charset="-122"/>
                <a:cs typeface="Courier New" pitchFamily="34" charset="-120"/>
              </a:rPr>
              <a:t># 2 — local, after: ollama pull llama3.1:8b</a:t>
            </a:r>
            <a:endParaRPr lang="en-US" sz="950" dirty="0"/>
          </a:p>
          <a:p>
            <a:pPr indent="0" marL="0">
              <a:lnSpc>
                <a:spcPts val="1425"/>
              </a:lnSpc>
              <a:buNone/>
            </a:pPr>
            <a:r>
              <a:rPr lang="en-US" sz="950" dirty="0">
                <a:solidFill>
                  <a:srgbClr val="8FD6A8"/>
                </a:solidFill>
                <a:latin typeface="Courier New" pitchFamily="34" charset="0"/>
                <a:ea typeface="Courier New" pitchFamily="34" charset="-122"/>
                <a:cs typeface="Courier New" pitchFamily="34" charset="-120"/>
              </a:rPr>
              <a:t>import</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ollama</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r = ollama.</a:t>
            </a:r>
            <a:pPr indent="0" marL="0">
              <a:lnSpc>
                <a:spcPts val="1425"/>
              </a:lnSpc>
              <a:buNone/>
            </a:pPr>
            <a:r>
              <a:rPr lang="en-US" sz="950" dirty="0">
                <a:solidFill>
                  <a:srgbClr val="A7C6EE"/>
                </a:solidFill>
                <a:latin typeface="Courier New" pitchFamily="34" charset="0"/>
                <a:ea typeface="Courier New" pitchFamily="34" charset="-122"/>
                <a:cs typeface="Courier New" pitchFamily="34" charset="-120"/>
              </a:rPr>
              <a:t>chat</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(model=</a:t>
            </a:r>
            <a:pPr indent="0" marL="0">
              <a:lnSpc>
                <a:spcPts val="1425"/>
              </a:lnSpc>
              <a:buNone/>
            </a:pPr>
            <a:r>
              <a:rPr lang="en-US" sz="950" dirty="0">
                <a:solidFill>
                  <a:srgbClr val="EBB183"/>
                </a:solidFill>
                <a:latin typeface="Courier New" pitchFamily="34" charset="0"/>
                <a:ea typeface="Courier New" pitchFamily="34" charset="-122"/>
                <a:cs typeface="Courier New" pitchFamily="34" charset="-120"/>
              </a:rPr>
              <a:t>"llama3.1:8b"</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messages=[...])</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37960" y="3749040"/>
          <a:ext cx="5010912" cy="914400"/>
        </p:xfrm>
        <a:graphic>
          <a:graphicData uri="http://schemas.openxmlformats.org/drawingml/2006/table">
            <a:tbl>
              <a:tblPr/>
              <a:tblGrid>
                <a:gridCol w="1554480"/>
                <a:gridCol w="1737360"/>
                <a:gridCol w="1719072"/>
              </a:tblGrid>
              <a:tr h="0">
                <a:tc>
                  <a:txBody>
                    <a:bodyPr/>
                    <a:lstStyle/>
                    <a:p>
                      <a:pPr algn="l" indent="0" marL="0">
                        <a:buNone/>
                      </a:pP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Cloud API</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Local LLM</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Cost</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Per token</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Free after hardware</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Privacy</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Leaves your machine</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Stays put</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Capability</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Highest</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Good, if it fits</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Works offline</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1F5F3C"/>
                </a:solidFill>
                <a:latin typeface="Calibri" pitchFamily="34" charset="0"/>
                <a:ea typeface="Calibri" pitchFamily="34" charset="-122"/>
                <a:cs typeface="Calibri" pitchFamily="34" charset="-120"/>
              </a:rPr>
              <a:t>PART 2 · SET UP LOCALLY</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The security lab: VMs, Docker and Kali</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One rule governs all of it — the lab has no route to anything real.</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Tools &amp; Environment</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16</a:t>
            </a:r>
            <a:endParaRPr lang="en-US" sz="900" dirty="0"/>
          </a:p>
        </p:txBody>
      </p:sp>
      <p:sp>
        <p:nvSpPr>
          <p:cNvPr id="7" name="Shape 5"/>
          <p:cNvSpPr/>
          <p:nvPr/>
        </p:nvSpPr>
        <p:spPr>
          <a:xfrm>
            <a:off x="640080" y="1783080"/>
            <a:ext cx="6858000" cy="2606040"/>
          </a:xfrm>
          <a:prstGeom prst="roundRect">
            <a:avLst>
              <a:gd name="adj" fmla="val 2807"/>
            </a:avLst>
          </a:prstGeom>
          <a:solidFill>
            <a:srgbClr val="F1F5F8"/>
          </a:solidFill>
          <a:ln w="15875">
            <a:solidFill>
              <a:srgbClr val="1F5F3C"/>
            </a:solidFill>
            <a:prstDash val="dash"/>
          </a:ln>
        </p:spPr>
      </p:sp>
      <p:sp>
        <p:nvSpPr>
          <p:cNvPr id="8" name="Text 6"/>
          <p:cNvSpPr/>
          <p:nvPr/>
        </p:nvSpPr>
        <p:spPr>
          <a:xfrm>
            <a:off x="877824" y="1920240"/>
            <a:ext cx="6309360" cy="219456"/>
          </a:xfrm>
          <a:prstGeom prst="rect">
            <a:avLst/>
          </a:prstGeom>
          <a:noFill/>
          <a:ln/>
        </p:spPr>
        <p:txBody>
          <a:bodyPr wrap="square" lIns="0" tIns="0" rIns="0" bIns="0" rtlCol="0" anchor="ctr"/>
          <a:lstStyle/>
          <a:p>
            <a:pPr indent="0" marL="0">
              <a:buNone/>
            </a:pPr>
            <a:r>
              <a:rPr lang="en-US" sz="950" b="1" spc="140" kern="0" dirty="0">
                <a:solidFill>
                  <a:srgbClr val="1F5F3C"/>
                </a:solidFill>
                <a:latin typeface="Calibri" pitchFamily="34" charset="0"/>
                <a:ea typeface="Calibri" pitchFamily="34" charset="-122"/>
                <a:cs typeface="Calibri" pitchFamily="34" charset="-120"/>
              </a:rPr>
              <a:t>HOST-ONLY / NAT NETWORK — NO ROUTE OUT</a:t>
            </a:r>
            <a:endParaRPr lang="en-US" sz="950" dirty="0"/>
          </a:p>
        </p:txBody>
      </p:sp>
      <p:sp>
        <p:nvSpPr>
          <p:cNvPr id="9" name="Shape 7"/>
          <p:cNvSpPr/>
          <p:nvPr/>
        </p:nvSpPr>
        <p:spPr>
          <a:xfrm>
            <a:off x="1005840" y="2304288"/>
            <a:ext cx="2286000" cy="960120"/>
          </a:xfrm>
          <a:prstGeom prst="roundRect">
            <a:avLst>
              <a:gd name="adj" fmla="val 5714"/>
            </a:avLst>
          </a:prstGeom>
          <a:solidFill>
            <a:srgbClr val="FFFFFF"/>
          </a:solidFill>
          <a:ln w="15875">
            <a:solidFill>
              <a:srgbClr val="1F5F3C"/>
            </a:solidFill>
            <a:prstDash val="solid"/>
          </a:ln>
        </p:spPr>
      </p:sp>
      <p:sp>
        <p:nvSpPr>
          <p:cNvPr id="10" name="Text 8"/>
          <p:cNvSpPr/>
          <p:nvPr/>
        </p:nvSpPr>
        <p:spPr>
          <a:xfrm>
            <a:off x="1060704" y="2386584"/>
            <a:ext cx="2176272"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Kali VM</a:t>
            </a:r>
            <a:endParaRPr lang="en-US" sz="1250" dirty="0"/>
          </a:p>
        </p:txBody>
      </p:sp>
      <p:sp>
        <p:nvSpPr>
          <p:cNvPr id="11" name="Text 9"/>
          <p:cNvSpPr/>
          <p:nvPr/>
        </p:nvSpPr>
        <p:spPr>
          <a:xfrm>
            <a:off x="1060704" y="2651760"/>
            <a:ext cx="2176272" cy="55778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your attacker and analysis box</a:t>
            </a:r>
            <a:endParaRPr lang="en-US" sz="950" dirty="0"/>
          </a:p>
        </p:txBody>
      </p:sp>
      <p:sp>
        <p:nvSpPr>
          <p:cNvPr id="12" name="Shape 10"/>
          <p:cNvSpPr/>
          <p:nvPr/>
        </p:nvSpPr>
        <p:spPr>
          <a:xfrm>
            <a:off x="4480560" y="2304288"/>
            <a:ext cx="2560320" cy="960120"/>
          </a:xfrm>
          <a:prstGeom prst="roundRect">
            <a:avLst>
              <a:gd name="adj" fmla="val 5714"/>
            </a:avLst>
          </a:prstGeom>
          <a:solidFill>
            <a:srgbClr val="FFFFFF"/>
          </a:solidFill>
          <a:ln w="15875">
            <a:solidFill>
              <a:srgbClr val="1F5F3C"/>
            </a:solidFill>
            <a:prstDash val="solid"/>
          </a:ln>
        </p:spPr>
      </p:sp>
      <p:sp>
        <p:nvSpPr>
          <p:cNvPr id="13" name="Text 11"/>
          <p:cNvSpPr/>
          <p:nvPr/>
        </p:nvSpPr>
        <p:spPr>
          <a:xfrm>
            <a:off x="4535424" y="2386584"/>
            <a:ext cx="2450592"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Target</a:t>
            </a:r>
            <a:endParaRPr lang="en-US" sz="1250" dirty="0"/>
          </a:p>
        </p:txBody>
      </p:sp>
      <p:sp>
        <p:nvSpPr>
          <p:cNvPr id="14" name="Text 12"/>
          <p:cNvSpPr/>
          <p:nvPr/>
        </p:nvSpPr>
        <p:spPr>
          <a:xfrm>
            <a:off x="4535424" y="2651760"/>
            <a:ext cx="2450592" cy="55778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a deliberately vulnerable app</a:t>
            </a:r>
            <a:endParaRPr lang="en-US" sz="950" dirty="0"/>
          </a:p>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in a Docker container</a:t>
            </a:r>
            <a:endParaRPr lang="en-US" sz="950" dirty="0"/>
          </a:p>
        </p:txBody>
      </p:sp>
      <p:sp>
        <p:nvSpPr>
          <p:cNvPr id="15" name="Shape 13"/>
          <p:cNvSpPr/>
          <p:nvPr/>
        </p:nvSpPr>
        <p:spPr>
          <a:xfrm>
            <a:off x="2761488" y="2779776"/>
            <a:ext cx="1609344" cy="0"/>
          </a:xfrm>
          <a:prstGeom prst="line">
            <a:avLst/>
          </a:prstGeom>
          <a:noFill/>
          <a:ln w="22225">
            <a:solidFill>
              <a:srgbClr val="4E9A6E"/>
            </a:solidFill>
            <a:prstDash val="solid"/>
            <a:tailEnd type="triangle"/>
          </a:ln>
        </p:spPr>
      </p:sp>
      <p:sp>
        <p:nvSpPr>
          <p:cNvPr id="16" name="Text 14"/>
          <p:cNvSpPr/>
          <p:nvPr/>
        </p:nvSpPr>
        <p:spPr>
          <a:xfrm>
            <a:off x="2596896" y="2468880"/>
            <a:ext cx="1938528" cy="237744"/>
          </a:xfrm>
          <a:prstGeom prst="rect">
            <a:avLst/>
          </a:prstGeom>
          <a:noFill/>
          <a:ln/>
        </p:spPr>
        <p:txBody>
          <a:bodyPr wrap="square" lIns="0" tIns="0" rIns="0" bIns="0" rtlCol="0" anchor="ctr"/>
          <a:lstStyle/>
          <a:p>
            <a:pPr algn="ctr" indent="0" marL="0">
              <a:buNone/>
            </a:pPr>
            <a:r>
              <a:rPr lang="en-US" sz="900" dirty="0">
                <a:solidFill>
                  <a:srgbClr val="5C7383"/>
                </a:solidFill>
                <a:latin typeface="Calibri" pitchFamily="34" charset="0"/>
                <a:ea typeface="Calibri" pitchFamily="34" charset="-122"/>
                <a:cs typeface="Calibri" pitchFamily="34" charset="-120"/>
              </a:rPr>
              <a:t>attack traffic stays inside</a:t>
            </a:r>
            <a:endParaRPr lang="en-US" sz="900" dirty="0"/>
          </a:p>
        </p:txBody>
      </p:sp>
      <p:sp>
        <p:nvSpPr>
          <p:cNvPr id="17" name="Text 15"/>
          <p:cNvSpPr/>
          <p:nvPr/>
        </p:nvSpPr>
        <p:spPr>
          <a:xfrm>
            <a:off x="1005840" y="3401568"/>
            <a:ext cx="6309360" cy="274320"/>
          </a:xfrm>
          <a:prstGeom prst="rect">
            <a:avLst/>
          </a:prstGeom>
          <a:noFill/>
          <a:ln/>
        </p:spPr>
        <p:txBody>
          <a:bodyPr wrap="square" lIns="0" tIns="0" rIns="0" bIns="0" rtlCol="0" anchor="ctr"/>
          <a:lstStyle/>
          <a:p>
            <a:pPr indent="0" marL="0">
              <a:buNone/>
            </a:pPr>
            <a:r>
              <a:rPr lang="en-US" sz="1100" i="1" dirty="0">
                <a:solidFill>
                  <a:srgbClr val="5C7383"/>
                </a:solidFill>
                <a:latin typeface="Calibri" pitchFamily="34" charset="0"/>
                <a:ea typeface="Calibri" pitchFamily="34" charset="-122"/>
                <a:cs typeface="Calibri" pitchFamily="34" charset="-120"/>
              </a:rPr>
              <a:t>Snapshot before you break it. Revert after.</a:t>
            </a:r>
            <a:endParaRPr lang="en-US" sz="1100" dirty="0"/>
          </a:p>
        </p:txBody>
      </p:sp>
      <p:sp>
        <p:nvSpPr>
          <p:cNvPr id="18" name="Shape 16"/>
          <p:cNvSpPr/>
          <p:nvPr/>
        </p:nvSpPr>
        <p:spPr>
          <a:xfrm>
            <a:off x="7498080" y="1828800"/>
            <a:ext cx="0" cy="2194560"/>
          </a:xfrm>
          <a:prstGeom prst="line">
            <a:avLst/>
          </a:prstGeom>
          <a:noFill/>
          <a:ln w="25400">
            <a:solidFill>
              <a:srgbClr val="A4243B"/>
            </a:solidFill>
            <a:prstDash val="dash"/>
          </a:ln>
        </p:spPr>
      </p:sp>
      <p:sp>
        <p:nvSpPr>
          <p:cNvPr id="19" name="Text 17"/>
          <p:cNvSpPr/>
          <p:nvPr/>
        </p:nvSpPr>
        <p:spPr>
          <a:xfrm>
            <a:off x="7589520" y="4041648"/>
            <a:ext cx="2194560" cy="256032"/>
          </a:xfrm>
          <a:prstGeom prst="rect">
            <a:avLst/>
          </a:prstGeom>
          <a:noFill/>
          <a:ln/>
        </p:spPr>
        <p:txBody>
          <a:bodyPr wrap="square" lIns="0" tIns="0" rIns="0" bIns="0" rtlCol="0" anchor="ctr"/>
          <a:lstStyle/>
          <a:p>
            <a:pPr algn="l" indent="0" marL="0">
              <a:buNone/>
            </a:pPr>
            <a:r>
              <a:rPr lang="en-US" sz="950" b="1" dirty="0">
                <a:solidFill>
                  <a:srgbClr val="A4243B"/>
                </a:solidFill>
                <a:latin typeface="Calibri" pitchFamily="34" charset="0"/>
                <a:ea typeface="Calibri" pitchFamily="34" charset="-122"/>
                <a:cs typeface="Calibri" pitchFamily="34" charset="-120"/>
              </a:rPr>
              <a:t>no route across this line</a:t>
            </a:r>
            <a:endParaRPr lang="en-US" sz="950" dirty="0"/>
          </a:p>
        </p:txBody>
      </p:sp>
      <p:sp>
        <p:nvSpPr>
          <p:cNvPr id="20" name="Shape 18"/>
          <p:cNvSpPr/>
          <p:nvPr/>
        </p:nvSpPr>
        <p:spPr>
          <a:xfrm>
            <a:off x="8138160" y="2304288"/>
            <a:ext cx="3410712" cy="960120"/>
          </a:xfrm>
          <a:prstGeom prst="roundRect">
            <a:avLst>
              <a:gd name="adj" fmla="val 5714"/>
            </a:avLst>
          </a:prstGeom>
          <a:solidFill>
            <a:srgbClr val="F7E5E8"/>
          </a:solidFill>
          <a:ln w="15875">
            <a:solidFill>
              <a:srgbClr val="A4243B"/>
            </a:solidFill>
            <a:prstDash val="solid"/>
          </a:ln>
        </p:spPr>
      </p:sp>
      <p:sp>
        <p:nvSpPr>
          <p:cNvPr id="21" name="Text 19"/>
          <p:cNvSpPr/>
          <p:nvPr/>
        </p:nvSpPr>
        <p:spPr>
          <a:xfrm>
            <a:off x="8193024" y="2386584"/>
            <a:ext cx="3300984" cy="292608"/>
          </a:xfrm>
          <a:prstGeom prst="rect">
            <a:avLst/>
          </a:prstGeom>
          <a:noFill/>
          <a:ln/>
        </p:spPr>
        <p:txBody>
          <a:bodyPr wrap="square" lIns="0" tIns="0" rIns="0" bIns="0" rtlCol="0" anchor="ctr"/>
          <a:lstStyle/>
          <a:p>
            <a:pPr algn="ctr" indent="0" marL="0">
              <a:buNone/>
            </a:pPr>
            <a:r>
              <a:rPr lang="en-US" sz="1250" b="1" dirty="0">
                <a:solidFill>
                  <a:srgbClr val="A4243B"/>
                </a:solidFill>
                <a:latin typeface="Calibri" pitchFamily="34" charset="0"/>
                <a:ea typeface="Calibri" pitchFamily="34" charset="-122"/>
                <a:cs typeface="Calibri" pitchFamily="34" charset="-120"/>
              </a:rPr>
              <a:t>The real world</a:t>
            </a:r>
            <a:endParaRPr lang="en-US" sz="1250" dirty="0"/>
          </a:p>
        </p:txBody>
      </p:sp>
      <p:sp>
        <p:nvSpPr>
          <p:cNvPr id="22" name="Text 20"/>
          <p:cNvSpPr/>
          <p:nvPr/>
        </p:nvSpPr>
        <p:spPr>
          <a:xfrm>
            <a:off x="8193024" y="2651760"/>
            <a:ext cx="3300984" cy="557784"/>
          </a:xfrm>
          <a:prstGeom prst="rect">
            <a:avLst/>
          </a:prstGeom>
          <a:noFill/>
          <a:ln/>
        </p:spPr>
        <p:txBody>
          <a:bodyPr wrap="square" lIns="0" tIns="0" rIns="0" bIns="0" rtlCol="0" anchor="t"/>
          <a:lstStyle/>
          <a:p>
            <a:pPr algn="ctr" indent="0" marL="0">
              <a:lnSpc>
                <a:spcPts val="1200"/>
              </a:lnSpc>
              <a:buNone/>
            </a:pPr>
            <a:r>
              <a:rPr lang="en-US" sz="950" dirty="0">
                <a:solidFill>
                  <a:srgbClr val="A4243B"/>
                </a:solidFill>
                <a:latin typeface="Calibri" pitchFamily="34" charset="0"/>
                <a:ea typeface="Calibri" pitchFamily="34" charset="-122"/>
                <a:cs typeface="Calibri" pitchFamily="34" charset="-120"/>
              </a:rPr>
              <a:t>your host, your network, the internet</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4617720"/>
          <a:ext cx="10908792" cy="914400"/>
        </p:xfrm>
        <a:graphic>
          <a:graphicData uri="http://schemas.openxmlformats.org/drawingml/2006/table">
            <a:tbl>
              <a:tblPr/>
              <a:tblGrid>
                <a:gridCol w="2011680"/>
                <a:gridCol w="3931920"/>
                <a:gridCol w="496519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Tool</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gives you</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The rule attached to it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Docker</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tool or vulnerable app packaged with its dependencies, disposable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Containers share the host kernel — isolation, not a security boundary against a determined escape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A VM (VirtualBox/VMware)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full guest OS you can snapshot and revert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Set the adapter to host-only or NAT before you boot it, not after</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Kali Linux</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The attacker and analysis box, tools preinstalled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Only ever point it at lab targets you own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1F5F3C"/>
                </a:solidFill>
                <a:latin typeface="Calibri" pitchFamily="34" charset="0"/>
                <a:ea typeface="Calibri" pitchFamily="34" charset="-122"/>
                <a:cs typeface="Calibri" pitchFamily="34" charset="-120"/>
              </a:rPr>
              <a:t>PART 2 · SET UP LOCALLY</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The Python you will read</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Same message as Module 1 — reading is the skill, and the bar is lower than you think.</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Tools &amp; Environment</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17</a:t>
            </a:r>
            <a:endParaRPr lang="en-US" sz="900" dirty="0"/>
          </a:p>
        </p:txBody>
      </p:sp>
      <p:sp>
        <p:nvSpPr>
          <p:cNvPr id="7" name="Shape 5"/>
          <p:cNvSpPr/>
          <p:nvPr/>
        </p:nvSpPr>
        <p:spPr>
          <a:xfrm>
            <a:off x="640080" y="1783080"/>
            <a:ext cx="6400800" cy="2423160"/>
          </a:xfrm>
          <a:prstGeom prst="roundRect">
            <a:avLst>
              <a:gd name="adj" fmla="val 2642"/>
            </a:avLst>
          </a:prstGeom>
          <a:solidFill>
            <a:srgbClr val="13221B"/>
          </a:solidFill>
          <a:ln w="12700">
            <a:solidFill>
              <a:srgbClr val="13221B"/>
            </a:solidFill>
            <a:prstDash val="solid"/>
          </a:ln>
          <a:effectLst>
            <a:outerShdw sx="100000" sy="100000" kx="0" ky="0" algn="bl" rotWithShape="0" blurRad="114300" dist="25400" dir="5400000">
              <a:srgbClr val="0B1720">
                <a:alpha val="22000"/>
              </a:srgbClr>
            </a:outerShdw>
          </a:effectLst>
        </p:spPr>
      </p:sp>
      <p:sp>
        <p:nvSpPr>
          <p:cNvPr id="8" name="Text 6"/>
          <p:cNvSpPr/>
          <p:nvPr/>
        </p:nvSpPr>
        <p:spPr>
          <a:xfrm>
            <a:off x="877824" y="1901952"/>
            <a:ext cx="5925312" cy="237744"/>
          </a:xfrm>
          <a:prstGeom prst="rect">
            <a:avLst/>
          </a:prstGeom>
          <a:noFill/>
          <a:ln/>
        </p:spPr>
        <p:txBody>
          <a:bodyPr wrap="square" lIns="0" tIns="0" rIns="0" bIns="0" rtlCol="0" anchor="ctr"/>
          <a:lstStyle/>
          <a:p>
            <a:pPr indent="0" marL="0">
              <a:buNone/>
            </a:pPr>
            <a:r>
              <a:rPr lang="en-US" sz="950" b="1" spc="130" kern="0" dirty="0">
                <a:solidFill>
                  <a:srgbClr val="9FB8C6"/>
                </a:solidFill>
                <a:latin typeface="Calibri" pitchFamily="34" charset="0"/>
                <a:ea typeface="Calibri" pitchFamily="34" charset="-122"/>
                <a:cs typeface="Calibri" pitchFamily="34" charset="-120"/>
              </a:rPr>
              <a:t>One pandas line seeds a brute-force detector</a:t>
            </a:r>
            <a:endParaRPr lang="en-US" sz="950" dirty="0"/>
          </a:p>
        </p:txBody>
      </p:sp>
      <p:sp>
        <p:nvSpPr>
          <p:cNvPr id="9" name="Text 7"/>
          <p:cNvSpPr/>
          <p:nvPr/>
        </p:nvSpPr>
        <p:spPr>
          <a:xfrm>
            <a:off x="877824" y="2203704"/>
            <a:ext cx="5925312" cy="1856232"/>
          </a:xfrm>
          <a:prstGeom prst="rect">
            <a:avLst/>
          </a:prstGeom>
          <a:noFill/>
          <a:ln/>
        </p:spPr>
        <p:txBody>
          <a:bodyPr wrap="square" lIns="0" tIns="0" rIns="0" bIns="0" rtlCol="0" anchor="t"/>
          <a:lstStyle/>
          <a:p>
            <a:pPr indent="0" marL="0">
              <a:lnSpc>
                <a:spcPts val="1575"/>
              </a:lnSpc>
              <a:buNone/>
            </a:pPr>
            <a:r>
              <a:rPr lang="en-US" sz="1050" dirty="0">
                <a:solidFill>
                  <a:srgbClr val="8FD6A8"/>
                </a:solidFill>
                <a:latin typeface="Courier New" pitchFamily="34" charset="0"/>
                <a:ea typeface="Courier New" pitchFamily="34" charset="-122"/>
                <a:cs typeface="Courier New" pitchFamily="34" charset="-120"/>
              </a:rPr>
              <a:t>import</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pandas </a:t>
            </a:r>
            <a:pPr indent="0" marL="0">
              <a:lnSpc>
                <a:spcPts val="1575"/>
              </a:lnSpc>
              <a:buNone/>
            </a:pPr>
            <a:r>
              <a:rPr lang="en-US" sz="1050" dirty="0">
                <a:solidFill>
                  <a:srgbClr val="8FD6A8"/>
                </a:solidFill>
                <a:latin typeface="Courier New" pitchFamily="34" charset="0"/>
                <a:ea typeface="Courier New" pitchFamily="34" charset="-122"/>
                <a:cs typeface="Courier New" pitchFamily="34" charset="-120"/>
              </a:rPr>
              <a:t>as</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pd</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logs = pd.</a:t>
            </a:r>
            <a:pPr indent="0" marL="0">
              <a:lnSpc>
                <a:spcPts val="1575"/>
              </a:lnSpc>
              <a:buNone/>
            </a:pPr>
            <a:r>
              <a:rPr lang="en-US" sz="1050" dirty="0">
                <a:solidFill>
                  <a:srgbClr val="A7C6EE"/>
                </a:solidFill>
                <a:latin typeface="Courier New" pitchFamily="34" charset="0"/>
                <a:ea typeface="Courier New" pitchFamily="34" charset="-122"/>
                <a:cs typeface="Courier New" pitchFamily="34" charset="-120"/>
              </a:rPr>
              <a:t>read_csv</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a:t>
            </a:r>
            <a:pPr indent="0" marL="0">
              <a:lnSpc>
                <a:spcPts val="1575"/>
              </a:lnSpc>
              <a:buNone/>
            </a:pPr>
            <a:r>
              <a:rPr lang="en-US" sz="1050" dirty="0">
                <a:solidFill>
                  <a:srgbClr val="EBB183"/>
                </a:solidFill>
                <a:latin typeface="Courier New" pitchFamily="34" charset="0"/>
                <a:ea typeface="Courier New" pitchFamily="34" charset="-122"/>
                <a:cs typeface="Courier New" pitchFamily="34" charset="-120"/>
              </a:rPr>
              <a:t>"auth.log.csv"</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fails = logs[logs[</a:t>
            </a:r>
            <a:pPr indent="0" marL="0">
              <a:lnSpc>
                <a:spcPts val="1575"/>
              </a:lnSpc>
              <a:buNone/>
            </a:pPr>
            <a:r>
              <a:rPr lang="en-US" sz="1050" dirty="0">
                <a:solidFill>
                  <a:srgbClr val="EBB183"/>
                </a:solidFill>
                <a:latin typeface="Courier New" pitchFamily="34" charset="0"/>
                <a:ea typeface="Courier New" pitchFamily="34" charset="-122"/>
                <a:cs typeface="Courier New" pitchFamily="34" charset="-120"/>
              </a:rPr>
              <a:t>"result"</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 </a:t>
            </a:r>
            <a:pPr indent="0" marL="0">
              <a:lnSpc>
                <a:spcPts val="1575"/>
              </a:lnSpc>
              <a:buNone/>
            </a:pPr>
            <a:r>
              <a:rPr lang="en-US" sz="1050" dirty="0">
                <a:solidFill>
                  <a:srgbClr val="EBB183"/>
                </a:solidFill>
                <a:latin typeface="Courier New" pitchFamily="34" charset="0"/>
                <a:ea typeface="Courier New" pitchFamily="34" charset="-122"/>
                <a:cs typeface="Courier New" pitchFamily="34" charset="-120"/>
              </a:rPr>
              <a:t>"FAIL"</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noisy = fails.</a:t>
            </a:r>
            <a:pPr indent="0" marL="0">
              <a:lnSpc>
                <a:spcPts val="1575"/>
              </a:lnSpc>
              <a:buNone/>
            </a:pPr>
            <a:r>
              <a:rPr lang="en-US" sz="1050" dirty="0">
                <a:solidFill>
                  <a:srgbClr val="A7C6EE"/>
                </a:solidFill>
                <a:latin typeface="Courier New" pitchFamily="34" charset="0"/>
                <a:ea typeface="Courier New" pitchFamily="34" charset="-122"/>
                <a:cs typeface="Courier New" pitchFamily="34" charset="-120"/>
              </a:rPr>
              <a:t>groupby</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a:t>
            </a:r>
            <a:pPr indent="0" marL="0">
              <a:lnSpc>
                <a:spcPts val="1575"/>
              </a:lnSpc>
              <a:buNone/>
            </a:pPr>
            <a:r>
              <a:rPr lang="en-US" sz="1050" dirty="0">
                <a:solidFill>
                  <a:srgbClr val="EBB183"/>
                </a:solidFill>
                <a:latin typeface="Courier New" pitchFamily="34" charset="0"/>
                <a:ea typeface="Courier New" pitchFamily="34" charset="-122"/>
                <a:cs typeface="Courier New" pitchFamily="34" charset="-120"/>
              </a:rPr>
              <a:t>"src_ip"</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a:t>
            </a:r>
            <a:pPr indent="0" marL="0">
              <a:lnSpc>
                <a:spcPts val="1575"/>
              </a:lnSpc>
              <a:buNone/>
            </a:pPr>
            <a:r>
              <a:rPr lang="en-US" sz="1050" dirty="0">
                <a:solidFill>
                  <a:srgbClr val="A7C6EE"/>
                </a:solidFill>
                <a:latin typeface="Courier New" pitchFamily="34" charset="0"/>
                <a:ea typeface="Courier New" pitchFamily="34" charset="-122"/>
                <a:cs typeface="Courier New" pitchFamily="34" charset="-120"/>
              </a:rPr>
              <a:t>size</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a:t>
            </a:r>
            <a:endParaRPr lang="en-US" sz="1050" dirty="0"/>
          </a:p>
          <a:p>
            <a:pPr indent="0" marL="0">
              <a:lnSpc>
                <a:spcPts val="1575"/>
              </a:lnSpc>
              <a:buNone/>
            </a:pPr>
            <a:r>
              <a:rPr lang="en-US" sz="1050" dirty="0">
                <a:solidFill>
                  <a:srgbClr val="A7C6EE"/>
                </a:solidFill>
                <a:latin typeface="Courier New" pitchFamily="34" charset="0"/>
                <a:ea typeface="Courier New" pitchFamily="34" charset="-122"/>
                <a:cs typeface="Courier New" pitchFamily="34" charset="-120"/>
              </a:rPr>
              <a:t>print</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(noisy[noisy &gt; 10].</a:t>
            </a:r>
            <a:pPr indent="0" marL="0">
              <a:lnSpc>
                <a:spcPts val="1575"/>
              </a:lnSpc>
              <a:buNone/>
            </a:pPr>
            <a:r>
              <a:rPr lang="en-US" sz="1050" dirty="0">
                <a:solidFill>
                  <a:srgbClr val="A7C6EE"/>
                </a:solidFill>
                <a:latin typeface="Courier New" pitchFamily="34" charset="0"/>
                <a:ea typeface="Courier New" pitchFamily="34" charset="-122"/>
                <a:cs typeface="Courier New" pitchFamily="34" charset="-120"/>
              </a:rPr>
              <a:t>sort_values</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(ascending=</a:t>
            </a:r>
            <a:pPr indent="0" marL="0">
              <a:lnSpc>
                <a:spcPts val="1575"/>
              </a:lnSpc>
              <a:buNone/>
            </a:pPr>
            <a:r>
              <a:rPr lang="en-US" sz="1050" dirty="0">
                <a:solidFill>
                  <a:srgbClr val="8FD6A8"/>
                </a:solidFill>
                <a:latin typeface="Courier New" pitchFamily="34" charset="0"/>
                <a:ea typeface="Courier New" pitchFamily="34" charset="-122"/>
                <a:cs typeface="Courier New" pitchFamily="34" charset="-120"/>
              </a:rPr>
              <a:t>False</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269480" y="1783080"/>
          <a:ext cx="4279392" cy="914400"/>
        </p:xfrm>
        <a:graphic>
          <a:graphicData uri="http://schemas.openxmlformats.org/drawingml/2006/table">
            <a:tbl>
              <a:tblPr/>
              <a:tblGrid>
                <a:gridCol w="1920240"/>
                <a:gridCol w="235915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You need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Not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To follow this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To have written it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To fix an error in it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To design the library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To adapt it to your data</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To optimise it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To spot it doing something odd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To review it formally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
        <p:nvSpPr>
          <p:cNvPr id="11" name="Shape 8"/>
          <p:cNvSpPr/>
          <p:nvPr/>
        </p:nvSpPr>
        <p:spPr>
          <a:xfrm>
            <a:off x="640080" y="4389120"/>
            <a:ext cx="6400800" cy="1463040"/>
          </a:xfrm>
          <a:prstGeom prst="roundRect">
            <a:avLst>
              <a:gd name="adj" fmla="val 3750"/>
            </a:avLst>
          </a:prstGeom>
          <a:solidFill>
            <a:srgbClr val="DFEEE5"/>
          </a:solidFill>
          <a:ln w="9525">
            <a:solidFill>
              <a:srgbClr val="1F5F3C"/>
            </a:solidFill>
            <a:prstDash val="solid"/>
          </a:ln>
        </p:spPr>
      </p:sp>
      <p:sp>
        <p:nvSpPr>
          <p:cNvPr id="12" name="Text 9"/>
          <p:cNvSpPr/>
          <p:nvPr/>
        </p:nvSpPr>
        <p:spPr>
          <a:xfrm>
            <a:off x="859536" y="4480560"/>
            <a:ext cx="5961888" cy="1280160"/>
          </a:xfrm>
          <a:prstGeom prst="rect">
            <a:avLst/>
          </a:prstGeom>
          <a:noFill/>
          <a:ln/>
        </p:spPr>
        <p:txBody>
          <a:bodyPr wrap="square" lIns="0" tIns="0" rIns="0" bIns="0" rtlCol="0" anchor="ctr"/>
          <a:lstStyle/>
          <a:p>
            <a:pPr indent="0" marL="0">
              <a:lnSpc>
                <a:spcPts val="1610"/>
              </a:lnSpc>
              <a:buNone/>
            </a:pPr>
            <a:r>
              <a:rPr lang="en-US" sz="1150" b="1" dirty="0">
                <a:solidFill>
                  <a:srgbClr val="1F5F3C"/>
                </a:solidFill>
                <a:latin typeface="Calibri" pitchFamily="34" charset="0"/>
                <a:ea typeface="Calibri" pitchFamily="34" charset="-122"/>
                <a:cs typeface="Calibri" pitchFamily="34" charset="-120"/>
              </a:rPr>
              <a:t>Why this matters here specifically:  </a:t>
            </a:r>
            <a:pPr indent="0" marL="0">
              <a:lnSpc>
                <a:spcPts val="1610"/>
              </a:lnSpc>
              <a:buNone/>
            </a:pPr>
            <a:r>
              <a:rPr lang="en-US" sz="1150" dirty="0">
                <a:solidFill>
                  <a:srgbClr val="12202B"/>
                </a:solidFill>
                <a:latin typeface="Calibri" pitchFamily="34" charset="0"/>
                <a:ea typeface="Calibri" pitchFamily="34" charset="-122"/>
                <a:cs typeface="Calibri" pitchFamily="34" charset="-120"/>
              </a:rPr>
              <a:t>in this course an AI assistant will often write the first draft of your code. Reading is what lets you tell whether that draft does what you asked, and it is the difference between using a tool and being used by one.</a:t>
            </a:r>
            <a:endParaRPr lang="en-US" sz="1150" dirty="0"/>
          </a:p>
        </p:txBody>
      </p:sp>
      <p:sp>
        <p:nvSpPr>
          <p:cNvPr id="13" name="Shape 10"/>
          <p:cNvSpPr/>
          <p:nvPr/>
        </p:nvSpPr>
        <p:spPr>
          <a:xfrm>
            <a:off x="7269480" y="3913632"/>
            <a:ext cx="4279392" cy="1938528"/>
          </a:xfrm>
          <a:prstGeom prst="roundRect">
            <a:avLst>
              <a:gd name="adj" fmla="val 3302"/>
            </a:avLst>
          </a:prstGeom>
          <a:solidFill>
            <a:srgbClr val="F1F5F8"/>
          </a:solidFill>
          <a:ln w="9525">
            <a:solidFill>
              <a:srgbClr val="C9D8E0"/>
            </a:solidFill>
            <a:prstDash val="solid"/>
          </a:ln>
        </p:spPr>
      </p:sp>
      <p:sp>
        <p:nvSpPr>
          <p:cNvPr id="14" name="Text 11"/>
          <p:cNvSpPr/>
          <p:nvPr/>
        </p:nvSpPr>
        <p:spPr>
          <a:xfrm>
            <a:off x="7525512" y="4096512"/>
            <a:ext cx="3767328" cy="420624"/>
          </a:xfrm>
          <a:prstGeom prst="rect">
            <a:avLst/>
          </a:prstGeom>
          <a:noFill/>
          <a:ln/>
        </p:spPr>
        <p:txBody>
          <a:bodyPr wrap="square" lIns="0" tIns="0" rIns="0" bIns="0" rtlCol="0" anchor="ctr"/>
          <a:lstStyle/>
          <a:p>
            <a:pPr indent="0" marL="0">
              <a:buNone/>
            </a:pPr>
            <a:r>
              <a:rPr lang="en-US" sz="1450" b="1" dirty="0">
                <a:solidFill>
                  <a:srgbClr val="12202B"/>
                </a:solidFill>
                <a:latin typeface="Calibri" pitchFamily="34" charset="0"/>
                <a:ea typeface="Calibri" pitchFamily="34" charset="-122"/>
                <a:cs typeface="Calibri" pitchFamily="34" charset="-120"/>
              </a:rPr>
              <a:t>If Python is new</a:t>
            </a:r>
            <a:endParaRPr lang="en-US" sz="1450" dirty="0"/>
          </a:p>
        </p:txBody>
      </p:sp>
      <p:sp>
        <p:nvSpPr>
          <p:cNvPr id="15" name="Text 12"/>
          <p:cNvSpPr/>
          <p:nvPr/>
        </p:nvSpPr>
        <p:spPr>
          <a:xfrm>
            <a:off x="7525512" y="4572000"/>
            <a:ext cx="3767328" cy="1078992"/>
          </a:xfrm>
          <a:prstGeom prst="rect">
            <a:avLst/>
          </a:prstGeom>
          <a:noFill/>
          <a:ln/>
        </p:spPr>
        <p:txBody>
          <a:bodyPr wrap="square" lIns="0" tIns="0" rIns="0" bIns="0" rtlCol="0" anchor="t"/>
          <a:lstStyle/>
          <a:p>
            <a:pPr indent="0" marL="0">
              <a:lnSpc>
                <a:spcPts val="1491"/>
              </a:lnSpc>
              <a:buNone/>
            </a:pPr>
            <a:r>
              <a:rPr lang="en-US" sz="1050" dirty="0">
                <a:solidFill>
                  <a:srgbClr val="1B2B36"/>
                </a:solidFill>
                <a:latin typeface="Calibri" pitchFamily="34" charset="0"/>
                <a:ea typeface="Calibri" pitchFamily="34" charset="-122"/>
                <a:cs typeface="Calibri" pitchFamily="34" charset="-120"/>
              </a:rPr>
              <a:t>The recommended Weeks 1–3 review from Module 1 still stands, and it is still not graded:</a:t>
            </a:r>
            <a:endParaRPr lang="en-US" sz="1050" dirty="0"/>
          </a:p>
          <a:p>
            <a:pPr indent="0" marL="0">
              <a:lnSpc>
                <a:spcPts val="1491"/>
              </a:lnSpc>
              <a:buNone/>
            </a:pPr>
            <a:endParaRPr lang="en-US" sz="1050" dirty="0"/>
          </a:p>
          <a:p>
            <a:pPr indent="0" marL="0">
              <a:lnSpc>
                <a:spcPts val="1491"/>
              </a:lnSpc>
              <a:buNone/>
            </a:pPr>
            <a:r>
              <a:rPr lang="en-US" sz="1050" dirty="0">
                <a:solidFill>
                  <a:srgbClr val="1B2B36"/>
                </a:solidFill>
                <a:latin typeface="Calibri" pitchFamily="34" charset="0"/>
                <a:ea typeface="Calibri" pitchFamily="34" charset="-122"/>
                <a:cs typeface="Calibri" pitchFamily="34" charset="-120"/>
              </a:rPr>
              <a:t>LinkedIn Learning — "Python for Non-Programmers" (free to you)</a:t>
            </a:r>
            <a:endParaRPr lang="en-US" sz="1050" dirty="0"/>
          </a:p>
          <a:p>
            <a:pPr indent="0" marL="0">
              <a:lnSpc>
                <a:spcPts val="1491"/>
              </a:lnSpc>
              <a:buNone/>
            </a:pPr>
            <a:r>
              <a:rPr lang="en-US" sz="1050" dirty="0">
                <a:solidFill>
                  <a:srgbClr val="1B2B36"/>
                </a:solidFill>
                <a:latin typeface="Calibri" pitchFamily="34" charset="0"/>
                <a:ea typeface="Calibri" pitchFamily="34" charset="-122"/>
                <a:cs typeface="Calibri" pitchFamily="34" charset="-120"/>
              </a:rPr>
              <a:t>learnpython.org — interactive, no install</a:t>
            </a:r>
            <a:endParaRPr lang="en-US" sz="1050" dirty="0"/>
          </a:p>
          <a:p>
            <a:pPr indent="0" marL="0">
              <a:lnSpc>
                <a:spcPts val="1491"/>
              </a:lnSpc>
              <a:buNone/>
            </a:pPr>
            <a:r>
              <a:rPr lang="en-US" sz="1050" dirty="0">
                <a:solidFill>
                  <a:srgbClr val="1B2B36"/>
                </a:solidFill>
                <a:latin typeface="Calibri" pitchFamily="34" charset="0"/>
                <a:ea typeface="Calibri" pitchFamily="34" charset="-122"/>
                <a:cs typeface="Calibri" pitchFamily="34" charset="-120"/>
              </a:rPr>
              <a:t>A free two-hour YouTube course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202B"/>
        </a:solidFill>
      </p:bgPr>
    </p:bg>
    <p:spTree>
      <p:nvGrpSpPr>
        <p:cNvPr id="1" name=""/>
        <p:cNvGrpSpPr/>
        <p:nvPr/>
      </p:nvGrpSpPr>
      <p:grpSpPr>
        <a:xfrm>
          <a:off x="0" y="0"/>
          <a:ext cx="0" cy="0"/>
          <a:chOff x="0" y="0"/>
          <a:chExt cx="0" cy="0"/>
        </a:xfrm>
      </p:grpSpPr>
      <p:sp>
        <p:nvSpPr>
          <p:cNvPr id="2" name="Text 0"/>
          <p:cNvSpPr/>
          <p:nvPr/>
        </p:nvSpPr>
        <p:spPr>
          <a:xfrm>
            <a:off x="640080" y="1417320"/>
            <a:ext cx="6766560" cy="274320"/>
          </a:xfrm>
          <a:prstGeom prst="rect">
            <a:avLst/>
          </a:prstGeom>
          <a:noFill/>
          <a:ln/>
        </p:spPr>
        <p:txBody>
          <a:bodyPr wrap="square" lIns="0" tIns="0" rIns="0" bIns="0" rtlCol="0" anchor="ctr"/>
          <a:lstStyle/>
          <a:p>
            <a:pPr indent="0" marL="0">
              <a:buNone/>
            </a:pPr>
            <a:r>
              <a:rPr lang="en-US" sz="1100" b="1" spc="220" kern="0" dirty="0">
                <a:solidFill>
                  <a:srgbClr val="4E9A6E"/>
                </a:solidFill>
                <a:latin typeface="Calibri" pitchFamily="34" charset="0"/>
                <a:ea typeface="Calibri" pitchFamily="34" charset="-122"/>
                <a:cs typeface="Calibri" pitchFamily="34" charset="-120"/>
              </a:rPr>
              <a:t>PART 3</a:t>
            </a:r>
            <a:endParaRPr lang="en-US" sz="1100" dirty="0"/>
          </a:p>
        </p:txBody>
      </p:sp>
      <p:sp>
        <p:nvSpPr>
          <p:cNvPr id="3" name="Text 1"/>
          <p:cNvSpPr/>
          <p:nvPr/>
        </p:nvSpPr>
        <p:spPr>
          <a:xfrm>
            <a:off x="640080" y="1783080"/>
            <a:ext cx="6766560" cy="11887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Your Machine</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in the Cloud</a:t>
            </a:r>
            <a:endParaRPr lang="en-US" sz="3800" dirty="0"/>
          </a:p>
        </p:txBody>
      </p:sp>
      <p:sp>
        <p:nvSpPr>
          <p:cNvPr id="4" name="Text 2"/>
          <p:cNvSpPr/>
          <p:nvPr/>
        </p:nvSpPr>
        <p:spPr>
          <a:xfrm>
            <a:off x="640080" y="3127248"/>
            <a:ext cx="6309360" cy="1097280"/>
          </a:xfrm>
          <a:prstGeom prst="rect">
            <a:avLst/>
          </a:prstGeom>
          <a:noFill/>
          <a:ln/>
        </p:spPr>
        <p:txBody>
          <a:bodyPr wrap="square" lIns="0" tIns="0" rIns="0" bIns="0" rtlCol="0" anchor="t"/>
          <a:lstStyle/>
          <a:p>
            <a:pPr indent="0" marL="0">
              <a:lnSpc>
                <a:spcPts val="2200"/>
              </a:lnSpc>
              <a:buNone/>
            </a:pPr>
            <a:r>
              <a:rPr lang="en-US" sz="1450" dirty="0">
                <a:solidFill>
                  <a:srgbClr val="9FB8C6"/>
                </a:solidFill>
                <a:latin typeface="Calibri" pitchFamily="34" charset="0"/>
                <a:ea typeface="Calibri" pitchFamily="34" charset="-122"/>
                <a:cs typeface="Calibri" pitchFamily="34" charset="-120"/>
              </a:rPr>
              <a:t>Optional, and the companion to Lab B: a free GPU virtual machine on NAIRR Jetstream2 for the day a job outgrows your laptop.</a:t>
            </a:r>
            <a:endParaRPr lang="en-US" sz="1450" dirty="0"/>
          </a:p>
        </p:txBody>
      </p:sp>
      <p:sp>
        <p:nvSpPr>
          <p:cNvPr id="5" name="Text 3"/>
          <p:cNvSpPr/>
          <p:nvPr/>
        </p:nvSpPr>
        <p:spPr>
          <a:xfrm>
            <a:off x="7818120" y="1033272"/>
            <a:ext cx="3749040" cy="237744"/>
          </a:xfrm>
          <a:prstGeom prst="rect">
            <a:avLst/>
          </a:prstGeom>
          <a:noFill/>
          <a:ln/>
        </p:spPr>
        <p:txBody>
          <a:bodyPr wrap="square" lIns="0" tIns="0" rIns="0" bIns="0" rtlCol="0" anchor="ctr"/>
          <a:lstStyle/>
          <a:p>
            <a:pPr indent="0" marL="0">
              <a:buNone/>
            </a:pPr>
            <a:r>
              <a:rPr lang="en-US" sz="950" b="1" spc="160" kern="0" dirty="0">
                <a:solidFill>
                  <a:srgbClr val="9FB8C6"/>
                </a:solidFill>
                <a:latin typeface="Calibri" pitchFamily="34" charset="0"/>
                <a:ea typeface="Calibri" pitchFamily="34" charset="-122"/>
                <a:cs typeface="Calibri" pitchFamily="34" charset="-120"/>
              </a:rPr>
              <a:t>MODULE MAP</a:t>
            </a:r>
            <a:endParaRPr lang="en-US" sz="950" dirty="0"/>
          </a:p>
        </p:txBody>
      </p:sp>
      <p:sp>
        <p:nvSpPr>
          <p:cNvPr id="6" name="Shape 4"/>
          <p:cNvSpPr/>
          <p:nvPr/>
        </p:nvSpPr>
        <p:spPr>
          <a:xfrm>
            <a:off x="7818120" y="1527048"/>
            <a:ext cx="182880" cy="182880"/>
          </a:xfrm>
          <a:prstGeom prst="ellipse">
            <a:avLst/>
          </a:prstGeom>
          <a:solidFill>
            <a:srgbClr val="1D3444"/>
          </a:solidFill>
          <a:ln w="12700">
            <a:solidFill>
              <a:srgbClr val="3A5566"/>
            </a:solidFill>
            <a:prstDash val="solid"/>
          </a:ln>
        </p:spPr>
      </p:sp>
      <p:sp>
        <p:nvSpPr>
          <p:cNvPr id="7" name="Text 5"/>
          <p:cNvSpPr/>
          <p:nvPr/>
        </p:nvSpPr>
        <p:spPr>
          <a:xfrm>
            <a:off x="8147304" y="1417320"/>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Why Tooling Is a Security Topic</a:t>
            </a:r>
            <a:endParaRPr lang="en-US" sz="1200" dirty="0"/>
          </a:p>
        </p:txBody>
      </p:sp>
      <p:sp>
        <p:nvSpPr>
          <p:cNvPr id="8" name="Shape 6"/>
          <p:cNvSpPr/>
          <p:nvPr/>
        </p:nvSpPr>
        <p:spPr>
          <a:xfrm>
            <a:off x="7818120" y="2185416"/>
            <a:ext cx="182880" cy="182880"/>
          </a:xfrm>
          <a:prstGeom prst="ellipse">
            <a:avLst/>
          </a:prstGeom>
          <a:solidFill>
            <a:srgbClr val="1D3444"/>
          </a:solidFill>
          <a:ln w="12700">
            <a:solidFill>
              <a:srgbClr val="3A5566"/>
            </a:solidFill>
            <a:prstDash val="solid"/>
          </a:ln>
        </p:spPr>
      </p:sp>
      <p:sp>
        <p:nvSpPr>
          <p:cNvPr id="9" name="Text 7"/>
          <p:cNvSpPr/>
          <p:nvPr/>
        </p:nvSpPr>
        <p:spPr>
          <a:xfrm>
            <a:off x="8147304" y="2075688"/>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Set Up Locally</a:t>
            </a:r>
            <a:endParaRPr lang="en-US" sz="1200" dirty="0"/>
          </a:p>
        </p:txBody>
      </p:sp>
      <p:sp>
        <p:nvSpPr>
          <p:cNvPr id="10" name="Shape 8"/>
          <p:cNvSpPr/>
          <p:nvPr/>
        </p:nvSpPr>
        <p:spPr>
          <a:xfrm>
            <a:off x="7818120" y="2843784"/>
            <a:ext cx="182880" cy="182880"/>
          </a:xfrm>
          <a:prstGeom prst="ellipse">
            <a:avLst/>
          </a:prstGeom>
          <a:solidFill>
            <a:srgbClr val="4E9A6E"/>
          </a:solidFill>
          <a:ln w="12700">
            <a:solidFill>
              <a:srgbClr val="4E9A6E"/>
            </a:solidFill>
            <a:prstDash val="solid"/>
          </a:ln>
        </p:spPr>
      </p:sp>
      <p:sp>
        <p:nvSpPr>
          <p:cNvPr id="11" name="Text 9"/>
          <p:cNvSpPr/>
          <p:nvPr/>
        </p:nvSpPr>
        <p:spPr>
          <a:xfrm>
            <a:off x="8147304" y="2734056"/>
            <a:ext cx="342900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Your Machine in the Cloud</a:t>
            </a:r>
            <a:endParaRPr lang="en-US" sz="1300" dirty="0"/>
          </a:p>
        </p:txBody>
      </p:sp>
      <p:sp>
        <p:nvSpPr>
          <p:cNvPr id="12" name="Shape 10"/>
          <p:cNvSpPr/>
          <p:nvPr/>
        </p:nvSpPr>
        <p:spPr>
          <a:xfrm>
            <a:off x="7818120" y="3502152"/>
            <a:ext cx="182880" cy="182880"/>
          </a:xfrm>
          <a:prstGeom prst="ellipse">
            <a:avLst/>
          </a:prstGeom>
          <a:solidFill>
            <a:srgbClr val="1D3444"/>
          </a:solidFill>
          <a:ln w="12700">
            <a:solidFill>
              <a:srgbClr val="3A5566"/>
            </a:solidFill>
            <a:prstDash val="solid"/>
          </a:ln>
        </p:spPr>
      </p:sp>
      <p:sp>
        <p:nvSpPr>
          <p:cNvPr id="13" name="Text 11"/>
          <p:cNvSpPr/>
          <p:nvPr/>
        </p:nvSpPr>
        <p:spPr>
          <a:xfrm>
            <a:off x="8147304" y="3392424"/>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Your Environment &amp; the Labs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1F5F3C"/>
                </a:solidFill>
                <a:latin typeface="Calibri" pitchFamily="34" charset="0"/>
                <a:ea typeface="Calibri" pitchFamily="34" charset="-122"/>
                <a:cs typeface="Calibri" pitchFamily="34" charset="-120"/>
              </a:rPr>
              <a:t>PART 3 · YOUR MACHINE IN THE CLOUD</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Why a cloud VM — and what NAIRR gives you</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Optional this term. It becomes the compute home for the later modules.</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Tools &amp; Environment</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19</a:t>
            </a:r>
            <a:endParaRPr lang="en-US" sz="900" dirty="0"/>
          </a:p>
        </p:txBody>
      </p:sp>
      <p:sp>
        <p:nvSpPr>
          <p:cNvPr id="7" name="Text 5"/>
          <p:cNvSpPr/>
          <p:nvPr/>
        </p:nvSpPr>
        <p:spPr>
          <a:xfrm>
            <a:off x="640080" y="1828800"/>
            <a:ext cx="2377440" cy="713232"/>
          </a:xfrm>
          <a:prstGeom prst="rect">
            <a:avLst/>
          </a:prstGeom>
          <a:noFill/>
          <a:ln/>
        </p:spPr>
        <p:txBody>
          <a:bodyPr wrap="square" lIns="0" tIns="0" rIns="0" bIns="0" rtlCol="0" anchor="ctr"/>
          <a:lstStyle/>
          <a:p>
            <a:pPr indent="0" marL="0">
              <a:buNone/>
            </a:pPr>
            <a:r>
              <a:rPr lang="en-US" sz="3400" b="1" dirty="0">
                <a:solidFill>
                  <a:srgbClr val="1F5F3C"/>
                </a:solidFill>
                <a:latin typeface="Cambria" pitchFamily="34" charset="0"/>
                <a:ea typeface="Cambria" pitchFamily="34" charset="-122"/>
                <a:cs typeface="Cambria" pitchFamily="34" charset="-120"/>
              </a:rPr>
              <a:t>A100</a:t>
            </a:r>
            <a:endParaRPr lang="en-US" sz="3400" dirty="0"/>
          </a:p>
        </p:txBody>
      </p:sp>
      <p:sp>
        <p:nvSpPr>
          <p:cNvPr id="8" name="Text 6"/>
          <p:cNvSpPr/>
          <p:nvPr/>
        </p:nvSpPr>
        <p:spPr>
          <a:xfrm>
            <a:off x="640080" y="2523744"/>
            <a:ext cx="2377440" cy="457200"/>
          </a:xfrm>
          <a:prstGeom prst="rect">
            <a:avLst/>
          </a:prstGeom>
          <a:noFill/>
          <a:ln/>
        </p:spPr>
        <p:txBody>
          <a:bodyPr wrap="square" lIns="0" tIns="0" rIns="0" bIns="0" rtlCol="0" anchor="t"/>
          <a:lstStyle/>
          <a:p>
            <a:pPr indent="0" marL="0">
              <a:lnSpc>
                <a:spcPts val="1500"/>
              </a:lnSpc>
              <a:buNone/>
            </a:pPr>
            <a:r>
              <a:rPr lang="en-US" sz="1150" dirty="0">
                <a:solidFill>
                  <a:srgbClr val="5C7383"/>
                </a:solidFill>
                <a:latin typeface="Calibri" pitchFamily="34" charset="0"/>
                <a:ea typeface="Calibri" pitchFamily="34" charset="-122"/>
                <a:cs typeface="Calibri" pitchFamily="34" charset="-120"/>
              </a:rPr>
              <a:t>GPU slice on a g3.large instance</a:t>
            </a:r>
            <a:endParaRPr lang="en-US" sz="1150" dirty="0"/>
          </a:p>
        </p:txBody>
      </p:sp>
      <p:sp>
        <p:nvSpPr>
          <p:cNvPr id="9" name="Text 7"/>
          <p:cNvSpPr/>
          <p:nvPr/>
        </p:nvSpPr>
        <p:spPr>
          <a:xfrm>
            <a:off x="3200400" y="1828800"/>
            <a:ext cx="2377440" cy="713232"/>
          </a:xfrm>
          <a:prstGeom prst="rect">
            <a:avLst/>
          </a:prstGeom>
          <a:noFill/>
          <a:ln/>
        </p:spPr>
        <p:txBody>
          <a:bodyPr wrap="square" lIns="0" tIns="0" rIns="0" bIns="0" rtlCol="0" anchor="ctr"/>
          <a:lstStyle/>
          <a:p>
            <a:pPr indent="0" marL="0">
              <a:buNone/>
            </a:pPr>
            <a:r>
              <a:rPr lang="en-US" sz="3400" b="1" dirty="0">
                <a:solidFill>
                  <a:srgbClr val="1F5F3C"/>
                </a:solidFill>
                <a:latin typeface="Cambria" pitchFamily="34" charset="0"/>
                <a:ea typeface="Cambria" pitchFamily="34" charset="-122"/>
                <a:cs typeface="Cambria" pitchFamily="34" charset="-120"/>
              </a:rPr>
              <a:t>~20 GB</a:t>
            </a:r>
            <a:endParaRPr lang="en-US" sz="3400" dirty="0"/>
          </a:p>
        </p:txBody>
      </p:sp>
      <p:sp>
        <p:nvSpPr>
          <p:cNvPr id="10" name="Text 8"/>
          <p:cNvSpPr/>
          <p:nvPr/>
        </p:nvSpPr>
        <p:spPr>
          <a:xfrm>
            <a:off x="3200400" y="2523744"/>
            <a:ext cx="2377440" cy="457200"/>
          </a:xfrm>
          <a:prstGeom prst="rect">
            <a:avLst/>
          </a:prstGeom>
          <a:noFill/>
          <a:ln/>
        </p:spPr>
        <p:txBody>
          <a:bodyPr wrap="square" lIns="0" tIns="0" rIns="0" bIns="0" rtlCol="0" anchor="t"/>
          <a:lstStyle/>
          <a:p>
            <a:pPr indent="0" marL="0">
              <a:lnSpc>
                <a:spcPts val="1500"/>
              </a:lnSpc>
              <a:buNone/>
            </a:pPr>
            <a:r>
              <a:rPr lang="en-US" sz="1150" dirty="0">
                <a:solidFill>
                  <a:srgbClr val="5C7383"/>
                </a:solidFill>
                <a:latin typeface="Calibri" pitchFamily="34" charset="0"/>
                <a:ea typeface="Calibri" pitchFamily="34" charset="-122"/>
                <a:cs typeface="Calibri" pitchFamily="34" charset="-120"/>
              </a:rPr>
              <a:t>of VRAM — fits a 14B model comfortably</a:t>
            </a:r>
            <a:endParaRPr lang="en-US" sz="1150" dirty="0"/>
          </a:p>
        </p:txBody>
      </p:sp>
      <p:sp>
        <p:nvSpPr>
          <p:cNvPr id="11" name="Text 9"/>
          <p:cNvSpPr/>
          <p:nvPr/>
        </p:nvSpPr>
        <p:spPr>
          <a:xfrm>
            <a:off x="5760720" y="1828800"/>
            <a:ext cx="2377440" cy="713232"/>
          </a:xfrm>
          <a:prstGeom prst="rect">
            <a:avLst/>
          </a:prstGeom>
          <a:noFill/>
          <a:ln/>
        </p:spPr>
        <p:txBody>
          <a:bodyPr wrap="square" lIns="0" tIns="0" rIns="0" bIns="0" rtlCol="0" anchor="ctr"/>
          <a:lstStyle/>
          <a:p>
            <a:pPr indent="0" marL="0">
              <a:buNone/>
            </a:pPr>
            <a:r>
              <a:rPr lang="en-US" sz="3400" b="1" dirty="0">
                <a:solidFill>
                  <a:srgbClr val="1F5F3C"/>
                </a:solidFill>
                <a:latin typeface="Cambria" pitchFamily="34" charset="0"/>
                <a:ea typeface="Cambria" pitchFamily="34" charset="-122"/>
                <a:cs typeface="Cambria" pitchFamily="34" charset="-120"/>
              </a:rPr>
              <a:t>$0</a:t>
            </a:r>
            <a:endParaRPr lang="en-US" sz="3400" dirty="0"/>
          </a:p>
        </p:txBody>
      </p:sp>
      <p:sp>
        <p:nvSpPr>
          <p:cNvPr id="12" name="Text 10"/>
          <p:cNvSpPr/>
          <p:nvPr/>
        </p:nvSpPr>
        <p:spPr>
          <a:xfrm>
            <a:off x="5760720" y="2523744"/>
            <a:ext cx="2377440" cy="457200"/>
          </a:xfrm>
          <a:prstGeom prst="rect">
            <a:avLst/>
          </a:prstGeom>
          <a:noFill/>
          <a:ln/>
        </p:spPr>
        <p:txBody>
          <a:bodyPr wrap="square" lIns="0" tIns="0" rIns="0" bIns="0" rtlCol="0" anchor="t"/>
          <a:lstStyle/>
          <a:p>
            <a:pPr indent="0" marL="0">
              <a:lnSpc>
                <a:spcPts val="1500"/>
              </a:lnSpc>
              <a:buNone/>
            </a:pPr>
            <a:r>
              <a:rPr lang="en-US" sz="1150" dirty="0">
                <a:solidFill>
                  <a:srgbClr val="5C7383"/>
                </a:solidFill>
                <a:latin typeface="Calibri" pitchFamily="34" charset="0"/>
                <a:ea typeface="Calibri" pitchFamily="34" charset="-122"/>
                <a:cs typeface="Calibri" pitchFamily="34" charset="-120"/>
              </a:rPr>
              <a:t>to you, through the course allocation</a:t>
            </a:r>
            <a:endParaRPr lang="en-US" sz="1150" dirty="0"/>
          </a:p>
        </p:txBody>
      </p:sp>
      <p:sp>
        <p:nvSpPr>
          <p:cNvPr id="13" name="Text 11"/>
          <p:cNvSpPr/>
          <p:nvPr/>
        </p:nvSpPr>
        <p:spPr>
          <a:xfrm>
            <a:off x="8321040" y="1828800"/>
            <a:ext cx="3200400" cy="713232"/>
          </a:xfrm>
          <a:prstGeom prst="rect">
            <a:avLst/>
          </a:prstGeom>
          <a:noFill/>
          <a:ln/>
        </p:spPr>
        <p:txBody>
          <a:bodyPr wrap="square" lIns="0" tIns="0" rIns="0" bIns="0" rtlCol="0" anchor="ctr"/>
          <a:lstStyle/>
          <a:p>
            <a:pPr indent="0" marL="0">
              <a:buNone/>
            </a:pPr>
            <a:r>
              <a:rPr lang="en-US" sz="3400" b="1" dirty="0">
                <a:solidFill>
                  <a:srgbClr val="1F5F3C"/>
                </a:solidFill>
                <a:latin typeface="Cambria" pitchFamily="34" charset="0"/>
                <a:ea typeface="Cambria" pitchFamily="34" charset="-122"/>
                <a:cs typeface="Cambria" pitchFamily="34" charset="-120"/>
              </a:rPr>
              <a:t>All term</a:t>
            </a:r>
            <a:endParaRPr lang="en-US" sz="3400" dirty="0"/>
          </a:p>
        </p:txBody>
      </p:sp>
      <p:sp>
        <p:nvSpPr>
          <p:cNvPr id="14" name="Text 12"/>
          <p:cNvSpPr/>
          <p:nvPr/>
        </p:nvSpPr>
        <p:spPr>
          <a:xfrm>
            <a:off x="8321040" y="2523744"/>
            <a:ext cx="3200400" cy="457200"/>
          </a:xfrm>
          <a:prstGeom prst="rect">
            <a:avLst/>
          </a:prstGeom>
          <a:noFill/>
          <a:ln/>
        </p:spPr>
        <p:txBody>
          <a:bodyPr wrap="square" lIns="0" tIns="0" rIns="0" bIns="0" rtlCol="0" anchor="t"/>
          <a:lstStyle/>
          <a:p>
            <a:pPr indent="0" marL="0">
              <a:lnSpc>
                <a:spcPts val="1500"/>
              </a:lnSpc>
              <a:buNone/>
            </a:pPr>
            <a:r>
              <a:rPr lang="en-US" sz="1150" dirty="0">
                <a:solidFill>
                  <a:srgbClr val="5C7383"/>
                </a:solidFill>
                <a:latin typeface="Calibri" pitchFamily="34" charset="0"/>
                <a:ea typeface="Calibri" pitchFamily="34" charset="-122"/>
                <a:cs typeface="Calibri" pitchFamily="34" charset="-120"/>
              </a:rPr>
              <a:t>it persists — unlike a Colab session</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3346704"/>
          <a:ext cx="10908792" cy="914400"/>
        </p:xfrm>
        <a:graphic>
          <a:graphicData uri="http://schemas.openxmlformats.org/drawingml/2006/table">
            <a:tbl>
              <a:tblPr/>
              <a:tblGrid>
                <a:gridCol w="2834640"/>
                <a:gridCol w="3931920"/>
                <a:gridCol w="414223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When your laptop is enough</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When you want Colab</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When you want the VM</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Reading notebooks; API calls; small pandas work</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GPU for one session, and you do not mind reinstalling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model that must still be loaded tomorrow</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Anything CPU-bound and small</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quick experiment you will not repeat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Data you do not want on a shared consumer service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Most of Modules 1 and 2</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Most one-off GPU experiments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Running your own model server; the later builds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
        <p:nvSpPr>
          <p:cNvPr id="16" name="Shape 13"/>
          <p:cNvSpPr/>
          <p:nvPr/>
        </p:nvSpPr>
        <p:spPr>
          <a:xfrm>
            <a:off x="640080" y="5029200"/>
            <a:ext cx="10908792" cy="822960"/>
          </a:xfrm>
          <a:prstGeom prst="roundRect">
            <a:avLst>
              <a:gd name="adj" fmla="val 6667"/>
            </a:avLst>
          </a:prstGeom>
          <a:solidFill>
            <a:srgbClr val="DFEEE5"/>
          </a:solidFill>
          <a:ln w="9525">
            <a:solidFill>
              <a:srgbClr val="1F5F3C"/>
            </a:solidFill>
            <a:prstDash val="solid"/>
          </a:ln>
        </p:spPr>
      </p:sp>
      <p:sp>
        <p:nvSpPr>
          <p:cNvPr id="17" name="Text 14"/>
          <p:cNvSpPr/>
          <p:nvPr/>
        </p:nvSpPr>
        <p:spPr>
          <a:xfrm>
            <a:off x="859536" y="5120640"/>
            <a:ext cx="10469880" cy="640080"/>
          </a:xfrm>
          <a:prstGeom prst="rect">
            <a:avLst/>
          </a:prstGeom>
          <a:noFill/>
          <a:ln/>
        </p:spPr>
        <p:txBody>
          <a:bodyPr wrap="square" lIns="0" tIns="0" rIns="0" bIns="0" rtlCol="0" anchor="ctr"/>
          <a:lstStyle/>
          <a:p>
            <a:pPr indent="0" marL="0">
              <a:lnSpc>
                <a:spcPts val="1680"/>
              </a:lnSpc>
              <a:buNone/>
            </a:pPr>
            <a:r>
              <a:rPr lang="en-US" sz="1200" b="1" dirty="0">
                <a:solidFill>
                  <a:srgbClr val="1F5F3C"/>
                </a:solidFill>
                <a:latin typeface="Calibri" pitchFamily="34" charset="0"/>
                <a:ea typeface="Calibri" pitchFamily="34" charset="-122"/>
                <a:cs typeface="Calibri" pitchFamily="34" charset="-120"/>
              </a:rPr>
              <a:t>What NAIRR actually is:  </a:t>
            </a:r>
            <a:pPr indent="0" marL="0">
              <a:lnSpc>
                <a:spcPts val="1680"/>
              </a:lnSpc>
              <a:buNone/>
            </a:pPr>
            <a:r>
              <a:rPr lang="en-US" sz="1200" dirty="0">
                <a:solidFill>
                  <a:srgbClr val="12202B"/>
                </a:solidFill>
                <a:latin typeface="Calibri" pitchFamily="34" charset="0"/>
                <a:ea typeface="Calibri" pitchFamily="34" charset="-122"/>
                <a:cs typeface="Calibri" pitchFamily="34" charset="-120"/>
              </a:rPr>
              <a:t>the National AI Research Resource — a US programme granting academic access to real cloud infrastructure. Jetstream2 is the system we use. It behaves like AWS: you provision an instance from a web console and reach it over SSH. The skill transfers directly.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1F5F3C"/>
                </a:solidFill>
                <a:latin typeface="Calibri" pitchFamily="34" charset="0"/>
                <a:ea typeface="Calibri" pitchFamily="34" charset="-122"/>
                <a:cs typeface="Calibri" pitchFamily="34" charset="-120"/>
              </a:rPr>
              <a:t>PART 3 · YOUR MACHINE IN THE CLOUD</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Provision → connect → develop → shelve</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The four-step lifecycle, mirrored exactly by Lab B.</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Tools &amp; Environment</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21</a:t>
            </a:r>
            <a:endParaRPr lang="en-US" sz="900" dirty="0"/>
          </a:p>
        </p:txBody>
      </p:sp>
      <p:sp>
        <p:nvSpPr>
          <p:cNvPr id="7" name="Shape 5"/>
          <p:cNvSpPr/>
          <p:nvPr/>
        </p:nvSpPr>
        <p:spPr>
          <a:xfrm>
            <a:off x="640080" y="1828800"/>
            <a:ext cx="2425446" cy="1481328"/>
          </a:xfrm>
          <a:prstGeom prst="roundRect">
            <a:avLst>
              <a:gd name="adj" fmla="val 4321"/>
            </a:avLst>
          </a:prstGeom>
          <a:solidFill>
            <a:srgbClr val="F1F5F8"/>
          </a:solidFill>
          <a:ln w="15875">
            <a:solidFill>
              <a:srgbClr val="1F5F3C"/>
            </a:solidFill>
            <a:prstDash val="solid"/>
          </a:ln>
        </p:spPr>
      </p:sp>
      <p:sp>
        <p:nvSpPr>
          <p:cNvPr id="8" name="Shape 6"/>
          <p:cNvSpPr/>
          <p:nvPr/>
        </p:nvSpPr>
        <p:spPr>
          <a:xfrm>
            <a:off x="859536" y="2011680"/>
            <a:ext cx="365760" cy="365760"/>
          </a:xfrm>
          <a:prstGeom prst="ellipse">
            <a:avLst/>
          </a:prstGeom>
          <a:solidFill>
            <a:srgbClr val="1F5F3C"/>
          </a:solidFill>
          <a:ln w="12700">
            <a:solidFill>
              <a:srgbClr val="1F5F3C"/>
            </a:solidFill>
            <a:prstDash val="solid"/>
          </a:ln>
        </p:spPr>
      </p:sp>
      <p:sp>
        <p:nvSpPr>
          <p:cNvPr id="9" name="Text 7"/>
          <p:cNvSpPr/>
          <p:nvPr/>
        </p:nvSpPr>
        <p:spPr>
          <a:xfrm>
            <a:off x="859536" y="201168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0" name="Text 8"/>
          <p:cNvSpPr/>
          <p:nvPr/>
        </p:nvSpPr>
        <p:spPr>
          <a:xfrm>
            <a:off x="1335024" y="2011680"/>
            <a:ext cx="1511046" cy="365760"/>
          </a:xfrm>
          <a:prstGeom prst="rect">
            <a:avLst/>
          </a:prstGeom>
          <a:noFill/>
          <a:ln/>
        </p:spPr>
        <p:txBody>
          <a:bodyPr wrap="square" lIns="0" tIns="0" rIns="0" bIns="0" rtlCol="0" anchor="ctr"/>
          <a:lstStyle/>
          <a:p>
            <a:pPr indent="0" marL="0">
              <a:buNone/>
            </a:pPr>
            <a:r>
              <a:rPr lang="en-US" sz="1500" b="1" dirty="0">
                <a:solidFill>
                  <a:srgbClr val="12202B"/>
                </a:solidFill>
                <a:latin typeface="Cambria" pitchFamily="34" charset="0"/>
                <a:ea typeface="Cambria" pitchFamily="34" charset="-122"/>
                <a:cs typeface="Cambria" pitchFamily="34" charset="-120"/>
              </a:rPr>
              <a:t>Provision</a:t>
            </a:r>
            <a:endParaRPr lang="en-US" sz="1500" dirty="0"/>
          </a:p>
        </p:txBody>
      </p:sp>
      <p:sp>
        <p:nvSpPr>
          <p:cNvPr id="11" name="Text 9"/>
          <p:cNvSpPr/>
          <p:nvPr/>
        </p:nvSpPr>
        <p:spPr>
          <a:xfrm>
            <a:off x="877824" y="2468880"/>
            <a:ext cx="1949958" cy="749808"/>
          </a:xfrm>
          <a:prstGeom prst="rect">
            <a:avLst/>
          </a:prstGeom>
          <a:noFill/>
          <a:ln/>
        </p:spPr>
        <p:txBody>
          <a:bodyPr wrap="square" lIns="0" tIns="0" rIns="0" bIns="0" rtlCol="0" anchor="t"/>
          <a:lstStyle/>
          <a:p>
            <a:pPr indent="0" marL="0">
              <a:lnSpc>
                <a:spcPts val="1400"/>
              </a:lnSpc>
              <a:buNone/>
            </a:pPr>
            <a:r>
              <a:rPr lang="en-US" sz="1050" dirty="0">
                <a:solidFill>
                  <a:srgbClr val="1B2B36"/>
                </a:solidFill>
                <a:latin typeface="Calibri" pitchFamily="34" charset="0"/>
                <a:ea typeface="Calibri" pitchFamily="34" charset="-122"/>
                <a:cs typeface="Calibri" pitchFamily="34" charset="-120"/>
              </a:rPr>
              <a:t>A g3.large from the Exosphere web console. Wait for the green Ready state.</a:t>
            </a:r>
            <a:endParaRPr lang="en-US" sz="1050" dirty="0"/>
          </a:p>
        </p:txBody>
      </p:sp>
      <p:sp>
        <p:nvSpPr>
          <p:cNvPr id="12" name="Shape 10"/>
          <p:cNvSpPr/>
          <p:nvPr/>
        </p:nvSpPr>
        <p:spPr>
          <a:xfrm>
            <a:off x="3120390" y="2569464"/>
            <a:ext cx="292608" cy="0"/>
          </a:xfrm>
          <a:prstGeom prst="line">
            <a:avLst/>
          </a:prstGeom>
          <a:noFill/>
          <a:ln w="22225">
            <a:solidFill>
              <a:srgbClr val="4E9A6E"/>
            </a:solidFill>
            <a:prstDash val="solid"/>
            <a:tailEnd type="triangle"/>
          </a:ln>
        </p:spPr>
      </p:sp>
      <p:sp>
        <p:nvSpPr>
          <p:cNvPr id="13" name="Shape 11"/>
          <p:cNvSpPr/>
          <p:nvPr/>
        </p:nvSpPr>
        <p:spPr>
          <a:xfrm>
            <a:off x="3467862" y="1828800"/>
            <a:ext cx="2425446" cy="1481328"/>
          </a:xfrm>
          <a:prstGeom prst="roundRect">
            <a:avLst>
              <a:gd name="adj" fmla="val 4321"/>
            </a:avLst>
          </a:prstGeom>
          <a:solidFill>
            <a:srgbClr val="F1F5F8"/>
          </a:solidFill>
          <a:ln w="15875">
            <a:solidFill>
              <a:srgbClr val="1F5F3C"/>
            </a:solidFill>
            <a:prstDash val="solid"/>
          </a:ln>
        </p:spPr>
      </p:sp>
      <p:sp>
        <p:nvSpPr>
          <p:cNvPr id="14" name="Shape 12"/>
          <p:cNvSpPr/>
          <p:nvPr/>
        </p:nvSpPr>
        <p:spPr>
          <a:xfrm>
            <a:off x="3687318" y="2011680"/>
            <a:ext cx="365760" cy="365760"/>
          </a:xfrm>
          <a:prstGeom prst="ellipse">
            <a:avLst/>
          </a:prstGeom>
          <a:solidFill>
            <a:srgbClr val="1F5F3C"/>
          </a:solidFill>
          <a:ln w="12700">
            <a:solidFill>
              <a:srgbClr val="1F5F3C"/>
            </a:solidFill>
            <a:prstDash val="solid"/>
          </a:ln>
        </p:spPr>
      </p:sp>
      <p:sp>
        <p:nvSpPr>
          <p:cNvPr id="15" name="Text 13"/>
          <p:cNvSpPr/>
          <p:nvPr/>
        </p:nvSpPr>
        <p:spPr>
          <a:xfrm>
            <a:off x="3687318" y="201168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6" name="Text 14"/>
          <p:cNvSpPr/>
          <p:nvPr/>
        </p:nvSpPr>
        <p:spPr>
          <a:xfrm>
            <a:off x="4162806" y="2011680"/>
            <a:ext cx="1511046" cy="365760"/>
          </a:xfrm>
          <a:prstGeom prst="rect">
            <a:avLst/>
          </a:prstGeom>
          <a:noFill/>
          <a:ln/>
        </p:spPr>
        <p:txBody>
          <a:bodyPr wrap="square" lIns="0" tIns="0" rIns="0" bIns="0" rtlCol="0" anchor="ctr"/>
          <a:lstStyle/>
          <a:p>
            <a:pPr indent="0" marL="0">
              <a:buNone/>
            </a:pPr>
            <a:r>
              <a:rPr lang="en-US" sz="1500" b="1" dirty="0">
                <a:solidFill>
                  <a:srgbClr val="12202B"/>
                </a:solidFill>
                <a:latin typeface="Cambria" pitchFamily="34" charset="0"/>
                <a:ea typeface="Cambria" pitchFamily="34" charset="-122"/>
                <a:cs typeface="Cambria" pitchFamily="34" charset="-120"/>
              </a:rPr>
              <a:t>Connect</a:t>
            </a:r>
            <a:endParaRPr lang="en-US" sz="1500" dirty="0"/>
          </a:p>
        </p:txBody>
      </p:sp>
      <p:sp>
        <p:nvSpPr>
          <p:cNvPr id="17" name="Text 15"/>
          <p:cNvSpPr/>
          <p:nvPr/>
        </p:nvSpPr>
        <p:spPr>
          <a:xfrm>
            <a:off x="3705606" y="2468880"/>
            <a:ext cx="1949958" cy="749808"/>
          </a:xfrm>
          <a:prstGeom prst="rect">
            <a:avLst/>
          </a:prstGeom>
          <a:noFill/>
          <a:ln/>
        </p:spPr>
        <p:txBody>
          <a:bodyPr wrap="square" lIns="0" tIns="0" rIns="0" bIns="0" rtlCol="0" anchor="t"/>
          <a:lstStyle/>
          <a:p>
            <a:pPr indent="0" marL="0">
              <a:lnSpc>
                <a:spcPts val="1400"/>
              </a:lnSpc>
              <a:buNone/>
            </a:pPr>
            <a:r>
              <a:rPr lang="en-US" sz="1050" dirty="0">
                <a:solidFill>
                  <a:srgbClr val="1B2B36"/>
                </a:solidFill>
                <a:latin typeface="Calibri" pitchFamily="34" charset="0"/>
                <a:ea typeface="Calibri" pitchFamily="34" charset="-122"/>
                <a:cs typeface="Calibri" pitchFamily="34" charset="-120"/>
              </a:rPr>
              <a:t>SSH in, then immediately replace the password with a key. Do not skip this.</a:t>
            </a:r>
            <a:endParaRPr lang="en-US" sz="1050" dirty="0"/>
          </a:p>
        </p:txBody>
      </p:sp>
      <p:sp>
        <p:nvSpPr>
          <p:cNvPr id="18" name="Shape 16"/>
          <p:cNvSpPr/>
          <p:nvPr/>
        </p:nvSpPr>
        <p:spPr>
          <a:xfrm>
            <a:off x="5948172" y="2569464"/>
            <a:ext cx="292608" cy="0"/>
          </a:xfrm>
          <a:prstGeom prst="line">
            <a:avLst/>
          </a:prstGeom>
          <a:noFill/>
          <a:ln w="22225">
            <a:solidFill>
              <a:srgbClr val="4E9A6E"/>
            </a:solidFill>
            <a:prstDash val="solid"/>
            <a:tailEnd type="triangle"/>
          </a:ln>
        </p:spPr>
      </p:sp>
      <p:sp>
        <p:nvSpPr>
          <p:cNvPr id="19" name="Shape 17"/>
          <p:cNvSpPr/>
          <p:nvPr/>
        </p:nvSpPr>
        <p:spPr>
          <a:xfrm>
            <a:off x="6295644" y="1828800"/>
            <a:ext cx="2425446" cy="1481328"/>
          </a:xfrm>
          <a:prstGeom prst="roundRect">
            <a:avLst>
              <a:gd name="adj" fmla="val 4321"/>
            </a:avLst>
          </a:prstGeom>
          <a:solidFill>
            <a:srgbClr val="F1F5F8"/>
          </a:solidFill>
          <a:ln w="15875">
            <a:solidFill>
              <a:srgbClr val="1F5F3C"/>
            </a:solidFill>
            <a:prstDash val="solid"/>
          </a:ln>
        </p:spPr>
      </p:sp>
      <p:sp>
        <p:nvSpPr>
          <p:cNvPr id="20" name="Shape 18"/>
          <p:cNvSpPr/>
          <p:nvPr/>
        </p:nvSpPr>
        <p:spPr>
          <a:xfrm>
            <a:off x="6515100" y="2011680"/>
            <a:ext cx="365760" cy="365760"/>
          </a:xfrm>
          <a:prstGeom prst="ellipse">
            <a:avLst/>
          </a:prstGeom>
          <a:solidFill>
            <a:srgbClr val="1F5F3C"/>
          </a:solidFill>
          <a:ln w="12700">
            <a:solidFill>
              <a:srgbClr val="1F5F3C"/>
            </a:solidFill>
            <a:prstDash val="solid"/>
          </a:ln>
        </p:spPr>
      </p:sp>
      <p:sp>
        <p:nvSpPr>
          <p:cNvPr id="21" name="Text 19"/>
          <p:cNvSpPr/>
          <p:nvPr/>
        </p:nvSpPr>
        <p:spPr>
          <a:xfrm>
            <a:off x="6515100" y="201168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2" name="Text 20"/>
          <p:cNvSpPr/>
          <p:nvPr/>
        </p:nvSpPr>
        <p:spPr>
          <a:xfrm>
            <a:off x="6990588" y="2011680"/>
            <a:ext cx="1511046" cy="365760"/>
          </a:xfrm>
          <a:prstGeom prst="rect">
            <a:avLst/>
          </a:prstGeom>
          <a:noFill/>
          <a:ln/>
        </p:spPr>
        <p:txBody>
          <a:bodyPr wrap="square" lIns="0" tIns="0" rIns="0" bIns="0" rtlCol="0" anchor="ctr"/>
          <a:lstStyle/>
          <a:p>
            <a:pPr indent="0" marL="0">
              <a:buNone/>
            </a:pPr>
            <a:r>
              <a:rPr lang="en-US" sz="1500" b="1" dirty="0">
                <a:solidFill>
                  <a:srgbClr val="12202B"/>
                </a:solidFill>
                <a:latin typeface="Cambria" pitchFamily="34" charset="0"/>
                <a:ea typeface="Cambria" pitchFamily="34" charset="-122"/>
                <a:cs typeface="Cambria" pitchFamily="34" charset="-120"/>
              </a:rPr>
              <a:t>Develop</a:t>
            </a:r>
            <a:endParaRPr lang="en-US" sz="1500" dirty="0"/>
          </a:p>
        </p:txBody>
      </p:sp>
      <p:sp>
        <p:nvSpPr>
          <p:cNvPr id="23" name="Text 21"/>
          <p:cNvSpPr/>
          <p:nvPr/>
        </p:nvSpPr>
        <p:spPr>
          <a:xfrm>
            <a:off x="6533388" y="2468880"/>
            <a:ext cx="1949958" cy="749808"/>
          </a:xfrm>
          <a:prstGeom prst="rect">
            <a:avLst/>
          </a:prstGeom>
          <a:noFill/>
          <a:ln/>
        </p:spPr>
        <p:txBody>
          <a:bodyPr wrap="square" lIns="0" tIns="0" rIns="0" bIns="0" rtlCol="0" anchor="t"/>
          <a:lstStyle/>
          <a:p>
            <a:pPr indent="0" marL="0">
              <a:lnSpc>
                <a:spcPts val="1400"/>
              </a:lnSpc>
              <a:buNone/>
            </a:pPr>
            <a:r>
              <a:rPr lang="en-US" sz="1050" dirty="0">
                <a:solidFill>
                  <a:srgbClr val="1B2B36"/>
                </a:solidFill>
                <a:latin typeface="Calibri" pitchFamily="34" charset="0"/>
                <a:ea typeface="Calibri" pitchFamily="34" charset="-122"/>
                <a:cs typeface="Calibri" pitchFamily="34" charset="-120"/>
              </a:rPr>
              <a:t>VS Code Remote-SSH: edit on your laptop, every command runs on the VM.</a:t>
            </a:r>
            <a:endParaRPr lang="en-US" sz="1050" dirty="0"/>
          </a:p>
        </p:txBody>
      </p:sp>
      <p:sp>
        <p:nvSpPr>
          <p:cNvPr id="24" name="Shape 22"/>
          <p:cNvSpPr/>
          <p:nvPr/>
        </p:nvSpPr>
        <p:spPr>
          <a:xfrm>
            <a:off x="8775954" y="2569464"/>
            <a:ext cx="292608" cy="0"/>
          </a:xfrm>
          <a:prstGeom prst="line">
            <a:avLst/>
          </a:prstGeom>
          <a:noFill/>
          <a:ln w="22225">
            <a:solidFill>
              <a:srgbClr val="4E9A6E"/>
            </a:solidFill>
            <a:prstDash val="solid"/>
            <a:tailEnd type="triangle"/>
          </a:ln>
        </p:spPr>
      </p:sp>
      <p:sp>
        <p:nvSpPr>
          <p:cNvPr id="25" name="Shape 23"/>
          <p:cNvSpPr/>
          <p:nvPr/>
        </p:nvSpPr>
        <p:spPr>
          <a:xfrm>
            <a:off x="9123426" y="1828800"/>
            <a:ext cx="2425446" cy="1481328"/>
          </a:xfrm>
          <a:prstGeom prst="roundRect">
            <a:avLst>
              <a:gd name="adj" fmla="val 4321"/>
            </a:avLst>
          </a:prstGeom>
          <a:solidFill>
            <a:srgbClr val="DFEEE5"/>
          </a:solidFill>
          <a:ln w="15875">
            <a:solidFill>
              <a:srgbClr val="1F5F3C"/>
            </a:solidFill>
            <a:prstDash val="solid"/>
          </a:ln>
        </p:spPr>
      </p:sp>
      <p:sp>
        <p:nvSpPr>
          <p:cNvPr id="26" name="Shape 24"/>
          <p:cNvSpPr/>
          <p:nvPr/>
        </p:nvSpPr>
        <p:spPr>
          <a:xfrm>
            <a:off x="9342882" y="2011680"/>
            <a:ext cx="365760" cy="365760"/>
          </a:xfrm>
          <a:prstGeom prst="ellipse">
            <a:avLst/>
          </a:prstGeom>
          <a:solidFill>
            <a:srgbClr val="1F5F3C"/>
          </a:solidFill>
          <a:ln w="12700">
            <a:solidFill>
              <a:srgbClr val="1F5F3C"/>
            </a:solidFill>
            <a:prstDash val="solid"/>
          </a:ln>
        </p:spPr>
      </p:sp>
      <p:sp>
        <p:nvSpPr>
          <p:cNvPr id="27" name="Text 25"/>
          <p:cNvSpPr/>
          <p:nvPr/>
        </p:nvSpPr>
        <p:spPr>
          <a:xfrm>
            <a:off x="9342882" y="201168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8" name="Text 26"/>
          <p:cNvSpPr/>
          <p:nvPr/>
        </p:nvSpPr>
        <p:spPr>
          <a:xfrm>
            <a:off x="9818370" y="2011680"/>
            <a:ext cx="1511046" cy="365760"/>
          </a:xfrm>
          <a:prstGeom prst="rect">
            <a:avLst/>
          </a:prstGeom>
          <a:noFill/>
          <a:ln/>
        </p:spPr>
        <p:txBody>
          <a:bodyPr wrap="square" lIns="0" tIns="0" rIns="0" bIns="0" rtlCol="0" anchor="ctr"/>
          <a:lstStyle/>
          <a:p>
            <a:pPr indent="0" marL="0">
              <a:buNone/>
            </a:pPr>
            <a:r>
              <a:rPr lang="en-US" sz="1500" b="1" dirty="0">
                <a:solidFill>
                  <a:srgbClr val="12202B"/>
                </a:solidFill>
                <a:latin typeface="Cambria" pitchFamily="34" charset="0"/>
                <a:ea typeface="Cambria" pitchFamily="34" charset="-122"/>
                <a:cs typeface="Cambria" pitchFamily="34" charset="-120"/>
              </a:rPr>
              <a:t>Shelve</a:t>
            </a:r>
            <a:endParaRPr lang="en-US" sz="1500" dirty="0"/>
          </a:p>
        </p:txBody>
      </p:sp>
      <p:sp>
        <p:nvSpPr>
          <p:cNvPr id="29" name="Text 27"/>
          <p:cNvSpPr/>
          <p:nvPr/>
        </p:nvSpPr>
        <p:spPr>
          <a:xfrm>
            <a:off x="9361170" y="2468880"/>
            <a:ext cx="1949958" cy="749808"/>
          </a:xfrm>
          <a:prstGeom prst="rect">
            <a:avLst/>
          </a:prstGeom>
          <a:noFill/>
          <a:ln/>
        </p:spPr>
        <p:txBody>
          <a:bodyPr wrap="square" lIns="0" tIns="0" rIns="0" bIns="0" rtlCol="0" anchor="t"/>
          <a:lstStyle/>
          <a:p>
            <a:pPr indent="0" marL="0">
              <a:lnSpc>
                <a:spcPts val="1400"/>
              </a:lnSpc>
              <a:buNone/>
            </a:pPr>
            <a:r>
              <a:rPr lang="en-US" sz="1050" dirty="0">
                <a:solidFill>
                  <a:srgbClr val="1B2B36"/>
                </a:solidFill>
                <a:latin typeface="Calibri" pitchFamily="34" charset="0"/>
                <a:ea typeface="Calibri" pitchFamily="34" charset="-122"/>
                <a:cs typeface="Calibri" pitchFamily="34" charset="-120"/>
              </a:rPr>
              <a:t>When idle. Near-zero cost on a shared allocation, and it comes back as it was.</a:t>
            </a:r>
            <a:endParaRPr lang="en-US" sz="1050" dirty="0"/>
          </a:p>
        </p:txBody>
      </p:sp>
      <p:sp>
        <p:nvSpPr>
          <p:cNvPr id="30" name="Shape 28"/>
          <p:cNvSpPr/>
          <p:nvPr/>
        </p:nvSpPr>
        <p:spPr>
          <a:xfrm>
            <a:off x="640080" y="3493008"/>
            <a:ext cx="6400800" cy="1883664"/>
          </a:xfrm>
          <a:prstGeom prst="roundRect">
            <a:avLst>
              <a:gd name="adj" fmla="val 3398"/>
            </a:avLst>
          </a:prstGeom>
          <a:solidFill>
            <a:srgbClr val="13221B"/>
          </a:solidFill>
          <a:ln w="12700">
            <a:solidFill>
              <a:srgbClr val="13221B"/>
            </a:solidFill>
            <a:prstDash val="solid"/>
          </a:ln>
          <a:effectLst>
            <a:outerShdw sx="100000" sy="100000" kx="0" ky="0" algn="bl" rotWithShape="0" blurRad="114300" dist="25400" dir="5400000">
              <a:srgbClr val="0B1720">
                <a:alpha val="22000"/>
              </a:srgbClr>
            </a:outerShdw>
          </a:effectLst>
        </p:spPr>
      </p:sp>
      <p:sp>
        <p:nvSpPr>
          <p:cNvPr id="31" name="Text 29"/>
          <p:cNvSpPr/>
          <p:nvPr/>
        </p:nvSpPr>
        <p:spPr>
          <a:xfrm>
            <a:off x="877824" y="3611880"/>
            <a:ext cx="5925312" cy="237744"/>
          </a:xfrm>
          <a:prstGeom prst="rect">
            <a:avLst/>
          </a:prstGeom>
          <a:noFill/>
          <a:ln/>
        </p:spPr>
        <p:txBody>
          <a:bodyPr wrap="square" lIns="0" tIns="0" rIns="0" bIns="0" rtlCol="0" anchor="ctr"/>
          <a:lstStyle/>
          <a:p>
            <a:pPr indent="0" marL="0">
              <a:buNone/>
            </a:pPr>
            <a:r>
              <a:rPr lang="en-US" sz="950" b="1" spc="130" kern="0" dirty="0">
                <a:solidFill>
                  <a:srgbClr val="9FB8C6"/>
                </a:solidFill>
                <a:latin typeface="Calibri" pitchFamily="34" charset="0"/>
                <a:ea typeface="Calibri" pitchFamily="34" charset="-122"/>
                <a:cs typeface="Calibri" pitchFamily="34" charset="-120"/>
              </a:rPr>
              <a:t>~/.ssh/config — then it is just: ssh it7075</a:t>
            </a:r>
            <a:endParaRPr lang="en-US" sz="950" dirty="0"/>
          </a:p>
        </p:txBody>
      </p:sp>
      <p:sp>
        <p:nvSpPr>
          <p:cNvPr id="32" name="Text 30"/>
          <p:cNvSpPr/>
          <p:nvPr/>
        </p:nvSpPr>
        <p:spPr>
          <a:xfrm>
            <a:off x="877824" y="3913632"/>
            <a:ext cx="5925312" cy="1316736"/>
          </a:xfrm>
          <a:prstGeom prst="rect">
            <a:avLst/>
          </a:prstGeom>
          <a:noFill/>
          <a:ln/>
        </p:spPr>
        <p:txBody>
          <a:bodyPr wrap="square" lIns="0" tIns="0" rIns="0" bIns="0" rtlCol="0" anchor="t"/>
          <a:lstStyle/>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Host it7075</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HostName 149.165.xxx.xxx</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User exouser</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IdentityFile ~/.ssh/id_ed25519</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ServerAliveInterval 60      </a:t>
            </a:r>
            <a:pPr indent="0" marL="0">
              <a:lnSpc>
                <a:spcPts val="1500"/>
              </a:lnSpc>
              <a:buNone/>
            </a:pPr>
            <a:r>
              <a:rPr lang="en-US" sz="1000" dirty="0">
                <a:solidFill>
                  <a:srgbClr val="76909F"/>
                </a:solidFill>
                <a:latin typeface="Courier New" pitchFamily="34" charset="0"/>
                <a:ea typeface="Courier New" pitchFamily="34" charset="-122"/>
                <a:cs typeface="Courier New" pitchFamily="34" charset="-120"/>
              </a:rPr>
              <a:t># stops idle drops mid-session</a:t>
            </a:r>
            <a:endParaRPr lang="en-US" sz="1000" dirty="0"/>
          </a:p>
        </p:txBody>
      </p:sp>
      <p:sp>
        <p:nvSpPr>
          <p:cNvPr id="33" name="Shape 31"/>
          <p:cNvSpPr/>
          <p:nvPr/>
        </p:nvSpPr>
        <p:spPr>
          <a:xfrm>
            <a:off x="7269480" y="3493008"/>
            <a:ext cx="4279392" cy="1133856"/>
          </a:xfrm>
          <a:prstGeom prst="roundRect">
            <a:avLst>
              <a:gd name="adj" fmla="val 4839"/>
            </a:avLst>
          </a:prstGeom>
          <a:solidFill>
            <a:srgbClr val="DFEEE5"/>
          </a:solidFill>
          <a:ln w="9525">
            <a:solidFill>
              <a:srgbClr val="1F5F3C"/>
            </a:solidFill>
            <a:prstDash val="solid"/>
          </a:ln>
        </p:spPr>
      </p:sp>
      <p:sp>
        <p:nvSpPr>
          <p:cNvPr id="34" name="Text 32"/>
          <p:cNvSpPr/>
          <p:nvPr/>
        </p:nvSpPr>
        <p:spPr>
          <a:xfrm>
            <a:off x="7488936" y="3584448"/>
            <a:ext cx="3840480" cy="950976"/>
          </a:xfrm>
          <a:prstGeom prst="rect">
            <a:avLst/>
          </a:prstGeom>
          <a:noFill/>
          <a:ln/>
        </p:spPr>
        <p:txBody>
          <a:bodyPr wrap="square" lIns="0" tIns="0" rIns="0" bIns="0" rtlCol="0" anchor="ctr"/>
          <a:lstStyle/>
          <a:p>
            <a:pPr indent="0" marL="0">
              <a:lnSpc>
                <a:spcPts val="1610"/>
              </a:lnSpc>
              <a:buNone/>
            </a:pPr>
            <a:r>
              <a:rPr lang="en-US" sz="1150" b="1" dirty="0">
                <a:solidFill>
                  <a:srgbClr val="1F5F3C"/>
                </a:solidFill>
                <a:latin typeface="Calibri" pitchFamily="34" charset="0"/>
                <a:ea typeface="Calibri" pitchFamily="34" charset="-122"/>
                <a:cs typeface="Calibri" pitchFamily="34" charset="-120"/>
              </a:rPr>
              <a:t>The mental model:  </a:t>
            </a:r>
            <a:pPr indent="0" marL="0">
              <a:lnSpc>
                <a:spcPts val="1610"/>
              </a:lnSpc>
              <a:buNone/>
            </a:pPr>
            <a:r>
              <a:rPr lang="en-US" sz="1150" dirty="0">
                <a:solidFill>
                  <a:srgbClr val="12202B"/>
                </a:solidFill>
                <a:latin typeface="Calibri" pitchFamily="34" charset="0"/>
                <a:ea typeface="Calibri" pitchFamily="34" charset="-122"/>
                <a:cs typeface="Calibri" pitchFamily="34" charset="-120"/>
              </a:rPr>
              <a:t>Colab is a GPU you rent for a session. The NAIRR VM is a GPU you keep for the term.</a:t>
            </a:r>
            <a:endParaRPr lang="en-US" sz="1150" dirty="0"/>
          </a:p>
        </p:txBody>
      </p:sp>
      <p:sp>
        <p:nvSpPr>
          <p:cNvPr id="35" name="Shape 33"/>
          <p:cNvSpPr/>
          <p:nvPr/>
        </p:nvSpPr>
        <p:spPr>
          <a:xfrm>
            <a:off x="7269480" y="4754880"/>
            <a:ext cx="4279392" cy="1097280"/>
          </a:xfrm>
          <a:prstGeom prst="roundRect">
            <a:avLst>
              <a:gd name="adj" fmla="val 5000"/>
            </a:avLst>
          </a:prstGeom>
          <a:solidFill>
            <a:srgbClr val="F7E5E8"/>
          </a:solidFill>
          <a:ln w="9525">
            <a:solidFill>
              <a:srgbClr val="A4243B"/>
            </a:solidFill>
            <a:prstDash val="solid"/>
          </a:ln>
        </p:spPr>
      </p:sp>
      <p:sp>
        <p:nvSpPr>
          <p:cNvPr id="36" name="Text 34"/>
          <p:cNvSpPr/>
          <p:nvPr/>
        </p:nvSpPr>
        <p:spPr>
          <a:xfrm>
            <a:off x="7488936" y="4846320"/>
            <a:ext cx="3840480" cy="914400"/>
          </a:xfrm>
          <a:prstGeom prst="rect">
            <a:avLst/>
          </a:prstGeom>
          <a:noFill/>
          <a:ln/>
        </p:spPr>
        <p:txBody>
          <a:bodyPr wrap="square" lIns="0" tIns="0" rIns="0" bIns="0" rtlCol="0" anchor="ctr"/>
          <a:lstStyle/>
          <a:p>
            <a:pPr indent="0" marL="0">
              <a:lnSpc>
                <a:spcPts val="1540"/>
              </a:lnSpc>
              <a:buNone/>
            </a:pPr>
            <a:r>
              <a:rPr lang="en-US" sz="1100" b="1" dirty="0">
                <a:solidFill>
                  <a:srgbClr val="A4243B"/>
                </a:solidFill>
                <a:latin typeface="Calibri" pitchFamily="34" charset="0"/>
                <a:ea typeface="Calibri" pitchFamily="34" charset="-122"/>
                <a:cs typeface="Calibri" pitchFamily="34" charset="-120"/>
              </a:rPr>
              <a:t>Shelve, do not just close the tab.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A running idle instance consumes the shared allocation everyone in the class draws from.</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202B"/>
        </a:solidFill>
      </p:bgPr>
    </p:bg>
    <p:spTree>
      <p:nvGrpSpPr>
        <p:cNvPr id="1" name=""/>
        <p:cNvGrpSpPr/>
        <p:nvPr/>
      </p:nvGrpSpPr>
      <p:grpSpPr>
        <a:xfrm>
          <a:off x="0" y="0"/>
          <a:ext cx="0" cy="0"/>
          <a:chOff x="0" y="0"/>
          <a:chExt cx="0" cy="0"/>
        </a:xfrm>
      </p:grpSpPr>
      <p:sp>
        <p:nvSpPr>
          <p:cNvPr id="2" name="Text 0"/>
          <p:cNvSpPr/>
          <p:nvPr/>
        </p:nvSpPr>
        <p:spPr>
          <a:xfrm>
            <a:off x="640080" y="1417320"/>
            <a:ext cx="6766560" cy="274320"/>
          </a:xfrm>
          <a:prstGeom prst="rect">
            <a:avLst/>
          </a:prstGeom>
          <a:noFill/>
          <a:ln/>
        </p:spPr>
        <p:txBody>
          <a:bodyPr wrap="square" lIns="0" tIns="0" rIns="0" bIns="0" rtlCol="0" anchor="ctr"/>
          <a:lstStyle/>
          <a:p>
            <a:pPr indent="0" marL="0">
              <a:buNone/>
            </a:pPr>
            <a:r>
              <a:rPr lang="en-US" sz="1100" b="1" spc="220" kern="0" dirty="0">
                <a:solidFill>
                  <a:srgbClr val="4E9A6E"/>
                </a:solidFill>
                <a:latin typeface="Calibri" pitchFamily="34" charset="0"/>
                <a:ea typeface="Calibri" pitchFamily="34" charset="-122"/>
                <a:cs typeface="Calibri" pitchFamily="34" charset="-120"/>
              </a:rPr>
              <a:t>PART 4</a:t>
            </a:r>
            <a:endParaRPr lang="en-US" sz="1100" dirty="0"/>
          </a:p>
        </p:txBody>
      </p:sp>
      <p:sp>
        <p:nvSpPr>
          <p:cNvPr id="3" name="Text 1"/>
          <p:cNvSpPr/>
          <p:nvPr/>
        </p:nvSpPr>
        <p:spPr>
          <a:xfrm>
            <a:off x="640080" y="1783080"/>
            <a:ext cx="6766560" cy="11887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Your Environment</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&amp; the Hands-On Labs</a:t>
            </a:r>
            <a:endParaRPr lang="en-US" sz="3800" dirty="0"/>
          </a:p>
        </p:txBody>
      </p:sp>
      <p:sp>
        <p:nvSpPr>
          <p:cNvPr id="4" name="Text 2"/>
          <p:cNvSpPr/>
          <p:nvPr/>
        </p:nvSpPr>
        <p:spPr>
          <a:xfrm>
            <a:off x="640080" y="3127248"/>
            <a:ext cx="6309360" cy="1097280"/>
          </a:xfrm>
          <a:prstGeom prst="rect">
            <a:avLst/>
          </a:prstGeom>
          <a:noFill/>
          <a:ln/>
        </p:spPr>
        <p:txBody>
          <a:bodyPr wrap="square" lIns="0" tIns="0" rIns="0" bIns="0" rtlCol="0" anchor="t"/>
          <a:lstStyle/>
          <a:p>
            <a:pPr indent="0" marL="0">
              <a:lnSpc>
                <a:spcPts val="2200"/>
              </a:lnSpc>
              <a:buNone/>
            </a:pPr>
            <a:r>
              <a:rPr lang="en-US" sz="1450" dirty="0">
                <a:solidFill>
                  <a:srgbClr val="9FB8C6"/>
                </a:solidFill>
                <a:latin typeface="Calibri" pitchFamily="34" charset="0"/>
                <a:ea typeface="Calibri" pitchFamily="34" charset="-122"/>
                <a:cs typeface="Calibri" pitchFamily="34" charset="-120"/>
              </a:rPr>
              <a:t>Everything ties together in one repository — and into the two labs that get you set up for the rest of the course.</a:t>
            </a:r>
            <a:endParaRPr lang="en-US" sz="1450" dirty="0"/>
          </a:p>
        </p:txBody>
      </p:sp>
      <p:sp>
        <p:nvSpPr>
          <p:cNvPr id="5" name="Text 3"/>
          <p:cNvSpPr/>
          <p:nvPr/>
        </p:nvSpPr>
        <p:spPr>
          <a:xfrm>
            <a:off x="7818120" y="1033272"/>
            <a:ext cx="3749040" cy="237744"/>
          </a:xfrm>
          <a:prstGeom prst="rect">
            <a:avLst/>
          </a:prstGeom>
          <a:noFill/>
          <a:ln/>
        </p:spPr>
        <p:txBody>
          <a:bodyPr wrap="square" lIns="0" tIns="0" rIns="0" bIns="0" rtlCol="0" anchor="ctr"/>
          <a:lstStyle/>
          <a:p>
            <a:pPr indent="0" marL="0">
              <a:buNone/>
            </a:pPr>
            <a:r>
              <a:rPr lang="en-US" sz="950" b="1" spc="160" kern="0" dirty="0">
                <a:solidFill>
                  <a:srgbClr val="9FB8C6"/>
                </a:solidFill>
                <a:latin typeface="Calibri" pitchFamily="34" charset="0"/>
                <a:ea typeface="Calibri" pitchFamily="34" charset="-122"/>
                <a:cs typeface="Calibri" pitchFamily="34" charset="-120"/>
              </a:rPr>
              <a:t>MODULE MAP</a:t>
            </a:r>
            <a:endParaRPr lang="en-US" sz="950" dirty="0"/>
          </a:p>
        </p:txBody>
      </p:sp>
      <p:sp>
        <p:nvSpPr>
          <p:cNvPr id="6" name="Shape 4"/>
          <p:cNvSpPr/>
          <p:nvPr/>
        </p:nvSpPr>
        <p:spPr>
          <a:xfrm>
            <a:off x="7818120" y="1527048"/>
            <a:ext cx="182880" cy="182880"/>
          </a:xfrm>
          <a:prstGeom prst="ellipse">
            <a:avLst/>
          </a:prstGeom>
          <a:solidFill>
            <a:srgbClr val="1D3444"/>
          </a:solidFill>
          <a:ln w="12700">
            <a:solidFill>
              <a:srgbClr val="3A5566"/>
            </a:solidFill>
            <a:prstDash val="solid"/>
          </a:ln>
        </p:spPr>
      </p:sp>
      <p:sp>
        <p:nvSpPr>
          <p:cNvPr id="7" name="Text 5"/>
          <p:cNvSpPr/>
          <p:nvPr/>
        </p:nvSpPr>
        <p:spPr>
          <a:xfrm>
            <a:off x="8147304" y="1417320"/>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Why Tooling Is a Security Topic</a:t>
            </a:r>
            <a:endParaRPr lang="en-US" sz="1200" dirty="0"/>
          </a:p>
        </p:txBody>
      </p:sp>
      <p:sp>
        <p:nvSpPr>
          <p:cNvPr id="8" name="Shape 6"/>
          <p:cNvSpPr/>
          <p:nvPr/>
        </p:nvSpPr>
        <p:spPr>
          <a:xfrm>
            <a:off x="7818120" y="2185416"/>
            <a:ext cx="182880" cy="182880"/>
          </a:xfrm>
          <a:prstGeom prst="ellipse">
            <a:avLst/>
          </a:prstGeom>
          <a:solidFill>
            <a:srgbClr val="1D3444"/>
          </a:solidFill>
          <a:ln w="12700">
            <a:solidFill>
              <a:srgbClr val="3A5566"/>
            </a:solidFill>
            <a:prstDash val="solid"/>
          </a:ln>
        </p:spPr>
      </p:sp>
      <p:sp>
        <p:nvSpPr>
          <p:cNvPr id="9" name="Text 7"/>
          <p:cNvSpPr/>
          <p:nvPr/>
        </p:nvSpPr>
        <p:spPr>
          <a:xfrm>
            <a:off x="8147304" y="2075688"/>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Set Up Locally</a:t>
            </a:r>
            <a:endParaRPr lang="en-US" sz="1200" dirty="0"/>
          </a:p>
        </p:txBody>
      </p:sp>
      <p:sp>
        <p:nvSpPr>
          <p:cNvPr id="10" name="Shape 8"/>
          <p:cNvSpPr/>
          <p:nvPr/>
        </p:nvSpPr>
        <p:spPr>
          <a:xfrm>
            <a:off x="7818120" y="2843784"/>
            <a:ext cx="182880" cy="182880"/>
          </a:xfrm>
          <a:prstGeom prst="ellipse">
            <a:avLst/>
          </a:prstGeom>
          <a:solidFill>
            <a:srgbClr val="1D3444"/>
          </a:solidFill>
          <a:ln w="12700">
            <a:solidFill>
              <a:srgbClr val="3A5566"/>
            </a:solidFill>
            <a:prstDash val="solid"/>
          </a:ln>
        </p:spPr>
      </p:sp>
      <p:sp>
        <p:nvSpPr>
          <p:cNvPr id="11" name="Text 9"/>
          <p:cNvSpPr/>
          <p:nvPr/>
        </p:nvSpPr>
        <p:spPr>
          <a:xfrm>
            <a:off x="8147304" y="2734056"/>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Your Machine in the Cloud</a:t>
            </a:r>
            <a:endParaRPr lang="en-US" sz="1200" dirty="0"/>
          </a:p>
        </p:txBody>
      </p:sp>
      <p:sp>
        <p:nvSpPr>
          <p:cNvPr id="12" name="Shape 10"/>
          <p:cNvSpPr/>
          <p:nvPr/>
        </p:nvSpPr>
        <p:spPr>
          <a:xfrm>
            <a:off x="7818120" y="3502152"/>
            <a:ext cx="182880" cy="182880"/>
          </a:xfrm>
          <a:prstGeom prst="ellipse">
            <a:avLst/>
          </a:prstGeom>
          <a:solidFill>
            <a:srgbClr val="4E9A6E"/>
          </a:solidFill>
          <a:ln w="12700">
            <a:solidFill>
              <a:srgbClr val="4E9A6E"/>
            </a:solidFill>
            <a:prstDash val="solid"/>
          </a:ln>
        </p:spPr>
      </p:sp>
      <p:sp>
        <p:nvSpPr>
          <p:cNvPr id="13" name="Text 11"/>
          <p:cNvSpPr/>
          <p:nvPr/>
        </p:nvSpPr>
        <p:spPr>
          <a:xfrm>
            <a:off x="8147304" y="3392424"/>
            <a:ext cx="342900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Your Environment &amp; the Labs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1F5F3C"/>
                </a:solidFill>
                <a:latin typeface="Calibri" pitchFamily="34" charset="0"/>
                <a:ea typeface="Calibri" pitchFamily="34" charset="-122"/>
                <a:cs typeface="Calibri" pitchFamily="34" charset="-120"/>
              </a:rPr>
              <a:t>PART 4 · YOUR ENVIRONMENT &amp; THE LABS</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Your full course environment</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One repository at the centre. Every later module plugs into this same skeleton.</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Tools &amp; Environment</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24</a:t>
            </a:r>
            <a:endParaRPr lang="en-US" sz="900" dirty="0"/>
          </a:p>
        </p:txBody>
      </p:sp>
      <p:sp>
        <p:nvSpPr>
          <p:cNvPr id="7" name="Shape 5"/>
          <p:cNvSpPr/>
          <p:nvPr/>
        </p:nvSpPr>
        <p:spPr>
          <a:xfrm>
            <a:off x="4434840" y="3017520"/>
            <a:ext cx="3291840" cy="1005840"/>
          </a:xfrm>
          <a:prstGeom prst="roundRect">
            <a:avLst>
              <a:gd name="adj" fmla="val 5455"/>
            </a:avLst>
          </a:prstGeom>
          <a:solidFill>
            <a:srgbClr val="12202B"/>
          </a:solidFill>
          <a:ln w="15875">
            <a:solidFill>
              <a:srgbClr val="12202B"/>
            </a:solidFill>
            <a:prstDash val="solid"/>
          </a:ln>
        </p:spPr>
      </p:sp>
      <p:sp>
        <p:nvSpPr>
          <p:cNvPr id="8" name="Text 6"/>
          <p:cNvSpPr/>
          <p:nvPr/>
        </p:nvSpPr>
        <p:spPr>
          <a:xfrm>
            <a:off x="4489704" y="3099816"/>
            <a:ext cx="3182112" cy="29260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Your course repository</a:t>
            </a:r>
            <a:endParaRPr lang="en-US" sz="1350" dirty="0"/>
          </a:p>
        </p:txBody>
      </p:sp>
      <p:sp>
        <p:nvSpPr>
          <p:cNvPr id="9" name="Text 7"/>
          <p:cNvSpPr/>
          <p:nvPr/>
        </p:nvSpPr>
        <p:spPr>
          <a:xfrm>
            <a:off x="4489704" y="3364992"/>
            <a:ext cx="3182112" cy="603504"/>
          </a:xfrm>
          <a:prstGeom prst="rect">
            <a:avLst/>
          </a:prstGeom>
          <a:noFill/>
          <a:ln/>
        </p:spPr>
        <p:txBody>
          <a:bodyPr wrap="square" lIns="0" tIns="0" rIns="0" bIns="0" rtlCol="0" anchor="t"/>
          <a:lstStyle/>
          <a:p>
            <a:pPr algn="ctr" indent="0" marL="0">
              <a:lnSpc>
                <a:spcPts val="1200"/>
              </a:lnSpc>
              <a:buNone/>
            </a:pPr>
            <a:r>
              <a:rPr lang="en-US" sz="950" dirty="0">
                <a:solidFill>
                  <a:srgbClr val="9FB8C6"/>
                </a:solidFill>
                <a:latin typeface="Calibri" pitchFamily="34" charset="0"/>
                <a:ea typeface="Calibri" pitchFamily="34" charset="-122"/>
                <a:cs typeface="Calibri" pitchFamily="34" charset="-120"/>
              </a:rPr>
              <a:t>notebooks · scripts · .gitignore · README</a:t>
            </a:r>
            <a:endParaRPr lang="en-US" sz="950" dirty="0"/>
          </a:p>
        </p:txBody>
      </p:sp>
      <p:sp>
        <p:nvSpPr>
          <p:cNvPr id="10" name="Shape 8"/>
          <p:cNvSpPr/>
          <p:nvPr/>
        </p:nvSpPr>
        <p:spPr>
          <a:xfrm>
            <a:off x="640080" y="1810512"/>
            <a:ext cx="3337560" cy="868680"/>
          </a:xfrm>
          <a:prstGeom prst="roundRect">
            <a:avLst>
              <a:gd name="adj" fmla="val 6316"/>
            </a:avLst>
          </a:prstGeom>
          <a:solidFill>
            <a:srgbClr val="F1F5F8"/>
          </a:solidFill>
          <a:ln w="15875">
            <a:solidFill>
              <a:srgbClr val="1F5F3C"/>
            </a:solidFill>
            <a:prstDash val="solid"/>
          </a:ln>
        </p:spPr>
      </p:sp>
      <p:sp>
        <p:nvSpPr>
          <p:cNvPr id="11" name="Text 9"/>
          <p:cNvSpPr/>
          <p:nvPr/>
        </p:nvSpPr>
        <p:spPr>
          <a:xfrm>
            <a:off x="694944" y="1892808"/>
            <a:ext cx="3227832"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Colab + Drive</a:t>
            </a:r>
            <a:endParaRPr lang="en-US" sz="1250" dirty="0"/>
          </a:p>
        </p:txBody>
      </p:sp>
      <p:sp>
        <p:nvSpPr>
          <p:cNvPr id="12" name="Text 10"/>
          <p:cNvSpPr/>
          <p:nvPr/>
        </p:nvSpPr>
        <p:spPr>
          <a:xfrm>
            <a:off x="694944" y="2157984"/>
            <a:ext cx="3227832" cy="46634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hosted notebooks</a:t>
            </a:r>
            <a:endParaRPr lang="en-US" sz="950" dirty="0"/>
          </a:p>
        </p:txBody>
      </p:sp>
      <p:sp>
        <p:nvSpPr>
          <p:cNvPr id="13" name="Shape 11"/>
          <p:cNvSpPr/>
          <p:nvPr/>
        </p:nvSpPr>
        <p:spPr>
          <a:xfrm>
            <a:off x="4434840" y="1810512"/>
            <a:ext cx="3337560" cy="868680"/>
          </a:xfrm>
          <a:prstGeom prst="roundRect">
            <a:avLst>
              <a:gd name="adj" fmla="val 6316"/>
            </a:avLst>
          </a:prstGeom>
          <a:solidFill>
            <a:srgbClr val="F1F5F8"/>
          </a:solidFill>
          <a:ln w="15875">
            <a:solidFill>
              <a:srgbClr val="1F5F3C"/>
            </a:solidFill>
            <a:prstDash val="solid"/>
          </a:ln>
        </p:spPr>
      </p:sp>
      <p:sp>
        <p:nvSpPr>
          <p:cNvPr id="14" name="Text 12"/>
          <p:cNvSpPr/>
          <p:nvPr/>
        </p:nvSpPr>
        <p:spPr>
          <a:xfrm>
            <a:off x="4489704" y="1892808"/>
            <a:ext cx="3227832"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AI model access</a:t>
            </a:r>
            <a:endParaRPr lang="en-US" sz="1250" dirty="0"/>
          </a:p>
        </p:txBody>
      </p:sp>
      <p:sp>
        <p:nvSpPr>
          <p:cNvPr id="15" name="Text 13"/>
          <p:cNvSpPr/>
          <p:nvPr/>
        </p:nvSpPr>
        <p:spPr>
          <a:xfrm>
            <a:off x="4489704" y="2157984"/>
            <a:ext cx="3227832" cy="46634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API key · Ollama</a:t>
            </a:r>
            <a:endParaRPr lang="en-US" sz="950" dirty="0"/>
          </a:p>
        </p:txBody>
      </p:sp>
      <p:sp>
        <p:nvSpPr>
          <p:cNvPr id="16" name="Shape 14"/>
          <p:cNvSpPr/>
          <p:nvPr/>
        </p:nvSpPr>
        <p:spPr>
          <a:xfrm>
            <a:off x="8211312" y="1810512"/>
            <a:ext cx="3337560" cy="868680"/>
          </a:xfrm>
          <a:prstGeom prst="roundRect">
            <a:avLst>
              <a:gd name="adj" fmla="val 6316"/>
            </a:avLst>
          </a:prstGeom>
          <a:solidFill>
            <a:srgbClr val="F1F5F8"/>
          </a:solidFill>
          <a:ln w="15875">
            <a:solidFill>
              <a:srgbClr val="1F5F3C"/>
            </a:solidFill>
            <a:prstDash val="solid"/>
          </a:ln>
        </p:spPr>
      </p:sp>
      <p:sp>
        <p:nvSpPr>
          <p:cNvPr id="17" name="Text 15"/>
          <p:cNvSpPr/>
          <p:nvPr/>
        </p:nvSpPr>
        <p:spPr>
          <a:xfrm>
            <a:off x="8266176" y="1892808"/>
            <a:ext cx="3227832"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Docker + Kali</a:t>
            </a:r>
            <a:endParaRPr lang="en-US" sz="1250" dirty="0"/>
          </a:p>
        </p:txBody>
      </p:sp>
      <p:sp>
        <p:nvSpPr>
          <p:cNvPr id="18" name="Text 16"/>
          <p:cNvSpPr/>
          <p:nvPr/>
        </p:nvSpPr>
        <p:spPr>
          <a:xfrm>
            <a:off x="8266176" y="2157984"/>
            <a:ext cx="3227832" cy="46634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the isolated lab</a:t>
            </a:r>
            <a:endParaRPr lang="en-US" sz="950" dirty="0"/>
          </a:p>
        </p:txBody>
      </p:sp>
      <p:sp>
        <p:nvSpPr>
          <p:cNvPr id="19" name="Shape 17"/>
          <p:cNvSpPr/>
          <p:nvPr/>
        </p:nvSpPr>
        <p:spPr>
          <a:xfrm>
            <a:off x="640080" y="4846320"/>
            <a:ext cx="3337560" cy="868680"/>
          </a:xfrm>
          <a:prstGeom prst="roundRect">
            <a:avLst>
              <a:gd name="adj" fmla="val 6316"/>
            </a:avLst>
          </a:prstGeom>
          <a:solidFill>
            <a:srgbClr val="F1F5F8"/>
          </a:solidFill>
          <a:ln w="15875">
            <a:solidFill>
              <a:srgbClr val="1F5F3C"/>
            </a:solidFill>
            <a:prstDash val="solid"/>
          </a:ln>
        </p:spPr>
      </p:sp>
      <p:sp>
        <p:nvSpPr>
          <p:cNvPr id="20" name="Text 18"/>
          <p:cNvSpPr/>
          <p:nvPr/>
        </p:nvSpPr>
        <p:spPr>
          <a:xfrm>
            <a:off x="694944" y="4928616"/>
            <a:ext cx="3227832"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Python + venv</a:t>
            </a:r>
            <a:endParaRPr lang="en-US" sz="1250" dirty="0"/>
          </a:p>
        </p:txBody>
      </p:sp>
      <p:sp>
        <p:nvSpPr>
          <p:cNvPr id="21" name="Text 19"/>
          <p:cNvSpPr/>
          <p:nvPr/>
        </p:nvSpPr>
        <p:spPr>
          <a:xfrm>
            <a:off x="694944" y="5193792"/>
            <a:ext cx="3227832" cy="46634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pinned in requirements.txt</a:t>
            </a:r>
            <a:endParaRPr lang="en-US" sz="950" dirty="0"/>
          </a:p>
        </p:txBody>
      </p:sp>
      <p:sp>
        <p:nvSpPr>
          <p:cNvPr id="22" name="Shape 20"/>
          <p:cNvSpPr/>
          <p:nvPr/>
        </p:nvSpPr>
        <p:spPr>
          <a:xfrm>
            <a:off x="4434840" y="4846320"/>
            <a:ext cx="3337560" cy="868680"/>
          </a:xfrm>
          <a:prstGeom prst="roundRect">
            <a:avLst>
              <a:gd name="adj" fmla="val 6316"/>
            </a:avLst>
          </a:prstGeom>
          <a:solidFill>
            <a:srgbClr val="F1F5F8"/>
          </a:solidFill>
          <a:ln w="15875">
            <a:solidFill>
              <a:srgbClr val="1F5F3C"/>
            </a:solidFill>
            <a:prstDash val="solid"/>
          </a:ln>
        </p:spPr>
      </p:sp>
      <p:sp>
        <p:nvSpPr>
          <p:cNvPr id="23" name="Text 21"/>
          <p:cNvSpPr/>
          <p:nvPr/>
        </p:nvSpPr>
        <p:spPr>
          <a:xfrm>
            <a:off x="4489704" y="4928616"/>
            <a:ext cx="3227832"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Secrets</a:t>
            </a:r>
            <a:endParaRPr lang="en-US" sz="1250" dirty="0"/>
          </a:p>
        </p:txBody>
      </p:sp>
      <p:sp>
        <p:nvSpPr>
          <p:cNvPr id="24" name="Text 22"/>
          <p:cNvSpPr/>
          <p:nvPr/>
        </p:nvSpPr>
        <p:spPr>
          <a:xfrm>
            <a:off x="4489704" y="5193792"/>
            <a:ext cx="3227832" cy="46634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.env · Colab Secrets</a:t>
            </a:r>
            <a:endParaRPr lang="en-US" sz="950" dirty="0"/>
          </a:p>
        </p:txBody>
      </p:sp>
      <p:sp>
        <p:nvSpPr>
          <p:cNvPr id="25" name="Shape 23"/>
          <p:cNvSpPr/>
          <p:nvPr/>
        </p:nvSpPr>
        <p:spPr>
          <a:xfrm>
            <a:off x="8211312" y="4846320"/>
            <a:ext cx="3337560" cy="868680"/>
          </a:xfrm>
          <a:prstGeom prst="roundRect">
            <a:avLst>
              <a:gd name="adj" fmla="val 6316"/>
            </a:avLst>
          </a:prstGeom>
          <a:solidFill>
            <a:srgbClr val="FFFFFF"/>
          </a:solidFill>
          <a:ln w="15875">
            <a:solidFill>
              <a:srgbClr val="C9D8E0"/>
            </a:solidFill>
            <a:prstDash val="solid"/>
          </a:ln>
        </p:spPr>
      </p:sp>
      <p:sp>
        <p:nvSpPr>
          <p:cNvPr id="26" name="Text 24"/>
          <p:cNvSpPr/>
          <p:nvPr/>
        </p:nvSpPr>
        <p:spPr>
          <a:xfrm>
            <a:off x="8266176" y="4928616"/>
            <a:ext cx="3227832"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NAIRR VM</a:t>
            </a:r>
            <a:endParaRPr lang="en-US" sz="1250" dirty="0"/>
          </a:p>
        </p:txBody>
      </p:sp>
      <p:sp>
        <p:nvSpPr>
          <p:cNvPr id="27" name="Text 25"/>
          <p:cNvSpPr/>
          <p:nvPr/>
        </p:nvSpPr>
        <p:spPr>
          <a:xfrm>
            <a:off x="8266176" y="5193792"/>
            <a:ext cx="3227832" cy="46634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optional GPU, all term</a:t>
            </a:r>
            <a:endParaRPr lang="en-US" sz="950" dirty="0"/>
          </a:p>
        </p:txBody>
      </p:sp>
      <p:sp>
        <p:nvSpPr>
          <p:cNvPr id="28" name="Shape 26"/>
          <p:cNvSpPr/>
          <p:nvPr/>
        </p:nvSpPr>
        <p:spPr>
          <a:xfrm>
            <a:off x="2313432" y="2679192"/>
            <a:ext cx="0" cy="841248"/>
          </a:xfrm>
          <a:prstGeom prst="line">
            <a:avLst/>
          </a:prstGeom>
          <a:noFill/>
          <a:ln w="13970">
            <a:solidFill>
              <a:srgbClr val="C9D8E0"/>
            </a:solidFill>
            <a:prstDash val="solid"/>
          </a:ln>
        </p:spPr>
      </p:sp>
      <p:sp>
        <p:nvSpPr>
          <p:cNvPr id="29" name="Shape 27"/>
          <p:cNvSpPr/>
          <p:nvPr/>
        </p:nvSpPr>
        <p:spPr>
          <a:xfrm>
            <a:off x="2313432" y="3520440"/>
            <a:ext cx="2075688" cy="0"/>
          </a:xfrm>
          <a:prstGeom prst="line">
            <a:avLst/>
          </a:prstGeom>
          <a:noFill/>
          <a:ln w="13970">
            <a:solidFill>
              <a:srgbClr val="C9D8E0"/>
            </a:solidFill>
            <a:prstDash val="solid"/>
            <a:tailEnd type="triangle"/>
          </a:ln>
        </p:spPr>
      </p:sp>
      <p:sp>
        <p:nvSpPr>
          <p:cNvPr id="30" name="Shape 28"/>
          <p:cNvSpPr/>
          <p:nvPr/>
        </p:nvSpPr>
        <p:spPr>
          <a:xfrm>
            <a:off x="6080760" y="2679192"/>
            <a:ext cx="0" cy="292608"/>
          </a:xfrm>
          <a:prstGeom prst="line">
            <a:avLst/>
          </a:prstGeom>
          <a:noFill/>
          <a:ln w="13970">
            <a:solidFill>
              <a:srgbClr val="C9D8E0"/>
            </a:solidFill>
            <a:prstDash val="solid"/>
            <a:tailEnd type="triangle"/>
          </a:ln>
        </p:spPr>
      </p:sp>
      <p:sp>
        <p:nvSpPr>
          <p:cNvPr id="31" name="Shape 29"/>
          <p:cNvSpPr/>
          <p:nvPr/>
        </p:nvSpPr>
        <p:spPr>
          <a:xfrm>
            <a:off x="9875520" y="2679192"/>
            <a:ext cx="0" cy="841248"/>
          </a:xfrm>
          <a:prstGeom prst="line">
            <a:avLst/>
          </a:prstGeom>
          <a:noFill/>
          <a:ln w="13970">
            <a:solidFill>
              <a:srgbClr val="C9D8E0"/>
            </a:solidFill>
            <a:prstDash val="solid"/>
          </a:ln>
        </p:spPr>
      </p:sp>
      <p:sp>
        <p:nvSpPr>
          <p:cNvPr id="32" name="Shape 30"/>
          <p:cNvSpPr/>
          <p:nvPr/>
        </p:nvSpPr>
        <p:spPr>
          <a:xfrm flipH="1">
            <a:off x="7772400" y="3520440"/>
            <a:ext cx="2103120" cy="0"/>
          </a:xfrm>
          <a:prstGeom prst="line">
            <a:avLst/>
          </a:prstGeom>
          <a:noFill/>
          <a:ln w="13970">
            <a:solidFill>
              <a:srgbClr val="C9D8E0"/>
            </a:solidFill>
            <a:prstDash val="solid"/>
            <a:tailEnd type="triangle"/>
          </a:ln>
        </p:spPr>
      </p:sp>
      <p:sp>
        <p:nvSpPr>
          <p:cNvPr id="33" name="Shape 31"/>
          <p:cNvSpPr/>
          <p:nvPr/>
        </p:nvSpPr>
        <p:spPr>
          <a:xfrm flipV="1">
            <a:off x="2313432" y="3566160"/>
            <a:ext cx="0" cy="1280160"/>
          </a:xfrm>
          <a:prstGeom prst="line">
            <a:avLst/>
          </a:prstGeom>
          <a:noFill/>
          <a:ln w="13970">
            <a:solidFill>
              <a:srgbClr val="C9D8E0"/>
            </a:solidFill>
            <a:prstDash val="solid"/>
          </a:ln>
        </p:spPr>
      </p:sp>
      <p:sp>
        <p:nvSpPr>
          <p:cNvPr id="34" name="Shape 32"/>
          <p:cNvSpPr/>
          <p:nvPr/>
        </p:nvSpPr>
        <p:spPr>
          <a:xfrm>
            <a:off x="2313432" y="3566160"/>
            <a:ext cx="2075688" cy="0"/>
          </a:xfrm>
          <a:prstGeom prst="line">
            <a:avLst/>
          </a:prstGeom>
          <a:noFill/>
          <a:ln w="13970">
            <a:solidFill>
              <a:srgbClr val="C9D8E0"/>
            </a:solidFill>
            <a:prstDash val="solid"/>
            <a:tailEnd type="triangle"/>
          </a:ln>
        </p:spPr>
      </p:sp>
      <p:sp>
        <p:nvSpPr>
          <p:cNvPr id="35" name="Shape 33"/>
          <p:cNvSpPr/>
          <p:nvPr/>
        </p:nvSpPr>
        <p:spPr>
          <a:xfrm flipV="1">
            <a:off x="6080760" y="4069080"/>
            <a:ext cx="0" cy="777240"/>
          </a:xfrm>
          <a:prstGeom prst="line">
            <a:avLst/>
          </a:prstGeom>
          <a:noFill/>
          <a:ln w="13970">
            <a:solidFill>
              <a:srgbClr val="C9D8E0"/>
            </a:solidFill>
            <a:prstDash val="solid"/>
            <a:tailEnd type="triangle"/>
          </a:ln>
        </p:spPr>
      </p:sp>
      <p:sp>
        <p:nvSpPr>
          <p:cNvPr id="36" name="Shape 34"/>
          <p:cNvSpPr/>
          <p:nvPr/>
        </p:nvSpPr>
        <p:spPr>
          <a:xfrm flipV="1">
            <a:off x="9875520" y="3566160"/>
            <a:ext cx="0" cy="1280160"/>
          </a:xfrm>
          <a:prstGeom prst="line">
            <a:avLst/>
          </a:prstGeom>
          <a:noFill/>
          <a:ln w="13970">
            <a:solidFill>
              <a:srgbClr val="C9D8E0"/>
            </a:solidFill>
            <a:prstDash val="solid"/>
          </a:ln>
        </p:spPr>
      </p:sp>
      <p:sp>
        <p:nvSpPr>
          <p:cNvPr id="37" name="Shape 35"/>
          <p:cNvSpPr/>
          <p:nvPr/>
        </p:nvSpPr>
        <p:spPr>
          <a:xfrm flipH="1">
            <a:off x="7772400" y="3566160"/>
            <a:ext cx="2103120" cy="0"/>
          </a:xfrm>
          <a:prstGeom prst="line">
            <a:avLst/>
          </a:prstGeom>
          <a:noFill/>
          <a:ln w="13970">
            <a:solidFill>
              <a:srgbClr val="C9D8E0"/>
            </a:solidFill>
            <a:prstDash val="solid"/>
            <a:tailEnd type="triangle"/>
          </a:ln>
        </p:spPr>
      </p:sp>
      <p:sp>
        <p:nvSpPr>
          <p:cNvPr id="38" name="Shape 36"/>
          <p:cNvSpPr/>
          <p:nvPr/>
        </p:nvSpPr>
        <p:spPr>
          <a:xfrm>
            <a:off x="640080" y="5870448"/>
            <a:ext cx="10908792" cy="0"/>
          </a:xfrm>
          <a:prstGeom prst="roundRect">
            <a:avLst>
              <a:gd name="adj" fmla="val Infinity"/>
            </a:avLst>
          </a:prstGeom>
          <a:solidFill>
            <a:srgbClr val="DFEEE5"/>
          </a:solidFill>
          <a:ln w="9525">
            <a:solidFill>
              <a:srgbClr val="1F5F3C"/>
            </a:solidFill>
            <a:prstDash val="solid"/>
          </a:ln>
        </p:spPr>
      </p:sp>
      <p:sp>
        <p:nvSpPr>
          <p:cNvPr id="39" name="Text 37"/>
          <p:cNvSpPr/>
          <p:nvPr/>
        </p:nvSpPr>
        <p:spPr>
          <a:xfrm>
            <a:off x="859536" y="5961888"/>
            <a:ext cx="10469880" cy="-182880"/>
          </a:xfrm>
          <a:prstGeom prst="rect">
            <a:avLst/>
          </a:prstGeom>
          <a:noFill/>
          <a:ln/>
        </p:spPr>
        <p:txBody>
          <a:bodyPr wrap="square" lIns="0" tIns="0" rIns="0" bIns="0" rtlCol="0" anchor="ctr"/>
          <a:lstStyle/>
          <a:p>
            <a:pPr indent="0" marL="0">
              <a:lnSpc>
                <a:spcPts val="140"/>
              </a:lnSpc>
              <a:buNone/>
            </a:pPr>
            <a:pPr indent="0" marL="0">
              <a:lnSpc>
                <a:spcPts val="140"/>
              </a:lnSpc>
              <a:buNone/>
            </a:pPr>
            <a:endParaRPr lang="en-US" sz="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1F5F3C"/>
                </a:solidFill>
                <a:latin typeface="Calibri" pitchFamily="34" charset="0"/>
                <a:ea typeface="Calibri" pitchFamily="34" charset="-122"/>
                <a:cs typeface="Calibri" pitchFamily="34" charset="-120"/>
              </a:rPr>
              <a:t>PART 4 · YOUR ENVIRONMENT &amp; THE LABS</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Hands-on: the two labs</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Lab A is required and comes first. Lab B whenever you want cloud compute.</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Tools &amp; Environment</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25</a:t>
            </a:r>
            <a:endParaRPr lang="en-US" sz="900" dirty="0"/>
          </a:p>
        </p:txBody>
      </p:sp>
      <p:sp>
        <p:nvSpPr>
          <p:cNvPr id="7" name="Shape 5"/>
          <p:cNvSpPr/>
          <p:nvPr/>
        </p:nvSpPr>
        <p:spPr>
          <a:xfrm>
            <a:off x="640080" y="1783080"/>
            <a:ext cx="5394960" cy="3017520"/>
          </a:xfrm>
          <a:prstGeom prst="roundRect">
            <a:avLst>
              <a:gd name="adj" fmla="val 2121"/>
            </a:avLst>
          </a:prstGeom>
          <a:solidFill>
            <a:srgbClr val="DFEEE5"/>
          </a:solidFill>
          <a:ln w="19050">
            <a:solidFill>
              <a:srgbClr val="1F5F3C"/>
            </a:solidFill>
            <a:prstDash val="solid"/>
          </a:ln>
        </p:spPr>
      </p:sp>
      <p:sp>
        <p:nvSpPr>
          <p:cNvPr id="8" name="Text 6"/>
          <p:cNvSpPr/>
          <p:nvPr/>
        </p:nvSpPr>
        <p:spPr>
          <a:xfrm>
            <a:off x="896112" y="1901952"/>
            <a:ext cx="4846320" cy="219456"/>
          </a:xfrm>
          <a:prstGeom prst="rect">
            <a:avLst/>
          </a:prstGeom>
          <a:noFill/>
          <a:ln/>
        </p:spPr>
        <p:txBody>
          <a:bodyPr wrap="square" lIns="0" tIns="0" rIns="0" bIns="0" rtlCol="0" anchor="ctr"/>
          <a:lstStyle/>
          <a:p>
            <a:pPr indent="0" marL="0">
              <a:buNone/>
            </a:pPr>
            <a:r>
              <a:rPr lang="en-US" sz="900" b="1" spc="140" kern="0" dirty="0">
                <a:solidFill>
                  <a:srgbClr val="1F5F3C"/>
                </a:solidFill>
                <a:latin typeface="Calibri" pitchFamily="34" charset="0"/>
                <a:ea typeface="Calibri" pitchFamily="34" charset="-122"/>
                <a:cs typeface="Calibri" pitchFamily="34" charset="-120"/>
              </a:rPr>
              <a:t>REQUIRED</a:t>
            </a:r>
            <a:endParaRPr lang="en-US" sz="900" dirty="0"/>
          </a:p>
        </p:txBody>
      </p:sp>
      <p:sp>
        <p:nvSpPr>
          <p:cNvPr id="9" name="Text 7"/>
          <p:cNvSpPr/>
          <p:nvPr/>
        </p:nvSpPr>
        <p:spPr>
          <a:xfrm>
            <a:off x="896112" y="2139696"/>
            <a:ext cx="4846320" cy="329184"/>
          </a:xfrm>
          <a:prstGeom prst="rect">
            <a:avLst/>
          </a:prstGeom>
          <a:noFill/>
          <a:ln/>
        </p:spPr>
        <p:txBody>
          <a:bodyPr wrap="square" lIns="0" tIns="0" rIns="0" bIns="0" rtlCol="0" anchor="ctr"/>
          <a:lstStyle/>
          <a:p>
            <a:pPr indent="0" marL="0">
              <a:buNone/>
            </a:pPr>
            <a:r>
              <a:rPr lang="en-US" sz="1700" b="1" dirty="0">
                <a:solidFill>
                  <a:srgbClr val="12202B"/>
                </a:solidFill>
                <a:latin typeface="Cambria" pitchFamily="34" charset="0"/>
                <a:ea typeface="Cambria" pitchFamily="34" charset="-122"/>
                <a:cs typeface="Cambria" pitchFamily="34" charset="-120"/>
              </a:rPr>
              <a:t>Lab A — Set Up &amp; Verify Your Environment</a:t>
            </a:r>
            <a:endParaRPr lang="en-US" sz="1700" dirty="0"/>
          </a:p>
        </p:txBody>
      </p:sp>
      <p:sp>
        <p:nvSpPr>
          <p:cNvPr id="10" name="Text 8"/>
          <p:cNvSpPr/>
          <p:nvPr/>
        </p:nvSpPr>
        <p:spPr>
          <a:xfrm>
            <a:off x="896112" y="2560320"/>
            <a:ext cx="4846320" cy="2103120"/>
          </a:xfrm>
          <a:prstGeom prst="rect">
            <a:avLst/>
          </a:prstGeom>
          <a:noFill/>
          <a:ln/>
        </p:spPr>
        <p:txBody>
          <a:bodyPr wrap="square" lIns="0" tIns="0" rIns="0" bIns="0" rtlCol="0" anchor="t"/>
          <a:lstStyle/>
          <a:p>
            <a:pPr marL="342900" indent="-342900">
              <a:lnSpc>
                <a:spcPts val="1610"/>
              </a:lnSpc>
              <a:spcAft>
                <a:spcPts val="600"/>
              </a:spcAft>
              <a:buSzPct val="100000"/>
              <a:buChar char="•"/>
            </a:pPr>
            <a:r>
              <a:rPr lang="en-US" sz="1150" dirty="0">
                <a:solidFill>
                  <a:srgbClr val="1B2B36"/>
                </a:solidFill>
                <a:latin typeface="Calibri" pitchFamily="34" charset="0"/>
                <a:ea typeface="Calibri" pitchFamily="34" charset="-122"/>
                <a:cs typeface="Calibri" pitchFamily="34" charset="-120"/>
              </a:rPr>
              <a:t>Create your GitHub course repository</a:t>
            </a:r>
            <a:endParaRPr lang="en-US" sz="1150" dirty="0"/>
          </a:p>
          <a:p>
            <a:pPr marL="342900" indent="-342900">
              <a:lnSpc>
                <a:spcPts val="1610"/>
              </a:lnSpc>
              <a:spcAft>
                <a:spcPts val="600"/>
              </a:spcAft>
              <a:buSzPct val="100000"/>
              <a:buChar char="•"/>
            </a:pPr>
            <a:r>
              <a:rPr lang="en-US" sz="1150" dirty="0">
                <a:solidFill>
                  <a:srgbClr val="1B2B36"/>
                </a:solidFill>
                <a:latin typeface="Calibri" pitchFamily="34" charset="0"/>
                <a:ea typeface="Calibri" pitchFamily="34" charset="-122"/>
                <a:cs typeface="Calibri" pitchFamily="34" charset="-120"/>
              </a:rPr>
              <a:t>Mount Drive in Colab and save a notebook there</a:t>
            </a:r>
            <a:endParaRPr lang="en-US" sz="1150" dirty="0"/>
          </a:p>
          <a:p>
            <a:pPr marL="342900" indent="-342900">
              <a:lnSpc>
                <a:spcPts val="1610"/>
              </a:lnSpc>
              <a:spcAft>
                <a:spcPts val="600"/>
              </a:spcAft>
              <a:buSzPct val="100000"/>
              <a:buChar char="•"/>
            </a:pPr>
            <a:r>
              <a:rPr lang="en-US" sz="1150" dirty="0">
                <a:solidFill>
                  <a:srgbClr val="1B2B36"/>
                </a:solidFill>
                <a:latin typeface="Calibri" pitchFamily="34" charset="0"/>
                <a:ea typeface="Calibri" pitchFamily="34" charset="-122"/>
                <a:cs typeface="Calibri" pitchFamily="34" charset="-120"/>
              </a:rPr>
              <a:t>Create a venv locally and install the requirements</a:t>
            </a:r>
            <a:endParaRPr lang="en-US" sz="1150" dirty="0"/>
          </a:p>
          <a:p>
            <a:pPr marL="342900" indent="-342900">
              <a:lnSpc>
                <a:spcPts val="1610"/>
              </a:lnSpc>
              <a:spcAft>
                <a:spcPts val="600"/>
              </a:spcAft>
              <a:buSzPct val="100000"/>
              <a:buChar char="•"/>
            </a:pPr>
            <a:r>
              <a:rPr lang="en-US" sz="1150" dirty="0">
                <a:solidFill>
                  <a:srgbClr val="1B2B36"/>
                </a:solidFill>
                <a:latin typeface="Calibri" pitchFamily="34" charset="0"/>
                <a:ea typeface="Calibri" pitchFamily="34" charset="-122"/>
                <a:cs typeface="Calibri" pitchFamily="34" charset="-120"/>
              </a:rPr>
              <a:t>Re-run the Module 1 triage code — in Colab and locally</a:t>
            </a:r>
            <a:endParaRPr lang="en-US" sz="1150" dirty="0"/>
          </a:p>
          <a:p>
            <a:pPr marL="342900" indent="-342900">
              <a:lnSpc>
                <a:spcPts val="1610"/>
              </a:lnSpc>
              <a:spcAft>
                <a:spcPts val="600"/>
              </a:spcAft>
              <a:buSzPct val="100000"/>
              <a:buChar char="•"/>
            </a:pPr>
            <a:r>
              <a:rPr lang="en-US" sz="1150" dirty="0">
                <a:solidFill>
                  <a:srgbClr val="1B2B36"/>
                </a:solidFill>
                <a:latin typeface="Calibri" pitchFamily="34" charset="0"/>
                <a:ea typeface="Calibri" pitchFamily="34" charset="-122"/>
                <a:cs typeface="Calibri" pitchFamily="34" charset="-120"/>
              </a:rPr>
              <a:t>Store your key in .env (local) and Colab Secrets (cloud)</a:t>
            </a:r>
            <a:endParaRPr lang="en-US" sz="1150" dirty="0"/>
          </a:p>
        </p:txBody>
      </p:sp>
      <p:sp>
        <p:nvSpPr>
          <p:cNvPr id="11" name="Shape 9"/>
          <p:cNvSpPr/>
          <p:nvPr/>
        </p:nvSpPr>
        <p:spPr>
          <a:xfrm>
            <a:off x="6263640" y="1783080"/>
            <a:ext cx="5285232" cy="3017520"/>
          </a:xfrm>
          <a:prstGeom prst="roundRect">
            <a:avLst>
              <a:gd name="adj" fmla="val 2121"/>
            </a:avLst>
          </a:prstGeom>
          <a:solidFill>
            <a:srgbClr val="FFFFFF"/>
          </a:solidFill>
          <a:ln w="15875">
            <a:solidFill>
              <a:srgbClr val="C9D8E0"/>
            </a:solidFill>
            <a:prstDash val="dash"/>
          </a:ln>
        </p:spPr>
      </p:sp>
      <p:sp>
        <p:nvSpPr>
          <p:cNvPr id="12" name="Text 10"/>
          <p:cNvSpPr/>
          <p:nvPr/>
        </p:nvSpPr>
        <p:spPr>
          <a:xfrm>
            <a:off x="6519672" y="1901952"/>
            <a:ext cx="4754880" cy="219456"/>
          </a:xfrm>
          <a:prstGeom prst="rect">
            <a:avLst/>
          </a:prstGeom>
          <a:noFill/>
          <a:ln/>
        </p:spPr>
        <p:txBody>
          <a:bodyPr wrap="square" lIns="0" tIns="0" rIns="0" bIns="0" rtlCol="0" anchor="ctr"/>
          <a:lstStyle/>
          <a:p>
            <a:pPr indent="0" marL="0">
              <a:buNone/>
            </a:pPr>
            <a:r>
              <a:rPr lang="en-US" sz="900" b="1" spc="140" kern="0" dirty="0">
                <a:solidFill>
                  <a:srgbClr val="5C7383"/>
                </a:solidFill>
                <a:latin typeface="Calibri" pitchFamily="34" charset="0"/>
                <a:ea typeface="Calibri" pitchFamily="34" charset="-122"/>
                <a:cs typeface="Calibri" pitchFamily="34" charset="-120"/>
              </a:rPr>
              <a:t>OPTIONAL SUPPLEMENT</a:t>
            </a:r>
            <a:endParaRPr lang="en-US" sz="900" dirty="0"/>
          </a:p>
        </p:txBody>
      </p:sp>
      <p:sp>
        <p:nvSpPr>
          <p:cNvPr id="13" name="Text 11"/>
          <p:cNvSpPr/>
          <p:nvPr/>
        </p:nvSpPr>
        <p:spPr>
          <a:xfrm>
            <a:off x="6519672" y="2139696"/>
            <a:ext cx="4754880" cy="329184"/>
          </a:xfrm>
          <a:prstGeom prst="rect">
            <a:avLst/>
          </a:prstGeom>
          <a:noFill/>
          <a:ln/>
        </p:spPr>
        <p:txBody>
          <a:bodyPr wrap="square" lIns="0" tIns="0" rIns="0" bIns="0" rtlCol="0" anchor="ctr"/>
          <a:lstStyle/>
          <a:p>
            <a:pPr indent="0" marL="0">
              <a:buNone/>
            </a:pPr>
            <a:r>
              <a:rPr lang="en-US" sz="1700" b="1" dirty="0">
                <a:solidFill>
                  <a:srgbClr val="12202B"/>
                </a:solidFill>
                <a:latin typeface="Cambria" pitchFamily="34" charset="0"/>
                <a:ea typeface="Cambria" pitchFamily="34" charset="-122"/>
                <a:cs typeface="Cambria" pitchFamily="34" charset="-120"/>
              </a:rPr>
              <a:t>Lab B — Your Machine in the Cloud</a:t>
            </a:r>
            <a:endParaRPr lang="en-US" sz="1700" dirty="0"/>
          </a:p>
        </p:txBody>
      </p:sp>
      <p:sp>
        <p:nvSpPr>
          <p:cNvPr id="14" name="Text 12"/>
          <p:cNvSpPr/>
          <p:nvPr/>
        </p:nvSpPr>
        <p:spPr>
          <a:xfrm>
            <a:off x="6519672" y="2560320"/>
            <a:ext cx="4754880" cy="2103120"/>
          </a:xfrm>
          <a:prstGeom prst="rect">
            <a:avLst/>
          </a:prstGeom>
          <a:noFill/>
          <a:ln/>
        </p:spPr>
        <p:txBody>
          <a:bodyPr wrap="square" lIns="0" tIns="0" rIns="0" bIns="0" rtlCol="0" anchor="t"/>
          <a:lstStyle/>
          <a:p>
            <a:pPr marL="342900" indent="-342900">
              <a:lnSpc>
                <a:spcPts val="1610"/>
              </a:lnSpc>
              <a:spcAft>
                <a:spcPts val="600"/>
              </a:spcAft>
              <a:buSzPct val="100000"/>
              <a:buChar char="•"/>
            </a:pPr>
            <a:r>
              <a:rPr lang="en-US" sz="1150" dirty="0">
                <a:solidFill>
                  <a:srgbClr val="1B2B36"/>
                </a:solidFill>
                <a:latin typeface="Calibri" pitchFamily="34" charset="0"/>
                <a:ea typeface="Calibri" pitchFamily="34" charset="-122"/>
                <a:cs typeface="Calibri" pitchFamily="34" charset="-120"/>
              </a:rPr>
              <a:t>Provision a g3.large instance on Jetstream2</a:t>
            </a:r>
            <a:endParaRPr lang="en-US" sz="1150" dirty="0"/>
          </a:p>
          <a:p>
            <a:pPr marL="342900" indent="-342900">
              <a:lnSpc>
                <a:spcPts val="1610"/>
              </a:lnSpc>
              <a:spcAft>
                <a:spcPts val="600"/>
              </a:spcAft>
              <a:buSzPct val="100000"/>
              <a:buChar char="•"/>
            </a:pPr>
            <a:r>
              <a:rPr lang="en-US" sz="1150" dirty="0">
                <a:solidFill>
                  <a:srgbClr val="1B2B36"/>
                </a:solidFill>
                <a:latin typeface="Calibri" pitchFamily="34" charset="0"/>
                <a:ea typeface="Calibri" pitchFamily="34" charset="-122"/>
                <a:cs typeface="Calibri" pitchFamily="34" charset="-120"/>
              </a:rPr>
              <a:t>Connect over SSH, then move to key-based login</a:t>
            </a:r>
            <a:endParaRPr lang="en-US" sz="1150" dirty="0"/>
          </a:p>
          <a:p>
            <a:pPr marL="342900" indent="-342900">
              <a:lnSpc>
                <a:spcPts val="1610"/>
              </a:lnSpc>
              <a:spcAft>
                <a:spcPts val="600"/>
              </a:spcAft>
              <a:buSzPct val="100000"/>
              <a:buChar char="•"/>
            </a:pPr>
            <a:r>
              <a:rPr lang="en-US" sz="1150" dirty="0">
                <a:solidFill>
                  <a:srgbClr val="1B2B36"/>
                </a:solidFill>
                <a:latin typeface="Calibri" pitchFamily="34" charset="0"/>
                <a:ea typeface="Calibri" pitchFamily="34" charset="-122"/>
                <a:cs typeface="Calibri" pitchFamily="34" charset="-120"/>
              </a:rPr>
              <a:t>Set up VS Code Remote-SSH against the VM</a:t>
            </a:r>
            <a:endParaRPr lang="en-US" sz="1150" dirty="0"/>
          </a:p>
          <a:p>
            <a:pPr marL="342900" indent="-342900">
              <a:lnSpc>
                <a:spcPts val="1610"/>
              </a:lnSpc>
              <a:spcAft>
                <a:spcPts val="600"/>
              </a:spcAft>
              <a:buSzPct val="100000"/>
              <a:buChar char="•"/>
            </a:pPr>
            <a:r>
              <a:rPr lang="en-US" sz="1150" dirty="0">
                <a:solidFill>
                  <a:srgbClr val="1B2B36"/>
                </a:solidFill>
                <a:latin typeface="Calibri" pitchFamily="34" charset="0"/>
                <a:ea typeface="Calibri" pitchFamily="34" charset="-122"/>
                <a:cs typeface="Calibri" pitchFamily="34" charset="-120"/>
              </a:rPr>
              <a:t>Run something on the GPU and confirm it landed there</a:t>
            </a:r>
            <a:endParaRPr lang="en-US" sz="1150" dirty="0"/>
          </a:p>
          <a:p>
            <a:pPr marL="342900" indent="-342900">
              <a:lnSpc>
                <a:spcPts val="1610"/>
              </a:lnSpc>
              <a:spcAft>
                <a:spcPts val="600"/>
              </a:spcAft>
              <a:buSzPct val="100000"/>
              <a:buChar char="•"/>
            </a:pPr>
            <a:r>
              <a:rPr lang="en-US" sz="1150" dirty="0">
                <a:solidFill>
                  <a:srgbClr val="1B2B36"/>
                </a:solidFill>
                <a:latin typeface="Calibri" pitchFamily="34" charset="0"/>
                <a:ea typeface="Calibri" pitchFamily="34" charset="-122"/>
                <a:cs typeface="Calibri" pitchFamily="34" charset="-120"/>
              </a:rPr>
              <a:t>Shelve the instance and bring it back</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4983480"/>
          <a:ext cx="10908792" cy="914400"/>
        </p:xfrm>
        <a:graphic>
          <a:graphicData uri="http://schemas.openxmlformats.org/drawingml/2006/table">
            <a:tbl>
              <a:tblPr/>
              <a:tblGrid>
                <a:gridCol w="2011680"/>
                <a:gridCol w="4754880"/>
                <a:gridCol w="414223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Lab</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you submit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 am checking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A (required)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Repo link, plus screenshots of the code running in both places (keys hidden)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That it ran on your machine — and that no key is visible anywhere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B (optional)</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Screenshots of the instance, the SSH key login, and a shelved state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That you closed the password path and left the allocation tidy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1F5F3C"/>
                </a:solidFill>
                <a:latin typeface="Calibri" pitchFamily="34" charset="0"/>
                <a:ea typeface="Calibri" pitchFamily="34" charset="-122"/>
                <a:cs typeface="Calibri" pitchFamily="34" charset="-120"/>
              </a:rPr>
              <a:t>PART 4 · YOUR ENVIRONMENT &amp; THE LABS</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Recap and what's next</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Four things to have working before Module 3.</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Tools &amp; Environment</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26</a:t>
            </a:r>
            <a:endParaRPr lang="en-US" sz="900" dirty="0"/>
          </a:p>
        </p:txBody>
      </p:sp>
      <p:sp>
        <p:nvSpPr>
          <p:cNvPr id="7" name="Shape 5"/>
          <p:cNvSpPr/>
          <p:nvPr/>
        </p:nvSpPr>
        <p:spPr>
          <a:xfrm>
            <a:off x="640080" y="1783080"/>
            <a:ext cx="3483864" cy="1664208"/>
          </a:xfrm>
          <a:prstGeom prst="roundRect">
            <a:avLst>
              <a:gd name="adj" fmla="val 3846"/>
            </a:avLst>
          </a:prstGeom>
          <a:solidFill>
            <a:srgbClr val="F1F5F8"/>
          </a:solidFill>
          <a:ln w="9525">
            <a:solidFill>
              <a:srgbClr val="C9D8E0"/>
            </a:solidFill>
            <a:prstDash val="solid"/>
          </a:ln>
        </p:spPr>
      </p:sp>
      <p:sp>
        <p:nvSpPr>
          <p:cNvPr id="8" name="Shape 6"/>
          <p:cNvSpPr/>
          <p:nvPr/>
        </p:nvSpPr>
        <p:spPr>
          <a:xfrm>
            <a:off x="859536" y="1984248"/>
            <a:ext cx="384048" cy="384048"/>
          </a:xfrm>
          <a:prstGeom prst="ellipse">
            <a:avLst/>
          </a:prstGeom>
          <a:solidFill>
            <a:srgbClr val="1F5F3C"/>
          </a:solidFill>
          <a:ln w="12700">
            <a:solidFill>
              <a:srgbClr val="1F5F3C"/>
            </a:solidFill>
            <a:prstDash val="solid"/>
          </a:ln>
        </p:spPr>
      </p:sp>
      <p:sp>
        <p:nvSpPr>
          <p:cNvPr id="9" name="Text 7"/>
          <p:cNvSpPr/>
          <p:nvPr/>
        </p:nvSpPr>
        <p:spPr>
          <a:xfrm>
            <a:off x="859536" y="1984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371600" y="1965960"/>
            <a:ext cx="2523744" cy="420624"/>
          </a:xfrm>
          <a:prstGeom prst="rect">
            <a:avLst/>
          </a:prstGeom>
          <a:noFill/>
          <a:ln/>
        </p:spPr>
        <p:txBody>
          <a:bodyPr wrap="square" lIns="0" tIns="0" rIns="0" bIns="0" rtlCol="0" anchor="ctr"/>
          <a:lstStyle/>
          <a:p>
            <a:pPr indent="0" marL="0">
              <a:buNone/>
            </a:pPr>
            <a:r>
              <a:rPr lang="en-US" sz="1350" b="1" dirty="0">
                <a:solidFill>
                  <a:srgbClr val="12202B"/>
                </a:solidFill>
                <a:latin typeface="Calibri" pitchFamily="34" charset="0"/>
                <a:ea typeface="Calibri" pitchFamily="34" charset="-122"/>
                <a:cs typeface="Calibri" pitchFamily="34" charset="-120"/>
              </a:rPr>
              <a:t>A reproducible local setup</a:t>
            </a:r>
            <a:endParaRPr lang="en-US" sz="1350" dirty="0"/>
          </a:p>
        </p:txBody>
      </p:sp>
      <p:sp>
        <p:nvSpPr>
          <p:cNvPr id="11" name="Text 9"/>
          <p:cNvSpPr/>
          <p:nvPr/>
        </p:nvSpPr>
        <p:spPr>
          <a:xfrm>
            <a:off x="896112" y="2441448"/>
            <a:ext cx="2971800" cy="804672"/>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VS Code, Python, a venv, and requirements.txt pinned so someone else can rebuild it.</a:t>
            </a:r>
            <a:endParaRPr lang="en-US" sz="1100" dirty="0"/>
          </a:p>
        </p:txBody>
      </p:sp>
      <p:sp>
        <p:nvSpPr>
          <p:cNvPr id="12" name="Shape 10"/>
          <p:cNvSpPr/>
          <p:nvPr/>
        </p:nvSpPr>
        <p:spPr>
          <a:xfrm>
            <a:off x="4352544" y="1783080"/>
            <a:ext cx="3483864" cy="1664208"/>
          </a:xfrm>
          <a:prstGeom prst="roundRect">
            <a:avLst>
              <a:gd name="adj" fmla="val 3846"/>
            </a:avLst>
          </a:prstGeom>
          <a:solidFill>
            <a:srgbClr val="F1F5F8"/>
          </a:solidFill>
          <a:ln w="9525">
            <a:solidFill>
              <a:srgbClr val="C9D8E0"/>
            </a:solidFill>
            <a:prstDash val="solid"/>
          </a:ln>
        </p:spPr>
      </p:sp>
      <p:sp>
        <p:nvSpPr>
          <p:cNvPr id="13" name="Shape 11"/>
          <p:cNvSpPr/>
          <p:nvPr/>
        </p:nvSpPr>
        <p:spPr>
          <a:xfrm>
            <a:off x="4572000" y="1984248"/>
            <a:ext cx="384048" cy="384048"/>
          </a:xfrm>
          <a:prstGeom prst="ellipse">
            <a:avLst/>
          </a:prstGeom>
          <a:solidFill>
            <a:srgbClr val="1F5F3C"/>
          </a:solidFill>
          <a:ln w="12700">
            <a:solidFill>
              <a:srgbClr val="1F5F3C"/>
            </a:solidFill>
            <a:prstDash val="solid"/>
          </a:ln>
        </p:spPr>
      </p:sp>
      <p:sp>
        <p:nvSpPr>
          <p:cNvPr id="14" name="Text 12"/>
          <p:cNvSpPr/>
          <p:nvPr/>
        </p:nvSpPr>
        <p:spPr>
          <a:xfrm>
            <a:off x="4572000" y="1984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084064" y="1965960"/>
            <a:ext cx="2523744" cy="420624"/>
          </a:xfrm>
          <a:prstGeom prst="rect">
            <a:avLst/>
          </a:prstGeom>
          <a:noFill/>
          <a:ln/>
        </p:spPr>
        <p:txBody>
          <a:bodyPr wrap="square" lIns="0" tIns="0" rIns="0" bIns="0" rtlCol="0" anchor="ctr"/>
          <a:lstStyle/>
          <a:p>
            <a:pPr indent="0" marL="0">
              <a:buNone/>
            </a:pPr>
            <a:r>
              <a:rPr lang="en-US" sz="1350" b="1" dirty="0">
                <a:solidFill>
                  <a:srgbClr val="12202B"/>
                </a:solidFill>
                <a:latin typeface="Calibri" pitchFamily="34" charset="0"/>
                <a:ea typeface="Calibri" pitchFamily="34" charset="-122"/>
                <a:cs typeface="Calibri" pitchFamily="34" charset="-120"/>
              </a:rPr>
              <a:t>A repository you submit from</a:t>
            </a:r>
            <a:endParaRPr lang="en-US" sz="1350" dirty="0"/>
          </a:p>
        </p:txBody>
      </p:sp>
      <p:sp>
        <p:nvSpPr>
          <p:cNvPr id="16" name="Text 14"/>
          <p:cNvSpPr/>
          <p:nvPr/>
        </p:nvSpPr>
        <p:spPr>
          <a:xfrm>
            <a:off x="4608576" y="2441448"/>
            <a:ext cx="2971800" cy="804672"/>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On GitHub, with .gitignore already excluding .env before anything is committed.</a:t>
            </a:r>
            <a:endParaRPr lang="en-US" sz="1100" dirty="0"/>
          </a:p>
        </p:txBody>
      </p:sp>
      <p:sp>
        <p:nvSpPr>
          <p:cNvPr id="17" name="Shape 15"/>
          <p:cNvSpPr/>
          <p:nvPr/>
        </p:nvSpPr>
        <p:spPr>
          <a:xfrm>
            <a:off x="640080" y="3657600"/>
            <a:ext cx="3483864" cy="1664208"/>
          </a:xfrm>
          <a:prstGeom prst="roundRect">
            <a:avLst>
              <a:gd name="adj" fmla="val 3846"/>
            </a:avLst>
          </a:prstGeom>
          <a:solidFill>
            <a:srgbClr val="F1F5F8"/>
          </a:solidFill>
          <a:ln w="9525">
            <a:solidFill>
              <a:srgbClr val="C9D8E0"/>
            </a:solidFill>
            <a:prstDash val="solid"/>
          </a:ln>
        </p:spPr>
      </p:sp>
      <p:sp>
        <p:nvSpPr>
          <p:cNvPr id="18" name="Shape 16"/>
          <p:cNvSpPr/>
          <p:nvPr/>
        </p:nvSpPr>
        <p:spPr>
          <a:xfrm>
            <a:off x="859536" y="3858768"/>
            <a:ext cx="384048" cy="384048"/>
          </a:xfrm>
          <a:prstGeom prst="ellipse">
            <a:avLst/>
          </a:prstGeom>
          <a:solidFill>
            <a:srgbClr val="1F5F3C"/>
          </a:solidFill>
          <a:ln w="12700">
            <a:solidFill>
              <a:srgbClr val="1F5F3C"/>
            </a:solidFill>
            <a:prstDash val="solid"/>
          </a:ln>
        </p:spPr>
      </p:sp>
      <p:sp>
        <p:nvSpPr>
          <p:cNvPr id="19" name="Text 17"/>
          <p:cNvSpPr/>
          <p:nvPr/>
        </p:nvSpPr>
        <p:spPr>
          <a:xfrm>
            <a:off x="859536" y="3858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1371600" y="3840480"/>
            <a:ext cx="2523744" cy="420624"/>
          </a:xfrm>
          <a:prstGeom prst="rect">
            <a:avLst/>
          </a:prstGeom>
          <a:noFill/>
          <a:ln/>
        </p:spPr>
        <p:txBody>
          <a:bodyPr wrap="square" lIns="0" tIns="0" rIns="0" bIns="0" rtlCol="0" anchor="ctr"/>
          <a:lstStyle/>
          <a:p>
            <a:pPr indent="0" marL="0">
              <a:buNone/>
            </a:pPr>
            <a:r>
              <a:rPr lang="en-US" sz="1350" b="1" dirty="0">
                <a:solidFill>
                  <a:srgbClr val="12202B"/>
                </a:solidFill>
                <a:latin typeface="Calibri" pitchFamily="34" charset="0"/>
                <a:ea typeface="Calibri" pitchFamily="34" charset="-122"/>
                <a:cs typeface="Calibri" pitchFamily="34" charset="-120"/>
              </a:rPr>
              <a:t>Keys handled properly</a:t>
            </a:r>
            <a:endParaRPr lang="en-US" sz="1350" dirty="0"/>
          </a:p>
        </p:txBody>
      </p:sp>
      <p:sp>
        <p:nvSpPr>
          <p:cNvPr id="21" name="Text 19"/>
          <p:cNvSpPr/>
          <p:nvPr/>
        </p:nvSpPr>
        <p:spPr>
          <a:xfrm>
            <a:off x="896112" y="4315968"/>
            <a:ext cx="2971800" cy="804672"/>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.env locally, Colab Secrets in notebooks, a spend limit set, and a rotation habit.</a:t>
            </a:r>
            <a:endParaRPr lang="en-US" sz="1100" dirty="0"/>
          </a:p>
        </p:txBody>
      </p:sp>
      <p:sp>
        <p:nvSpPr>
          <p:cNvPr id="22" name="Shape 20"/>
          <p:cNvSpPr/>
          <p:nvPr/>
        </p:nvSpPr>
        <p:spPr>
          <a:xfrm>
            <a:off x="4352544" y="3657600"/>
            <a:ext cx="3483864" cy="1664208"/>
          </a:xfrm>
          <a:prstGeom prst="roundRect">
            <a:avLst>
              <a:gd name="adj" fmla="val 3846"/>
            </a:avLst>
          </a:prstGeom>
          <a:solidFill>
            <a:srgbClr val="F1F5F8"/>
          </a:solidFill>
          <a:ln w="9525">
            <a:solidFill>
              <a:srgbClr val="C9D8E0"/>
            </a:solidFill>
            <a:prstDash val="solid"/>
          </a:ln>
        </p:spPr>
      </p:sp>
      <p:sp>
        <p:nvSpPr>
          <p:cNvPr id="23" name="Shape 21"/>
          <p:cNvSpPr/>
          <p:nvPr/>
        </p:nvSpPr>
        <p:spPr>
          <a:xfrm>
            <a:off x="4572000" y="3858768"/>
            <a:ext cx="384048" cy="384048"/>
          </a:xfrm>
          <a:prstGeom prst="ellipse">
            <a:avLst/>
          </a:prstGeom>
          <a:solidFill>
            <a:srgbClr val="1F5F3C"/>
          </a:solidFill>
          <a:ln w="12700">
            <a:solidFill>
              <a:srgbClr val="1F5F3C"/>
            </a:solidFill>
            <a:prstDash val="solid"/>
          </a:ln>
        </p:spPr>
      </p:sp>
      <p:sp>
        <p:nvSpPr>
          <p:cNvPr id="24" name="Text 22"/>
          <p:cNvSpPr/>
          <p:nvPr/>
        </p:nvSpPr>
        <p:spPr>
          <a:xfrm>
            <a:off x="4572000" y="3858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084064" y="3840480"/>
            <a:ext cx="2523744" cy="420624"/>
          </a:xfrm>
          <a:prstGeom prst="rect">
            <a:avLst/>
          </a:prstGeom>
          <a:noFill/>
          <a:ln/>
        </p:spPr>
        <p:txBody>
          <a:bodyPr wrap="square" lIns="0" tIns="0" rIns="0" bIns="0" rtlCol="0" anchor="ctr"/>
          <a:lstStyle/>
          <a:p>
            <a:pPr indent="0" marL="0">
              <a:buNone/>
            </a:pPr>
            <a:r>
              <a:rPr lang="en-US" sz="1350" b="1" dirty="0">
                <a:solidFill>
                  <a:srgbClr val="12202B"/>
                </a:solidFill>
                <a:latin typeface="Calibri" pitchFamily="34" charset="0"/>
                <a:ea typeface="Calibri" pitchFamily="34" charset="-122"/>
                <a:cs typeface="Calibri" pitchFamily="34" charset="-120"/>
              </a:rPr>
              <a:t>One model path working</a:t>
            </a:r>
            <a:endParaRPr lang="en-US" sz="1350" dirty="0"/>
          </a:p>
        </p:txBody>
      </p:sp>
      <p:sp>
        <p:nvSpPr>
          <p:cNvPr id="26" name="Text 24"/>
          <p:cNvSpPr/>
          <p:nvPr/>
        </p:nvSpPr>
        <p:spPr>
          <a:xfrm>
            <a:off x="4608576" y="4315968"/>
            <a:ext cx="2971800" cy="804672"/>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A hosted API or a local model. Either. You compare them properly next week.</a:t>
            </a:r>
            <a:endParaRPr lang="en-US" sz="1100" dirty="0"/>
          </a:p>
        </p:txBody>
      </p:sp>
      <p:sp>
        <p:nvSpPr>
          <p:cNvPr id="27" name="Shape 25"/>
          <p:cNvSpPr/>
          <p:nvPr/>
        </p:nvSpPr>
        <p:spPr>
          <a:xfrm>
            <a:off x="8065008" y="1783080"/>
            <a:ext cx="3483864" cy="1664208"/>
          </a:xfrm>
          <a:prstGeom prst="roundRect">
            <a:avLst>
              <a:gd name="adj" fmla="val 3846"/>
            </a:avLst>
          </a:prstGeom>
          <a:solidFill>
            <a:srgbClr val="F1F5F8"/>
          </a:solidFill>
          <a:ln w="9525">
            <a:solidFill>
              <a:srgbClr val="C9D8E0"/>
            </a:solidFill>
            <a:prstDash val="solid"/>
          </a:ln>
        </p:spPr>
      </p:sp>
      <p:sp>
        <p:nvSpPr>
          <p:cNvPr id="28" name="Text 26"/>
          <p:cNvSpPr/>
          <p:nvPr/>
        </p:nvSpPr>
        <p:spPr>
          <a:xfrm>
            <a:off x="8321040" y="1965960"/>
            <a:ext cx="2971800" cy="420624"/>
          </a:xfrm>
          <a:prstGeom prst="rect">
            <a:avLst/>
          </a:prstGeom>
          <a:noFill/>
          <a:ln/>
        </p:spPr>
        <p:txBody>
          <a:bodyPr wrap="square" lIns="0" tIns="0" rIns="0" bIns="0" rtlCol="0" anchor="ctr"/>
          <a:lstStyle/>
          <a:p>
            <a:pPr indent="0" marL="0">
              <a:buNone/>
            </a:pPr>
            <a:r>
              <a:rPr lang="en-US" sz="1350" b="1" dirty="0">
                <a:solidFill>
                  <a:srgbClr val="12202B"/>
                </a:solidFill>
                <a:latin typeface="Calibri" pitchFamily="34" charset="0"/>
                <a:ea typeface="Calibri" pitchFamily="34" charset="-122"/>
                <a:cs typeface="Calibri" pitchFamily="34" charset="-120"/>
              </a:rPr>
              <a:t>Also true, and easy to forget</a:t>
            </a:r>
            <a:endParaRPr lang="en-US" sz="1350" dirty="0"/>
          </a:p>
        </p:txBody>
      </p:sp>
      <p:sp>
        <p:nvSpPr>
          <p:cNvPr id="29" name="Text 27"/>
          <p:cNvSpPr/>
          <p:nvPr/>
        </p:nvSpPr>
        <p:spPr>
          <a:xfrm>
            <a:off x="8321040" y="2441448"/>
            <a:ext cx="2971800" cy="804672"/>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Your environment is a security control. Reproducibility, isolation and secrets hygiene are the three properties that make your work defensible rather than merely finished.</a:t>
            </a:r>
            <a:endParaRPr lang="en-US" sz="1100" dirty="0"/>
          </a:p>
        </p:txBody>
      </p:sp>
      <p:sp>
        <p:nvSpPr>
          <p:cNvPr id="30" name="Shape 28"/>
          <p:cNvSpPr/>
          <p:nvPr/>
        </p:nvSpPr>
        <p:spPr>
          <a:xfrm>
            <a:off x="8065008" y="3657600"/>
            <a:ext cx="3483864" cy="1664208"/>
          </a:xfrm>
          <a:prstGeom prst="roundRect">
            <a:avLst>
              <a:gd name="adj" fmla="val 3297"/>
            </a:avLst>
          </a:prstGeom>
          <a:solidFill>
            <a:srgbClr val="12202B"/>
          </a:solidFill>
          <a:ln w="9525">
            <a:solidFill>
              <a:srgbClr val="12202B"/>
            </a:solidFill>
            <a:prstDash val="solid"/>
          </a:ln>
        </p:spPr>
      </p:sp>
      <p:sp>
        <p:nvSpPr>
          <p:cNvPr id="31" name="Text 29"/>
          <p:cNvSpPr/>
          <p:nvPr/>
        </p:nvSpPr>
        <p:spPr>
          <a:xfrm>
            <a:off x="8284464" y="3749040"/>
            <a:ext cx="3044952" cy="1481328"/>
          </a:xfrm>
          <a:prstGeom prst="rect">
            <a:avLst/>
          </a:prstGeom>
          <a:noFill/>
          <a:ln/>
        </p:spPr>
        <p:txBody>
          <a:bodyPr wrap="square" lIns="0" tIns="0" rIns="0" bIns="0" rtlCol="0" anchor="ctr"/>
          <a:lstStyle/>
          <a:p>
            <a:pPr indent="0" marL="0">
              <a:lnSpc>
                <a:spcPts val="1610"/>
              </a:lnSpc>
              <a:buNone/>
            </a:pPr>
            <a:r>
              <a:rPr lang="en-US" sz="1150" b="1" dirty="0">
                <a:solidFill>
                  <a:srgbClr val="4E9A6E"/>
                </a:solidFill>
                <a:latin typeface="Calibri" pitchFamily="34" charset="0"/>
                <a:ea typeface="Calibri" pitchFamily="34" charset="-122"/>
                <a:cs typeface="Calibri" pitchFamily="34" charset="-120"/>
              </a:rPr>
              <a:t>Next — LLMs on Local &amp; Cloud:  </a:t>
            </a:r>
            <a:pPr indent="0" marL="0">
              <a:lnSpc>
                <a:spcPts val="1610"/>
              </a:lnSpc>
              <a:buNone/>
            </a:pPr>
            <a:r>
              <a:rPr lang="en-US" sz="1150" dirty="0">
                <a:solidFill>
                  <a:srgbClr val="FFFFFF"/>
                </a:solidFill>
                <a:latin typeface="Calibri" pitchFamily="34" charset="0"/>
                <a:ea typeface="Calibri" pitchFamily="34" charset="-122"/>
                <a:cs typeface="Calibri" pitchFamily="34" charset="-120"/>
              </a:rPr>
              <a:t>run one model three ways — a hosted API, a GPU you rent for a session, and a GPU you keep — and judge them on cost, privacy, persistence, capability and speed.</a:t>
            </a:r>
            <a:endParaRPr lang="en-US" sz="115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1 · WHY TOOLING IS A SECURITY TOPIC</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Three homes, one course</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Your laptop, a borrowed GPU, and a GPU you keep. The axis that actually separates them is persistence.</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Tools &amp; Environment</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5</a:t>
            </a:r>
          </a:p>
        </p:txBody>
      </p:sp>
      <p:pic>
        <p:nvPicPr>
          <p:cNvPr id="7" name="Picture 6" descr="two_homes.png"/>
          <p:cNvPicPr>
            <a:picLocks noChangeAspect="1"/>
          </p:cNvPicPr>
          <p:nvPr/>
        </p:nvPicPr>
        <p:blipFill>
          <a:blip r:embed="rId3"/>
          <a:stretch>
            <a:fillRect/>
          </a:stretch>
        </p:blipFill>
        <p:spPr>
          <a:xfrm>
            <a:off x="640080" y="1864003"/>
            <a:ext cx="10908792" cy="3404313"/>
          </a:xfrm>
          <a:prstGeom prst="rect">
            <a:avLst/>
          </a:prstGeom>
        </p:spPr>
      </p:pic>
      <p:sp>
        <p:nvSpPr>
          <p:cNvPr id="8" name="Rounded Rectangle 7"/>
          <p:cNvSpPr/>
          <p:nvPr/>
        </p:nvSpPr>
        <p:spPr>
          <a:xfrm>
            <a:off x="640080" y="5486400"/>
            <a:ext cx="10908792" cy="731520"/>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59536" y="5605272"/>
            <a:ext cx="10469880" cy="493776"/>
          </a:xfrm>
          <a:prstGeom prst="rect">
            <a:avLst/>
          </a:prstGeom>
          <a:noFill/>
        </p:spPr>
        <p:txBody>
          <a:bodyPr wrap="square" lIns="0" rIns="0" tIns="0" bIns="0">
            <a:spAutoFit/>
          </a:bodyPr>
          <a:lstStyle/>
          <a:p>
            <a:pPr>
              <a:lnSpc>
                <a:spcPct val="116000"/>
              </a:lnSpc>
              <a:spcAft>
                <a:spcPts val="200"/>
              </a:spcAft>
            </a:pPr>
            <a:r>
              <a:rPr sz="1100" b="1" i="0">
                <a:solidFill>
                  <a:srgbClr val="73305F"/>
                </a:solidFill>
                <a:latin typeface="Calibri"/>
              </a:rPr>
              <a:t>The VM is optional — say so early.  </a:t>
            </a:r>
            <a:r>
              <a:rPr sz="1100" b="0" i="0">
                <a:solidFill>
                  <a:srgbClr val="1B2B36"/>
                </a:solidFill>
                <a:latin typeface="Calibri"/>
              </a:rPr>
              <a:t>Everything graded in this module can be done with a laptop and Colab. The NAIRR lab is 25 marks of optional extra credit, and it exists mainly so module 3 has somewhere persistent to live.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1 · WHY TOOLING IS A SECURITY TOPIC</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Six categories, one working environment</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The lab does not grade depth in any one of these. It grades whether all six are connected and talking to each other.</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Tools &amp; Environment</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7</a:t>
            </a:r>
          </a:p>
        </p:txBody>
      </p:sp>
      <p:pic>
        <p:nvPicPr>
          <p:cNvPr id="7" name="Picture 6" descr="toolkit.png"/>
          <p:cNvPicPr>
            <a:picLocks noChangeAspect="1"/>
          </p:cNvPicPr>
          <p:nvPr/>
        </p:nvPicPr>
        <p:blipFill>
          <a:blip r:embed="rId3"/>
          <a:stretch>
            <a:fillRect/>
          </a:stretch>
        </p:blipFill>
        <p:spPr>
          <a:xfrm>
            <a:off x="640080" y="2045328"/>
            <a:ext cx="10908792" cy="2767343"/>
          </a:xfrm>
          <a:prstGeom prst="rect">
            <a:avLst/>
          </a:prstGeom>
        </p:spPr>
      </p:pic>
      <p:graphicFrame>
        <p:nvGraphicFramePr>
          <p:cNvPr id="8" name="Table 7"/>
          <p:cNvGraphicFramePr>
            <a:graphicFrameLocks noGrp="1"/>
          </p:cNvGraphicFramePr>
          <p:nvPr/>
        </p:nvGraphicFramePr>
        <p:xfrm>
          <a:off x="640080" y="5230368"/>
          <a:ext cx="10908789" cy="987552"/>
        </p:xfrm>
        <a:graphic>
          <a:graphicData uri="http://schemas.openxmlformats.org/drawingml/2006/table">
            <a:tbl>
              <a:tblPr firstRow="1" bandRow="1">
                <a:tableStyleId>{5C22544A-7EE6-4342-B048-85BDC9FD1C3A}</a:tableStyleId>
              </a:tblPr>
              <a:tblGrid>
                <a:gridCol w="2097844"/>
                <a:gridCol w="2097844"/>
                <a:gridCol w="2517413"/>
                <a:gridCol w="2097844"/>
                <a:gridCol w="2097844"/>
              </a:tblGrid>
              <a:tr h="493776">
                <a:tc>
                  <a:txBody>
                    <a:bodyPr wrap="square"/>
                    <a:lstStyle/>
                    <a:p>
                      <a:r>
                        <a:rPr sz="950" b="1">
                          <a:solidFill>
                            <a:srgbClr val="73305F"/>
                          </a:solidFill>
                          <a:latin typeface="Calibri"/>
                        </a:rPr>
                        <a:t>GitHub + own repo</a:t>
                      </a:r>
                    </a:p>
                  </a:txBody>
                  <a:tcPr marL="91440" marR="73152" marT="36576" marB="36576" anchor="ctr">
                    <a:solidFill>
                      <a:srgbClr val="F1E4ED"/>
                    </a:solidFill>
                  </a:tcPr>
                </a:tc>
                <a:tc>
                  <a:txBody>
                    <a:bodyPr wrap="square"/>
                    <a:lstStyle/>
                    <a:p>
                      <a:r>
                        <a:rPr sz="950" b="1">
                          <a:solidFill>
                            <a:srgbClr val="73305F"/>
                          </a:solidFill>
                          <a:latin typeface="Calibri"/>
                        </a:rPr>
                        <a:t>Colab + Drive</a:t>
                      </a:r>
                    </a:p>
                  </a:txBody>
                  <a:tcPr marL="91440" marR="73152" marT="36576" marB="36576" anchor="ctr">
                    <a:solidFill>
                      <a:srgbClr val="F1E4ED"/>
                    </a:solidFill>
                  </a:tcPr>
                </a:tc>
                <a:tc>
                  <a:txBody>
                    <a:bodyPr wrap="square"/>
                    <a:lstStyle/>
                    <a:p>
                      <a:r>
                        <a:rPr sz="950" b="1">
                          <a:solidFill>
                            <a:srgbClr val="73305F"/>
                          </a:solidFill>
                          <a:latin typeface="Calibri"/>
                        </a:rPr>
                        <a:t>VS Code + Python + Jupyter</a:t>
                      </a:r>
                    </a:p>
                  </a:txBody>
                  <a:tcPr marL="91440" marR="73152" marT="36576" marB="36576" anchor="ctr">
                    <a:solidFill>
                      <a:srgbClr val="F1E4ED"/>
                    </a:solidFill>
                  </a:tcPr>
                </a:tc>
                <a:tc>
                  <a:txBody>
                    <a:bodyPr wrap="square"/>
                    <a:lstStyle/>
                    <a:p>
                      <a:r>
                        <a:rPr sz="950" b="1">
                          <a:solidFill>
                            <a:srgbClr val="73305F"/>
                          </a:solidFill>
                          <a:latin typeface="Calibri"/>
                        </a:rPr>
                        <a:t>Secure key handling</a:t>
                      </a:r>
                    </a:p>
                  </a:txBody>
                  <a:tcPr marL="91440" marR="73152" marT="36576" marB="36576" anchor="ctr">
                    <a:solidFill>
                      <a:srgbClr val="F1E4ED"/>
                    </a:solidFill>
                  </a:tcPr>
                </a:tc>
                <a:tc>
                  <a:txBody>
                    <a:bodyPr wrap="square"/>
                    <a:lstStyle/>
                    <a:p>
                      <a:r>
                        <a:rPr sz="950" b="1">
                          <a:solidFill>
                            <a:srgbClr val="73305F"/>
                          </a:solidFill>
                          <a:latin typeface="Calibri"/>
                        </a:rPr>
                        <a:t>Forum reflection</a:t>
                      </a:r>
                    </a:p>
                  </a:txBody>
                  <a:tcPr marL="91440" marR="73152" marT="36576" marB="36576" anchor="ctr">
                    <a:solidFill>
                      <a:srgbClr val="F1E4ED"/>
                    </a:solidFill>
                  </a:tcPr>
                </a:tc>
              </a:tr>
              <a:tr h="493776">
                <a:tc>
                  <a:txBody>
                    <a:bodyPr wrap="square"/>
                    <a:lstStyle/>
                    <a:p>
                      <a:r>
                        <a:rPr sz="1000" b="0">
                          <a:solidFill>
                            <a:srgbClr val="1B2B36"/>
                          </a:solidFill>
                          <a:latin typeface="Calibri"/>
                        </a:rPr>
                        <a:t>15</a:t>
                      </a:r>
                    </a:p>
                  </a:txBody>
                  <a:tcPr marL="91440" marR="73152" marT="36576" marB="36576" anchor="ctr">
                    <a:solidFill>
                      <a:srgbClr val="FFFFFF"/>
                    </a:solidFill>
                  </a:tcPr>
                </a:tc>
                <a:tc>
                  <a:txBody>
                    <a:bodyPr wrap="square"/>
                    <a:lstStyle/>
                    <a:p>
                      <a:r>
                        <a:rPr sz="1000" b="0">
                          <a:solidFill>
                            <a:srgbClr val="1B2B36"/>
                          </a:solidFill>
                          <a:latin typeface="Calibri"/>
                        </a:rPr>
                        <a:t>25</a:t>
                      </a:r>
                    </a:p>
                  </a:txBody>
                  <a:tcPr marL="91440" marR="73152" marT="36576" marB="36576" anchor="ctr">
                    <a:solidFill>
                      <a:srgbClr val="FFFFFF"/>
                    </a:solidFill>
                  </a:tcPr>
                </a:tc>
                <a:tc>
                  <a:txBody>
                    <a:bodyPr wrap="square"/>
                    <a:lstStyle/>
                    <a:p>
                      <a:r>
                        <a:rPr sz="1000" b="0">
                          <a:solidFill>
                            <a:srgbClr val="1B2B36"/>
                          </a:solidFill>
                          <a:latin typeface="Calibri"/>
                        </a:rPr>
                        <a:t>30</a:t>
                      </a:r>
                    </a:p>
                  </a:txBody>
                  <a:tcPr marL="91440" marR="73152" marT="36576" marB="36576" anchor="ctr">
                    <a:solidFill>
                      <a:srgbClr val="FFFFFF"/>
                    </a:solidFill>
                  </a:tcPr>
                </a:tc>
                <a:tc>
                  <a:txBody>
                    <a:bodyPr wrap="square"/>
                    <a:lstStyle/>
                    <a:p>
                      <a:r>
                        <a:rPr sz="1000" b="0">
                          <a:solidFill>
                            <a:srgbClr val="1B2B36"/>
                          </a:solidFill>
                          <a:latin typeface="Calibri"/>
                        </a:rPr>
                        <a:t>20</a:t>
                      </a:r>
                    </a:p>
                  </a:txBody>
                  <a:tcPr marL="91440" marR="73152" marT="36576" marB="36576" anchor="ctr">
                    <a:solidFill>
                      <a:srgbClr val="FFFFFF"/>
                    </a:solidFill>
                  </a:tcPr>
                </a:tc>
                <a:tc>
                  <a:txBody>
                    <a:bodyPr wrap="square"/>
                    <a:lstStyle/>
                    <a:p>
                      <a:r>
                        <a:rPr sz="1000" b="0">
                          <a:solidFill>
                            <a:srgbClr val="1B2B36"/>
                          </a:solidFill>
                          <a:latin typeface="Calibri"/>
                        </a:rPr>
                        <a:t>10</a:t>
                      </a:r>
                    </a:p>
                  </a:txBody>
                  <a:tcPr marL="91440" marR="73152" marT="36576" marB="36576"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2 · SET UP LOCALLY</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The one script that proves it works</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`verify_env.py` is twelve lines. Read it before you run it — and notice what its guard does not catch.</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Tools &amp; Environment</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13</a:t>
            </a:r>
          </a:p>
        </p:txBody>
      </p:sp>
      <p:sp>
        <p:nvSpPr>
          <p:cNvPr id="7" name="Rounded Rectangle 6"/>
          <p:cNvSpPr/>
          <p:nvPr/>
        </p:nvSpPr>
        <p:spPr>
          <a:xfrm>
            <a:off x="640080" y="1783080"/>
            <a:ext cx="6583680" cy="3017520"/>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77824" y="1901952"/>
            <a:ext cx="610819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Tools_and_Environment/code/verify_env.py — COMPLETE</a:t>
            </a:r>
          </a:p>
        </p:txBody>
      </p:sp>
      <p:sp>
        <p:nvSpPr>
          <p:cNvPr id="9" name="TextBox 8"/>
          <p:cNvSpPr txBox="1"/>
          <p:nvPr/>
        </p:nvSpPr>
        <p:spPr>
          <a:xfrm>
            <a:off x="877824" y="2176272"/>
            <a:ext cx="6108192" cy="2514600"/>
          </a:xfrm>
          <a:prstGeom prst="rect">
            <a:avLst/>
          </a:prstGeom>
          <a:noFill/>
        </p:spPr>
        <p:txBody>
          <a:bodyPr wrap="square" lIns="0" rIns="0" tIns="0" bIns="0">
            <a:spAutoFit/>
          </a:bodyPr>
          <a:lstStyle/>
          <a:p>
            <a:pPr>
              <a:lnSpc>
                <a:spcPct val="112000"/>
              </a:lnSpc>
              <a:spcAft>
                <a:spcPts val="100"/>
              </a:spcAft>
            </a:pPr>
            <a:r>
              <a:rPr sz="790" b="0" i="0">
                <a:solidFill>
                  <a:srgbClr val="D9A6CE"/>
                </a:solidFill>
                <a:latin typeface="Courier New"/>
              </a:rPr>
              <a:t>import</a:t>
            </a:r>
            <a:r>
              <a:rPr sz="790" b="0" i="0">
                <a:solidFill>
                  <a:srgbClr val="E4EDF2"/>
                </a:solidFill>
                <a:latin typeface="Courier New"/>
              </a:rPr>
              <a:t> </a:t>
            </a:r>
            <a:r>
              <a:rPr sz="790" b="0" i="0">
                <a:solidFill>
                  <a:srgbClr val="E4EDF2"/>
                </a:solidFill>
                <a:latin typeface="Courier New"/>
              </a:rPr>
              <a:t>os</a:t>
            </a:r>
          </a:p>
          <a:p>
            <a:pPr>
              <a:lnSpc>
                <a:spcPct val="112000"/>
              </a:lnSpc>
              <a:spcAft>
                <a:spcPts val="100"/>
              </a:spcAft>
            </a:pPr>
            <a:r>
              <a:rPr sz="790" b="0" i="0">
                <a:solidFill>
                  <a:srgbClr val="D9A6CE"/>
                </a:solidFill>
                <a:latin typeface="Courier New"/>
              </a:rPr>
              <a:t>from</a:t>
            </a:r>
            <a:r>
              <a:rPr sz="790" b="0" i="0">
                <a:solidFill>
                  <a:srgbClr val="E4EDF2"/>
                </a:solidFill>
                <a:latin typeface="Courier New"/>
              </a:rPr>
              <a:t> </a:t>
            </a:r>
            <a:r>
              <a:rPr sz="790" b="0" i="0">
                <a:solidFill>
                  <a:srgbClr val="E4EDF2"/>
                </a:solidFill>
                <a:latin typeface="Courier New"/>
              </a:rPr>
              <a:t>dotenv</a:t>
            </a:r>
            <a:r>
              <a:rPr sz="790" b="0" i="0">
                <a:solidFill>
                  <a:srgbClr val="E4EDF2"/>
                </a:solidFill>
                <a:latin typeface="Courier New"/>
              </a:rPr>
              <a:t> </a:t>
            </a:r>
            <a:r>
              <a:rPr sz="790" b="0" i="0">
                <a:solidFill>
                  <a:srgbClr val="D9A6CE"/>
                </a:solidFill>
                <a:latin typeface="Courier New"/>
              </a:rPr>
              <a:t>import</a:t>
            </a:r>
            <a:r>
              <a:rPr sz="790" b="0" i="0">
                <a:solidFill>
                  <a:srgbClr val="E4EDF2"/>
                </a:solidFill>
                <a:latin typeface="Courier New"/>
              </a:rPr>
              <a:t> </a:t>
            </a:r>
            <a:r>
              <a:rPr sz="790" b="0" i="0">
                <a:solidFill>
                  <a:srgbClr val="E4EDF2"/>
                </a:solidFill>
                <a:latin typeface="Courier New"/>
              </a:rPr>
              <a:t>load_dotenv</a:t>
            </a:r>
            <a:r>
              <a:rPr sz="790" b="0" i="0">
                <a:solidFill>
                  <a:srgbClr val="E4EDF2"/>
                </a:solidFill>
                <a:latin typeface="Courier New"/>
              </a:rPr>
              <a:t>, </a:t>
            </a:r>
            <a:r>
              <a:rPr sz="790" b="0" i="0">
                <a:solidFill>
                  <a:srgbClr val="E4EDF2"/>
                </a:solidFill>
                <a:latin typeface="Courier New"/>
              </a:rPr>
              <a:t>find_dotenv</a:t>
            </a:r>
          </a:p>
          <a:p>
            <a:pPr>
              <a:lnSpc>
                <a:spcPct val="112000"/>
              </a:lnSpc>
              <a:spcAft>
                <a:spcPts val="100"/>
              </a:spcAft>
            </a:pPr>
            <a:r>
              <a:rPr sz="790" b="0" i="0">
                <a:solidFill>
                  <a:srgbClr val="E4EDF2"/>
                </a:solidFill>
                <a:latin typeface="Courier New"/>
              </a:rPr>
              <a:t/>
            </a:r>
          </a:p>
          <a:p>
            <a:pPr>
              <a:lnSpc>
                <a:spcPct val="112000"/>
              </a:lnSpc>
              <a:spcAft>
                <a:spcPts val="100"/>
              </a:spcAft>
            </a:pPr>
            <a:r>
              <a:rPr sz="790" b="0" i="0">
                <a:solidFill>
                  <a:srgbClr val="9FC4EE"/>
                </a:solidFill>
                <a:latin typeface="Courier New"/>
              </a:rPr>
              <a:t>load_dotenv</a:t>
            </a:r>
            <a:r>
              <a:rPr sz="790" b="0" i="0">
                <a:solidFill>
                  <a:srgbClr val="E4EDF2"/>
                </a:solidFill>
                <a:latin typeface="Courier New"/>
              </a:rPr>
              <a:t>(</a:t>
            </a:r>
            <a:r>
              <a:rPr sz="790" b="0" i="0">
                <a:solidFill>
                  <a:srgbClr val="9FC4EE"/>
                </a:solidFill>
                <a:latin typeface="Courier New"/>
              </a:rPr>
              <a:t>find_dotenv</a:t>
            </a:r>
            <a:r>
              <a:rPr sz="790" b="0" i="0">
                <a:solidFill>
                  <a:srgbClr val="E4EDF2"/>
                </a:solidFill>
                <a:latin typeface="Courier New"/>
              </a:rPr>
              <a:t>())   </a:t>
            </a:r>
            <a:r>
              <a:rPr sz="790" b="0" i="0">
                <a:solidFill>
                  <a:srgbClr val="76909F"/>
                </a:solidFill>
                <a:latin typeface="Courier New"/>
              </a:rPr>
              <a:t># walks UP from this file</a:t>
            </a:r>
          </a:p>
          <a:p>
            <a:pPr>
              <a:lnSpc>
                <a:spcPct val="112000"/>
              </a:lnSpc>
              <a:spcAft>
                <a:spcPts val="100"/>
              </a:spcAft>
            </a:pPr>
            <a:r>
              <a:rPr sz="790" b="0" i="0">
                <a:solidFill>
                  <a:srgbClr val="E4EDF2"/>
                </a:solidFill>
                <a:latin typeface="Courier New"/>
              </a:rPr>
              <a:t/>
            </a:r>
          </a:p>
          <a:p>
            <a:pPr>
              <a:lnSpc>
                <a:spcPct val="112000"/>
              </a:lnSpc>
              <a:spcAft>
                <a:spcPts val="100"/>
              </a:spcAft>
            </a:pPr>
            <a:r>
              <a:rPr sz="790" b="0" i="0">
                <a:solidFill>
                  <a:srgbClr val="E4EDF2"/>
                </a:solidFill>
                <a:latin typeface="Courier New"/>
              </a:rPr>
              <a:t>key</a:t>
            </a:r>
            <a:r>
              <a:rPr sz="790" b="0" i="0">
                <a:solidFill>
                  <a:srgbClr val="E4EDF2"/>
                </a:solidFill>
                <a:latin typeface="Courier New"/>
              </a:rPr>
              <a:t> = </a:t>
            </a:r>
            <a:r>
              <a:rPr sz="790" b="0" i="0">
                <a:solidFill>
                  <a:srgbClr val="E4EDF2"/>
                </a:solidFill>
                <a:latin typeface="Courier New"/>
              </a:rPr>
              <a:t>os</a:t>
            </a:r>
            <a:r>
              <a:rPr sz="790" b="0" i="0">
                <a:solidFill>
                  <a:srgbClr val="E4EDF2"/>
                </a:solidFill>
                <a:latin typeface="Courier New"/>
              </a:rPr>
              <a:t>.</a:t>
            </a:r>
            <a:r>
              <a:rPr sz="790" b="0" i="0">
                <a:solidFill>
                  <a:srgbClr val="9FC4EE"/>
                </a:solidFill>
                <a:latin typeface="Courier New"/>
              </a:rPr>
              <a:t>getenv</a:t>
            </a:r>
            <a:r>
              <a:rPr sz="790" b="0" i="0">
                <a:solidFill>
                  <a:srgbClr val="E4EDF2"/>
                </a:solidFill>
                <a:latin typeface="Courier New"/>
              </a:rPr>
              <a:t>(</a:t>
            </a:r>
            <a:r>
              <a:rPr sz="790" b="0" i="0">
                <a:solidFill>
                  <a:srgbClr val="EBB183"/>
                </a:solidFill>
                <a:latin typeface="Courier New"/>
              </a:rPr>
              <a:t>"OPENAI_API_KEY"</a:t>
            </a:r>
            <a:r>
              <a:rPr sz="790" b="0" i="0">
                <a:solidFill>
                  <a:srgbClr val="E4EDF2"/>
                </a:solidFill>
                <a:latin typeface="Courier New"/>
              </a:rPr>
              <a:t>)</a:t>
            </a:r>
          </a:p>
          <a:p>
            <a:pPr>
              <a:lnSpc>
                <a:spcPct val="112000"/>
              </a:lnSpc>
              <a:spcAft>
                <a:spcPts val="100"/>
              </a:spcAft>
            </a:pPr>
            <a:r>
              <a:rPr sz="790" b="0" i="0">
                <a:solidFill>
                  <a:srgbClr val="D9A6CE"/>
                </a:solidFill>
                <a:latin typeface="Courier New"/>
              </a:rPr>
              <a:t>if</a:t>
            </a:r>
            <a:r>
              <a:rPr sz="790" b="0" i="0">
                <a:solidFill>
                  <a:srgbClr val="E4EDF2"/>
                </a:solidFill>
                <a:latin typeface="Courier New"/>
              </a:rPr>
              <a:t> </a:t>
            </a:r>
            <a:r>
              <a:rPr sz="790" b="0" i="0">
                <a:solidFill>
                  <a:srgbClr val="D9A6CE"/>
                </a:solidFill>
                <a:latin typeface="Courier New"/>
              </a:rPr>
              <a:t>not</a:t>
            </a:r>
            <a:r>
              <a:rPr sz="790" b="0" i="0">
                <a:solidFill>
                  <a:srgbClr val="E4EDF2"/>
                </a:solidFill>
                <a:latin typeface="Courier New"/>
              </a:rPr>
              <a:t> </a:t>
            </a:r>
            <a:r>
              <a:rPr sz="790" b="0" i="0">
                <a:solidFill>
                  <a:srgbClr val="E4EDF2"/>
                </a:solidFill>
                <a:latin typeface="Courier New"/>
              </a:rPr>
              <a:t>key</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raise</a:t>
            </a:r>
            <a:r>
              <a:rPr sz="790" b="0" i="0">
                <a:solidFill>
                  <a:srgbClr val="E4EDF2"/>
                </a:solidFill>
                <a:latin typeface="Courier New"/>
              </a:rPr>
              <a:t> </a:t>
            </a:r>
            <a:r>
              <a:rPr sz="790" b="0" i="0">
                <a:solidFill>
                  <a:srgbClr val="9FC4EE"/>
                </a:solidFill>
                <a:latin typeface="Courier New"/>
              </a:rPr>
              <a:t>SystemExit</a:t>
            </a:r>
            <a:r>
              <a:rPr sz="790" b="0" i="0">
                <a:solidFill>
                  <a:srgbClr val="E4EDF2"/>
                </a:solidFill>
                <a:latin typeface="Courier New"/>
              </a:rPr>
              <a:t>(</a:t>
            </a:r>
            <a:r>
              <a:rPr sz="790" b="0" i="0">
                <a:solidFill>
                  <a:srgbClr val="EBB183"/>
                </a:solidFill>
                <a:latin typeface="Courier New"/>
              </a:rPr>
              <a:t>"No OPENAI_API_KEY found. Copy sample.env to .env"</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r>
          </a:p>
          <a:p>
            <a:pPr>
              <a:lnSpc>
                <a:spcPct val="112000"/>
              </a:lnSpc>
              <a:spcAft>
                <a:spcPts val="100"/>
              </a:spcAft>
            </a:pPr>
            <a:r>
              <a:rPr sz="790" b="0" i="0">
                <a:solidFill>
                  <a:srgbClr val="D9A6CE"/>
                </a:solidFill>
                <a:latin typeface="Courier New"/>
              </a:rPr>
              <a:t>from</a:t>
            </a:r>
            <a:r>
              <a:rPr sz="790" b="0" i="0">
                <a:solidFill>
                  <a:srgbClr val="E4EDF2"/>
                </a:solidFill>
                <a:latin typeface="Courier New"/>
              </a:rPr>
              <a:t> </a:t>
            </a:r>
            <a:r>
              <a:rPr sz="790" b="0" i="0">
                <a:solidFill>
                  <a:srgbClr val="E4EDF2"/>
                </a:solidFill>
                <a:latin typeface="Courier New"/>
              </a:rPr>
              <a:t>openai</a:t>
            </a:r>
            <a:r>
              <a:rPr sz="790" b="0" i="0">
                <a:solidFill>
                  <a:srgbClr val="E4EDF2"/>
                </a:solidFill>
                <a:latin typeface="Courier New"/>
              </a:rPr>
              <a:t> </a:t>
            </a:r>
            <a:r>
              <a:rPr sz="790" b="0" i="0">
                <a:solidFill>
                  <a:srgbClr val="D9A6CE"/>
                </a:solidFill>
                <a:latin typeface="Courier New"/>
              </a:rPr>
              <a:t>import</a:t>
            </a:r>
            <a:r>
              <a:rPr sz="790" b="0" i="0">
                <a:solidFill>
                  <a:srgbClr val="E4EDF2"/>
                </a:solidFill>
                <a:latin typeface="Courier New"/>
              </a:rPr>
              <a:t> </a:t>
            </a:r>
            <a:r>
              <a:rPr sz="790" b="0" i="0">
                <a:solidFill>
                  <a:srgbClr val="E4EDF2"/>
                </a:solidFill>
                <a:latin typeface="Courier New"/>
              </a:rPr>
              <a:t>OpenAI</a:t>
            </a:r>
          </a:p>
          <a:p>
            <a:pPr>
              <a:lnSpc>
                <a:spcPct val="112000"/>
              </a:lnSpc>
              <a:spcAft>
                <a:spcPts val="100"/>
              </a:spcAft>
            </a:pPr>
            <a:r>
              <a:rPr sz="790" b="0" i="0">
                <a:solidFill>
                  <a:srgbClr val="E4EDF2"/>
                </a:solidFill>
                <a:latin typeface="Courier New"/>
              </a:rPr>
              <a:t>client</a:t>
            </a:r>
            <a:r>
              <a:rPr sz="790" b="0" i="0">
                <a:solidFill>
                  <a:srgbClr val="E4EDF2"/>
                </a:solidFill>
                <a:latin typeface="Courier New"/>
              </a:rPr>
              <a:t> = </a:t>
            </a:r>
            <a:r>
              <a:rPr sz="790" b="0" i="0">
                <a:solidFill>
                  <a:srgbClr val="9FC4EE"/>
                </a:solidFill>
                <a:latin typeface="Courier New"/>
              </a:rPr>
              <a:t>OpenAI</a:t>
            </a:r>
            <a:r>
              <a:rPr sz="790" b="0" i="0">
                <a:solidFill>
                  <a:srgbClr val="E4EDF2"/>
                </a:solidFill>
                <a:latin typeface="Courier New"/>
              </a:rPr>
              <a:t>(</a:t>
            </a:r>
            <a:r>
              <a:rPr sz="790" b="0" i="0">
                <a:solidFill>
                  <a:srgbClr val="E4EDF2"/>
                </a:solidFill>
                <a:latin typeface="Courier New"/>
              </a:rPr>
              <a:t>api_key</a:t>
            </a:r>
            <a:r>
              <a:rPr sz="790" b="0" i="0">
                <a:solidFill>
                  <a:srgbClr val="E4EDF2"/>
                </a:solidFill>
                <a:latin typeface="Courier New"/>
              </a:rPr>
              <a:t>=</a:t>
            </a:r>
            <a:r>
              <a:rPr sz="790" b="0" i="0">
                <a:solidFill>
                  <a:srgbClr val="E4EDF2"/>
                </a:solidFill>
                <a:latin typeface="Courier New"/>
              </a:rPr>
              <a:t>key</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resp</a:t>
            </a:r>
            <a:r>
              <a:rPr sz="790" b="0" i="0">
                <a:solidFill>
                  <a:srgbClr val="E4EDF2"/>
                </a:solidFill>
                <a:latin typeface="Courier New"/>
              </a:rPr>
              <a:t> = </a:t>
            </a:r>
            <a:r>
              <a:rPr sz="790" b="0" i="0">
                <a:solidFill>
                  <a:srgbClr val="E4EDF2"/>
                </a:solidFill>
                <a:latin typeface="Courier New"/>
              </a:rPr>
              <a:t>client</a:t>
            </a:r>
            <a:r>
              <a:rPr sz="790" b="0" i="0">
                <a:solidFill>
                  <a:srgbClr val="E4EDF2"/>
                </a:solidFill>
                <a:latin typeface="Courier New"/>
              </a:rPr>
              <a:t>.</a:t>
            </a:r>
            <a:r>
              <a:rPr sz="790" b="0" i="0">
                <a:solidFill>
                  <a:srgbClr val="E4EDF2"/>
                </a:solidFill>
                <a:latin typeface="Courier New"/>
              </a:rPr>
              <a:t>chat</a:t>
            </a:r>
            <a:r>
              <a:rPr sz="790" b="0" i="0">
                <a:solidFill>
                  <a:srgbClr val="E4EDF2"/>
                </a:solidFill>
                <a:latin typeface="Courier New"/>
              </a:rPr>
              <a:t>.</a:t>
            </a:r>
            <a:r>
              <a:rPr sz="790" b="0" i="0">
                <a:solidFill>
                  <a:srgbClr val="E4EDF2"/>
                </a:solidFill>
                <a:latin typeface="Courier New"/>
              </a:rPr>
              <a:t>completions</a:t>
            </a:r>
            <a:r>
              <a:rPr sz="790" b="0" i="0">
                <a:solidFill>
                  <a:srgbClr val="E4EDF2"/>
                </a:solidFill>
                <a:latin typeface="Courier New"/>
              </a:rPr>
              <a:t>.</a:t>
            </a:r>
            <a:r>
              <a:rPr sz="790" b="0" i="0">
                <a:solidFill>
                  <a:srgbClr val="9FC4EE"/>
                </a:solidFill>
                <a:latin typeface="Courier New"/>
              </a:rPr>
              <a:t>create</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model</a:t>
            </a:r>
            <a:r>
              <a:rPr sz="790" b="0" i="0">
                <a:solidFill>
                  <a:srgbClr val="E4EDF2"/>
                </a:solidFill>
                <a:latin typeface="Courier New"/>
              </a:rPr>
              <a:t>=</a:t>
            </a:r>
            <a:r>
              <a:rPr sz="790" b="0" i="0">
                <a:solidFill>
                  <a:srgbClr val="EBB183"/>
                </a:solidFill>
                <a:latin typeface="Courier New"/>
              </a:rPr>
              <a:t>"gpt-4o-mini"</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messages</a:t>
            </a:r>
            <a:r>
              <a:rPr sz="790" b="0" i="0">
                <a:solidFill>
                  <a:srgbClr val="E4EDF2"/>
                </a:solidFill>
                <a:latin typeface="Courier New"/>
              </a:rPr>
              <a:t>=[{</a:t>
            </a:r>
            <a:r>
              <a:rPr sz="790" b="0" i="0">
                <a:solidFill>
                  <a:srgbClr val="EBB183"/>
                </a:solidFill>
                <a:latin typeface="Courier New"/>
              </a:rPr>
              <a:t>"role"</a:t>
            </a:r>
            <a:r>
              <a:rPr sz="790" b="0" i="0">
                <a:solidFill>
                  <a:srgbClr val="E4EDF2"/>
                </a:solidFill>
                <a:latin typeface="Courier New"/>
              </a:rPr>
              <a:t>: </a:t>
            </a:r>
            <a:r>
              <a:rPr sz="790" b="0" i="0">
                <a:solidFill>
                  <a:srgbClr val="EBB183"/>
                </a:solidFill>
                <a:latin typeface="Courier New"/>
              </a:rPr>
              <a:t>"user"</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BB183"/>
                </a:solidFill>
                <a:latin typeface="Courier New"/>
              </a:rPr>
              <a:t>"content"</a:t>
            </a:r>
            <a:r>
              <a:rPr sz="790" b="0" i="0">
                <a:solidFill>
                  <a:srgbClr val="E4EDF2"/>
                </a:solidFill>
                <a:latin typeface="Courier New"/>
              </a:rPr>
              <a:t>: </a:t>
            </a:r>
            <a:r>
              <a:rPr sz="790" b="0" i="0">
                <a:solidFill>
                  <a:srgbClr val="EBB183"/>
                </a:solidFill>
                <a:latin typeface="Courier New"/>
              </a:rPr>
              <a:t>"Say hello in one short sentence."</a:t>
            </a:r>
            <a:r>
              <a:rPr sz="790" b="0" i="0">
                <a:solidFill>
                  <a:srgbClr val="E4EDF2"/>
                </a:solidFill>
                <a:latin typeface="Courier New"/>
              </a:rPr>
              <a:t>}])</a:t>
            </a:r>
          </a:p>
          <a:p>
            <a:pPr>
              <a:lnSpc>
                <a:spcPct val="112000"/>
              </a:lnSpc>
              <a:spcAft>
                <a:spcPts val="100"/>
              </a:spcAft>
            </a:pPr>
            <a:r>
              <a:rPr sz="790" b="0" i="0">
                <a:solidFill>
                  <a:srgbClr val="9FC4EE"/>
                </a:solidFill>
                <a:latin typeface="Courier New"/>
              </a:rPr>
              <a:t>print</a:t>
            </a:r>
            <a:r>
              <a:rPr sz="790" b="0" i="0">
                <a:solidFill>
                  <a:srgbClr val="E4EDF2"/>
                </a:solidFill>
                <a:latin typeface="Courier New"/>
              </a:rPr>
              <a:t>(</a:t>
            </a:r>
            <a:r>
              <a:rPr sz="790" b="0" i="0">
                <a:solidFill>
                  <a:srgbClr val="EBB183"/>
                </a:solidFill>
                <a:latin typeface="Courier New"/>
              </a:rPr>
              <a:t>"Environment OK — model replied:"</a:t>
            </a:r>
            <a:r>
              <a:rPr sz="790" b="0" i="0">
                <a:solidFill>
                  <a:srgbClr val="E4EDF2"/>
                </a:solidFill>
                <a:latin typeface="Courier New"/>
              </a:rPr>
              <a:t>)</a:t>
            </a:r>
          </a:p>
          <a:p>
            <a:pPr>
              <a:lnSpc>
                <a:spcPct val="112000"/>
              </a:lnSpc>
              <a:spcAft>
                <a:spcPts val="100"/>
              </a:spcAft>
            </a:pPr>
            <a:r>
              <a:rPr sz="790" b="0" i="0">
                <a:solidFill>
                  <a:srgbClr val="9FC4EE"/>
                </a:solidFill>
                <a:latin typeface="Courier New"/>
              </a:rPr>
              <a:t>print</a:t>
            </a:r>
            <a:r>
              <a:rPr sz="790" b="0" i="0">
                <a:solidFill>
                  <a:srgbClr val="E4EDF2"/>
                </a:solidFill>
                <a:latin typeface="Courier New"/>
              </a:rPr>
              <a:t>(</a:t>
            </a:r>
            <a:r>
              <a:rPr sz="790" b="0" i="0">
                <a:solidFill>
                  <a:srgbClr val="E4EDF2"/>
                </a:solidFill>
                <a:latin typeface="Courier New"/>
              </a:rPr>
              <a:t>resp</a:t>
            </a:r>
            <a:r>
              <a:rPr sz="790" b="0" i="0">
                <a:solidFill>
                  <a:srgbClr val="E4EDF2"/>
                </a:solidFill>
                <a:latin typeface="Courier New"/>
              </a:rPr>
              <a:t>.</a:t>
            </a:r>
            <a:r>
              <a:rPr sz="790" b="0" i="0">
                <a:solidFill>
                  <a:srgbClr val="E4EDF2"/>
                </a:solidFill>
                <a:latin typeface="Courier New"/>
              </a:rPr>
              <a:t>choices</a:t>
            </a:r>
            <a:r>
              <a:rPr sz="790" b="0" i="0">
                <a:solidFill>
                  <a:srgbClr val="E4EDF2"/>
                </a:solidFill>
                <a:latin typeface="Courier New"/>
              </a:rPr>
              <a:t>[</a:t>
            </a:r>
            <a:r>
              <a:rPr sz="790" b="0" i="0">
                <a:solidFill>
                  <a:srgbClr val="9FC4EE"/>
                </a:solidFill>
                <a:latin typeface="Courier New"/>
              </a:rPr>
              <a:t>0</a:t>
            </a:r>
            <a:r>
              <a:rPr sz="790" b="0" i="0">
                <a:solidFill>
                  <a:srgbClr val="E4EDF2"/>
                </a:solidFill>
                <a:latin typeface="Courier New"/>
              </a:rPr>
              <a:t>].</a:t>
            </a:r>
            <a:r>
              <a:rPr sz="790" b="0" i="0">
                <a:solidFill>
                  <a:srgbClr val="E4EDF2"/>
                </a:solidFill>
                <a:latin typeface="Courier New"/>
              </a:rPr>
              <a:t>message</a:t>
            </a:r>
            <a:r>
              <a:rPr sz="790" b="0" i="0">
                <a:solidFill>
                  <a:srgbClr val="E4EDF2"/>
                </a:solidFill>
                <a:latin typeface="Courier New"/>
              </a:rPr>
              <a:t>.</a:t>
            </a:r>
            <a:r>
              <a:rPr sz="790" b="0" i="0">
                <a:solidFill>
                  <a:srgbClr val="E4EDF2"/>
                </a:solidFill>
                <a:latin typeface="Courier New"/>
              </a:rPr>
              <a:t>content</a:t>
            </a:r>
            <a:r>
              <a:rPr sz="790" b="0" i="0">
                <a:solidFill>
                  <a:srgbClr val="E4EDF2"/>
                </a:solidFill>
                <a:latin typeface="Courier New"/>
              </a:rPr>
              <a:t>)</a:t>
            </a:r>
          </a:p>
        </p:txBody>
      </p:sp>
      <p:sp>
        <p:nvSpPr>
          <p:cNvPr id="10" name="Rounded Rectangle 9"/>
          <p:cNvSpPr/>
          <p:nvPr/>
        </p:nvSpPr>
        <p:spPr>
          <a:xfrm>
            <a:off x="7498079" y="1783080"/>
            <a:ext cx="4050791" cy="1463040"/>
          </a:xfrm>
          <a:prstGeom prst="roundRect">
            <a:avLst>
              <a:gd name="adj" fmla="val 3500"/>
            </a:avLst>
          </a:prstGeom>
          <a:solidFill>
            <a:srgbClr val="F7E5E8"/>
          </a:solidFill>
          <a:ln w="12700">
            <a:solidFill>
              <a:srgbClr val="A424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17536" y="1929384"/>
            <a:ext cx="3611879" cy="274320"/>
          </a:xfrm>
          <a:prstGeom prst="rect">
            <a:avLst/>
          </a:prstGeom>
          <a:noFill/>
        </p:spPr>
        <p:txBody>
          <a:bodyPr wrap="square" lIns="0" rIns="0" tIns="0" bIns="0">
            <a:spAutoFit/>
          </a:bodyPr>
          <a:lstStyle/>
          <a:p>
            <a:pPr>
              <a:spcAft>
                <a:spcPts val="200"/>
              </a:spcAft>
            </a:pPr>
            <a:r>
              <a:rPr sz="1300" b="1" i="0">
                <a:solidFill>
                  <a:srgbClr val="A4243B"/>
                </a:solidFill>
                <a:latin typeface="Calibri"/>
              </a:rPr>
              <a:t>The guard the placeholder walks straight through</a:t>
            </a:r>
          </a:p>
        </p:txBody>
      </p:sp>
      <p:sp>
        <p:nvSpPr>
          <p:cNvPr id="12" name="TextBox 11"/>
          <p:cNvSpPr txBox="1"/>
          <p:nvPr/>
        </p:nvSpPr>
        <p:spPr>
          <a:xfrm>
            <a:off x="7717536" y="2295144"/>
            <a:ext cx="3611879" cy="804672"/>
          </a:xfrm>
          <a:prstGeom prst="rect">
            <a:avLst/>
          </a:prstGeom>
          <a:noFill/>
        </p:spPr>
        <p:txBody>
          <a:bodyPr wrap="square" lIns="0" rIns="0" tIns="0" bIns="0">
            <a:spAutoFit/>
          </a:bodyPr>
          <a:lstStyle/>
          <a:p>
            <a:pPr>
              <a:lnSpc>
                <a:spcPct val="114000"/>
              </a:lnSpc>
              <a:spcAft>
                <a:spcPts val="300"/>
              </a:spcAft>
            </a:pPr>
            <a:r>
              <a:rPr sz="860" b="0" i="0">
                <a:solidFill>
                  <a:srgbClr val="1B2B36"/>
                </a:solidFill>
                <a:latin typeface="Calibri"/>
              </a:rPr>
              <a:t>`if not key:` is true only for absent or empty. A freshly copied `sample.env` still holds the literal `sk-...` — non-empty, so the guard passes and the student gets a traceback instead of the message written for them.</a:t>
            </a:r>
          </a:p>
        </p:txBody>
      </p:sp>
      <p:sp>
        <p:nvSpPr>
          <p:cNvPr id="13" name="Rounded Rectangle 12"/>
          <p:cNvSpPr/>
          <p:nvPr/>
        </p:nvSpPr>
        <p:spPr>
          <a:xfrm>
            <a:off x="7498079" y="3383280"/>
            <a:ext cx="4050791" cy="877824"/>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35823" y="3502152"/>
            <a:ext cx="3575303"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VALIDATE THE SHAPE, NOT JUST THE PRESENCE</a:t>
            </a:r>
          </a:p>
        </p:txBody>
      </p:sp>
      <p:sp>
        <p:nvSpPr>
          <p:cNvPr id="15" name="TextBox 14"/>
          <p:cNvSpPr txBox="1"/>
          <p:nvPr/>
        </p:nvSpPr>
        <p:spPr>
          <a:xfrm>
            <a:off x="7735823" y="3776472"/>
            <a:ext cx="3575303" cy="374904"/>
          </a:xfrm>
          <a:prstGeom prst="rect">
            <a:avLst/>
          </a:prstGeom>
          <a:noFill/>
        </p:spPr>
        <p:txBody>
          <a:bodyPr wrap="square" lIns="0" rIns="0" tIns="0" bIns="0">
            <a:spAutoFit/>
          </a:bodyPr>
          <a:lstStyle/>
          <a:p>
            <a:pPr>
              <a:lnSpc>
                <a:spcPct val="112000"/>
              </a:lnSpc>
              <a:spcAft>
                <a:spcPts val="100"/>
              </a:spcAft>
            </a:pPr>
            <a:r>
              <a:rPr sz="819" b="0" i="0">
                <a:solidFill>
                  <a:srgbClr val="D9A6CE"/>
                </a:solidFill>
                <a:latin typeface="Courier New"/>
              </a:rPr>
              <a:t>if</a:t>
            </a:r>
            <a:r>
              <a:rPr sz="819" b="0" i="0">
                <a:solidFill>
                  <a:srgbClr val="E4EDF2"/>
                </a:solidFill>
                <a:latin typeface="Courier New"/>
              </a:rPr>
              <a:t> </a:t>
            </a:r>
            <a:r>
              <a:rPr sz="819" b="0" i="0">
                <a:solidFill>
                  <a:srgbClr val="D9A6CE"/>
                </a:solidFill>
                <a:latin typeface="Courier New"/>
              </a:rPr>
              <a:t>not</a:t>
            </a:r>
            <a:r>
              <a:rPr sz="819" b="0" i="0">
                <a:solidFill>
                  <a:srgbClr val="E4EDF2"/>
                </a:solidFill>
                <a:latin typeface="Courier New"/>
              </a:rPr>
              <a:t> </a:t>
            </a:r>
            <a:r>
              <a:rPr sz="819" b="0" i="0">
                <a:solidFill>
                  <a:srgbClr val="E4EDF2"/>
                </a:solidFill>
                <a:latin typeface="Courier New"/>
              </a:rPr>
              <a:t>key</a:t>
            </a:r>
            <a:r>
              <a:rPr sz="819" b="0" i="0">
                <a:solidFill>
                  <a:srgbClr val="E4EDF2"/>
                </a:solidFill>
                <a:latin typeface="Courier New"/>
              </a:rPr>
              <a:t> </a:t>
            </a:r>
            <a:r>
              <a:rPr sz="819" b="0" i="0">
                <a:solidFill>
                  <a:srgbClr val="D9A6CE"/>
                </a:solidFill>
                <a:latin typeface="Courier New"/>
              </a:rPr>
              <a:t>or</a:t>
            </a:r>
            <a:r>
              <a:rPr sz="819" b="0" i="0">
                <a:solidFill>
                  <a:srgbClr val="E4EDF2"/>
                </a:solidFill>
                <a:latin typeface="Courier New"/>
              </a:rPr>
              <a:t> </a:t>
            </a:r>
            <a:r>
              <a:rPr sz="819" b="0" i="0">
                <a:solidFill>
                  <a:srgbClr val="E4EDF2"/>
                </a:solidFill>
                <a:latin typeface="Courier New"/>
              </a:rPr>
              <a:t>key</a:t>
            </a:r>
            <a:r>
              <a:rPr sz="819" b="0" i="0">
                <a:solidFill>
                  <a:srgbClr val="E4EDF2"/>
                </a:solidFill>
                <a:latin typeface="Courier New"/>
              </a:rPr>
              <a:t>.</a:t>
            </a:r>
            <a:r>
              <a:rPr sz="819" b="0" i="0">
                <a:solidFill>
                  <a:srgbClr val="9FC4EE"/>
                </a:solidFill>
                <a:latin typeface="Courier New"/>
              </a:rPr>
              <a:t>startswith</a:t>
            </a:r>
            <a:r>
              <a:rPr sz="819" b="0" i="0">
                <a:solidFill>
                  <a:srgbClr val="E4EDF2"/>
                </a:solidFill>
                <a:latin typeface="Courier New"/>
              </a:rPr>
              <a:t>(</a:t>
            </a:r>
            <a:r>
              <a:rPr sz="819" b="0" i="0">
                <a:solidFill>
                  <a:srgbClr val="EBB183"/>
                </a:solidFill>
                <a:latin typeface="Courier New"/>
              </a:rPr>
              <a:t>"sk-..."</a:t>
            </a:r>
            <a:r>
              <a:rPr sz="819" b="0" i="0">
                <a:solidFill>
                  <a:srgbClr val="E4EDF2"/>
                </a:solidFill>
                <a:latin typeface="Courier New"/>
              </a:rPr>
              <a:t>):</a:t>
            </a:r>
          </a:p>
          <a:p>
            <a:pPr>
              <a:lnSpc>
                <a:spcPct val="112000"/>
              </a:lnSpc>
              <a:spcAft>
                <a:spcPts val="100"/>
              </a:spcAft>
            </a:pPr>
            <a:r>
              <a:rPr sz="819" b="0" i="0">
                <a:solidFill>
                  <a:srgbClr val="E4EDF2"/>
                </a:solidFill>
                <a:latin typeface="Courier New"/>
              </a:rPr>
              <a:t>    </a:t>
            </a:r>
            <a:r>
              <a:rPr sz="819" b="0" i="0">
                <a:solidFill>
                  <a:srgbClr val="E4EDF2"/>
                </a:solidFill>
                <a:latin typeface="Courier New"/>
              </a:rPr>
              <a:t>raise</a:t>
            </a:r>
            <a:r>
              <a:rPr sz="819" b="0" i="0">
                <a:solidFill>
                  <a:srgbClr val="E4EDF2"/>
                </a:solidFill>
                <a:latin typeface="Courier New"/>
              </a:rPr>
              <a:t> </a:t>
            </a:r>
            <a:r>
              <a:rPr sz="819" b="0" i="0">
                <a:solidFill>
                  <a:srgbClr val="9FC4EE"/>
                </a:solidFill>
                <a:latin typeface="Courier New"/>
              </a:rPr>
              <a:t>SystemExit</a:t>
            </a:r>
            <a:r>
              <a:rPr sz="819" b="0" i="0">
                <a:solidFill>
                  <a:srgbClr val="E4EDF2"/>
                </a:solidFill>
                <a:latin typeface="Courier New"/>
              </a:rPr>
              <a:t>(</a:t>
            </a:r>
            <a:r>
              <a:rPr sz="819" b="0" i="0">
                <a:solidFill>
                  <a:srgbClr val="EBB183"/>
                </a:solidFill>
                <a:latin typeface="Courier New"/>
              </a:rPr>
              <a:t>"Edit .env — that is the placeholder"</a:t>
            </a:r>
            <a:r>
              <a:rPr sz="819" b="0" i="0">
                <a:solidFill>
                  <a:srgbClr val="E4EDF2"/>
                </a:solidFill>
                <a:latin typeface="Courier New"/>
              </a:rPr>
              <a:t>)</a:t>
            </a:r>
          </a:p>
        </p:txBody>
      </p:sp>
      <p:sp>
        <p:nvSpPr>
          <p:cNvPr id="16" name="Rounded Rectangle 15"/>
          <p:cNvSpPr/>
          <p:nvPr/>
        </p:nvSpPr>
        <p:spPr>
          <a:xfrm>
            <a:off x="640080" y="4956048"/>
            <a:ext cx="10908792" cy="126187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59536" y="5074920"/>
            <a:ext cx="10469880" cy="1024127"/>
          </a:xfrm>
          <a:prstGeom prst="rect">
            <a:avLst/>
          </a:prstGeom>
          <a:noFill/>
        </p:spPr>
        <p:txBody>
          <a:bodyPr wrap="square" lIns="0" rIns="0" tIns="0" bIns="0">
            <a:spAutoFit/>
          </a:bodyPr>
          <a:lstStyle/>
          <a:p>
            <a:pPr>
              <a:lnSpc>
                <a:spcPct val="116000"/>
              </a:lnSpc>
              <a:spcAft>
                <a:spcPts val="200"/>
              </a:spcAft>
            </a:pPr>
            <a:r>
              <a:rPr sz="1100" b="1" i="0">
                <a:solidFill>
                  <a:srgbClr val="73305F"/>
                </a:solidFill>
                <a:latin typeface="Calibri"/>
              </a:rPr>
              <a:t>Two more things that will cost somebody an hour.  </a:t>
            </a:r>
            <a:r>
              <a:rPr sz="1100" b="0" i="0">
                <a:solidFill>
                  <a:srgbClr val="1B2B36"/>
                </a:solidFill>
                <a:latin typeface="Calibri"/>
              </a:rPr>
              <a:t>There is no try/except around the API call, so a 429 quota error or a blocked network also produces a raw traceback — and the solutions key anticipates exactly that error. And `sample.env` ships an `ANTHROPIC_API_KEY` that this script never reads, so a student holding only an Anthropic key is told their setup is broken when it is not.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2 · SET UP LOCALLY</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How a key actually escapes</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Not by being stolen. By being committed — and the commit is the part you cannot take back.</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Tools &amp; Environment</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14</a:t>
            </a:r>
          </a:p>
        </p:txBody>
      </p:sp>
      <p:pic>
        <p:nvPicPr>
          <p:cNvPr id="7" name="Picture 6" descr="secret_leak.png"/>
          <p:cNvPicPr>
            <a:picLocks noChangeAspect="1"/>
          </p:cNvPicPr>
          <p:nvPr/>
        </p:nvPicPr>
        <p:blipFill>
          <a:blip r:embed="rId3"/>
          <a:stretch>
            <a:fillRect/>
          </a:stretch>
        </p:blipFill>
        <p:spPr>
          <a:xfrm>
            <a:off x="640080" y="2319870"/>
            <a:ext cx="10908792" cy="2858339"/>
          </a:xfrm>
          <a:prstGeom prst="rect">
            <a:avLst/>
          </a:prstGeom>
        </p:spPr>
      </p:pic>
      <p:sp>
        <p:nvSpPr>
          <p:cNvPr id="8" name="Rounded Rectangle 7"/>
          <p:cNvSpPr/>
          <p:nvPr/>
        </p:nvSpPr>
        <p:spPr>
          <a:xfrm>
            <a:off x="640080" y="5815584"/>
            <a:ext cx="10908792" cy="402336"/>
          </a:xfrm>
          <a:prstGeom prst="roundRect">
            <a:avLst>
              <a:gd name="adj" fmla="val 3500"/>
            </a:avLst>
          </a:prstGeom>
          <a:solidFill>
            <a:srgbClr val="F7E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59536" y="5934456"/>
            <a:ext cx="10469880" cy="164592"/>
          </a:xfrm>
          <a:prstGeom prst="rect">
            <a:avLst/>
          </a:prstGeom>
          <a:noFill/>
        </p:spPr>
        <p:txBody>
          <a:bodyPr wrap="square" lIns="0" rIns="0" tIns="0" bIns="0">
            <a:spAutoFit/>
          </a:bodyPr>
          <a:lstStyle/>
          <a:p>
            <a:pPr>
              <a:lnSpc>
                <a:spcPct val="116000"/>
              </a:lnSpc>
              <a:spcAft>
                <a:spcPts val="200"/>
              </a:spcAft>
            </a:pPr>
            <a:r>
              <a:rPr sz="1100" b="1" i="0">
                <a:solidFill>
                  <a:srgbClr val="A4243B"/>
                </a:solidFill>
                <a:latin typeface="Calibri"/>
              </a:rPr>
              <a:t>Automatic −15 and mandatory rotation if a live key appears anywhere in your submission.  </a:t>
            </a:r>
            <a:r>
              <a:rPr sz="1100" b="0" i="0">
                <a:solidFill>
                  <a:srgbClr val="1B2B36"/>
                </a:solidFill>
                <a:latin typeface="Calibri"/>
              </a:rPr>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3 · YOUR MACHINE IN THE CLOUD</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What the VM actually is</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Not “a cloud GPU” in the abstract — this is the reference instance, measured.</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Tools &amp; Environment</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20</a:t>
            </a:r>
          </a:p>
        </p:txBody>
      </p:sp>
      <p:pic>
        <p:nvPicPr>
          <p:cNvPr id="7" name="Picture 6" descr="nairr_specs.png"/>
          <p:cNvPicPr>
            <a:picLocks noChangeAspect="1"/>
          </p:cNvPicPr>
          <p:nvPr/>
        </p:nvPicPr>
        <p:blipFill>
          <a:blip r:embed="rId3"/>
          <a:stretch>
            <a:fillRect/>
          </a:stretch>
        </p:blipFill>
        <p:spPr>
          <a:xfrm>
            <a:off x="640080" y="1816284"/>
            <a:ext cx="10908792" cy="2585351"/>
          </a:xfrm>
          <a:prstGeom prst="rect">
            <a:avLst/>
          </a:prstGeom>
        </p:spPr>
      </p:pic>
      <p:sp>
        <p:nvSpPr>
          <p:cNvPr id="8" name="Rounded Rectangle 7"/>
          <p:cNvSpPr/>
          <p:nvPr/>
        </p:nvSpPr>
        <p:spPr>
          <a:xfrm>
            <a:off x="640080" y="4572000"/>
            <a:ext cx="6583680" cy="1645920"/>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4690872"/>
            <a:ext cx="610819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THE THREE COMMANDS THE LAB ASKS YOU TO RUN</a:t>
            </a:r>
          </a:p>
        </p:txBody>
      </p:sp>
      <p:sp>
        <p:nvSpPr>
          <p:cNvPr id="10" name="TextBox 9"/>
          <p:cNvSpPr txBox="1"/>
          <p:nvPr/>
        </p:nvSpPr>
        <p:spPr>
          <a:xfrm>
            <a:off x="877824" y="4965192"/>
            <a:ext cx="6108192" cy="1143000"/>
          </a:xfrm>
          <a:prstGeom prst="rect">
            <a:avLst/>
          </a:prstGeom>
          <a:noFill/>
        </p:spPr>
        <p:txBody>
          <a:bodyPr wrap="square" lIns="0" rIns="0" tIns="0" bIns="0">
            <a:spAutoFit/>
          </a:bodyPr>
          <a:lstStyle/>
          <a:p>
            <a:pPr>
              <a:lnSpc>
                <a:spcPct val="112000"/>
              </a:lnSpc>
              <a:spcAft>
                <a:spcPts val="100"/>
              </a:spcAft>
            </a:pPr>
            <a:r>
              <a:rPr sz="860" b="0" i="0">
                <a:solidFill>
                  <a:srgbClr val="E4EDF2"/>
                </a:solidFill>
                <a:latin typeface="Courier New"/>
              </a:rPr>
              <a:t>$ </a:t>
            </a:r>
            <a:r>
              <a:rPr sz="860" b="0" i="0">
                <a:solidFill>
                  <a:srgbClr val="E4EDF2"/>
                </a:solidFill>
                <a:latin typeface="Courier New"/>
              </a:rPr>
              <a:t>nvidia</a:t>
            </a:r>
            <a:r>
              <a:rPr sz="860" b="0" i="0">
                <a:solidFill>
                  <a:srgbClr val="E4EDF2"/>
                </a:solidFill>
                <a:latin typeface="Courier New"/>
              </a:rPr>
              <a:t>-</a:t>
            </a:r>
            <a:r>
              <a:rPr sz="860" b="0" i="0">
                <a:solidFill>
                  <a:srgbClr val="E4EDF2"/>
                </a:solidFill>
                <a:latin typeface="Courier New"/>
              </a:rPr>
              <a:t>smi</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GRID</a:t>
            </a:r>
            <a:r>
              <a:rPr sz="860" b="0" i="0">
                <a:solidFill>
                  <a:srgbClr val="E4EDF2"/>
                </a:solidFill>
                <a:latin typeface="Courier New"/>
              </a:rPr>
              <a:t> </a:t>
            </a:r>
            <a:r>
              <a:rPr sz="860" b="0" i="0">
                <a:solidFill>
                  <a:srgbClr val="E4EDF2"/>
                </a:solidFill>
                <a:latin typeface="Courier New"/>
              </a:rPr>
              <a:t>A100X</a:t>
            </a:r>
            <a:r>
              <a:rPr sz="860" b="0" i="0">
                <a:solidFill>
                  <a:srgbClr val="E4EDF2"/>
                </a:solidFill>
                <a:latin typeface="Courier New"/>
              </a:rPr>
              <a:t>-20C   |   2157MiB / 20480MiB   |   </a:t>
            </a:r>
            <a:r>
              <a:rPr sz="860" b="0" i="0">
                <a:solidFill>
                  <a:srgbClr val="9FC4EE"/>
                </a:solidFill>
                <a:latin typeface="Courier New"/>
              </a:rPr>
              <a:t>0</a:t>
            </a:r>
            <a:r>
              <a:rPr sz="860" b="0" i="0">
                <a:solidFill>
                  <a:srgbClr val="E4EDF2"/>
                </a:solidFill>
                <a:latin typeface="Courier New"/>
              </a:rPr>
              <a:t>%   |  </a:t>
            </a:r>
            <a:r>
              <a:rPr sz="860" b="0" i="0">
                <a:solidFill>
                  <a:srgbClr val="E4EDF2"/>
                </a:solidFill>
                <a:latin typeface="Courier New"/>
              </a:rPr>
              <a:t>P0</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Driver</a:t>
            </a:r>
            <a:r>
              <a:rPr sz="860" b="0" i="0">
                <a:solidFill>
                  <a:srgbClr val="E4EDF2"/>
                </a:solidFill>
                <a:latin typeface="Courier New"/>
              </a:rPr>
              <a:t> </a:t>
            </a:r>
            <a:r>
              <a:rPr sz="860" b="0" i="0">
                <a:solidFill>
                  <a:srgbClr val="9FC4EE"/>
                </a:solidFill>
                <a:latin typeface="Courier New"/>
              </a:rPr>
              <a:t>535.309</a:t>
            </a:r>
            <a:r>
              <a:rPr sz="860" b="0" i="0">
                <a:solidFill>
                  <a:srgbClr val="E4EDF2"/>
                </a:solidFill>
                <a:latin typeface="Courier New"/>
              </a:rPr>
              <a:t>.</a:t>
            </a:r>
            <a:r>
              <a:rPr sz="860" b="0" i="0">
                <a:solidFill>
                  <a:srgbClr val="9FC4EE"/>
                </a:solidFill>
                <a:latin typeface="Courier New"/>
              </a:rPr>
              <a:t>01</a:t>
            </a:r>
            <a:r>
              <a:rPr sz="860" b="0" i="0">
                <a:solidFill>
                  <a:srgbClr val="E4EDF2"/>
                </a:solidFill>
                <a:latin typeface="Courier New"/>
              </a:rPr>
              <a:t>            </a:t>
            </a:r>
            <a:r>
              <a:rPr sz="860" b="0" i="0">
                <a:solidFill>
                  <a:srgbClr val="E4EDF2"/>
                </a:solidFill>
                <a:latin typeface="Courier New"/>
              </a:rPr>
              <a:t>CUDA</a:t>
            </a:r>
            <a:r>
              <a:rPr sz="860" b="0" i="0">
                <a:solidFill>
                  <a:srgbClr val="E4EDF2"/>
                </a:solidFill>
                <a:latin typeface="Courier New"/>
              </a:rPr>
              <a:t> </a:t>
            </a:r>
            <a:r>
              <a:rPr sz="860" b="0" i="0">
                <a:solidFill>
                  <a:srgbClr val="E4EDF2"/>
                </a:solidFill>
                <a:latin typeface="Courier New"/>
              </a:rPr>
              <a:t>Version</a:t>
            </a:r>
            <a:r>
              <a:rPr sz="860" b="0" i="0">
                <a:solidFill>
                  <a:srgbClr val="E4EDF2"/>
                </a:solidFill>
                <a:latin typeface="Courier New"/>
              </a:rPr>
              <a:t>: </a:t>
            </a:r>
            <a:r>
              <a:rPr sz="860" b="0" i="0">
                <a:solidFill>
                  <a:srgbClr val="9FC4EE"/>
                </a:solidFill>
                <a:latin typeface="Courier New"/>
              </a:rPr>
              <a:t>12.2</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nproc</a:t>
            </a:r>
          </a:p>
          <a:p>
            <a:pPr>
              <a:lnSpc>
                <a:spcPct val="112000"/>
              </a:lnSpc>
              <a:spcAft>
                <a:spcPts val="100"/>
              </a:spcAft>
            </a:pPr>
            <a:r>
              <a:rPr sz="860" b="0" i="0">
                <a:solidFill>
                  <a:srgbClr val="E4EDF2"/>
                </a:solidFill>
                <a:latin typeface="Courier New"/>
              </a:rPr>
              <a:t>  </a:t>
            </a:r>
            <a:r>
              <a:rPr sz="860" b="0" i="0">
                <a:solidFill>
                  <a:srgbClr val="9FC4EE"/>
                </a:solidFill>
                <a:latin typeface="Courier New"/>
              </a:rPr>
              <a:t>16</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free</a:t>
            </a:r>
            <a:r>
              <a:rPr sz="860" b="0" i="0">
                <a:solidFill>
                  <a:srgbClr val="E4EDF2"/>
                </a:solidFill>
                <a:latin typeface="Courier New"/>
              </a:rPr>
              <a:t> -</a:t>
            </a:r>
            <a:r>
              <a:rPr sz="860" b="0" i="0">
                <a:solidFill>
                  <a:srgbClr val="E4EDF2"/>
                </a:solidFill>
                <a:latin typeface="Courier New"/>
              </a:rPr>
              <a:t>h</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Mem</a:t>
            </a:r>
            <a:r>
              <a:rPr sz="860" b="0" i="0">
                <a:solidFill>
                  <a:srgbClr val="E4EDF2"/>
                </a:solidFill>
                <a:latin typeface="Courier New"/>
              </a:rPr>
              <a:t>:  59Gi </a:t>
            </a:r>
            <a:r>
              <a:rPr sz="860" b="0" i="0">
                <a:solidFill>
                  <a:srgbClr val="E4EDF2"/>
                </a:solidFill>
                <a:latin typeface="Courier New"/>
              </a:rPr>
              <a:t>total</a:t>
            </a:r>
            <a:r>
              <a:rPr sz="860" b="0" i="0">
                <a:solidFill>
                  <a:srgbClr val="E4EDF2"/>
                </a:solidFill>
                <a:latin typeface="Courier New"/>
              </a:rPr>
              <a:t>   </a:t>
            </a:r>
            <a:r>
              <a:rPr sz="860" b="0" i="0">
                <a:solidFill>
                  <a:srgbClr val="9FC4EE"/>
                </a:solidFill>
                <a:latin typeface="Courier New"/>
              </a:rPr>
              <a:t>1.</a:t>
            </a:r>
            <a:r>
              <a:rPr sz="860" b="0" i="0">
                <a:solidFill>
                  <a:srgbClr val="E4EDF2"/>
                </a:solidFill>
                <a:latin typeface="Courier New"/>
              </a:rPr>
              <a:t>1Gi </a:t>
            </a:r>
            <a:r>
              <a:rPr sz="860" b="0" i="0">
                <a:solidFill>
                  <a:srgbClr val="E4EDF2"/>
                </a:solidFill>
                <a:latin typeface="Courier New"/>
              </a:rPr>
              <a:t>used</a:t>
            </a:r>
            <a:r>
              <a:rPr sz="860" b="0" i="0">
                <a:solidFill>
                  <a:srgbClr val="E4EDF2"/>
                </a:solidFill>
                <a:latin typeface="Courier New"/>
              </a:rPr>
              <a:t>   58Gi </a:t>
            </a:r>
            <a:r>
              <a:rPr sz="860" b="0" i="0">
                <a:solidFill>
                  <a:srgbClr val="E4EDF2"/>
                </a:solidFill>
                <a:latin typeface="Courier New"/>
              </a:rPr>
              <a:t>available</a:t>
            </a:r>
            <a:r>
              <a:rPr sz="860" b="0" i="0">
                <a:solidFill>
                  <a:srgbClr val="E4EDF2"/>
                </a:solidFill>
                <a:latin typeface="Courier New"/>
              </a:rPr>
              <a:t>   </a:t>
            </a:r>
            <a:r>
              <a:rPr sz="860" b="0" i="0">
                <a:solidFill>
                  <a:srgbClr val="E4EDF2"/>
                </a:solidFill>
                <a:latin typeface="Courier New"/>
              </a:rPr>
              <a:t>Swap</a:t>
            </a:r>
            <a:r>
              <a:rPr sz="860" b="0" i="0">
                <a:solidFill>
                  <a:srgbClr val="E4EDF2"/>
                </a:solidFill>
                <a:latin typeface="Courier New"/>
              </a:rPr>
              <a:t>: 0B</a:t>
            </a:r>
          </a:p>
        </p:txBody>
      </p:sp>
      <p:sp>
        <p:nvSpPr>
          <p:cNvPr id="11" name="Rounded Rectangle 10"/>
          <p:cNvSpPr/>
          <p:nvPr/>
        </p:nvSpPr>
        <p:spPr>
          <a:xfrm>
            <a:off x="7498079" y="4572000"/>
            <a:ext cx="4050791" cy="1645920"/>
          </a:xfrm>
          <a:prstGeom prst="roundRect">
            <a:avLst>
              <a:gd name="adj" fmla="val 3500"/>
            </a:avLst>
          </a:prstGeom>
          <a:solidFill>
            <a:srgbClr val="F7E5E8"/>
          </a:solidFill>
          <a:ln w="12700">
            <a:solidFill>
              <a:srgbClr val="A424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17536" y="4718304"/>
            <a:ext cx="3611879" cy="274320"/>
          </a:xfrm>
          <a:prstGeom prst="rect">
            <a:avLst/>
          </a:prstGeom>
          <a:noFill/>
        </p:spPr>
        <p:txBody>
          <a:bodyPr wrap="square" lIns="0" rIns="0" tIns="0" bIns="0">
            <a:spAutoFit/>
          </a:bodyPr>
          <a:lstStyle/>
          <a:p>
            <a:pPr>
              <a:spcAft>
                <a:spcPts val="200"/>
              </a:spcAft>
            </a:pPr>
            <a:r>
              <a:rPr sz="1300" b="1" i="0">
                <a:solidFill>
                  <a:srgbClr val="A4243B"/>
                </a:solidFill>
                <a:latin typeface="Calibri"/>
              </a:rPr>
              <a:t>Choose the 100 GB disk at provisioning time</a:t>
            </a:r>
          </a:p>
        </p:txBody>
      </p:sp>
      <p:sp>
        <p:nvSpPr>
          <p:cNvPr id="13" name="TextBox 12"/>
          <p:cNvSpPr txBox="1"/>
          <p:nvPr/>
        </p:nvSpPr>
        <p:spPr>
          <a:xfrm>
            <a:off x="7717536" y="5084064"/>
            <a:ext cx="3611879" cy="987552"/>
          </a:xfrm>
          <a:prstGeom prst="rect">
            <a:avLst/>
          </a:prstGeom>
          <a:noFill/>
        </p:spPr>
        <p:txBody>
          <a:bodyPr wrap="square" lIns="0" rIns="0" tIns="0" bIns="0">
            <a:spAutoFit/>
          </a:bodyPr>
          <a:lstStyle/>
          <a:p>
            <a:pPr>
              <a:lnSpc>
                <a:spcPct val="114000"/>
              </a:lnSpc>
              <a:spcAft>
                <a:spcPts val="300"/>
              </a:spcAft>
            </a:pPr>
            <a:r>
              <a:rPr sz="840" b="0" i="0">
                <a:solidFill>
                  <a:srgbClr val="1B2B36"/>
                </a:solidFill>
                <a:latin typeface="Calibri"/>
              </a:rPr>
              <a:t>The default is 20 GB and it looks like plenty. Model files in module 3 are 15 GB and up, so you find out two weeks later, mid-download, with no easy way to resize.</a:t>
            </a:r>
          </a:p>
          <a:p>
            <a:pPr>
              <a:lnSpc>
                <a:spcPct val="114000"/>
              </a:lnSpc>
              <a:spcAft>
                <a:spcPts val="300"/>
              </a:spcAft>
            </a:pPr>
            <a:r>
              <a:rPr sz="840" b="0" i="0">
                <a:solidFill>
                  <a:srgbClr val="1B2B36"/>
                </a:solidFill>
                <a:latin typeface="Calibri"/>
              </a:rPr>
              <a:t/>
            </a:r>
          </a:p>
          <a:p>
            <a:pPr>
              <a:lnSpc>
                <a:spcPct val="114000"/>
              </a:lnSpc>
              <a:spcAft>
                <a:spcPts val="300"/>
              </a:spcAft>
            </a:pPr>
            <a:r>
              <a:rPr sz="840" b="0" i="0">
                <a:solidFill>
                  <a:srgbClr val="1B2B36"/>
                </a:solidFill>
                <a:latin typeface="Calibri"/>
              </a:rPr>
              <a:t>Ten minutes to go green — do not declare SSH broken before then.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3 · YOUR MACHINE IN THE CLOUD</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Nothing is published — you tunnel in</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One SSH connection carries every service you need. No open ports, no public endpoints.</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Tools &amp; Environment</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22</a:t>
            </a:r>
          </a:p>
        </p:txBody>
      </p:sp>
      <p:pic>
        <p:nvPicPr>
          <p:cNvPr id="7" name="Picture 6" descr="ssh_tunnel.png"/>
          <p:cNvPicPr>
            <a:picLocks noChangeAspect="1"/>
          </p:cNvPicPr>
          <p:nvPr/>
        </p:nvPicPr>
        <p:blipFill>
          <a:blip r:embed="rId3"/>
          <a:stretch>
            <a:fillRect/>
          </a:stretch>
        </p:blipFill>
        <p:spPr>
          <a:xfrm>
            <a:off x="640080" y="1816950"/>
            <a:ext cx="10908792" cy="2858339"/>
          </a:xfrm>
          <a:prstGeom prst="rect">
            <a:avLst/>
          </a:prstGeom>
        </p:spPr>
      </p:pic>
      <p:sp>
        <p:nvSpPr>
          <p:cNvPr id="8" name="Rounded Rectangle 7"/>
          <p:cNvSpPr/>
          <p:nvPr/>
        </p:nvSpPr>
        <p:spPr>
          <a:xfrm>
            <a:off x="640080" y="4846320"/>
            <a:ext cx="6583680" cy="1371600"/>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4965192"/>
            <a:ext cx="610819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code/ssh_config_sample — THEN JUST:  ssh it7075</a:t>
            </a:r>
          </a:p>
        </p:txBody>
      </p:sp>
      <p:sp>
        <p:nvSpPr>
          <p:cNvPr id="10" name="TextBox 9"/>
          <p:cNvSpPr txBox="1"/>
          <p:nvPr/>
        </p:nvSpPr>
        <p:spPr>
          <a:xfrm>
            <a:off x="877824" y="5239512"/>
            <a:ext cx="6108192" cy="868680"/>
          </a:xfrm>
          <a:prstGeom prst="rect">
            <a:avLst/>
          </a:prstGeom>
          <a:noFill/>
        </p:spPr>
        <p:txBody>
          <a:bodyPr wrap="square" lIns="0" rIns="0" tIns="0" bIns="0">
            <a:spAutoFit/>
          </a:bodyPr>
          <a:lstStyle/>
          <a:p>
            <a:pPr>
              <a:lnSpc>
                <a:spcPct val="112000"/>
              </a:lnSpc>
              <a:spcAft>
                <a:spcPts val="100"/>
              </a:spcAft>
            </a:pPr>
            <a:r>
              <a:rPr sz="860" b="0" i="0">
                <a:solidFill>
                  <a:srgbClr val="E4EDF2"/>
                </a:solidFill>
                <a:latin typeface="Courier New"/>
              </a:rPr>
              <a:t>Host</a:t>
            </a:r>
            <a:r>
              <a:rPr sz="860" b="0" i="0">
                <a:solidFill>
                  <a:srgbClr val="E4EDF2"/>
                </a:solidFill>
                <a:latin typeface="Courier New"/>
              </a:rPr>
              <a:t> </a:t>
            </a:r>
            <a:r>
              <a:rPr sz="860" b="0" i="0">
                <a:solidFill>
                  <a:srgbClr val="E4EDF2"/>
                </a:solidFill>
                <a:latin typeface="Courier New"/>
              </a:rPr>
              <a:t>it7075</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HostName</a:t>
            </a:r>
            <a:r>
              <a:rPr sz="860" b="0" i="0">
                <a:solidFill>
                  <a:srgbClr val="E4EDF2"/>
                </a:solidFill>
                <a:latin typeface="Courier New"/>
              </a:rPr>
              <a:t> &lt;</a:t>
            </a:r>
            <a:r>
              <a:rPr sz="860" b="0" i="0">
                <a:solidFill>
                  <a:srgbClr val="E4EDF2"/>
                </a:solidFill>
                <a:latin typeface="Courier New"/>
              </a:rPr>
              <a:t>INSTANCE</a:t>
            </a:r>
            <a:r>
              <a:rPr sz="860" b="0" i="0">
                <a:solidFill>
                  <a:srgbClr val="E4EDF2"/>
                </a:solidFill>
                <a:latin typeface="Courier New"/>
              </a:rPr>
              <a:t>-</a:t>
            </a:r>
            <a:r>
              <a:rPr sz="860" b="0" i="0">
                <a:solidFill>
                  <a:srgbClr val="E4EDF2"/>
                </a:solidFill>
                <a:latin typeface="Courier New"/>
              </a:rPr>
              <a:t>IP</a:t>
            </a:r>
            <a:r>
              <a:rPr sz="860" b="0" i="0">
                <a:solidFill>
                  <a:srgbClr val="E4EDF2"/>
                </a:solidFill>
                <a:latin typeface="Courier New"/>
              </a:rPr>
              <a:t>&gt;</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User</a:t>
            </a:r>
            <a:r>
              <a:rPr sz="860" b="0" i="0">
                <a:solidFill>
                  <a:srgbClr val="E4EDF2"/>
                </a:solidFill>
                <a:latin typeface="Courier New"/>
              </a:rPr>
              <a:t> </a:t>
            </a:r>
            <a:r>
              <a:rPr sz="860" b="0" i="0">
                <a:solidFill>
                  <a:srgbClr val="E4EDF2"/>
                </a:solidFill>
                <a:latin typeface="Courier New"/>
              </a:rPr>
              <a:t>exouser</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LocalForward</a:t>
            </a:r>
            <a:r>
              <a:rPr sz="860" b="0" i="0">
                <a:solidFill>
                  <a:srgbClr val="E4EDF2"/>
                </a:solidFill>
                <a:latin typeface="Courier New"/>
              </a:rPr>
              <a:t> </a:t>
            </a:r>
            <a:r>
              <a:rPr sz="860" b="0" i="0">
                <a:solidFill>
                  <a:srgbClr val="9FC4EE"/>
                </a:solidFill>
                <a:latin typeface="Courier New"/>
              </a:rPr>
              <a:t>8080</a:t>
            </a:r>
            <a:r>
              <a:rPr sz="860" b="0" i="0">
                <a:solidFill>
                  <a:srgbClr val="E4EDF2"/>
                </a:solidFill>
                <a:latin typeface="Courier New"/>
              </a:rPr>
              <a:t>  </a:t>
            </a:r>
            <a:r>
              <a:rPr sz="860" b="0" i="0">
                <a:solidFill>
                  <a:srgbClr val="E4EDF2"/>
                </a:solidFill>
                <a:latin typeface="Courier New"/>
              </a:rPr>
              <a:t>localhost</a:t>
            </a:r>
            <a:r>
              <a:rPr sz="860" b="0" i="0">
                <a:solidFill>
                  <a:srgbClr val="E4EDF2"/>
                </a:solidFill>
                <a:latin typeface="Courier New"/>
              </a:rPr>
              <a:t>:</a:t>
            </a:r>
            <a:r>
              <a:rPr sz="860" b="0" i="0">
                <a:solidFill>
                  <a:srgbClr val="9FC4EE"/>
                </a:solidFill>
                <a:latin typeface="Courier New"/>
              </a:rPr>
              <a:t>8080</a:t>
            </a:r>
            <a:r>
              <a:rPr sz="860" b="0" i="0">
                <a:solidFill>
                  <a:srgbClr val="E4EDF2"/>
                </a:solidFill>
                <a:latin typeface="Courier New"/>
              </a:rPr>
              <a:t>     </a:t>
            </a:r>
            <a:r>
              <a:rPr sz="860" b="0" i="0">
                <a:solidFill>
                  <a:srgbClr val="76909F"/>
                </a:solidFill>
                <a:latin typeface="Courier New"/>
              </a:rPr>
              <a:t># Open WebUI</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LocalForward</a:t>
            </a:r>
            <a:r>
              <a:rPr sz="860" b="0" i="0">
                <a:solidFill>
                  <a:srgbClr val="E4EDF2"/>
                </a:solidFill>
                <a:latin typeface="Courier New"/>
              </a:rPr>
              <a:t> </a:t>
            </a:r>
            <a:r>
              <a:rPr sz="860" b="0" i="0">
                <a:solidFill>
                  <a:srgbClr val="9FC4EE"/>
                </a:solidFill>
                <a:latin typeface="Courier New"/>
              </a:rPr>
              <a:t>8888</a:t>
            </a:r>
            <a:r>
              <a:rPr sz="860" b="0" i="0">
                <a:solidFill>
                  <a:srgbClr val="E4EDF2"/>
                </a:solidFill>
                <a:latin typeface="Courier New"/>
              </a:rPr>
              <a:t>  </a:t>
            </a:r>
            <a:r>
              <a:rPr sz="860" b="0" i="0">
                <a:solidFill>
                  <a:srgbClr val="E4EDF2"/>
                </a:solidFill>
                <a:latin typeface="Courier New"/>
              </a:rPr>
              <a:t>localhost</a:t>
            </a:r>
            <a:r>
              <a:rPr sz="860" b="0" i="0">
                <a:solidFill>
                  <a:srgbClr val="E4EDF2"/>
                </a:solidFill>
                <a:latin typeface="Courier New"/>
              </a:rPr>
              <a:t>:</a:t>
            </a:r>
            <a:r>
              <a:rPr sz="860" b="0" i="0">
                <a:solidFill>
                  <a:srgbClr val="9FC4EE"/>
                </a:solidFill>
                <a:latin typeface="Courier New"/>
              </a:rPr>
              <a:t>8888</a:t>
            </a:r>
            <a:r>
              <a:rPr sz="860" b="0" i="0">
                <a:solidFill>
                  <a:srgbClr val="E4EDF2"/>
                </a:solidFill>
                <a:latin typeface="Courier New"/>
              </a:rPr>
              <a:t>     </a:t>
            </a:r>
            <a:r>
              <a:rPr sz="860" b="0" i="0">
                <a:solidFill>
                  <a:srgbClr val="76909F"/>
                </a:solidFill>
                <a:latin typeface="Courier New"/>
              </a:rPr>
              <a:t># JupyterLab</a:t>
            </a:r>
          </a:p>
        </p:txBody>
      </p:sp>
      <p:sp>
        <p:nvSpPr>
          <p:cNvPr id="11" name="Rounded Rectangle 10"/>
          <p:cNvSpPr/>
          <p:nvPr/>
        </p:nvSpPr>
        <p:spPr>
          <a:xfrm>
            <a:off x="7498079" y="4846320"/>
            <a:ext cx="4050791" cy="1371600"/>
          </a:xfrm>
          <a:prstGeom prst="roundRect">
            <a:avLst>
              <a:gd name="adj" fmla="val 3500"/>
            </a:avLst>
          </a:prstGeom>
          <a:solidFill>
            <a:srgbClr val="F1E4ED"/>
          </a:solidFill>
          <a:ln w="12700">
            <a:solidFill>
              <a:srgbClr val="7330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17536" y="4992624"/>
            <a:ext cx="3611879" cy="274320"/>
          </a:xfrm>
          <a:prstGeom prst="rect">
            <a:avLst/>
          </a:prstGeom>
          <a:noFill/>
        </p:spPr>
        <p:txBody>
          <a:bodyPr wrap="square" lIns="0" rIns="0" tIns="0" bIns="0">
            <a:spAutoFit/>
          </a:bodyPr>
          <a:lstStyle/>
          <a:p>
            <a:pPr>
              <a:spcAft>
                <a:spcPts val="200"/>
              </a:spcAft>
            </a:pPr>
            <a:r>
              <a:rPr sz="1300" b="1" i="0">
                <a:solidFill>
                  <a:srgbClr val="73305F"/>
                </a:solidFill>
                <a:latin typeface="Calibri"/>
              </a:rPr>
              <a:t>Keys, not passwords</a:t>
            </a:r>
          </a:p>
        </p:txBody>
      </p:sp>
      <p:sp>
        <p:nvSpPr>
          <p:cNvPr id="13" name="TextBox 12"/>
          <p:cNvSpPr txBox="1"/>
          <p:nvPr/>
        </p:nvSpPr>
        <p:spPr>
          <a:xfrm>
            <a:off x="7717536" y="5358383"/>
            <a:ext cx="3611879" cy="713232"/>
          </a:xfrm>
          <a:prstGeom prst="rect">
            <a:avLst/>
          </a:prstGeom>
          <a:noFill/>
        </p:spPr>
        <p:txBody>
          <a:bodyPr wrap="square" lIns="0" rIns="0" tIns="0" bIns="0">
            <a:spAutoFit/>
          </a:bodyPr>
          <a:lstStyle/>
          <a:p>
            <a:pPr>
              <a:lnSpc>
                <a:spcPct val="114000"/>
              </a:lnSpc>
              <a:spcAft>
                <a:spcPts val="300"/>
              </a:spcAft>
            </a:pPr>
            <a:r>
              <a:rPr sz="860" b="0" i="0">
                <a:solidFill>
                  <a:srgbClr val="1B2B36"/>
                </a:solidFill>
                <a:latin typeface="Calibri"/>
              </a:rPr>
              <a:t>Five of the lab's 25 marks are for password-free ed25519 login. It is also what makes the tunnel practical — you will open this connection dozens of times.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Tools &amp; Environment</dc:title>
  <dc:subject>PptxGenJS Presentation</dc:subject>
  <dc:creator>Chengcheng Li, PhD</dc:creator>
  <cp:lastModifiedBy>Chengcheng Li, PhD</cp:lastModifiedBy>
  <cp:revision>1</cp:revision>
  <dcterms:created xsi:type="dcterms:W3CDTF">2026-07-26T20:32:13Z</dcterms:created>
  <dcterms:modified xsi:type="dcterms:W3CDTF">2026-07-26T20:32:13Z</dcterms:modified>
</cp:coreProperties>
</file>